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86" r:id="rId2"/>
    <p:sldId id="287" r:id="rId3"/>
    <p:sldId id="288" r:id="rId4"/>
    <p:sldId id="258" r:id="rId5"/>
    <p:sldId id="259" r:id="rId6"/>
    <p:sldId id="260" r:id="rId7"/>
    <p:sldId id="261" r:id="rId8"/>
    <p:sldId id="266" r:id="rId9"/>
    <p:sldId id="278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84" r:id="rId20"/>
    <p:sldId id="285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3DD15-6F67-76E2-F720-791437C63190}" v="196" dt="2026-09-02T20:36:48.023"/>
    <p1510:client id="{9D2CCEA4-DA57-C846-716B-227BD28702F3}" v="443" dt="2026-09-02T17:18:10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slide" Target="slides/slide17.xml" Id="rId18" /><Relationship Type="http://schemas.openxmlformats.org/officeDocument/2006/relationships/viewProps" Target="viewProps.xml" Id="rId26" /><Relationship Type="http://schemas.openxmlformats.org/officeDocument/2006/relationships/slide" Target="slides/slide2.xml" Id="rId3" /><Relationship Type="http://schemas.openxmlformats.org/officeDocument/2006/relationships/slide" Target="slides/slide20.xml" Id="rId21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slide" Target="slides/slide16.xml" Id="rId17" /><Relationship Type="http://schemas.openxmlformats.org/officeDocument/2006/relationships/presProps" Target="presProps.xml" Id="rId25" /><Relationship Type="http://schemas.openxmlformats.org/officeDocument/2006/relationships/slide" Target="slides/slide1.xml" Id="rId2" /><Relationship Type="http://schemas.openxmlformats.org/officeDocument/2006/relationships/slide" Target="slides/slide15.xml" Id="rId16" /><Relationship Type="http://schemas.openxmlformats.org/officeDocument/2006/relationships/slide" Target="slides/slide19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notesMaster" Target="notesMasters/notesMaster1.xml" Id="rId24" /><Relationship Type="http://schemas.openxmlformats.org/officeDocument/2006/relationships/slide" Target="slides/slide4.xml" Id="rId5" /><Relationship Type="http://schemas.openxmlformats.org/officeDocument/2006/relationships/slide" Target="slides/slide14.xml" Id="rId15" /><Relationship Type="http://schemas.openxmlformats.org/officeDocument/2006/relationships/slide" Target="slides/slide22.xml" Id="rId23" /><Relationship Type="http://schemas.openxmlformats.org/officeDocument/2006/relationships/tableStyles" Target="tableStyles.xml" Id="rId28" /><Relationship Type="http://schemas.openxmlformats.org/officeDocument/2006/relationships/slide" Target="slides/slide9.xml" Id="rId10" /><Relationship Type="http://schemas.openxmlformats.org/officeDocument/2006/relationships/slide" Target="slides/slide18.xml" Id="rId19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openxmlformats.org/officeDocument/2006/relationships/slide" Target="slides/slide21.xml" Id="rId22" /><Relationship Type="http://schemas.openxmlformats.org/officeDocument/2006/relationships/theme" Target="theme/theme1.xml" Id="rId27" /><Relationship Type="http://schemas.microsoft.com/office/2015/10/relationships/revisionInfo" Target="revisionInfo.xml" Id="rId30" 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270EF9-EA07-458E-B170-0B91AABE7674}" type="doc">
      <dgm:prSet loTypeId="urn:microsoft.com/office/officeart/2018/2/layout/IconLabel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B445D02E-6F6A-437C-8966-58B539ECD5D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>
              <a:solidFill>
                <a:srgbClr val="444444"/>
              </a:solidFill>
              <a:latin typeface="Calibri"/>
              <a:ea typeface="Calibri"/>
              <a:cs typeface="Calibri"/>
            </a:rPr>
            <a:t>Unity + Fishing Sim</a:t>
          </a:r>
        </a:p>
      </dgm:t>
    </dgm:pt>
    <dgm:pt modelId="{98757A09-EE25-4E6C-AAE3-FDAB6FAA539F}" type="parTrans" cxnId="{359B901F-9FB3-49EE-A2D9-6E1FE68B1A26}">
      <dgm:prSet/>
      <dgm:spPr/>
    </dgm:pt>
    <dgm:pt modelId="{06704546-1F64-4BAD-BB14-718751B11ED9}" type="sibTrans" cxnId="{359B901F-9FB3-49EE-A2D9-6E1FE68B1A26}">
      <dgm:prSet/>
      <dgm:spPr/>
    </dgm:pt>
    <dgm:pt modelId="{4397088B-6BC7-4293-9319-6CA6AF79502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Events</a:t>
          </a:r>
        </a:p>
      </dgm:t>
    </dgm:pt>
    <dgm:pt modelId="{4B606589-9940-46A8-A684-F2A01AF3D046}" type="parTrans" cxnId="{881FE168-097B-4057-BA27-1B02D0E27F18}">
      <dgm:prSet/>
      <dgm:spPr/>
    </dgm:pt>
    <dgm:pt modelId="{0A45E7BC-0DA6-4996-9EFF-EF5432670660}" type="sibTrans" cxnId="{881FE168-097B-4057-BA27-1B02D0E27F18}">
      <dgm:prSet/>
      <dgm:spPr/>
    </dgm:pt>
    <dgm:pt modelId="{0D8278BB-20A4-4605-9F9A-FB735FC99FE9}">
      <dgm:prSet phldrT="[Text]" phldr="0"/>
      <dgm:spPr/>
      <dgm:t>
        <a:bodyPr/>
        <a:lstStyle/>
        <a:p>
          <a:pPr rtl="0">
            <a:lnSpc>
              <a:spcPct val="100000"/>
            </a:lnSpc>
          </a:pPr>
          <a:r>
            <a:rPr lang="en-US" sz="1100">
              <a:solidFill>
                <a:srgbClr val="000000"/>
              </a:solidFill>
              <a:latin typeface="Calibri"/>
              <a:ea typeface="Calibri"/>
              <a:cs typeface="Calibri"/>
            </a:rPr>
            <a:t>Panther Model</a:t>
          </a:r>
          <a:endParaRPr lang="en-US" sz="1100">
            <a:solidFill>
              <a:srgbClr val="444444"/>
            </a:solidFill>
            <a:latin typeface="Calibri"/>
            <a:ea typeface="Calibri"/>
            <a:cs typeface="Calibri"/>
          </a:endParaRPr>
        </a:p>
      </dgm:t>
    </dgm:pt>
    <dgm:pt modelId="{B46D6710-8F4A-494A-ADC0-B6A660CDF132}" type="parTrans" cxnId="{9FC7DA81-D6A2-4183-9A0D-36C834C3F743}">
      <dgm:prSet/>
      <dgm:spPr/>
    </dgm:pt>
    <dgm:pt modelId="{6705367F-98F2-4CAE-9FA8-18F1B3051DA1}" type="sibTrans" cxnId="{9FC7DA81-D6A2-4183-9A0D-36C834C3F743}">
      <dgm:prSet/>
      <dgm:spPr/>
    </dgm:pt>
    <dgm:pt modelId="{4908596C-A745-4FF9-9AA8-89C60913BE7E}" type="pres">
      <dgm:prSet presAssocID="{5F270EF9-EA07-458E-B170-0B91AABE7674}" presName="root" presStyleCnt="0">
        <dgm:presLayoutVars>
          <dgm:dir/>
          <dgm:resizeHandles val="exact"/>
        </dgm:presLayoutVars>
      </dgm:prSet>
      <dgm:spPr/>
    </dgm:pt>
    <dgm:pt modelId="{7212F7EC-BF12-4060-9D64-90DCE54DBE88}" type="pres">
      <dgm:prSet presAssocID="{B445D02E-6F6A-437C-8966-58B539ECD5DB}" presName="compNode" presStyleCnt="0"/>
      <dgm:spPr/>
    </dgm:pt>
    <dgm:pt modelId="{93B70557-A5C9-48F1-85F0-E3BEE1DE43EE}" type="pres">
      <dgm:prSet presAssocID="{B445D02E-6F6A-437C-8966-58B539ECD5DB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llustrator with solid fill"/>
        </a:ext>
      </dgm:extLst>
    </dgm:pt>
    <dgm:pt modelId="{167EE8B7-3EAF-4D1F-B012-303AF27892A8}" type="pres">
      <dgm:prSet presAssocID="{B445D02E-6F6A-437C-8966-58B539ECD5DB}" presName="spaceRect" presStyleCnt="0"/>
      <dgm:spPr/>
    </dgm:pt>
    <dgm:pt modelId="{DEA41755-E1CF-41AB-B6AD-0109493C9730}" type="pres">
      <dgm:prSet presAssocID="{B445D02E-6F6A-437C-8966-58B539ECD5DB}" presName="textRect" presStyleLbl="revTx" presStyleIdx="0" presStyleCnt="3">
        <dgm:presLayoutVars>
          <dgm:chMax val="1"/>
          <dgm:chPref val="1"/>
        </dgm:presLayoutVars>
      </dgm:prSet>
      <dgm:spPr/>
    </dgm:pt>
    <dgm:pt modelId="{21391407-B5B0-4B38-9CA7-D8ACAC062FCB}" type="pres">
      <dgm:prSet presAssocID="{06704546-1F64-4BAD-BB14-718751B11ED9}" presName="sibTrans" presStyleCnt="0"/>
      <dgm:spPr/>
    </dgm:pt>
    <dgm:pt modelId="{ABE4B03A-05B2-4BCE-A5F8-220DFEBB486E}" type="pres">
      <dgm:prSet presAssocID="{0D8278BB-20A4-4605-9F9A-FB735FC99FE9}" presName="compNode" presStyleCnt="0"/>
      <dgm:spPr/>
    </dgm:pt>
    <dgm:pt modelId="{5153D984-AF44-4C6E-8F57-A3825606B23B}" type="pres">
      <dgm:prSet presAssocID="{0D8278BB-20A4-4605-9F9A-FB735FC99FE9}" presName="iconRect" presStyleLbl="node1" presStyleIdx="1" presStyleCnt="3"/>
      <dgm:spPr/>
    </dgm:pt>
    <dgm:pt modelId="{8763D88D-F005-49D7-9AD2-8BD6FF01165F}" type="pres">
      <dgm:prSet presAssocID="{0D8278BB-20A4-4605-9F9A-FB735FC99FE9}" presName="spaceRect" presStyleCnt="0"/>
      <dgm:spPr/>
    </dgm:pt>
    <dgm:pt modelId="{1AAF89AA-4B04-49A8-93AF-7A3BE35D9309}" type="pres">
      <dgm:prSet presAssocID="{0D8278BB-20A4-4605-9F9A-FB735FC99FE9}" presName="textRect" presStyleLbl="revTx" presStyleIdx="1" presStyleCnt="3">
        <dgm:presLayoutVars>
          <dgm:chMax val="1"/>
          <dgm:chPref val="1"/>
        </dgm:presLayoutVars>
      </dgm:prSet>
      <dgm:spPr/>
    </dgm:pt>
    <dgm:pt modelId="{7AAFEAA3-C9EF-4C98-ACC3-877B9989EAF5}" type="pres">
      <dgm:prSet presAssocID="{6705367F-98F2-4CAE-9FA8-18F1B3051DA1}" presName="sibTrans" presStyleCnt="0"/>
      <dgm:spPr/>
    </dgm:pt>
    <dgm:pt modelId="{F44CF374-B129-4A8A-AC5F-79D3079327FF}" type="pres">
      <dgm:prSet presAssocID="{4397088B-6BC7-4293-9319-6CA6AF795023}" presName="compNode" presStyleCnt="0"/>
      <dgm:spPr/>
    </dgm:pt>
    <dgm:pt modelId="{03A05A4D-2D08-4EE3-A90E-2882A4DEFA1C}" type="pres">
      <dgm:prSet presAssocID="{4397088B-6BC7-4293-9319-6CA6AF795023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Glasses outline"/>
        </a:ext>
      </dgm:extLst>
    </dgm:pt>
    <dgm:pt modelId="{7231B103-0F51-4E5B-A74E-33713902C1FF}" type="pres">
      <dgm:prSet presAssocID="{4397088B-6BC7-4293-9319-6CA6AF795023}" presName="spaceRect" presStyleCnt="0"/>
      <dgm:spPr/>
    </dgm:pt>
    <dgm:pt modelId="{8670533E-A5DF-446E-901B-0BF08A6C1D63}" type="pres">
      <dgm:prSet presAssocID="{4397088B-6BC7-4293-9319-6CA6AF79502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59B901F-9FB3-49EE-A2D9-6E1FE68B1A26}" srcId="{5F270EF9-EA07-458E-B170-0B91AABE7674}" destId="{B445D02E-6F6A-437C-8966-58B539ECD5DB}" srcOrd="0" destOrd="0" parTransId="{98757A09-EE25-4E6C-AAE3-FDAB6FAA539F}" sibTransId="{06704546-1F64-4BAD-BB14-718751B11ED9}"/>
    <dgm:cxn modelId="{042DF95B-A547-4D67-9BEE-637E394A6E7F}" type="presOf" srcId="{B445D02E-6F6A-437C-8966-58B539ECD5DB}" destId="{DEA41755-E1CF-41AB-B6AD-0109493C9730}" srcOrd="0" destOrd="0" presId="urn:microsoft.com/office/officeart/2018/2/layout/IconLabelList"/>
    <dgm:cxn modelId="{663EAD41-C608-4511-A817-BFA7D271E91B}" type="presOf" srcId="{0D8278BB-20A4-4605-9F9A-FB735FC99FE9}" destId="{1AAF89AA-4B04-49A8-93AF-7A3BE35D9309}" srcOrd="0" destOrd="0" presId="urn:microsoft.com/office/officeart/2018/2/layout/IconLabelList"/>
    <dgm:cxn modelId="{881FE168-097B-4057-BA27-1B02D0E27F18}" srcId="{5F270EF9-EA07-458E-B170-0B91AABE7674}" destId="{4397088B-6BC7-4293-9319-6CA6AF795023}" srcOrd="2" destOrd="0" parTransId="{4B606589-9940-46A8-A684-F2A01AF3D046}" sibTransId="{0A45E7BC-0DA6-4996-9EFF-EF5432670660}"/>
    <dgm:cxn modelId="{9FC7DA81-D6A2-4183-9A0D-36C834C3F743}" srcId="{5F270EF9-EA07-458E-B170-0B91AABE7674}" destId="{0D8278BB-20A4-4605-9F9A-FB735FC99FE9}" srcOrd="1" destOrd="0" parTransId="{B46D6710-8F4A-494A-ADC0-B6A660CDF132}" sibTransId="{6705367F-98F2-4CAE-9FA8-18F1B3051DA1}"/>
    <dgm:cxn modelId="{E2C2049E-4488-4B3A-8F74-C2CAAC9136E8}" type="presOf" srcId="{5F270EF9-EA07-458E-B170-0B91AABE7674}" destId="{4908596C-A745-4FF9-9AA8-89C60913BE7E}" srcOrd="0" destOrd="0" presId="urn:microsoft.com/office/officeart/2018/2/layout/IconLabelList"/>
    <dgm:cxn modelId="{86A283AD-A5D8-4756-9CA4-5FFA5C817256}" type="presOf" srcId="{4397088B-6BC7-4293-9319-6CA6AF795023}" destId="{8670533E-A5DF-446E-901B-0BF08A6C1D63}" srcOrd="0" destOrd="0" presId="urn:microsoft.com/office/officeart/2018/2/layout/IconLabelList"/>
    <dgm:cxn modelId="{AF9AA119-05C0-47F5-AA16-1BEDFECE6FD2}" type="presParOf" srcId="{4908596C-A745-4FF9-9AA8-89C60913BE7E}" destId="{7212F7EC-BF12-4060-9D64-90DCE54DBE88}" srcOrd="0" destOrd="0" presId="urn:microsoft.com/office/officeart/2018/2/layout/IconLabelList"/>
    <dgm:cxn modelId="{C634A8F4-9CB4-42C3-AFB9-2AED99C4200B}" type="presParOf" srcId="{7212F7EC-BF12-4060-9D64-90DCE54DBE88}" destId="{93B70557-A5C9-48F1-85F0-E3BEE1DE43EE}" srcOrd="0" destOrd="0" presId="urn:microsoft.com/office/officeart/2018/2/layout/IconLabelList"/>
    <dgm:cxn modelId="{A1C4BA40-E714-4E7F-968C-AAB89FA57754}" type="presParOf" srcId="{7212F7EC-BF12-4060-9D64-90DCE54DBE88}" destId="{167EE8B7-3EAF-4D1F-B012-303AF27892A8}" srcOrd="1" destOrd="0" presId="urn:microsoft.com/office/officeart/2018/2/layout/IconLabelList"/>
    <dgm:cxn modelId="{6C989430-4CDF-4360-8902-F7CABCB3D605}" type="presParOf" srcId="{7212F7EC-BF12-4060-9D64-90DCE54DBE88}" destId="{DEA41755-E1CF-41AB-B6AD-0109493C9730}" srcOrd="2" destOrd="0" presId="urn:microsoft.com/office/officeart/2018/2/layout/IconLabelList"/>
    <dgm:cxn modelId="{366338C0-66C2-420D-BB43-B97F8728745C}" type="presParOf" srcId="{4908596C-A745-4FF9-9AA8-89C60913BE7E}" destId="{21391407-B5B0-4B38-9CA7-D8ACAC062FCB}" srcOrd="1" destOrd="0" presId="urn:microsoft.com/office/officeart/2018/2/layout/IconLabelList"/>
    <dgm:cxn modelId="{285F8445-D264-453F-9ED6-5885B87D4F7A}" type="presParOf" srcId="{4908596C-A745-4FF9-9AA8-89C60913BE7E}" destId="{ABE4B03A-05B2-4BCE-A5F8-220DFEBB486E}" srcOrd="2" destOrd="0" presId="urn:microsoft.com/office/officeart/2018/2/layout/IconLabelList"/>
    <dgm:cxn modelId="{3BDBD2C2-C6A6-4C61-A583-6BA7DB2FC8F4}" type="presParOf" srcId="{ABE4B03A-05B2-4BCE-A5F8-220DFEBB486E}" destId="{5153D984-AF44-4C6E-8F57-A3825606B23B}" srcOrd="0" destOrd="0" presId="urn:microsoft.com/office/officeart/2018/2/layout/IconLabelList"/>
    <dgm:cxn modelId="{3313AC1A-5973-4CB4-B2D1-F6F5AE0B9378}" type="presParOf" srcId="{ABE4B03A-05B2-4BCE-A5F8-220DFEBB486E}" destId="{8763D88D-F005-49D7-9AD2-8BD6FF01165F}" srcOrd="1" destOrd="0" presId="urn:microsoft.com/office/officeart/2018/2/layout/IconLabelList"/>
    <dgm:cxn modelId="{74E334A8-5AD0-46E3-8783-34E0D0BC2231}" type="presParOf" srcId="{ABE4B03A-05B2-4BCE-A5F8-220DFEBB486E}" destId="{1AAF89AA-4B04-49A8-93AF-7A3BE35D9309}" srcOrd="2" destOrd="0" presId="urn:microsoft.com/office/officeart/2018/2/layout/IconLabelList"/>
    <dgm:cxn modelId="{1FDE10F4-0DED-4216-9380-CBE259453031}" type="presParOf" srcId="{4908596C-A745-4FF9-9AA8-89C60913BE7E}" destId="{7AAFEAA3-C9EF-4C98-ACC3-877B9989EAF5}" srcOrd="3" destOrd="0" presId="urn:microsoft.com/office/officeart/2018/2/layout/IconLabelList"/>
    <dgm:cxn modelId="{04F24915-125A-48D1-A388-3AC584970036}" type="presParOf" srcId="{4908596C-A745-4FF9-9AA8-89C60913BE7E}" destId="{F44CF374-B129-4A8A-AC5F-79D3079327FF}" srcOrd="4" destOrd="0" presId="urn:microsoft.com/office/officeart/2018/2/layout/IconLabelList"/>
    <dgm:cxn modelId="{70058884-64BA-49D4-8886-3FB8E1D2C6F2}" type="presParOf" srcId="{F44CF374-B129-4A8A-AC5F-79D3079327FF}" destId="{03A05A4D-2D08-4EE3-A90E-2882A4DEFA1C}" srcOrd="0" destOrd="0" presId="urn:microsoft.com/office/officeart/2018/2/layout/IconLabelList"/>
    <dgm:cxn modelId="{C873DAFA-FD33-4D02-B688-BB0B4E10A823}" type="presParOf" srcId="{F44CF374-B129-4A8A-AC5F-79D3079327FF}" destId="{7231B103-0F51-4E5B-A74E-33713902C1FF}" srcOrd="1" destOrd="0" presId="urn:microsoft.com/office/officeart/2018/2/layout/IconLabelList"/>
    <dgm:cxn modelId="{8914C063-5957-4C3E-A5EA-72DDDADAF2C9}" type="presParOf" srcId="{F44CF374-B129-4A8A-AC5F-79D3079327FF}" destId="{8670533E-A5DF-446E-901B-0BF08A6C1D6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70557-A5C9-48F1-85F0-E3BEE1DE43EE}">
      <dsp:nvSpPr>
        <dsp:cNvPr id="0" name=""/>
        <dsp:cNvSpPr/>
      </dsp:nvSpPr>
      <dsp:spPr>
        <a:xfrm>
          <a:off x="893211" y="335229"/>
          <a:ext cx="1097528" cy="109752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41755-E1CF-41AB-B6AD-0109493C9730}">
      <dsp:nvSpPr>
        <dsp:cNvPr id="0" name=""/>
        <dsp:cNvSpPr/>
      </dsp:nvSpPr>
      <dsp:spPr>
        <a:xfrm>
          <a:off x="222499" y="1753513"/>
          <a:ext cx="243895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444444"/>
              </a:solidFill>
              <a:latin typeface="Calibri"/>
              <a:ea typeface="Calibri"/>
              <a:cs typeface="Calibri"/>
            </a:rPr>
            <a:t>Unity + Fishing Sim</a:t>
          </a:r>
        </a:p>
      </dsp:txBody>
      <dsp:txXfrm>
        <a:off x="222499" y="1753513"/>
        <a:ext cx="2438952" cy="720000"/>
      </dsp:txXfrm>
    </dsp:sp>
    <dsp:sp modelId="{5153D984-AF44-4C6E-8F57-A3825606B23B}">
      <dsp:nvSpPr>
        <dsp:cNvPr id="0" name=""/>
        <dsp:cNvSpPr/>
      </dsp:nvSpPr>
      <dsp:spPr>
        <a:xfrm>
          <a:off x="3758980" y="335229"/>
          <a:ext cx="1097528" cy="1097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F89AA-4B04-49A8-93AF-7A3BE35D9309}">
      <dsp:nvSpPr>
        <dsp:cNvPr id="0" name=""/>
        <dsp:cNvSpPr/>
      </dsp:nvSpPr>
      <dsp:spPr>
        <a:xfrm>
          <a:off x="3088268" y="1753513"/>
          <a:ext cx="243895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000000"/>
              </a:solidFill>
              <a:latin typeface="Calibri"/>
              <a:ea typeface="Calibri"/>
              <a:cs typeface="Calibri"/>
            </a:rPr>
            <a:t>Panther Model</a:t>
          </a:r>
          <a:endParaRPr lang="en-US" sz="2500" kern="1200">
            <a:solidFill>
              <a:srgbClr val="444444"/>
            </a:solidFill>
            <a:latin typeface="Calibri"/>
            <a:ea typeface="Calibri"/>
            <a:cs typeface="Calibri"/>
          </a:endParaRPr>
        </a:p>
      </dsp:txBody>
      <dsp:txXfrm>
        <a:off x="3088268" y="1753513"/>
        <a:ext cx="2438952" cy="720000"/>
      </dsp:txXfrm>
    </dsp:sp>
    <dsp:sp modelId="{03A05A4D-2D08-4EE3-A90E-2882A4DEFA1C}">
      <dsp:nvSpPr>
        <dsp:cNvPr id="0" name=""/>
        <dsp:cNvSpPr/>
      </dsp:nvSpPr>
      <dsp:spPr>
        <a:xfrm>
          <a:off x="6624748" y="335229"/>
          <a:ext cx="1097528" cy="109752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0533E-A5DF-446E-901B-0BF08A6C1D63}">
      <dsp:nvSpPr>
        <dsp:cNvPr id="0" name=""/>
        <dsp:cNvSpPr/>
      </dsp:nvSpPr>
      <dsp:spPr>
        <a:xfrm>
          <a:off x="5954037" y="1753513"/>
          <a:ext cx="243895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 Display" panose="020F0302020204030204"/>
            </a:rPr>
            <a:t>Events</a:t>
          </a:r>
        </a:p>
      </dsp:txBody>
      <dsp:txXfrm>
        <a:off x="5954037" y="1753513"/>
        <a:ext cx="243895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0AAFF-CFF9-4FCD-983D-9DA48EFBA3AC}" type="datetimeFigureOut"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EC7A4-21B5-4666-A5CC-BD782D603B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3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7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95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itt-my.sharepoint.com/:f:/g/personal/jpcst52_pitt_edu/IgBdbRtR9fw_R5iSvS9m7imDAUK7PV-SVrWqpgWcRUrRXlM?e=X8sK1I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callinan/VRPsych2024" TargetMode="External"/><Relationship Id="rId5" Type="http://schemas.openxmlformats.org/officeDocument/2006/relationships/hyperlink" Target="https://github.com/jcallinan/CIST1423-Fall2026-Examples/blob/master/Week-02-PantherCamCast/README.md" TargetMode="Externa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jpeg"/><Relationship Id="rId9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itycapture.com/realityscan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github.com/alicevision/Meshro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oly.cam/tools/photogrammetry" TargetMode="External"/><Relationship Id="rId5" Type="http://schemas.openxmlformats.org/officeDocument/2006/relationships/hyperlink" Target="https://kiriengine.app" TargetMode="External"/><Relationship Id="rId4" Type="http://schemas.openxmlformats.org/officeDocument/2006/relationships/image" Target="../media/image2.jpeg"/><Relationship Id="rId9" Type="http://schemas.openxmlformats.org/officeDocument/2006/relationships/hyperlink" Target="https://www.realityscan.com/download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6Xw-4Yu2ijA" TargetMode="External"/><Relationship Id="rId13" Type="http://schemas.openxmlformats.org/officeDocument/2006/relationships/image" Target="../media/image23.png"/><Relationship Id="rId18" Type="http://schemas.openxmlformats.org/officeDocument/2006/relationships/hyperlink" Target="https://github.com/jcallinan/CIST1423-Fall2026-Examples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www.youtube.com/watch?v=EzppT0YhOzg" TargetMode="External"/><Relationship Id="rId12" Type="http://schemas.openxmlformats.org/officeDocument/2006/relationships/hyperlink" Target="https://github.com/NovoZZZ/fishing_simulator" TargetMode="External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www.upb.pitt.edu/student-engagement/alumni-and-family-weekend" TargetMode="External"/><Relationship Id="rId20" Type="http://schemas.openxmlformats.org/officeDocument/2006/relationships/hyperlink" Target="https://github.com/jcallinan/Rhodiu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45D0pFdqVgw" TargetMode="External"/><Relationship Id="rId11" Type="http://schemas.openxmlformats.org/officeDocument/2006/relationships/hyperlink" Target="https://github.com/evskii/UnityFishingMinigame" TargetMode="External"/><Relationship Id="rId5" Type="http://schemas.openxmlformats.org/officeDocument/2006/relationships/image" Target="../media/image21.png"/><Relationship Id="rId15" Type="http://schemas.openxmlformats.org/officeDocument/2006/relationships/hyperlink" Target="https://poly.cam/tools/photogrammetry" TargetMode="External"/><Relationship Id="rId10" Type="http://schemas.openxmlformats.org/officeDocument/2006/relationships/hyperlink" Target="https://github.com/alicevision/Meshroom" TargetMode="External"/><Relationship Id="rId19" Type="http://schemas.openxmlformats.org/officeDocument/2006/relationships/hyperlink" Target="https://github.com/jcallinan/CIST1422-Fall2026-Examples" TargetMode="External"/><Relationship Id="rId4" Type="http://schemas.openxmlformats.org/officeDocument/2006/relationships/image" Target="../media/image2.jpeg"/><Relationship Id="rId9" Type="http://schemas.openxmlformats.org/officeDocument/2006/relationships/image" Target="../media/image22.png"/><Relationship Id="rId14" Type="http://schemas.openxmlformats.org/officeDocument/2006/relationships/hyperlink" Target="https://www.kiriengine.app/tutorial/introduction-to-photo-scan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jpe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hyperlink" Target="https://assetstore.unity.com/search#q=fishi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hyperlink" Target="https://github.com/jcallinan/CIST1423-Fall2026-Examples/tree/master/Week-02-PantherCamCast" TargetMode="External"/><Relationship Id="rId5" Type="http://schemas.openxmlformats.org/officeDocument/2006/relationships/image" Target="../media/image28.png"/><Relationship Id="rId10" Type="http://schemas.openxmlformats.org/officeDocument/2006/relationships/image" Target="../media/image32.jpeg"/><Relationship Id="rId4" Type="http://schemas.openxmlformats.org/officeDocument/2006/relationships/image" Target="../media/image2.jpe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5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evskii/UnityFishingMinigame" TargetMode="External"/><Relationship Id="rId13" Type="http://schemas.openxmlformats.org/officeDocument/2006/relationships/image" Target="../media/image24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12" Type="http://schemas.openxmlformats.org/officeDocument/2006/relationships/hyperlink" Target="https://www.upb.pitt.edu/student-engagement/alumni-and-family-weekend" TargetMode="External"/><Relationship Id="rId2" Type="http://schemas.openxmlformats.org/officeDocument/2006/relationships/notesSlide" Target="../notesSlides/notesSlide16.xml"/><Relationship Id="rId16" Type="http://schemas.openxmlformats.org/officeDocument/2006/relationships/hyperlink" Target="https://github.com/jcallinan/Rhodiu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45D0pFdqVgw" TargetMode="External"/><Relationship Id="rId11" Type="http://schemas.openxmlformats.org/officeDocument/2006/relationships/image" Target="../media/image39.png"/><Relationship Id="rId5" Type="http://schemas.openxmlformats.org/officeDocument/2006/relationships/hyperlink" Target="https://www.youtube.com/watch?v=EzppT0YhOzg" TargetMode="External"/><Relationship Id="rId15" Type="http://schemas.openxmlformats.org/officeDocument/2006/relationships/hyperlink" Target="https://github.com/jcallinan/CIST1423-Fall2026-Examples" TargetMode="External"/><Relationship Id="rId10" Type="http://schemas.openxmlformats.org/officeDocument/2006/relationships/hyperlink" Target="https://github.com/NovoZZZ/fishing_simulator" TargetMode="External"/><Relationship Id="rId4" Type="http://schemas.openxmlformats.org/officeDocument/2006/relationships/image" Target="../media/image37.png"/><Relationship Id="rId9" Type="http://schemas.openxmlformats.org/officeDocument/2006/relationships/hyperlink" Target="https://github.com/Ithalos/FishingGame" TargetMode="External"/><Relationship Id="rId14" Type="http://schemas.openxmlformats.org/officeDocument/2006/relationships/hyperlink" Target="https://github.com/jcallinan/CIST1422-Fall2026-Examples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ValveSoftware/steamvr_unity_plugin" TargetMode="External"/><Relationship Id="rId13" Type="http://schemas.openxmlformats.org/officeDocument/2006/relationships/hyperlink" Target="https://valvesoftware.github.io/steamvr_unity_plugin/articles/Interaction-System.html" TargetMode="Externa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hMkfsiX2JiU" TargetMode="External"/><Relationship Id="rId11" Type="http://schemas.openxmlformats.org/officeDocument/2006/relationships/hyperlink" Target="https://gamedevbeginner.com/state-machines-in-unity-how-and-when-to-use-them/" TargetMode="External"/><Relationship Id="rId5" Type="http://schemas.openxmlformats.org/officeDocument/2006/relationships/hyperlink" Target="https://www.youtube.com/watch?v=cwlFbLLR3qc" TargetMode="External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hyperlink" Target="https://github.com/nvjob/nvjob-boids" TargetMode="External"/><Relationship Id="rId1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hyperlink" Target="https://wirewhiz.com/vr-grabbing-tutorial/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www.youtube.com/watch?v=Oohjh-JC020" TargetMode="External"/><Relationship Id="rId12" Type="http://schemas.openxmlformats.org/officeDocument/2006/relationships/hyperlink" Target="https://valvesoftware.github.io/steamvr_unity_plugin/articles/Interaction-System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hMkfsiX2JiU" TargetMode="External"/><Relationship Id="rId11" Type="http://schemas.openxmlformats.org/officeDocument/2006/relationships/image" Target="../media/image23.png"/><Relationship Id="rId5" Type="http://schemas.openxmlformats.org/officeDocument/2006/relationships/image" Target="../media/image21.png"/><Relationship Id="rId10" Type="http://schemas.openxmlformats.org/officeDocument/2006/relationships/hyperlink" Target="https://github.com/nvjob/nvjob-boids" TargetMode="External"/><Relationship Id="rId4" Type="http://schemas.openxmlformats.org/officeDocument/2006/relationships/image" Target="../media/image2.jpeg"/><Relationship Id="rId9" Type="http://schemas.openxmlformats.org/officeDocument/2006/relationships/hyperlink" Target="https://github.com/ValveSoftware/steamvr_unity_plugin" TargetMode="External"/><Relationship Id="rId1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Virtual Reality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973" y="4619624"/>
            <a:ext cx="9215730" cy="1038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solidFill>
                  <a:schemeClr val="accent1"/>
                </a:solidFill>
                <a:ea typeface="+mn-lt"/>
                <a:cs typeface="+mn-lt"/>
              </a:rPr>
              <a:t>Wednesdays at 6:00pm</a:t>
            </a:r>
          </a:p>
          <a:p>
            <a:pPr algn="r"/>
            <a:r>
              <a:rPr lang="en-US" sz="2200">
                <a:ea typeface="+mn-lt"/>
                <a:cs typeface="+mn-lt"/>
              </a:rPr>
              <a:t>CIST 1423 - 2010   VIRTUAL REALITY PROGRAMMING AND TECHNOLOGY</a:t>
            </a:r>
            <a:endParaRPr lang="en-US" sz="220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E2FBD5-8DA3-0E46-1262-D511525AA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851" y="1756241"/>
            <a:ext cx="4478312" cy="2065107"/>
          </a:xfrm>
          <a:prstGeom prst="rect">
            <a:avLst/>
          </a:prstGeom>
        </p:spPr>
      </p:pic>
      <p:pic>
        <p:nvPicPr>
          <p:cNvPr id="5" name="Picture 4" descr="A group of people in front of computers&#10;&#10;AI-generated content may be incorrect.">
            <a:extLst>
              <a:ext uri="{FF2B5EF4-FFF2-40B4-BE49-F238E27FC236}">
                <a16:creationId xmlns:a16="http://schemas.microsoft.com/office/drawing/2014/main" id="{5BEF43DF-ADCB-0A81-1D09-2F2047E28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409" y="3482"/>
            <a:ext cx="2274211" cy="1373263"/>
          </a:xfrm>
          <a:prstGeom prst="rect">
            <a:avLst/>
          </a:prstGeom>
        </p:spPr>
      </p:pic>
      <p:pic>
        <p:nvPicPr>
          <p:cNvPr id="9" name="Picture 8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8E76E65B-AD42-9BFE-2364-EFD68BA13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" y="5032"/>
            <a:ext cx="3388384" cy="838200"/>
          </a:xfrm>
          <a:prstGeom prst="rect">
            <a:avLst/>
          </a:prstGeom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8733533D-4F2E-E7AB-7A15-C3969F026ADA}"/>
              </a:ext>
            </a:extLst>
          </p:cNvPr>
          <p:cNvSpPr/>
          <p:nvPr/>
        </p:nvSpPr>
        <p:spPr>
          <a:xfrm>
            <a:off x="414068" y="5805692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/>
        </p:spPr>
      </p:sp>
      <p:pic>
        <p:nvPicPr>
          <p:cNvPr id="10" name="Image 2" descr="/tmp/pitt/icons/paw_gold.png">
            <a:extLst>
              <a:ext uri="{FF2B5EF4-FFF2-40B4-BE49-F238E27FC236}">
                <a16:creationId xmlns:a16="http://schemas.microsoft.com/office/drawing/2014/main" id="{78F06577-C342-CA75-1FDD-18A10924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60" y="5924564"/>
            <a:ext cx="420624" cy="420624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7FA0F112-BD4D-023E-9210-0C02F25D616E}"/>
              </a:ext>
            </a:extLst>
          </p:cNvPr>
          <p:cNvSpPr txBox="1"/>
          <p:nvPr/>
        </p:nvSpPr>
        <p:spPr>
          <a:xfrm>
            <a:off x="1145588" y="58056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0D68A"/>
                </a:solidFill>
                <a:latin typeface="Calibri"/>
                <a:ea typeface="Calibri"/>
                <a:cs typeface="Calibri"/>
              </a:rPr>
              <a:t>PS: student presentation at 6:00, then we head out for Panther pics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2556-C9E4-0773-2152-A9AD2608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0182"/>
            <a:ext cx="10515600" cy="1325563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C8ADE0-C53B-9C16-EFDA-A40A472298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714824"/>
          <a:ext cx="8615489" cy="2808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 descr="A group of people in front of computers&#10;&#10;AI-generated content may be incorrect.">
            <a:extLst>
              <a:ext uri="{FF2B5EF4-FFF2-40B4-BE49-F238E27FC236}">
                <a16:creationId xmlns:a16="http://schemas.microsoft.com/office/drawing/2014/main" id="{D898DDEB-0D9A-C8A7-CE98-AC38E0CFE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6409" y="3482"/>
            <a:ext cx="2274211" cy="1373263"/>
          </a:xfrm>
          <a:prstGeom prst="rect">
            <a:avLst/>
          </a:prstGeom>
        </p:spPr>
      </p:pic>
      <p:pic>
        <p:nvPicPr>
          <p:cNvPr id="13" name="Picture 12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FDD8B52E-14C8-E5CC-22FD-C1401D6591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" y="5032"/>
            <a:ext cx="3388384" cy="838200"/>
          </a:xfrm>
          <a:prstGeom prst="rect">
            <a:avLst/>
          </a:prstGeom>
        </p:spPr>
      </p:pic>
      <p:pic>
        <p:nvPicPr>
          <p:cNvPr id="19" name="Picture 18" descr="Home - A VR Spacewalk on Steam">
            <a:extLst>
              <a:ext uri="{FF2B5EF4-FFF2-40B4-BE49-F238E27FC236}">
                <a16:creationId xmlns:a16="http://schemas.microsoft.com/office/drawing/2014/main" id="{C4DD335D-0737-C591-D5DF-F5616AB25D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9892" y="5259957"/>
            <a:ext cx="2857500" cy="1600200"/>
          </a:xfrm>
          <a:prstGeom prst="rect">
            <a:avLst/>
          </a:prstGeom>
        </p:spPr>
      </p:pic>
      <p:pic>
        <p:nvPicPr>
          <p:cNvPr id="22" name="Picture 21" descr="A person wearing virtual reality headset and holding controllers&#10;&#10;AI-generated content may be incorrect.">
            <a:extLst>
              <a:ext uri="{FF2B5EF4-FFF2-40B4-BE49-F238E27FC236}">
                <a16:creationId xmlns:a16="http://schemas.microsoft.com/office/drawing/2014/main" id="{E88E5629-B802-2126-5912-2439E795AD9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351738" y="5267785"/>
            <a:ext cx="2855214" cy="159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3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5ED22-BB02-CE8D-5C61-60610FDBF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0" y="0"/>
            <a:ext cx="556203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6DDFDC-0607-AC36-7E61-8FECE7B3FDCB}"/>
              </a:ext>
            </a:extLst>
          </p:cNvPr>
          <p:cNvSpPr txBox="1"/>
          <p:nvPr/>
        </p:nvSpPr>
        <p:spPr>
          <a:xfrm>
            <a:off x="6106542" y="930055"/>
            <a:ext cx="494453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No class next week – party instead!</a:t>
            </a:r>
          </a:p>
          <a:p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Wednesday, September 9 2026</a:t>
            </a:r>
          </a:p>
          <a:p>
            <a:r>
              <a:rPr lang="en-US" sz="2400">
                <a:ea typeface="Calibri"/>
                <a:cs typeface="Calibri"/>
              </a:rPr>
              <a:t>5:00pm – 8:00pm</a:t>
            </a:r>
          </a:p>
        </p:txBody>
      </p:sp>
      <p:pic>
        <p:nvPicPr>
          <p:cNvPr id="7" name="Picture 6" descr="A group of people in front of computers&#10;&#10;AI-generated content may be incorrect.">
            <a:extLst>
              <a:ext uri="{FF2B5EF4-FFF2-40B4-BE49-F238E27FC236}">
                <a16:creationId xmlns:a16="http://schemas.microsoft.com/office/drawing/2014/main" id="{4A4BE708-1ADA-2209-5313-F67FDC747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409" y="5481256"/>
            <a:ext cx="2274211" cy="1373263"/>
          </a:xfrm>
          <a:prstGeom prst="rect">
            <a:avLst/>
          </a:prstGeom>
        </p:spPr>
      </p:pic>
      <p:pic>
        <p:nvPicPr>
          <p:cNvPr id="9" name="Image 0" descr="/tmp/pitt/vr2_unpacked/ppt/media/image16.png">
            <a:extLst>
              <a:ext uri="{FF2B5EF4-FFF2-40B4-BE49-F238E27FC236}">
                <a16:creationId xmlns:a16="http://schemas.microsoft.com/office/drawing/2014/main" id="{1A788CCB-59F8-7A09-4BF6-5F89C8D93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587" y="165857"/>
            <a:ext cx="1817298" cy="43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5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E2841"/>
                </a:solidFill>
                <a:latin typeface="Cambria"/>
                <a:ea typeface="Cambria"/>
                <a:cs typeface="Cambria" pitchFamily="34" charset="-120"/>
              </a:rPr>
              <a:t>Right now: Panther Model Pics</a:t>
            </a:r>
            <a:endParaRPr lang="en-US" sz="29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457200" y="1353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~6:15–6:30 PM — right after the student presentation</a:t>
            </a:r>
            <a:endParaRPr lang="en-US" sz="1450"/>
          </a:p>
        </p:txBody>
      </p:sp>
      <p:sp>
        <p:nvSpPr>
          <p:cNvPr id="7" name="Shape 3"/>
          <p:cNvSpPr/>
          <p:nvPr/>
        </p:nvSpPr>
        <p:spPr>
          <a:xfrm>
            <a:off x="457200" y="1810512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0E2841"/>
          </a:solidFill>
          <a:ln/>
        </p:spPr>
      </p:sp>
      <p:pic>
        <p:nvPicPr>
          <p:cNvPr id="8" name="Image 2" descr="/tmp/pitt/icons/pin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011680"/>
            <a:ext cx="438912" cy="43891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61872" y="20299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subject: the bronze Panther</a:t>
            </a:r>
            <a:endParaRPr lang="en-US" sz="1600"/>
          </a:p>
        </p:txBody>
      </p:sp>
      <p:pic>
        <p:nvPicPr>
          <p:cNvPr id="10" name="Image 3" descr="/tmp/pitt/panther_photos/panther1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3232" y="2542032"/>
            <a:ext cx="4709160" cy="17830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06440" y="1810512"/>
            <a:ext cx="5897880" cy="4434840"/>
          </a:xfrm>
          <a:prstGeom prst="roundRect">
            <a:avLst>
              <a:gd name="adj" fmla="val 1649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3" name="Image 4" descr="/tmp/pitt/icons/camera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2029968"/>
            <a:ext cx="475488" cy="47548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675120" y="206654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Shot details</a:t>
            </a:r>
            <a:endParaRPr lang="en-US" sz="1650">
              <a:latin typeface="Calibri"/>
              <a:ea typeface="Calibri"/>
              <a:cs typeface="Calibri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5812479" y="2513278"/>
            <a:ext cx="5754681" cy="372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100–150 photos, 60–70% overlap between shots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Circle the statue at 3 heights: low, eye-level, high (step-stool/phone-up)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Overcast light or open shade — avoid hard shadows and glare on the bronze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Keep people and moving objects out of frame; steady hands, no motion blur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A few close-up detail shots of the face/paws for texture quality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shoot: what to do with the photos</a:t>
            </a:r>
            <a:endParaRPr lang="en-US" sz="3100"/>
          </a:p>
        </p:txBody>
      </p:sp>
      <p:sp>
        <p:nvSpPr>
          <p:cNvPr id="9" name="Shape 4"/>
          <p:cNvSpPr/>
          <p:nvPr/>
        </p:nvSpPr>
        <p:spPr>
          <a:xfrm>
            <a:off x="428445" y="1677838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0" name="Image 3" descr="/tmp/pitt/icons/clou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65" y="1933870"/>
            <a:ext cx="475488" cy="47548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02765" y="248251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immediately</a:t>
            </a:r>
            <a:endParaRPr lang="en-US" sz="1600"/>
          </a:p>
        </p:txBody>
      </p:sp>
      <p:sp>
        <p:nvSpPr>
          <p:cNvPr id="12" name="Text 6"/>
          <p:cNvSpPr txBox="1"/>
          <p:nvPr/>
        </p:nvSpPr>
        <p:spPr>
          <a:xfrm>
            <a:off x="702765" y="3049438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Everyone uploads their shots into the shared "Panther-Shoot-Wk2" folder on the class OneDrive folder- </a:t>
            </a:r>
            <a:r>
              <a:rPr lang="en-US" sz="1300">
                <a:solidFill>
                  <a:srgbClr val="5B6B76"/>
                </a:solidFill>
                <a:ea typeface="+mn-lt"/>
                <a:cs typeface="+mn-lt"/>
                <a:hlinkClick r:id="rId6"/>
              </a:rPr>
              <a:t>Panther-Shoot-Wk2</a:t>
            </a:r>
            <a:r>
              <a:rPr lang="en-US" sz="130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 </a:t>
            </a:r>
            <a:endParaRPr lang="en-US" sz="1300">
              <a:solidFill>
                <a:srgbClr val="5B6B76"/>
              </a:solidFill>
              <a:ea typeface="Calibri"/>
              <a:cs typeface="Calibri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4223205" y="1677838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4" name="Image 4" descr="/tmp/pitt/icons/tool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7525" y="1933870"/>
            <a:ext cx="475488" cy="47548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497525" y="248251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Make your own folder</a:t>
            </a:r>
          </a:p>
        </p:txBody>
      </p:sp>
      <p:sp>
        <p:nvSpPr>
          <p:cNvPr id="16" name="Text 9"/>
          <p:cNvSpPr txBox="1"/>
          <p:nvPr/>
        </p:nvSpPr>
        <p:spPr>
          <a:xfrm>
            <a:off x="4497525" y="3049438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person’s photos in their own subfolder (initials + count, e.g. "JC_38") so we can tell which set is missing angles.</a:t>
            </a:r>
            <a:endParaRPr lang="en-US" sz="1300"/>
          </a:p>
        </p:txBody>
      </p:sp>
      <p:sp>
        <p:nvSpPr>
          <p:cNvPr id="17" name="Shape 10"/>
          <p:cNvSpPr/>
          <p:nvPr/>
        </p:nvSpPr>
        <p:spPr>
          <a:xfrm>
            <a:off x="8017965" y="1677838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8" name="Image 5" descr="/tmp/pitt/icons/chec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2285" y="1933870"/>
            <a:ext cx="475488" cy="47548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292285" y="248251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gets deleted</a:t>
            </a:r>
            <a:endParaRPr lang="en-US" sz="1600"/>
          </a:p>
        </p:txBody>
      </p:sp>
      <p:sp>
        <p:nvSpPr>
          <p:cNvPr id="20" name="Text 12"/>
          <p:cNvSpPr txBox="1"/>
          <p:nvPr/>
        </p:nvSpPr>
        <p:spPr>
          <a:xfrm>
            <a:off x="8292285" y="3049438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Keep originals even if a shot looks bad or blurry — the photogrammetry tool decides what’s usable..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4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→ this week</a:t>
            </a:r>
            <a:endParaRPr lang="en-US" sz="3100"/>
          </a:p>
        </p:txBody>
      </p:sp>
      <p:sp>
        <p:nvSpPr>
          <p:cNvPr id="6" name="Shape 2"/>
          <p:cNvSpPr/>
          <p:nvPr/>
        </p:nvSpPr>
        <p:spPr>
          <a:xfrm>
            <a:off x="457200" y="1792281"/>
            <a:ext cx="5486400" cy="4379919"/>
          </a:xfrm>
          <a:prstGeom prst="roundRect">
            <a:avLst>
              <a:gd name="adj" fmla="val 163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190195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recap</a:t>
            </a:r>
            <a:endParaRPr lang="en-US" sz="1700"/>
          </a:p>
        </p:txBody>
      </p:sp>
      <p:sp>
        <p:nvSpPr>
          <p:cNvPr id="8" name="Text 4"/>
          <p:cNvSpPr txBox="1"/>
          <p:nvPr/>
        </p:nvSpPr>
        <p:spPr>
          <a:xfrm>
            <a:off x="777240" y="2395728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GitHub + Unity Hub accounts created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Toured the Vive Pro 2, Quest 2/3, HoloLens stage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SteamVR interaction sample explored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100314" y="1792281"/>
            <a:ext cx="5675892" cy="2539617"/>
          </a:xfrm>
          <a:prstGeom prst="roundRect">
            <a:avLst>
              <a:gd name="adj" fmla="val 1633"/>
            </a:avLst>
          </a:prstGeom>
          <a:solidFill>
            <a:srgbClr val="0E284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92240" y="190195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Ch. 2 (first half)</a:t>
            </a:r>
            <a:endParaRPr lang="en-US" sz="1700"/>
          </a:p>
        </p:txBody>
      </p:sp>
      <p:sp>
        <p:nvSpPr>
          <p:cNvPr id="11" name="Text 7"/>
          <p:cNvSpPr txBox="1"/>
          <p:nvPr/>
        </p:nvSpPr>
        <p:spPr>
          <a:xfrm>
            <a:off x="6492240" y="2395728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Choosing a render pipeline (URP)</a:t>
            </a:r>
            <a:endParaRPr lang="en-US" sz="15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Touring the Editor: Hierarchy, Scene, Game, Inspector, Project</a:t>
            </a:r>
            <a:endParaRPr lang="en-US" sz="15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Working with merging </a:t>
            </a:r>
            <a:r>
              <a:rPr lang="en-US" sz="15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FIshing</a:t>
            </a:r>
            <a: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Sim + </a:t>
            </a:r>
            <a:r>
              <a:rPr lang="en-US" sz="15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VRPsych</a:t>
            </a:r>
            <a: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Example:</a:t>
            </a:r>
            <a:b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b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550">
                <a:solidFill>
                  <a:srgbClr val="FFFFFF"/>
                </a:solidFill>
                <a:ea typeface="+mn-lt"/>
                <a:cs typeface="+mn-lt"/>
                <a:hlinkClick r:id="rId5"/>
              </a:rPr>
              <a:t>https://github.com/jcallinan/CIST1423-Fall2026-Examples/blob/master/Week-02-PantherCamCast/README.md</a:t>
            </a:r>
            <a:r>
              <a:rPr lang="en-US" sz="1550">
                <a:solidFill>
                  <a:srgbClr val="FFFFFF"/>
                </a:solidFill>
                <a:ea typeface="+mn-lt"/>
                <a:cs typeface="+mn-lt"/>
              </a:rPr>
              <a:t> </a:t>
            </a:r>
          </a:p>
          <a:p>
            <a:pPr marL="342900" indent="-342900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1550">
                <a:solidFill>
                  <a:srgbClr val="FFFFFF"/>
                </a:solidFill>
                <a:ea typeface="+mn-lt"/>
                <a:cs typeface="+mn-lt"/>
                <a:hlinkClick r:id="rId6"/>
              </a:rPr>
              <a:t>https://github.com/jcallinan/VRPsych2024</a:t>
            </a:r>
            <a:r>
              <a:rPr lang="en-US" sz="1550">
                <a:solidFill>
                  <a:srgbClr val="FFFFFF"/>
                </a:solidFill>
                <a:ea typeface="+mn-lt"/>
                <a:cs typeface="+mn-lt"/>
              </a:rPr>
              <a:t> </a:t>
            </a:r>
            <a:endParaRPr lang="en-US" sz="155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Unity Editor, piece by piece</a:t>
            </a:r>
            <a:endParaRPr lang="en-US" sz="3100"/>
          </a:p>
        </p:txBody>
      </p:sp>
      <p:sp>
        <p:nvSpPr>
          <p:cNvPr id="6" name="Shape 2"/>
          <p:cNvSpPr/>
          <p:nvPr/>
        </p:nvSpPr>
        <p:spPr>
          <a:xfrm>
            <a:off x="457200" y="1691640"/>
            <a:ext cx="2706624" cy="297180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76656" y="192024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8" name="Image 2" descr="/tmp/pitt/icons/cog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2075688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72491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650"/>
          </a:p>
        </p:txBody>
      </p:sp>
      <p:sp>
        <p:nvSpPr>
          <p:cNvPr id="10" name="Text 5"/>
          <p:cNvSpPr txBox="1"/>
          <p:nvPr/>
        </p:nvSpPr>
        <p:spPr>
          <a:xfrm>
            <a:off x="640080" y="3145536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GameObject in the open scene, nested by parent/child</a:t>
            </a:r>
            <a:endParaRPr lang="en-US" sz="1250"/>
          </a:p>
        </p:txBody>
      </p:sp>
      <p:sp>
        <p:nvSpPr>
          <p:cNvPr id="11" name="Shape 6"/>
          <p:cNvSpPr/>
          <p:nvPr/>
        </p:nvSpPr>
        <p:spPr>
          <a:xfrm>
            <a:off x="3310128" y="1691640"/>
            <a:ext cx="2706624" cy="297180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529584" y="192024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13" name="Image 3" descr="/tmp/pitt/icons/image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1316" y="2075688"/>
            <a:ext cx="384048" cy="3840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493008" y="272491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&amp; Game view</a:t>
            </a:r>
            <a:endParaRPr lang="en-US" sz="1650"/>
          </a:p>
        </p:txBody>
      </p:sp>
      <p:sp>
        <p:nvSpPr>
          <p:cNvPr id="15" name="Text 9"/>
          <p:cNvSpPr txBox="1"/>
          <p:nvPr/>
        </p:nvSpPr>
        <p:spPr>
          <a:xfrm>
            <a:off x="3493008" y="3145536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= you moving around; Game = what the player/headset sees</a:t>
            </a:r>
            <a:endParaRPr lang="en-US" sz="1250"/>
          </a:p>
        </p:txBody>
      </p:sp>
      <p:sp>
        <p:nvSpPr>
          <p:cNvPr id="16" name="Shape 10"/>
          <p:cNvSpPr/>
          <p:nvPr/>
        </p:nvSpPr>
        <p:spPr>
          <a:xfrm>
            <a:off x="6163056" y="1691640"/>
            <a:ext cx="2706624" cy="297180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382512" y="192024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18" name="Image 4" descr="/tmp/pitt/icons/tool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244" y="207568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45936" y="272491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650"/>
          </a:p>
        </p:txBody>
      </p:sp>
      <p:sp>
        <p:nvSpPr>
          <p:cNvPr id="20" name="Text 13"/>
          <p:cNvSpPr txBox="1"/>
          <p:nvPr/>
        </p:nvSpPr>
        <p:spPr>
          <a:xfrm>
            <a:off x="6345936" y="3145536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+ values on whatever you’ve selected</a:t>
            </a:r>
            <a:endParaRPr lang="en-US" sz="1250"/>
          </a:p>
        </p:txBody>
      </p:sp>
      <p:sp>
        <p:nvSpPr>
          <p:cNvPr id="21" name="Shape 14"/>
          <p:cNvSpPr/>
          <p:nvPr/>
        </p:nvSpPr>
        <p:spPr>
          <a:xfrm>
            <a:off x="9015984" y="1691640"/>
            <a:ext cx="2706624" cy="297180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235440" y="192024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23" name="Image 5" descr="/tmp/pitt/icons/cub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7172" y="2075688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198864" y="272491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window</a:t>
            </a:r>
            <a:endParaRPr lang="en-US" sz="1650"/>
          </a:p>
        </p:txBody>
      </p:sp>
      <p:sp>
        <p:nvSpPr>
          <p:cNvPr id="25" name="Text 17"/>
          <p:cNvSpPr txBox="1"/>
          <p:nvPr/>
        </p:nvSpPr>
        <p:spPr>
          <a:xfrm>
            <a:off x="9198864" y="3145536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in the project, on disk</a:t>
            </a:r>
            <a:endParaRPr lang="en-US" sz="1250"/>
          </a:p>
        </p:txBody>
      </p:sp>
      <p:pic>
        <p:nvPicPr>
          <p:cNvPr id="26" name="Image 6" descr="/tmp/pitt/vr2_unpacked/ppt/media/image14.jpe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7200" y="4892040"/>
            <a:ext cx="2724912" cy="146304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 → 3D model → Unity</a:t>
            </a:r>
            <a:endParaRPr lang="en-US" sz="3100"/>
          </a:p>
        </p:txBody>
      </p:sp>
      <p:sp>
        <p:nvSpPr>
          <p:cNvPr id="6" name="Shape 2"/>
          <p:cNvSpPr/>
          <p:nvPr/>
        </p:nvSpPr>
        <p:spPr>
          <a:xfrm>
            <a:off x="457200" y="1536192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536192"/>
            <a:ext cx="2651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Capture</a:t>
            </a:r>
            <a:endParaRPr lang="en-US" sz="1500"/>
          </a:p>
        </p:txBody>
      </p:sp>
      <p:sp>
        <p:nvSpPr>
          <p:cNvPr id="8" name="Shape 4"/>
          <p:cNvSpPr/>
          <p:nvPr/>
        </p:nvSpPr>
        <p:spPr>
          <a:xfrm>
            <a:off x="3127248" y="1700784"/>
            <a:ext cx="164592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9" name="Shape 5"/>
          <p:cNvSpPr/>
          <p:nvPr/>
        </p:nvSpPr>
        <p:spPr>
          <a:xfrm>
            <a:off x="3300984" y="1536192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00984" y="1536192"/>
            <a:ext cx="2651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Process</a:t>
            </a:r>
            <a:endParaRPr lang="en-US" sz="1500"/>
          </a:p>
        </p:txBody>
      </p:sp>
      <p:sp>
        <p:nvSpPr>
          <p:cNvPr id="11" name="Shape 7"/>
          <p:cNvSpPr/>
          <p:nvPr/>
        </p:nvSpPr>
        <p:spPr>
          <a:xfrm>
            <a:off x="5971032" y="1700784"/>
            <a:ext cx="164592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12" name="Shape 8"/>
          <p:cNvSpPr/>
          <p:nvPr/>
        </p:nvSpPr>
        <p:spPr>
          <a:xfrm>
            <a:off x="6144768" y="1536192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44768" y="1536192"/>
            <a:ext cx="2651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Clean &amp; decimate</a:t>
            </a:r>
            <a:endParaRPr lang="en-US" sz="1500"/>
          </a:p>
        </p:txBody>
      </p:sp>
      <p:sp>
        <p:nvSpPr>
          <p:cNvPr id="14" name="Shape 10"/>
          <p:cNvSpPr/>
          <p:nvPr/>
        </p:nvSpPr>
        <p:spPr>
          <a:xfrm>
            <a:off x="8814816" y="1700784"/>
            <a:ext cx="164592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15" name="Shape 11"/>
          <p:cNvSpPr/>
          <p:nvPr/>
        </p:nvSpPr>
        <p:spPr>
          <a:xfrm>
            <a:off x="8988552" y="1536192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0E2841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988552" y="1536192"/>
            <a:ext cx="2651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Import to Unity</a:t>
            </a:r>
            <a:endParaRPr lang="en-US" sz="1500"/>
          </a:p>
        </p:txBody>
      </p:sp>
      <p:sp>
        <p:nvSpPr>
          <p:cNvPr id="17" name="Shape 13"/>
          <p:cNvSpPr/>
          <p:nvPr/>
        </p:nvSpPr>
        <p:spPr>
          <a:xfrm>
            <a:off x="457200" y="233172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080" y="25420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 Engine</a:t>
            </a:r>
            <a:endParaRPr lang="en-US" sz="1600"/>
          </a:p>
        </p:txBody>
      </p:sp>
      <p:sp>
        <p:nvSpPr>
          <p:cNvPr id="19" name="Text 15"/>
          <p:cNvSpPr txBox="1"/>
          <p:nvPr/>
        </p:nvSpPr>
        <p:spPr>
          <a:xfrm>
            <a:off x="640080" y="299923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mobile app, phone-only workflow, Photo Scan mode</a:t>
            </a:r>
            <a:endParaRPr lang="en-US" sz="2000"/>
          </a:p>
        </p:txBody>
      </p:sp>
      <p:sp>
        <p:nvSpPr>
          <p:cNvPr id="20" name="Text 16">
            <a:hlinkClick r:id="rId5"/>
          </p:cNvPr>
          <p:cNvSpPr txBox="1"/>
          <p:nvPr/>
        </p:nvSpPr>
        <p:spPr>
          <a:xfrm>
            <a:off x="640080" y="566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kiriengine.app</a:t>
            </a:r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300984" y="233172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483864" y="25420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Polycam</a:t>
            </a:r>
            <a:endParaRPr lang="en-US" sz="1600"/>
          </a:p>
        </p:txBody>
      </p:sp>
      <p:sp>
        <p:nvSpPr>
          <p:cNvPr id="23" name="Text 19"/>
          <p:cNvSpPr txBox="1"/>
          <p:nvPr/>
        </p:nvSpPr>
        <p:spPr>
          <a:xfrm>
            <a:off x="3483864" y="299923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LiDAR + photo mode, fast cloud processing</a:t>
            </a:r>
            <a:endParaRPr lang="en-US" sz="2000"/>
          </a:p>
        </p:txBody>
      </p:sp>
      <p:sp>
        <p:nvSpPr>
          <p:cNvPr id="24" name="Text 20">
            <a:hlinkClick r:id="rId6"/>
          </p:cNvPr>
          <p:cNvSpPr txBox="1"/>
          <p:nvPr/>
        </p:nvSpPr>
        <p:spPr>
          <a:xfrm>
            <a:off x="3483864" y="566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poly.cam/tools/photogrammetry</a:t>
            </a:r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144768" y="233172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27648" y="25420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Meshroom</a:t>
            </a:r>
            <a:endParaRPr lang="en-US" sz="1600"/>
          </a:p>
        </p:txBody>
      </p:sp>
      <p:sp>
        <p:nvSpPr>
          <p:cNvPr id="27" name="Text 23"/>
          <p:cNvSpPr txBox="1"/>
          <p:nvPr/>
        </p:nvSpPr>
        <p:spPr>
          <a:xfrm>
            <a:off x="6327648" y="299923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(AliceVision), desktop, node-based, full control</a:t>
            </a:r>
            <a:endParaRPr lang="en-US" sz="2000"/>
          </a:p>
        </p:txBody>
      </p:sp>
      <p:sp>
        <p:nvSpPr>
          <p:cNvPr id="28" name="Text 24">
            <a:hlinkClick r:id="rId7"/>
          </p:cNvPr>
          <p:cNvSpPr txBox="1"/>
          <p:nvPr/>
        </p:nvSpPr>
        <p:spPr>
          <a:xfrm>
            <a:off x="6327648" y="566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github.com/alicevision/Meshroom</a:t>
            </a:r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988552" y="233172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171432" y="25420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RealityScan</a:t>
            </a:r>
            <a:endParaRPr lang="en-US" sz="1600"/>
          </a:p>
        </p:txBody>
      </p:sp>
      <p:sp>
        <p:nvSpPr>
          <p:cNvPr id="31" name="Text 27"/>
          <p:cNvSpPr txBox="1"/>
          <p:nvPr/>
        </p:nvSpPr>
        <p:spPr>
          <a:xfrm>
            <a:off x="9171432" y="299923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(Epic Games), high-quality output, exports for Unity</a:t>
            </a:r>
            <a:endParaRPr lang="en-US" sz="2000"/>
          </a:p>
        </p:txBody>
      </p:sp>
      <p:sp>
        <p:nvSpPr>
          <p:cNvPr id="32" name="Text 28">
            <a:hlinkClick r:id="rId8"/>
          </p:cNvPr>
          <p:cNvSpPr txBox="1"/>
          <p:nvPr/>
        </p:nvSpPr>
        <p:spPr>
          <a:xfrm>
            <a:off x="9171432" y="566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9ED5"/>
                </a:solidFill>
                <a:ea typeface="+mn-lt"/>
                <a:cs typeface="+mn-lt"/>
                <a:hlinkClick r:id="rId9"/>
              </a:rPr>
              <a:t>https://www.realityscan.com/download</a:t>
            </a:r>
            <a:r>
              <a:rPr lang="en-US">
                <a:solidFill>
                  <a:srgbClr val="0F9ED5"/>
                </a:solidFill>
                <a:ea typeface="+mn-lt"/>
                <a:cs typeface="+mn-lt"/>
              </a:rPr>
              <a:t> 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00" b="1">
                <a:solidFill>
                  <a:srgbClr val="0E2841"/>
                </a:solidFill>
                <a:latin typeface="Cambria"/>
                <a:ea typeface="Cambria"/>
                <a:cs typeface="Cambria" pitchFamily="34" charset="-120"/>
              </a:rPr>
              <a:t>Resources &amp; links: 3d scanning</a:t>
            </a:r>
            <a:endParaRPr lang="en-US" sz="3100"/>
          </a:p>
        </p:txBody>
      </p:sp>
      <p:sp>
        <p:nvSpPr>
          <p:cNvPr id="6" name="Text 2"/>
          <p:cNvSpPr txBox="1"/>
          <p:nvPr/>
        </p:nvSpPr>
        <p:spPr>
          <a:xfrm>
            <a:off x="457200" y="1600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/>
          </a:p>
        </p:txBody>
      </p:sp>
      <p:pic>
        <p:nvPicPr>
          <p:cNvPr id="7" name="Image 2" descr="/tmp/pitt/icons/youtub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75104"/>
            <a:ext cx="246888" cy="24688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04672" y="196596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photogrammetry, start to finish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https://www.youtube.com/watch?v=45D0pFdqVgw</a:t>
            </a:r>
            <a:endParaRPr lang="en-US" sz="1400"/>
          </a:p>
        </p:txBody>
      </p:sp>
      <p:pic>
        <p:nvPicPr>
          <p:cNvPr id="9" name="Image 3" descr="/tmp/pitt/icons/youtub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23744"/>
            <a:ext cx="246888" cy="24688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04672" y="251460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 fishing minigame, step by step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https://www.youtube.com/watch?v=EzppT0YhOzg</a:t>
            </a:r>
            <a:endParaRPr lang="en-US" sz="1400"/>
          </a:p>
        </p:txBody>
      </p:sp>
      <p:pic>
        <p:nvPicPr>
          <p:cNvPr id="11" name="Image 4" descr="/tmp/pitt/icons/youtub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72384"/>
            <a:ext cx="246888" cy="24688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04672" y="306324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World Tour demo reference (2025)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https://www.youtube.com/watch?v=6Xw-4Yu2ijA</a:t>
            </a:r>
            <a:endParaRPr lang="en-US" sz="1400"/>
          </a:p>
        </p:txBody>
      </p:sp>
      <p:sp>
        <p:nvSpPr>
          <p:cNvPr id="13" name="Text 6"/>
          <p:cNvSpPr txBox="1"/>
          <p:nvPr/>
        </p:nvSpPr>
        <p:spPr>
          <a:xfrm>
            <a:off x="457200" y="3703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/>
          </a:p>
        </p:txBody>
      </p:sp>
      <p:pic>
        <p:nvPicPr>
          <p:cNvPr id="14" name="Image 5" descr="/tmp/pitt/icons/github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078224"/>
            <a:ext cx="246888" cy="246888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04672" y="406908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Meshroom (open-source photogrammetry)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https://github.com/alicevision/Meshroom</a:t>
            </a:r>
            <a:endParaRPr lang="en-US" sz="1400"/>
          </a:p>
        </p:txBody>
      </p:sp>
      <p:pic>
        <p:nvPicPr>
          <p:cNvPr id="16" name="Image 6" descr="/tmp/pitt/icons/github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626864"/>
            <a:ext cx="246888" cy="246888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04672" y="461772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fishing minigame sample package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https://github.com/evskii/UnityFishingMinigame</a:t>
            </a:r>
            <a:endParaRPr lang="en-US" sz="1400"/>
          </a:p>
        </p:txBody>
      </p:sp>
      <p:pic>
        <p:nvPicPr>
          <p:cNvPr id="18" name="Image 7" descr="/tmp/pitt/icons/github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175504"/>
            <a:ext cx="246888" cy="246888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804672" y="516636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fishing simulator (reference project)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https://github.com/NovoZZZ/fishing_simulator</a:t>
            </a:r>
            <a:endParaRPr lang="en-US" sz="1400"/>
          </a:p>
        </p:txBody>
      </p:sp>
      <p:sp>
        <p:nvSpPr>
          <p:cNvPr id="20" name="Text 10"/>
          <p:cNvSpPr txBox="1"/>
          <p:nvPr/>
        </p:nvSpPr>
        <p:spPr>
          <a:xfrm>
            <a:off x="6080760" y="1508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/>
          </a:p>
        </p:txBody>
      </p:sp>
      <p:pic>
        <p:nvPicPr>
          <p:cNvPr id="21" name="Image 8" descr="/tmp/pitt/icons/link_cy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60" y="1856232"/>
            <a:ext cx="246888" cy="246888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428232" y="184708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 Engine Photo Scan tutorial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https://www.kiriengine.app/tutorial/introduction-to-photo-scan</a:t>
            </a:r>
            <a:endParaRPr lang="en-US" sz="1400"/>
          </a:p>
        </p:txBody>
      </p:sp>
      <p:pic>
        <p:nvPicPr>
          <p:cNvPr id="23" name="Image 9" descr="/tmp/pitt/icons/link_cy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60" y="2295144"/>
            <a:ext cx="246888" cy="246888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6428232" y="228600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Polycam photogrammetry tool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https://poly.cam/tools/photogrammetry</a:t>
            </a:r>
            <a:endParaRPr lang="en-US" sz="1400"/>
          </a:p>
        </p:txBody>
      </p:sp>
      <p:pic>
        <p:nvPicPr>
          <p:cNvPr id="25" name="Image 10" descr="/tmp/pitt/icons/link_cy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60" y="2734056"/>
            <a:ext cx="246888" cy="246888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6428232" y="2724912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&amp; Family Weekend 2026 schedule  </a:t>
            </a:r>
            <a:r>
              <a:rPr lang="en-US" sz="12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https://www.upb.pitt.edu/student-engagement/alumni-and-family-weekend</a:t>
            </a:r>
            <a:endParaRPr lang="en-US" sz="1200"/>
          </a:p>
        </p:txBody>
      </p:sp>
      <p:sp>
        <p:nvSpPr>
          <p:cNvPr id="29" name="Shape 15"/>
          <p:cNvSpPr/>
          <p:nvPr/>
        </p:nvSpPr>
        <p:spPr>
          <a:xfrm>
            <a:off x="6080760" y="3913632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E2841"/>
          </a:solidFill>
          <a:ln/>
        </p:spPr>
      </p:sp>
      <p:pic>
        <p:nvPicPr>
          <p:cNvPr id="30" name="Image 12" descr="/tmp/pitt/icons/github_gol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4114800"/>
            <a:ext cx="402336" cy="402336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6839712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course repos</a:t>
            </a:r>
            <a:endParaRPr lang="en-US" sz="1500"/>
          </a:p>
        </p:txBody>
      </p:sp>
      <p:sp>
        <p:nvSpPr>
          <p:cNvPr id="32" name="Text 17"/>
          <p:cNvSpPr txBox="1"/>
          <p:nvPr/>
        </p:nvSpPr>
        <p:spPr>
          <a:xfrm>
            <a:off x="6327648" y="4572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CIST1423 weekly examples (this repo)  </a:t>
            </a:r>
            <a:r>
              <a:rPr lang="en-US" sz="115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https://github.com/jcallinan/CIST1423-Fall2026-Examples</a:t>
            </a:r>
            <a:endParaRPr lang="en-US" sz="1150"/>
          </a:p>
        </p:txBody>
      </p:sp>
      <p:sp>
        <p:nvSpPr>
          <p:cNvPr id="33" name="Text 18"/>
          <p:cNvSpPr txBox="1"/>
          <p:nvPr/>
        </p:nvSpPr>
        <p:spPr>
          <a:xfrm>
            <a:off x="6327648" y="49743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CIST1422 weekly examples (game-design side)  </a:t>
            </a:r>
            <a:r>
              <a:rPr lang="en-US" sz="115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https://github.com/jcallinan/CIST1422-Fall2026-Examples</a:t>
            </a:r>
            <a:endParaRPr lang="en-US" sz="1150"/>
          </a:p>
        </p:txBody>
      </p:sp>
      <p:sp>
        <p:nvSpPr>
          <p:cNvPr id="34" name="Text 19"/>
          <p:cNvSpPr txBox="1"/>
          <p:nvPr/>
        </p:nvSpPr>
        <p:spPr>
          <a:xfrm>
            <a:off x="6327648" y="53766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Rhodium — Destiny Clone  </a:t>
            </a:r>
            <a:r>
              <a:rPr lang="en-US" sz="1150" u="sng">
                <a:solidFill>
                  <a:srgbClr val="0F9ED5"/>
                </a:solidFill>
                <a:latin typeface="Calibri"/>
                <a:ea typeface="Calibri"/>
                <a:cs typeface="Calibri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https://github.com/jcallinan/Rhodium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36" name="Text 2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starting from zero: reusing SaintTropez</a:t>
            </a:r>
            <a:endParaRPr lang="en-US" sz="2700"/>
          </a:p>
        </p:txBody>
      </p:sp>
      <p:sp>
        <p:nvSpPr>
          <p:cNvPr id="6" name="Text 2"/>
          <p:cNvSpPr txBox="1"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VRPsych2024 project already has most of what a fishing sim needs, we can export a scene from it, to import to a new project:</a:t>
            </a:r>
            <a:endParaRPr lang="en-US" sz="1450">
              <a:latin typeface="Calibri"/>
              <a:ea typeface="Calibri"/>
              <a:cs typeface="Calibri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57200" y="1874520"/>
            <a:ext cx="2688336" cy="2788920"/>
          </a:xfrm>
          <a:prstGeom prst="roundRect">
            <a:avLst>
              <a:gd name="adj" fmla="val 2721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8" name="Image 2" descr="/tmp/pitt/icons/wate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066544"/>
            <a:ext cx="438912" cy="43891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58368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surface</a:t>
            </a:r>
            <a:endParaRPr lang="en-US" sz="1500"/>
          </a:p>
        </p:txBody>
      </p:sp>
      <p:sp>
        <p:nvSpPr>
          <p:cNvPr id="10" name="Text 5"/>
          <p:cNvSpPr txBox="1"/>
          <p:nvPr/>
        </p:nvSpPr>
        <p:spPr>
          <a:xfrm>
            <a:off x="658368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NVJOB Water Shaders V2 — a working URP water material, ready to drop under the dock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3264408" y="1874520"/>
            <a:ext cx="2688336" cy="2788920"/>
          </a:xfrm>
          <a:prstGeom prst="roundRect">
            <a:avLst>
              <a:gd name="adj" fmla="val 2721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2" name="Image 3" descr="/tmp/pitt/icons/fish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5576" y="2066544"/>
            <a:ext cx="438912" cy="43891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465576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fish</a:t>
            </a:r>
            <a:endParaRPr lang="en-US" sz="1500"/>
          </a:p>
        </p:txBody>
      </p:sp>
      <p:sp>
        <p:nvSpPr>
          <p:cNvPr id="14" name="Text 8"/>
          <p:cNvSpPr txBox="1"/>
          <p:nvPr/>
        </p:nvSpPr>
        <p:spPr>
          <a:xfrm>
            <a:off x="3465576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Schools pack (Amberjack, Bass, Goldfish, Koi, Salmon) driven by #NVJOB Boids flocking</a:t>
            </a:r>
            <a:endParaRPr lang="en-US" sz="1200"/>
          </a:p>
        </p:txBody>
      </p:sp>
      <p:sp>
        <p:nvSpPr>
          <p:cNvPr id="15" name="Shape 9"/>
          <p:cNvSpPr/>
          <p:nvPr/>
        </p:nvSpPr>
        <p:spPr>
          <a:xfrm>
            <a:off x="6071616" y="1874520"/>
            <a:ext cx="2688336" cy="2788920"/>
          </a:xfrm>
          <a:prstGeom prst="roundRect">
            <a:avLst>
              <a:gd name="adj" fmla="val 2721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6" name="Image 4" descr="/tmp/pitt/icons/tool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2066544"/>
            <a:ext cx="438912" cy="43891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72784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model</a:t>
            </a:r>
            <a:endParaRPr lang="en-US" sz="1500"/>
          </a:p>
        </p:txBody>
      </p:sp>
      <p:sp>
        <p:nvSpPr>
          <p:cNvPr id="18" name="Text 11"/>
          <p:cNvSpPr txBox="1"/>
          <p:nvPr/>
        </p:nvSpPr>
        <p:spPr>
          <a:xfrm>
            <a:off x="6272784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Pier-House 3 — an actual dock/pier prefab, which is exactly our "walk the dock" opener</a:t>
            </a:r>
            <a:endParaRPr lang="en-US" sz="1200"/>
          </a:p>
        </p:txBody>
      </p:sp>
      <p:sp>
        <p:nvSpPr>
          <p:cNvPr id="19" name="Shape 12"/>
          <p:cNvSpPr/>
          <p:nvPr/>
        </p:nvSpPr>
        <p:spPr>
          <a:xfrm>
            <a:off x="8878824" y="1874520"/>
            <a:ext cx="2688336" cy="2788920"/>
          </a:xfrm>
          <a:prstGeom prst="roundRect">
            <a:avLst>
              <a:gd name="adj" fmla="val 2721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20" name="Image 5" descr="/tmp/pitt/icons/cog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9992" y="206654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079992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Bobber physics</a:t>
            </a:r>
            <a:endParaRPr lang="en-US" sz="1500"/>
          </a:p>
        </p:txBody>
      </p:sp>
      <p:sp>
        <p:nvSpPr>
          <p:cNvPr id="22" name="Text 14"/>
          <p:cNvSpPr txBox="1"/>
          <p:nvPr/>
        </p:nvSpPr>
        <p:spPr>
          <a:xfrm>
            <a:off x="9079992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NWH Dynamic Water Physics 2 — buoyancy we can reuse for a floating bobber, not code from scratch</a:t>
            </a:r>
            <a:endParaRPr lang="en-US" sz="1200"/>
          </a:p>
        </p:txBody>
      </p:sp>
      <p:sp>
        <p:nvSpPr>
          <p:cNvPr id="23" name="Shape 15"/>
          <p:cNvSpPr/>
          <p:nvPr/>
        </p:nvSpPr>
        <p:spPr>
          <a:xfrm>
            <a:off x="457200" y="484632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0E2841"/>
          </a:solidFill>
          <a:ln/>
        </p:spPr>
      </p:sp>
      <p:pic>
        <p:nvPicPr>
          <p:cNvPr id="24" name="Image 6" descr="/tmp/pitt/icons/vr_go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074920"/>
            <a:ext cx="530352" cy="53035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417320" y="501091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SteamVR first</a:t>
            </a:r>
            <a:endParaRPr lang="en-US" sz="1650"/>
          </a:p>
        </p:txBody>
      </p:sp>
      <p:sp>
        <p:nvSpPr>
          <p:cNvPr id="26" name="Text 17"/>
          <p:cNvSpPr txBox="1"/>
          <p:nvPr/>
        </p:nvSpPr>
        <p:spPr>
          <a:xfrm>
            <a:off x="1417320" y="5440680"/>
            <a:ext cx="10012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We’re building for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SteamVR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+ the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Vive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Pro 2 first, because that’s what runs on stage — the project already has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SteamVR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SteamVR_Input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and a working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VRInteractions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system wired in. Other headsets (Quest, etc.) can come later once the core loop works.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7" name="Text 1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00" b="1">
                <a:solidFill>
                  <a:srgbClr val="0E2841"/>
                </a:solidFill>
                <a:latin typeface="Cambria"/>
                <a:ea typeface="Cambria"/>
                <a:cs typeface="Cambria" pitchFamily="34" charset="-120"/>
              </a:rPr>
              <a:t>Final product: a fishing simulator</a:t>
            </a:r>
            <a:endParaRPr lang="en-US" sz="3100">
              <a:latin typeface="Cambria"/>
              <a:ea typeface="Cambria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57200" y="1627632"/>
            <a:ext cx="2103120" cy="2762466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85216" y="181051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8" name="Image 2" descr="/tmp/pitt/icons/walking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1929384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85216" y="25237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dock</a:t>
            </a:r>
            <a:endParaRPr lang="en-US" sz="1500"/>
          </a:p>
        </p:txBody>
      </p:sp>
      <p:sp>
        <p:nvSpPr>
          <p:cNvPr id="10" name="Text 5"/>
          <p:cNvSpPr txBox="1"/>
          <p:nvPr/>
        </p:nvSpPr>
        <p:spPr>
          <a:xfrm>
            <a:off x="585216" y="2962656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approaches the pond on the reused Pier-House dock, Panther statue overlooking the water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2578608" y="3246120"/>
            <a:ext cx="146304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12" name="Shape 7"/>
          <p:cNvSpPr/>
          <p:nvPr/>
        </p:nvSpPr>
        <p:spPr>
          <a:xfrm>
            <a:off x="2724912" y="1627632"/>
            <a:ext cx="2103120" cy="2762466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852928" y="181051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14" name="Image 3" descr="/tmp/pitt/icons/fish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1929384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852928" y="25237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endParaRPr lang="en-US" sz="1500"/>
          </a:p>
        </p:txBody>
      </p:sp>
      <p:sp>
        <p:nvSpPr>
          <p:cNvPr id="16" name="Text 10"/>
          <p:cNvSpPr txBox="1"/>
          <p:nvPr/>
        </p:nvSpPr>
        <p:spPr>
          <a:xfrm>
            <a:off x="2852928" y="2962656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trigger-pull cast — physical rod motion, grabbed via the Interaction System</a:t>
            </a:r>
            <a:endParaRPr lang="en-US" sz="1200"/>
          </a:p>
        </p:txBody>
      </p:sp>
      <p:sp>
        <p:nvSpPr>
          <p:cNvPr id="17" name="Shape 11"/>
          <p:cNvSpPr/>
          <p:nvPr/>
        </p:nvSpPr>
        <p:spPr>
          <a:xfrm>
            <a:off x="4846320" y="3246120"/>
            <a:ext cx="146304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18" name="Shape 12"/>
          <p:cNvSpPr/>
          <p:nvPr/>
        </p:nvSpPr>
        <p:spPr>
          <a:xfrm>
            <a:off x="4992624" y="1627632"/>
            <a:ext cx="2103120" cy="2762466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120640" y="181051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20" name="Image 4" descr="/tmp/pitt/icons/clock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9512" y="1929384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120640" y="25237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&amp; bite</a:t>
            </a:r>
            <a:endParaRPr lang="en-US" sz="1500"/>
          </a:p>
        </p:txBody>
      </p:sp>
      <p:sp>
        <p:nvSpPr>
          <p:cNvPr id="22" name="Text 15"/>
          <p:cNvSpPr txBox="1"/>
          <p:nvPr/>
        </p:nvSpPr>
        <p:spPr>
          <a:xfrm>
            <a:off x="5120640" y="2962656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Bobber (Dynamic Water Physics buoyancy) dips; haptic pulse and audio cue signal a bite</a:t>
            </a:r>
            <a:endParaRPr lang="en-US" sz="1200"/>
          </a:p>
        </p:txBody>
      </p:sp>
      <p:sp>
        <p:nvSpPr>
          <p:cNvPr id="23" name="Shape 16"/>
          <p:cNvSpPr/>
          <p:nvPr/>
        </p:nvSpPr>
        <p:spPr>
          <a:xfrm>
            <a:off x="7114032" y="3246120"/>
            <a:ext cx="146304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24" name="Shape 17"/>
          <p:cNvSpPr/>
          <p:nvPr/>
        </p:nvSpPr>
        <p:spPr>
          <a:xfrm>
            <a:off x="7260336" y="1627632"/>
            <a:ext cx="2103120" cy="2762466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388352" y="181051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26" name="Image 5" descr="/tmp/pitt/icons/gamepa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7224" y="1929384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88352" y="25237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it in</a:t>
            </a:r>
            <a:endParaRPr lang="en-US" sz="1500"/>
          </a:p>
        </p:txBody>
      </p:sp>
      <p:sp>
        <p:nvSpPr>
          <p:cNvPr id="28" name="Text 20"/>
          <p:cNvSpPr txBox="1"/>
          <p:nvPr/>
        </p:nvSpPr>
        <p:spPr>
          <a:xfrm>
            <a:off x="7388352" y="2962656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Timing/tension minigame, driven by the SteamVR trigger — reel too fast and the line snaps</a:t>
            </a:r>
            <a:endParaRPr lang="en-US" sz="1200"/>
          </a:p>
        </p:txBody>
      </p:sp>
      <p:sp>
        <p:nvSpPr>
          <p:cNvPr id="29" name="Shape 21"/>
          <p:cNvSpPr/>
          <p:nvPr/>
        </p:nvSpPr>
        <p:spPr>
          <a:xfrm>
            <a:off x="9381744" y="3246120"/>
            <a:ext cx="146304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30" name="Shape 22"/>
          <p:cNvSpPr/>
          <p:nvPr/>
        </p:nvSpPr>
        <p:spPr>
          <a:xfrm>
            <a:off x="9528048" y="1627632"/>
            <a:ext cx="2103120" cy="2762466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9656064" y="181051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32" name="Image 6" descr="/tmp/pitt/icons/trophy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4936" y="1929384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656064" y="25237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&amp; display</a:t>
            </a:r>
            <a:endParaRPr lang="en-US" sz="1500"/>
          </a:p>
        </p:txBody>
      </p:sp>
      <p:sp>
        <p:nvSpPr>
          <p:cNvPr id="34" name="Text 25"/>
          <p:cNvSpPr txBox="1"/>
          <p:nvPr/>
        </p:nvSpPr>
        <p:spPr>
          <a:xfrm>
            <a:off x="9656064" y="2962656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added to a trophy case beside the Panther model</a:t>
            </a:r>
            <a:endParaRPr lang="en-US" sz="1200"/>
          </a:p>
        </p:txBody>
      </p:sp>
      <p:pic>
        <p:nvPicPr>
          <p:cNvPr id="35" name="Image 7" descr="/tmp/pitt/vr2_unpacked/ppt/media/image47.jpe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284898" y="5108851"/>
            <a:ext cx="2560320" cy="141732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8B95DF-C49D-25E0-44F3-0F0FDBB9CCB3}"/>
              </a:ext>
            </a:extLst>
          </p:cNvPr>
          <p:cNvSpPr txBox="1"/>
          <p:nvPr/>
        </p:nvSpPr>
        <p:spPr>
          <a:xfrm>
            <a:off x="320701" y="4572000"/>
            <a:ext cx="114047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11"/>
              </a:rPr>
              <a:t>https://github.com/jcallinan/CIST1423-Fall2026-Examples/tree/master/Week-02-PantherCamCast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1AC74A-3145-EB7B-D1D0-C8A17B7E9CD7}"/>
              </a:ext>
            </a:extLst>
          </p:cNvPr>
          <p:cNvSpPr txBox="1"/>
          <p:nvPr/>
        </p:nvSpPr>
        <p:spPr>
          <a:xfrm>
            <a:off x="279917" y="5520612"/>
            <a:ext cx="8521959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Note: we may want to use another method - </a:t>
            </a:r>
            <a:r>
              <a:rPr lang="en-US">
                <a:ea typeface="+mn-lt"/>
                <a:cs typeface="+mn-lt"/>
                <a:hlinkClick r:id="rId12"/>
              </a:rPr>
              <a:t>https://assetstore.unity.com/search#q=fishing</a:t>
            </a:r>
            <a:r>
              <a:rPr lang="en-US">
                <a:ea typeface="+mn-lt"/>
                <a:cs typeface="+mn-lt"/>
              </a:rPr>
              <a:t>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 rig, and why SteamVR Input is action-based</a:t>
            </a:r>
            <a:endParaRPr lang="en-US" sz="2500"/>
          </a:p>
        </p:txBody>
      </p:sp>
      <p:sp>
        <p:nvSpPr>
          <p:cNvPr id="6" name="Shape 2"/>
          <p:cNvSpPr/>
          <p:nvPr/>
        </p:nvSpPr>
        <p:spPr>
          <a:xfrm>
            <a:off x="45720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7" name="Image 2" descr="/tmp/pitt/icons/v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64208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98448" y="17007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prefab</a:t>
            </a:r>
            <a:endParaRPr lang="en-US" sz="1700"/>
          </a:p>
        </p:txBody>
      </p:sp>
      <p:sp>
        <p:nvSpPr>
          <p:cNvPr id="9" name="Text 4"/>
          <p:cNvSpPr txBox="1"/>
          <p:nvPr/>
        </p:nvSpPr>
        <p:spPr>
          <a:xfrm>
            <a:off x="1298448" y="2148840"/>
            <a:ext cx="4343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singleton (Player.instance) that owns the camera rig and both Hand objects — this is what you drag into every scene instead of a bare Main Camera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 already carries SteamVR Input action bindings, plus a fallback 2D keyboard/mouse mode for testing without a headset on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hmdTransform, feetPositionGuess, and bodyDirectionGuess — useful for anything that needs to know roughly where the player is standing (e.g., "have they walked out onto the dock yet?")</a:t>
            </a:r>
            <a:endParaRPr lang="en-US" sz="1300"/>
          </a:p>
        </p:txBody>
      </p:sp>
      <p:sp>
        <p:nvSpPr>
          <p:cNvPr id="10" name="Shape 5"/>
          <p:cNvSpPr/>
          <p:nvPr/>
        </p:nvSpPr>
        <p:spPr>
          <a:xfrm>
            <a:off x="5989320" y="1463040"/>
            <a:ext cx="5715000" cy="4480560"/>
          </a:xfrm>
          <a:prstGeom prst="roundRect">
            <a:avLst>
              <a:gd name="adj" fmla="val 1633"/>
            </a:avLst>
          </a:prstGeom>
          <a:solidFill>
            <a:srgbClr val="0E2841"/>
          </a:solidFill>
          <a:ln/>
        </p:spPr>
      </p:sp>
      <p:pic>
        <p:nvPicPr>
          <p:cNvPr id="11" name="Image 3" descr="/tmp/pitt/icons/code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664208"/>
            <a:ext cx="457200" cy="4572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858000" y="17007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not raw buttons</a:t>
            </a:r>
            <a:endParaRPr lang="en-US" sz="1700"/>
          </a:p>
        </p:txBody>
      </p:sp>
      <p:sp>
        <p:nvSpPr>
          <p:cNvPr id="13" name="Text 7"/>
          <p:cNvSpPr txBox="1"/>
          <p:nvPr/>
        </p:nvSpPr>
        <p:spPr>
          <a:xfrm>
            <a:off x="6858000" y="214884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what the game needs — "Grab," "Cast," "Reel" — once, in an actions.json manifest (built with the SteamVR Input window in Unity)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auto-generates a SteamVR_Actions class, so code reads SteamVR_Actions.default_Grab instead of a hard-coded Vive/Index/Quest button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(or SteamVR’s binding UI) maps each action to whatever controller is actually plugged in — swap Vive wands for Index knuckles and the code never changes</a:t>
            </a:r>
            <a:endParaRPr lang="en-US" sz="1300"/>
          </a:p>
        </p:txBody>
      </p:sp>
      <p:sp>
        <p:nvSpPr>
          <p:cNvPr id="14" name="Text 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actions: booleans, axes, and poses</a:t>
            </a:r>
            <a:endParaRPr lang="en-US" sz="2500"/>
          </a:p>
        </p:txBody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 types cover almost everything a fishing rod needs — a button press, a 2D reel/tension axis, and the controller’s own tracked pose.</a:t>
            </a:r>
            <a:endParaRPr lang="en-US" sz="1350"/>
          </a:p>
        </p:txBody>
      </p:sp>
      <p:sp>
        <p:nvSpPr>
          <p:cNvPr id="7" name="Shape 3"/>
          <p:cNvSpPr/>
          <p:nvPr/>
        </p:nvSpPr>
        <p:spPr>
          <a:xfrm>
            <a:off x="457200" y="1965960"/>
            <a:ext cx="6126480" cy="2743200"/>
          </a:xfrm>
          <a:prstGeom prst="roundRect">
            <a:avLst>
              <a:gd name="adj" fmla="val 2000"/>
            </a:avLst>
          </a:prstGeom>
          <a:solidFill>
            <a:srgbClr val="0B1620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1792" y="2075688"/>
            <a:ext cx="579729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 {
</a:t>
            </a:r>
            <a:r>
              <a:rPr lang="en-US" sz="135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Boolean action — did the grip fire this frame?
  if (SteamVR_Actions.default_GrabGrip
        .GetStateDown(hand.handType)) {
    TryGrabRod();
  }
</a:t>
            </a:r>
            <a:r>
              <a:rPr lang="en-US" sz="135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Vector2 action — trackpad/thumbstick, e.g. reel tension
  Vector2 axis = SteamVR_Actions.default_Reel
        .GetAxis(hand.handType);
</a:t>
            </a:r>
            <a:r>
              <a:rPr lang="en-US" sz="135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350"/>
          </a:p>
        </p:txBody>
      </p:sp>
      <p:sp>
        <p:nvSpPr>
          <p:cNvPr id="9" name="Shape 5"/>
          <p:cNvSpPr/>
          <p:nvPr/>
        </p:nvSpPr>
        <p:spPr>
          <a:xfrm>
            <a:off x="6766560" y="196596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0" y="2103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alternative</a:t>
            </a:r>
            <a:endParaRPr lang="en-US" sz="1450"/>
          </a:p>
        </p:txBody>
      </p:sp>
      <p:sp>
        <p:nvSpPr>
          <p:cNvPr id="11" name="Text 7"/>
          <p:cNvSpPr txBox="1"/>
          <p:nvPr/>
        </p:nvSpPr>
        <p:spPr>
          <a:xfrm>
            <a:off x="6949440" y="2450592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AddOnStateDownListener(callback, handType) fires once, the instant the button goes down — no polling in Update()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a C# event/UnityEvent — good fit for "cast" and "release" moments; polling GetAxis() fits continuous values like reel speed better</a:t>
            </a:r>
            <a:endParaRPr lang="en-US" sz="1250"/>
          </a:p>
        </p:txBody>
      </p:sp>
      <p:sp>
        <p:nvSpPr>
          <p:cNvPr id="12" name="Shape 8"/>
          <p:cNvSpPr/>
          <p:nvPr/>
        </p:nvSpPr>
        <p:spPr>
          <a:xfrm>
            <a:off x="457200" y="4892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4892040"/>
            <a:ext cx="11247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SteamVR_Input_Sources.LeftHand / RightHand / Any — pass hand.handType so the same script works on either controller</a:t>
            </a:r>
            <a:endParaRPr lang="en-US" sz="1250"/>
          </a:p>
        </p:txBody>
      </p:sp>
      <p:sp>
        <p:nvSpPr>
          <p:cNvPr id="14" name="Text 10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rod grabbable: Interactable + Throwable</a:t>
            </a:r>
            <a:endParaRPr lang="en-US" sz="2300"/>
          </a:p>
        </p:txBody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from the Interaction System, dropped onto the FishingRod prefab, do most of the work.</a:t>
            </a:r>
            <a:endParaRPr lang="en-US" sz="1350"/>
          </a:p>
        </p:txBody>
      </p:sp>
      <p:sp>
        <p:nvSpPr>
          <p:cNvPr id="7" name="Shape 3"/>
          <p:cNvSpPr/>
          <p:nvPr/>
        </p:nvSpPr>
        <p:spPr>
          <a:xfrm>
            <a:off x="457200" y="19659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8" name="Image 2" descr="/tmp/pitt/icons/tool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2157984"/>
            <a:ext cx="420624" cy="42062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444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Interactable</a:t>
            </a:r>
            <a:endParaRPr lang="en-US" sz="1650"/>
          </a:p>
        </p:txBody>
      </p:sp>
      <p:sp>
        <p:nvSpPr>
          <p:cNvPr id="10" name="Text 5"/>
          <p:cNvSpPr txBox="1"/>
          <p:nvPr/>
        </p:nvSpPr>
        <p:spPr>
          <a:xfrm>
            <a:off x="676656" y="26517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marker component — it identifies the rod to a Hand as something that can be hovered and picked up. No behavior of its own; other scripts (and the Hand itself) check for it.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6309360" y="19659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2" name="Image 3" descr="/tmp/pitt/icons/gamepa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2157984"/>
            <a:ext cx="420624" cy="42062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08660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Throwable</a:t>
            </a:r>
            <a:endParaRPr lang="en-US" sz="1650"/>
          </a:p>
        </p:txBody>
      </p:sp>
      <p:sp>
        <p:nvSpPr>
          <p:cNvPr id="14" name="Text 8"/>
          <p:cNvSpPr txBox="1"/>
          <p:nvPr/>
        </p:nvSpPr>
        <p:spPr>
          <a:xfrm>
            <a:off x="6528816" y="26517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actual pickup/release: attaches on grab, follows the hand while held, and on release hands the object the controller’s real-world velocity (via a VelocityEstimator) so a thrown object flies naturally.</a:t>
            </a:r>
            <a:endParaRPr lang="en-US" sz="1200"/>
          </a:p>
        </p:txBody>
      </p:sp>
      <p:sp>
        <p:nvSpPr>
          <p:cNvPr id="15" name="Shape 9"/>
          <p:cNvSpPr/>
          <p:nvPr/>
        </p:nvSpPr>
        <p:spPr>
          <a:xfrm>
            <a:off x="457200" y="420624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0E2841"/>
          </a:solidFill>
          <a:ln/>
        </p:spPr>
      </p:sp>
      <p:pic>
        <p:nvPicPr>
          <p:cNvPr id="16" name="Image 4" descr="/tmp/pitt/icons/code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407408"/>
            <a:ext cx="402336" cy="40233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42569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 message lifecycle — implement any of these on the rod script</a:t>
            </a:r>
            <a:endParaRPr lang="en-US" sz="1450"/>
          </a:p>
        </p:txBody>
      </p:sp>
      <p:sp>
        <p:nvSpPr>
          <p:cNvPr id="18" name="Text 11"/>
          <p:cNvSpPr txBox="1"/>
          <p:nvPr/>
        </p:nvSpPr>
        <p:spPr>
          <a:xfrm>
            <a:off x="1280160" y="482803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OnHandHoverBegin(Hand)  →  HandHoverUpdate(Hand) every frame in range  →  OnAttachedToHand(Hand) on grab  →  HandAttachedUpdate(Hand) every frame while held  →  OnDetachedFromHand(Hand) on release</a:t>
            </a:r>
            <a:endParaRPr lang="en-US" sz="1250"/>
          </a:p>
        </p:txBody>
      </p:sp>
      <p:sp>
        <p:nvSpPr>
          <p:cNvPr id="19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Casting: reading the controller’s real swing</a:t>
            </a:r>
            <a:endParaRPr lang="en-US" sz="2500"/>
          </a:p>
        </p:txBody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Throwable already knows how to let go of the rod itself — casting the lure is a second, smaller problem: read the hand’s tracked velocity at the moment of release.</a:t>
            </a:r>
            <a:endParaRPr lang="en-US" sz="1350"/>
          </a:p>
        </p:txBody>
      </p:sp>
      <p:sp>
        <p:nvSpPr>
          <p:cNvPr id="7" name="Shape 3"/>
          <p:cNvSpPr/>
          <p:nvPr/>
        </p:nvSpPr>
        <p:spPr>
          <a:xfrm>
            <a:off x="457200" y="2057400"/>
            <a:ext cx="6583680" cy="3063240"/>
          </a:xfrm>
          <a:prstGeom prst="roundRect">
            <a:avLst>
              <a:gd name="adj" fmla="val 1791"/>
            </a:avLst>
          </a:prstGeom>
          <a:solidFill>
            <a:srgbClr val="0B1620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1792" y="2167128"/>
            <a:ext cx="625449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 the Hand’s SteamVR_Behaviour_Pose component
</a:t>
            </a:r>
            <a:r>
              <a:rPr lang="en-US" sz="128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 vel = pose.GetVelocity();
Vector3 angVel = pose.GetAngularVelocity();
</a:t>
            </a:r>
            <a:r>
              <a:rPr lang="en-US" sz="128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8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(SteamVR_Actions.default_Cast.GetStateUp(hand.handType)) {
  if (vel.magnitude &gt; castThreshold) {
    lureRigidbody.velocity = vel * castPowerMult;
    lureRigidbody.isKinematic = false;
    StartCasting();   // → FishState.casting
  }
</a:t>
            </a:r>
            <a:r>
              <a:rPr lang="en-US" sz="128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280"/>
          </a:p>
        </p:txBody>
      </p:sp>
      <p:sp>
        <p:nvSpPr>
          <p:cNvPr id="9" name="Shape 5"/>
          <p:cNvSpPr/>
          <p:nvPr/>
        </p:nvSpPr>
        <p:spPr>
          <a:xfrm>
            <a:off x="7223760" y="2057400"/>
            <a:ext cx="4480560" cy="3063240"/>
          </a:xfrm>
          <a:prstGeom prst="roundRect">
            <a:avLst>
              <a:gd name="adj" fmla="val 238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0" y="21945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How this works</a:t>
            </a:r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7406640" y="27889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GetVelocity()/GetAngularVelocity() come straight from the tracked controller pose — the same data VelocityEstimator uses for a thrown object</a:t>
            </a:r>
            <a:endParaRPr lang="en-US" sz="118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GetStateUp() mirrors GetStateDown() — true on the one frame a button is released, which is exactly "let the lure fly"</a:t>
            </a:r>
            <a:endParaRPr lang="en-US" sz="118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real-swing feel Beat Saber-style games use — no canned animation, the player’s own arm motion drives it</a:t>
            </a:r>
            <a:endParaRPr lang="en-US" sz="1180"/>
          </a:p>
        </p:txBody>
      </p:sp>
      <p:sp>
        <p:nvSpPr>
          <p:cNvPr id="12" name="Text 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bobber: buoyancy we already own, plus a bite event</a:t>
            </a:r>
            <a:endParaRPr lang="en-US" sz="2400"/>
          </a:p>
        </p:txBody>
      </p:sp>
      <p:sp>
        <p:nvSpPr>
          <p:cNvPr id="6" name="Shape 2"/>
          <p:cNvSpPr/>
          <p:nvPr/>
        </p:nvSpPr>
        <p:spPr>
          <a:xfrm>
            <a:off x="45720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7" name="Image 2" descr="/tmp/pitt/icons/wate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64208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98448" y="17007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for free</a:t>
            </a:r>
            <a:endParaRPr lang="en-US" sz="1700"/>
          </a:p>
        </p:txBody>
      </p:sp>
      <p:sp>
        <p:nvSpPr>
          <p:cNvPr id="9" name="Text 4"/>
          <p:cNvSpPr txBox="1"/>
          <p:nvPr/>
        </p:nvSpPr>
        <p:spPr>
          <a:xfrm>
            <a:off x="1298448" y="2148840"/>
            <a:ext cx="4343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lure lands, isKinematic goes false, and NWH Dynamic Water Physics 2 (already in SaintTropez) takes over — it applies buoyancy to any Rigidbody that enters its water volume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float code needed for Week 2 — the asset is the same one under Pier-House’s existing water, just pointed at a new object</a:t>
            </a:r>
            <a:endParaRPr lang="en-US" sz="1300"/>
          </a:p>
        </p:txBody>
      </p:sp>
      <p:sp>
        <p:nvSpPr>
          <p:cNvPr id="10" name="Shape 5"/>
          <p:cNvSpPr/>
          <p:nvPr/>
        </p:nvSpPr>
        <p:spPr>
          <a:xfrm>
            <a:off x="5989320" y="1463040"/>
            <a:ext cx="5715000" cy="4480560"/>
          </a:xfrm>
          <a:prstGeom prst="roundRect">
            <a:avLst>
              <a:gd name="adj" fmla="val 1633"/>
            </a:avLst>
          </a:prstGeom>
          <a:solidFill>
            <a:srgbClr val="0E2841"/>
          </a:solidFill>
          <a:ln/>
        </p:spPr>
      </p:sp>
      <p:pic>
        <p:nvPicPr>
          <p:cNvPr id="11" name="Image 3" descr="/tmp/pitt/icons/cloc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664208"/>
            <a:ext cx="457200" cy="4572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858000" y="17007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BiteController.cs (ours to write)</a:t>
            </a:r>
            <a:endParaRPr lang="en-US" sz="1600"/>
          </a:p>
        </p:txBody>
      </p:sp>
      <p:sp>
        <p:nvSpPr>
          <p:cNvPr id="13" name="Shape 7"/>
          <p:cNvSpPr/>
          <p:nvPr/>
        </p:nvSpPr>
        <p:spPr>
          <a:xfrm>
            <a:off x="6858000" y="2148840"/>
            <a:ext cx="4663440" cy="3520440"/>
          </a:xfrm>
          <a:prstGeom prst="roundRect">
            <a:avLst>
              <a:gd name="adj" fmla="val 1558"/>
            </a:avLst>
          </a:prstGeom>
          <a:solidFill>
            <a:srgbClr val="0B1620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7022592" y="2258568"/>
            <a:ext cx="433425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IEnumerator WaitForBite() {
</a:t>
            </a:r>
            <a:r>
              <a:rPr lang="en-US" sz="120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yield return new WaitForSeconds(
    Random.Range(minWait, maxWait));
  isBiting = true;
  SteamVR_Actions.default_Haptic.Execute(
    0, 0.5f, 4, 0.6f, hand.handType);
</a:t>
            </a:r>
            <a:r>
              <a:rPr lang="en-US" sz="120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200"/>
          </a:p>
        </p:txBody>
      </p:sp>
      <p:sp>
        <p:nvSpPr>
          <p:cNvPr id="15" name="Text 9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reel: tension, and a FishState Enum</a:t>
            </a:r>
            <a:endParaRPr lang="en-US" sz="2500"/>
          </a:p>
        </p:txBody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CIST 1422 is using for Mission Demolition’s GameMode — a small Enum keeps "what’s happening right now" typo-proof and easy to read.</a:t>
            </a:r>
            <a:endParaRPr lang="en-US" sz="135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7315200" cy="3794760"/>
          </a:xfrm>
          <a:prstGeom prst="roundRect">
            <a:avLst>
              <a:gd name="adj" fmla="val 1446"/>
            </a:avLst>
          </a:prstGeom>
          <a:solidFill>
            <a:srgbClr val="0B1620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1792" y="2029968"/>
            <a:ext cx="698601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3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FishState {
</a:t>
            </a:r>
            <a:r>
              <a:rPr lang="en-US" sz="123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idle, aiming, cast, waiting, biting, reeling, caught
}
</a:t>
            </a:r>
            <a:r>
              <a:rPr lang="en-US" sz="123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FishState state = FishState.idle;
void Update() {
</a:t>
            </a:r>
            <a:r>
              <a:rPr lang="en-US" sz="123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(state != FishState.reeling) return;
</a:t>
            </a:r>
            <a:r>
              <a:rPr lang="en-US" sz="123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3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 reel = SteamVR_Actions.default_Reel
        .GetAxis(hand.handType);
  tension += reel.y * reelSpeed * Time.deltaTime;
</a:t>
            </a:r>
            <a:r>
              <a:rPr lang="en-US" sz="123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3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(tension &gt; snapThreshold) LineSnapped();
  else if (progress &gt;= 1f) state = FishState.caught;
</a:t>
            </a:r>
            <a:r>
              <a:rPr lang="en-US" sz="123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230"/>
          </a:p>
        </p:txBody>
      </p:sp>
      <p:sp>
        <p:nvSpPr>
          <p:cNvPr id="9" name="Shape 5"/>
          <p:cNvSpPr/>
          <p:nvPr/>
        </p:nvSpPr>
        <p:spPr>
          <a:xfrm>
            <a:off x="7955280" y="1920240"/>
            <a:ext cx="3749040" cy="3794760"/>
          </a:xfrm>
          <a:prstGeom prst="roundRect">
            <a:avLst>
              <a:gd name="adj" fmla="val 1951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38160" y="20482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Enum here too</a:t>
            </a:r>
            <a:endParaRPr lang="en-US" sz="1400"/>
          </a:p>
        </p:txBody>
      </p:sp>
      <p:sp>
        <p:nvSpPr>
          <p:cNvPr id="11" name="Text 7"/>
          <p:cNvSpPr txBox="1"/>
          <p:nvPr/>
        </p:nvSpPr>
        <p:spPr>
          <a:xfrm>
            <a:off x="8138160" y="2395728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3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(Approach → Cast → Wait → Bite → Reel → Catch) is exactly one FishState — the UI and animation both just ask "what state are we in?"</a:t>
            </a:r>
            <a:endParaRPr lang="en-US" sz="113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3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too hard (tension) and the line snaps — same "fail state" feeling as missing an Apple in Apple Picker</a:t>
            </a:r>
            <a:endParaRPr lang="en-US" sz="113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3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GetAxis(hand.handType).y drives progress continuously — no per-frame button mashing required</a:t>
            </a:r>
            <a:endParaRPr lang="en-US" sz="1130"/>
          </a:p>
        </p:txBody>
      </p:sp>
      <p:sp>
        <p:nvSpPr>
          <p:cNvPr id="12" name="Text 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it, show it off, and where to start building</a:t>
            </a:r>
            <a:endParaRPr lang="en-US" sz="240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450"/>
          </a:p>
        </p:txBody>
      </p:sp>
      <p:sp>
        <p:nvSpPr>
          <p:cNvPr id="7" name="Text 3"/>
          <p:cNvSpPr txBox="1"/>
          <p:nvPr/>
        </p:nvSpPr>
        <p:spPr>
          <a:xfrm>
            <a:off x="457200" y="17830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FishState.caught disables the lure’s Collider, plays a catch VFX/SFX, and Instantiates a trophy prefab at a display stand beside the Panther model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GameObject/prefab pattern as everything else this semester — no new concepts, just applying Instantiate() again</a:t>
            </a:r>
            <a:endParaRPr lang="en-US" sz="1250"/>
          </a:p>
        </p:txBody>
      </p:sp>
      <p:sp>
        <p:nvSpPr>
          <p:cNvPr id="8" name="Text 4"/>
          <p:cNvSpPr txBox="1"/>
          <p:nvPr/>
        </p:nvSpPr>
        <p:spPr>
          <a:xfrm>
            <a:off x="6035040" y="14173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build order</a:t>
            </a:r>
            <a:endParaRPr lang="en-US" sz="1450"/>
          </a:p>
        </p:txBody>
      </p:sp>
      <p:sp>
        <p:nvSpPr>
          <p:cNvPr id="9" name="Text 5"/>
          <p:cNvSpPr txBox="1"/>
          <p:nvPr/>
        </p:nvSpPr>
        <p:spPr>
          <a:xfrm>
            <a:off x="6035040" y="178308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Player rig in the scene, hands can hover/grab a placeholder cube</a:t>
            </a:r>
            <a:endParaRPr lang="en-US" sz="12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Interactable + Throwable on the real rod model</a:t>
            </a:r>
            <a:endParaRPr lang="en-US" sz="12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Cast via GetVelocity(), lure floats on Dynamic Water Physics</a:t>
            </a:r>
            <a:endParaRPr lang="en-US" sz="12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BiteController + haptic pulse</a:t>
            </a:r>
            <a:endParaRPr lang="en-US" sz="12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FishState + reel tension loop</a:t>
            </a:r>
            <a:endParaRPr lang="en-US" sz="12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Catch, trophy case, polish</a:t>
            </a:r>
            <a:endParaRPr lang="en-US" sz="12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A39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A3990"/>
          </a:solidFill>
          <a:ln/>
        </p:spPr>
      </p:sp>
      <p:pic>
        <p:nvPicPr>
          <p:cNvPr id="4" name="Image 0" descr="/tmp/pitt/vgp_unpacked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" y="243841"/>
            <a:ext cx="1402080" cy="3572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27520" y="243840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b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1422 · GAME DESIGN &amp; PROGRAMMING</a:t>
            </a:r>
            <a:endParaRPr lang="en-US" sz="1067"/>
          </a:p>
        </p:txBody>
      </p:sp>
      <p:sp>
        <p:nvSpPr>
          <p:cNvPr id="6" name="Shape 3"/>
          <p:cNvSpPr/>
          <p:nvPr/>
        </p:nvSpPr>
        <p:spPr>
          <a:xfrm flipH="1">
            <a:off x="8241793" y="5204765"/>
            <a:ext cx="1319175" cy="1316736"/>
          </a:xfrm>
          <a:prstGeom prst="rtTriangle">
            <a:avLst/>
          </a:prstGeom>
          <a:solidFill>
            <a:srgbClr val="F06292"/>
          </a:solidFill>
          <a:ln/>
        </p:spPr>
      </p:sp>
      <p:sp>
        <p:nvSpPr>
          <p:cNvPr id="7" name="Shape 4"/>
          <p:cNvSpPr/>
          <p:nvPr/>
        </p:nvSpPr>
        <p:spPr>
          <a:xfrm rot="10800000">
            <a:off x="10872826" y="5204765"/>
            <a:ext cx="1319175" cy="1316736"/>
          </a:xfrm>
          <a:prstGeom prst="rtTriangle">
            <a:avLst/>
          </a:prstGeom>
          <a:solidFill>
            <a:srgbClr val="9C254D"/>
          </a:solidFill>
          <a:ln/>
        </p:spPr>
      </p:sp>
      <p:sp>
        <p:nvSpPr>
          <p:cNvPr id="8" name="Shape 5"/>
          <p:cNvSpPr/>
          <p:nvPr/>
        </p:nvSpPr>
        <p:spPr>
          <a:xfrm>
            <a:off x="10872826" y="5204765"/>
            <a:ext cx="1319175" cy="1316736"/>
          </a:xfrm>
          <a:prstGeom prst="rtTriangle">
            <a:avLst/>
          </a:prstGeom>
          <a:solidFill>
            <a:srgbClr val="F0629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1376" y="707136"/>
            <a:ext cx="87782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2A3990"/>
                </a:solidFill>
                <a:latin typeface="Cambria"/>
                <a:ea typeface="Cambria"/>
                <a:cs typeface="Cambria" pitchFamily="34" charset="-120"/>
              </a:rPr>
              <a:t>Resources &amp; links: fishing sim</a:t>
            </a:r>
            <a:endParaRPr lang="en-US" sz="2800"/>
          </a:p>
        </p:txBody>
      </p:sp>
      <p:sp>
        <p:nvSpPr>
          <p:cNvPr id="10" name="Text 7"/>
          <p:cNvSpPr txBox="1"/>
          <p:nvPr/>
        </p:nvSpPr>
        <p:spPr>
          <a:xfrm>
            <a:off x="390144" y="1584960"/>
            <a:ext cx="560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/>
          </a:p>
        </p:txBody>
      </p:sp>
      <p:pic>
        <p:nvPicPr>
          <p:cNvPr id="11" name="Image 1" descr="/tmp/pitt/icons/youtub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" y="1999488"/>
            <a:ext cx="243840" cy="2438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9328" y="1975104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 fishing minigame, step by step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https://www.youtube.com/watch?v=EzppT0YhOzg</a:t>
            </a:r>
            <a:endParaRPr lang="en-US" sz="1333"/>
          </a:p>
        </p:txBody>
      </p:sp>
      <p:pic>
        <p:nvPicPr>
          <p:cNvPr id="13" name="Image 2" descr="/tmp/pitt/icons/youtub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" y="2523744"/>
            <a:ext cx="243840" cy="2438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328" y="2499360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photogrammetry, start to finish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https://www.youtube.com/watch?v=45D0pFdqVgw</a:t>
            </a:r>
            <a:endParaRPr lang="en-US" sz="1333"/>
          </a:p>
        </p:txBody>
      </p:sp>
      <p:sp>
        <p:nvSpPr>
          <p:cNvPr id="15" name="Text 10"/>
          <p:cNvSpPr txBox="1"/>
          <p:nvPr/>
        </p:nvSpPr>
        <p:spPr>
          <a:xfrm>
            <a:off x="390144" y="3169920"/>
            <a:ext cx="560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/>
          </a:p>
        </p:txBody>
      </p:sp>
      <p:pic>
        <p:nvPicPr>
          <p:cNvPr id="16" name="Image 3" descr="/tmp/pitt/icons/github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44" y="3584448"/>
            <a:ext cx="243840" cy="2438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9328" y="3560064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fishing minigame sample package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https://github.com/evskii/UnityFishingMinigame</a:t>
            </a:r>
            <a:endParaRPr lang="en-US" sz="1333"/>
          </a:p>
        </p:txBody>
      </p:sp>
      <p:pic>
        <p:nvPicPr>
          <p:cNvPr id="18" name="Image 4" descr="/tmp/pitt/icons/github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44" y="4194048"/>
            <a:ext cx="243840" cy="2438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9328" y="4169664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fishing game, practice-scale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https://github.com/Ithalos/FishingGame</a:t>
            </a:r>
            <a:endParaRPr lang="en-US" sz="1333"/>
          </a:p>
        </p:txBody>
      </p:sp>
      <p:pic>
        <p:nvPicPr>
          <p:cNvPr id="20" name="Image 5" descr="/tmp/pitt/icons/github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44" y="4803648"/>
            <a:ext cx="243840" cy="2438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9328" y="4779264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fishing simulator (reference project)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https://github.com/NovoZZZ/fishing_simulator</a:t>
            </a:r>
            <a:endParaRPr lang="en-US" sz="1333"/>
          </a:p>
        </p:txBody>
      </p:sp>
      <p:sp>
        <p:nvSpPr>
          <p:cNvPr id="22" name="Text 14"/>
          <p:cNvSpPr txBox="1"/>
          <p:nvPr/>
        </p:nvSpPr>
        <p:spPr>
          <a:xfrm>
            <a:off x="6278880" y="1584960"/>
            <a:ext cx="560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/>
          </a:p>
        </p:txBody>
      </p:sp>
      <p:pic>
        <p:nvPicPr>
          <p:cNvPr id="23" name="Image 6" descr="/tmp/pitt/icons/link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8880" y="1950720"/>
            <a:ext cx="243840" cy="24384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608064" y="1926336"/>
            <a:ext cx="5279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&amp; Family Weekend 2026 schedule  </a:t>
            </a:r>
            <a:r>
              <a:rPr lang="en-US" sz="1200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https://www.upb.pitt.edu/student-engagement/alumni-and-family-weekend</a:t>
            </a:r>
            <a:endParaRPr lang="en-US" sz="1200"/>
          </a:p>
        </p:txBody>
      </p:sp>
      <p:sp>
        <p:nvSpPr>
          <p:cNvPr id="27" name="Shape 17"/>
          <p:cNvSpPr/>
          <p:nvPr/>
        </p:nvSpPr>
        <p:spPr>
          <a:xfrm>
            <a:off x="6278880" y="3194304"/>
            <a:ext cx="5608320" cy="3169920"/>
          </a:xfrm>
          <a:prstGeom prst="roundRect">
            <a:avLst>
              <a:gd name="adj" fmla="val 2308"/>
            </a:avLst>
          </a:prstGeom>
          <a:solidFill>
            <a:srgbClr val="2A3990"/>
          </a:solidFill>
          <a:ln/>
        </p:spPr>
      </p:sp>
      <p:pic>
        <p:nvPicPr>
          <p:cNvPr id="28" name="Image 8" descr="/tmp/pitt/icons/github_gol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2720" y="3389376"/>
            <a:ext cx="414528" cy="414528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046976" y="3389376"/>
            <a:ext cx="4693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GitHub repos</a:t>
            </a:r>
            <a:endParaRPr lang="en-US" sz="1400"/>
          </a:p>
        </p:txBody>
      </p:sp>
      <p:sp>
        <p:nvSpPr>
          <p:cNvPr id="30" name="Text 19"/>
          <p:cNvSpPr txBox="1"/>
          <p:nvPr/>
        </p:nvSpPr>
        <p:spPr>
          <a:xfrm>
            <a:off x="6522720" y="3925824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CIST1422 examples (this repo)  </a:t>
            </a:r>
            <a:r>
              <a:rPr lang="en-US" sz="1200" u="sng">
                <a:solidFill>
                  <a:srgbClr val="7890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https://github.com/jcallinan/CIST1422-Fall2026-Examples</a:t>
            </a:r>
            <a:endParaRPr lang="en-US" sz="1200"/>
          </a:p>
        </p:txBody>
      </p:sp>
      <p:sp>
        <p:nvSpPr>
          <p:cNvPr id="31" name="Text 20"/>
          <p:cNvSpPr txBox="1"/>
          <p:nvPr/>
        </p:nvSpPr>
        <p:spPr>
          <a:xfrm>
            <a:off x="6522720" y="4413504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starter: Hello World + a fishing-mechanics stub, up after class.</a:t>
            </a:r>
            <a:endParaRPr lang="en-US" sz="1000"/>
          </a:p>
        </p:txBody>
      </p:sp>
      <p:sp>
        <p:nvSpPr>
          <p:cNvPr id="32" name="Text 21"/>
          <p:cNvSpPr txBox="1"/>
          <p:nvPr/>
        </p:nvSpPr>
        <p:spPr>
          <a:xfrm>
            <a:off x="6522720" y="48768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CIST1423 examples (VR side)  </a:t>
            </a:r>
            <a:r>
              <a:rPr lang="en-US" sz="1200" u="sng">
                <a:solidFill>
                  <a:srgbClr val="7890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https://github.com/jcallinan/CIST1423-Fall2026-Examples</a:t>
            </a:r>
            <a:endParaRPr lang="en-US" sz="1200"/>
          </a:p>
        </p:txBody>
      </p:sp>
      <p:sp>
        <p:nvSpPr>
          <p:cNvPr id="33" name="Text 22"/>
          <p:cNvSpPr txBox="1"/>
          <p:nvPr/>
        </p:nvSpPr>
        <p:spPr>
          <a:xfrm>
            <a:off x="6522720" y="5364480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VR examples — worth a look for the scan pipeline &amp; SteamVR setup.</a:t>
            </a:r>
            <a:endParaRPr lang="en-US" sz="1000"/>
          </a:p>
        </p:txBody>
      </p:sp>
      <p:sp>
        <p:nvSpPr>
          <p:cNvPr id="34" name="Text 23"/>
          <p:cNvSpPr txBox="1"/>
          <p:nvPr/>
        </p:nvSpPr>
        <p:spPr>
          <a:xfrm>
            <a:off x="6522720" y="5754624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Rhodium (shared capstone)  </a:t>
            </a:r>
            <a:r>
              <a:rPr lang="en-US" sz="1200" u="sng">
                <a:solidFill>
                  <a:srgbClr val="7890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https://github.com/jcallinan/Rhodium</a:t>
            </a:r>
            <a:endParaRPr lang="en-US" sz="1200"/>
          </a:p>
        </p:txBody>
      </p:sp>
      <p:sp>
        <p:nvSpPr>
          <p:cNvPr id="35" name="Text 24"/>
          <p:cNvSpPr txBox="1"/>
          <p:nvPr/>
        </p:nvSpPr>
        <p:spPr>
          <a:xfrm>
            <a:off x="6522720" y="6035040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3" i="1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weekly-mapped, but shared across both courses — worth a look.</a:t>
            </a:r>
            <a:endParaRPr lang="en-US" sz="973"/>
          </a:p>
        </p:txBody>
      </p:sp>
      <p:sp>
        <p:nvSpPr>
          <p:cNvPr id="36" name="Text 25"/>
          <p:cNvSpPr txBox="1"/>
          <p:nvPr/>
        </p:nvSpPr>
        <p:spPr>
          <a:xfrm>
            <a:off x="341376" y="6443472"/>
            <a:ext cx="6827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1422 — Week 2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79654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A39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A3990"/>
          </a:solidFill>
          <a:ln/>
        </p:spPr>
      </p:sp>
      <p:pic>
        <p:nvPicPr>
          <p:cNvPr id="4" name="Image 0" descr="/tmp/pitt/vgp_unpacked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" y="243841"/>
            <a:ext cx="1402080" cy="3572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27520" y="243840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b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1422 · GAME DESIGN &amp; PROGRAMMING</a:t>
            </a:r>
            <a:endParaRPr lang="en-US" sz="1067"/>
          </a:p>
        </p:txBody>
      </p:sp>
      <p:sp>
        <p:nvSpPr>
          <p:cNvPr id="6" name="Shape 3"/>
          <p:cNvSpPr/>
          <p:nvPr/>
        </p:nvSpPr>
        <p:spPr>
          <a:xfrm flipH="1">
            <a:off x="8241793" y="5204765"/>
            <a:ext cx="1319175" cy="1316736"/>
          </a:xfrm>
          <a:prstGeom prst="rtTriangle">
            <a:avLst/>
          </a:prstGeom>
          <a:solidFill>
            <a:srgbClr val="F06292"/>
          </a:solidFill>
          <a:ln/>
        </p:spPr>
      </p:sp>
      <p:sp>
        <p:nvSpPr>
          <p:cNvPr id="7" name="Shape 4"/>
          <p:cNvSpPr/>
          <p:nvPr/>
        </p:nvSpPr>
        <p:spPr>
          <a:xfrm rot="10800000">
            <a:off x="10872826" y="5204765"/>
            <a:ext cx="1319175" cy="1316736"/>
          </a:xfrm>
          <a:prstGeom prst="rtTriangle">
            <a:avLst/>
          </a:prstGeom>
          <a:solidFill>
            <a:srgbClr val="9C254D"/>
          </a:solidFill>
          <a:ln/>
        </p:spPr>
      </p:sp>
      <p:sp>
        <p:nvSpPr>
          <p:cNvPr id="8" name="Shape 5"/>
          <p:cNvSpPr/>
          <p:nvPr/>
        </p:nvSpPr>
        <p:spPr>
          <a:xfrm>
            <a:off x="10872826" y="5204765"/>
            <a:ext cx="1319175" cy="1316736"/>
          </a:xfrm>
          <a:prstGeom prst="rtTriangle">
            <a:avLst/>
          </a:prstGeom>
          <a:solidFill>
            <a:srgbClr val="F0629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1376" y="707136"/>
            <a:ext cx="11704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33" b="1">
                <a:solidFill>
                  <a:srgbClr val="2A39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resources: building the fishing loop</a:t>
            </a:r>
            <a:endParaRPr lang="en-US" sz="2533"/>
          </a:p>
        </p:txBody>
      </p:sp>
      <p:sp>
        <p:nvSpPr>
          <p:cNvPr id="10" name="Text 7"/>
          <p:cNvSpPr txBox="1"/>
          <p:nvPr/>
        </p:nvSpPr>
        <p:spPr>
          <a:xfrm>
            <a:off x="390144" y="1560576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/>
          </a:p>
        </p:txBody>
      </p:sp>
      <p:pic>
        <p:nvPicPr>
          <p:cNvPr id="11" name="Image 1" descr="/tmp/pitt/icons/youtub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" y="1950720"/>
            <a:ext cx="243840" cy="2438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9328" y="1926336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machines for game AI (Unity)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https://www.youtube.com/watch?v=cwlFbLLR3qc</a:t>
            </a:r>
            <a:endParaRPr lang="en-US" sz="1333"/>
          </a:p>
        </p:txBody>
      </p:sp>
      <p:pic>
        <p:nvPicPr>
          <p:cNvPr id="13" name="Image 2" descr="/tmp/pitt/icons/youtub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" y="2365248"/>
            <a:ext cx="243840" cy="2438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328" y="2340864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up the SteamVR plugin in Unity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https://www.youtube.com/watch?v=hMkfsiX2JiU</a:t>
            </a:r>
            <a:endParaRPr lang="en-US" sz="1333"/>
          </a:p>
        </p:txBody>
      </p:sp>
      <p:sp>
        <p:nvSpPr>
          <p:cNvPr id="15" name="Text 10"/>
          <p:cNvSpPr txBox="1"/>
          <p:nvPr/>
        </p:nvSpPr>
        <p:spPr>
          <a:xfrm>
            <a:off x="390144" y="2877312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/>
          </a:p>
        </p:txBody>
      </p:sp>
      <p:pic>
        <p:nvPicPr>
          <p:cNvPr id="16" name="Image 3" descr="/tmp/pitt/icons/github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44" y="3267456"/>
            <a:ext cx="243840" cy="2438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9328" y="3243072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Unity Plugin (official, Valve)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https://github.com/ValveSoftware/steamvr_unity_plugin</a:t>
            </a:r>
            <a:endParaRPr lang="en-US" sz="1333"/>
          </a:p>
        </p:txBody>
      </p:sp>
      <p:pic>
        <p:nvPicPr>
          <p:cNvPr id="18" name="Image 4" descr="/tmp/pitt/icons/github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44" y="3681984"/>
            <a:ext cx="243840" cy="2438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9328" y="3657600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NVJOB Boids — source of our fish-schooling asset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https://github.com/nvjob/nvjob-boids</a:t>
            </a:r>
            <a:endParaRPr lang="en-US" sz="1333"/>
          </a:p>
        </p:txBody>
      </p:sp>
      <p:sp>
        <p:nvSpPr>
          <p:cNvPr id="20" name="Text 13"/>
          <p:cNvSpPr txBox="1"/>
          <p:nvPr/>
        </p:nvSpPr>
        <p:spPr>
          <a:xfrm>
            <a:off x="390144" y="4194048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/>
          </a:p>
        </p:txBody>
      </p:sp>
      <p:pic>
        <p:nvPicPr>
          <p:cNvPr id="21" name="Image 5" descr="/tmp/pitt/icons/book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144" y="4584192"/>
            <a:ext cx="243840" cy="24384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19328" y="4559808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state machine pattern (game AI)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https://gamedevbeginner.com/state-machines-in-unity-how-and-when-to-use-them/</a:t>
            </a:r>
            <a:endParaRPr lang="en-US" sz="1333"/>
          </a:p>
        </p:txBody>
      </p:sp>
      <p:pic>
        <p:nvPicPr>
          <p:cNvPr id="23" name="Image 6" descr="/tmp/pitt/icons/link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144" y="5120640"/>
            <a:ext cx="243840" cy="24384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19328" y="5096256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Interaction System docs (grab, throw, hints)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https://valvesoftware.github.io/steamvr_unity_plugin/articles/Interaction-System.html</a:t>
            </a:r>
            <a:endParaRPr lang="en-US" sz="1333"/>
          </a:p>
        </p:txBody>
      </p:sp>
      <p:sp>
        <p:nvSpPr>
          <p:cNvPr id="25" name="Shape 16"/>
          <p:cNvSpPr/>
          <p:nvPr/>
        </p:nvSpPr>
        <p:spPr>
          <a:xfrm>
            <a:off x="6278880" y="1560576"/>
            <a:ext cx="5608320" cy="3596640"/>
          </a:xfrm>
          <a:prstGeom prst="roundRect">
            <a:avLst>
              <a:gd name="adj" fmla="val 2034"/>
            </a:avLst>
          </a:prstGeom>
          <a:solidFill>
            <a:srgbClr val="2A3990"/>
          </a:solidFill>
          <a:ln/>
        </p:spPr>
      </p:sp>
      <p:pic>
        <p:nvPicPr>
          <p:cNvPr id="26" name="Image 7" descr="/tmp/pitt/icons/paw_gol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7104" y="1804416"/>
            <a:ext cx="463296" cy="4632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32320" y="1804416"/>
            <a:ext cx="469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SaintTropez (VRPsych2024)</a:t>
            </a:r>
            <a:endParaRPr lang="en-US" sz="1467"/>
          </a:p>
        </p:txBody>
      </p:sp>
      <p:sp>
        <p:nvSpPr>
          <p:cNvPr id="28" name="Text 18"/>
          <p:cNvSpPr txBox="1"/>
          <p:nvPr/>
        </p:nvSpPr>
        <p:spPr>
          <a:xfrm>
            <a:off x="6547104" y="2389632"/>
            <a:ext cx="5181600" cy="2621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20000"/>
              </a:lnSpc>
              <a:buSzPct val="100000"/>
              <a:buChar char="•"/>
            </a:pPr>
            <a:r>
              <a:rPr lang="en-US" sz="1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Shaders V2 — the pond surface</a:t>
            </a:r>
            <a:endParaRPr lang="en-US" sz="1267"/>
          </a:p>
          <a:p>
            <a:pPr marL="457189" indent="-457189">
              <a:lnSpc>
                <a:spcPct val="120000"/>
              </a:lnSpc>
              <a:buSzPct val="100000"/>
              <a:buChar char="•"/>
            </a:pPr>
            <a:r>
              <a:rPr lang="en-US" sz="1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Schools (5 species), boid-driven AI</a:t>
            </a:r>
            <a:endParaRPr lang="en-US" sz="1267"/>
          </a:p>
          <a:p>
            <a:pPr marL="457189" indent="-457189">
              <a:lnSpc>
                <a:spcPct val="120000"/>
              </a:lnSpc>
              <a:buSzPct val="100000"/>
              <a:buChar char="•"/>
            </a:pPr>
            <a:r>
              <a:rPr lang="en-US" sz="1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Pier-House dock model to walk out on</a:t>
            </a:r>
            <a:endParaRPr lang="en-US" sz="1267"/>
          </a:p>
          <a:p>
            <a:pPr marL="457189" indent="-457189">
              <a:lnSpc>
                <a:spcPct val="120000"/>
              </a:lnSpc>
              <a:buSzPct val="100000"/>
              <a:buChar char="•"/>
            </a:pPr>
            <a:r>
              <a:rPr lang="en-US" sz="1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Water Physics 2 — bobber buoyancy</a:t>
            </a:r>
            <a:endParaRPr lang="en-US" sz="1267"/>
          </a:p>
          <a:p>
            <a:pPr marL="457189" indent="-457189">
              <a:lnSpc>
                <a:spcPct val="120000"/>
              </a:lnSpc>
              <a:buSzPct val="100000"/>
              <a:buChar char="•"/>
            </a:pPr>
            <a:r>
              <a:rPr lang="en-US" sz="1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+ Interaction System — already wired in</a:t>
            </a:r>
            <a:endParaRPr lang="en-US" sz="1267"/>
          </a:p>
        </p:txBody>
      </p:sp>
      <p:sp>
        <p:nvSpPr>
          <p:cNvPr id="29" name="Text 19"/>
          <p:cNvSpPr txBox="1"/>
          <p:nvPr/>
        </p:nvSpPr>
        <p:spPr>
          <a:xfrm>
            <a:off x="341376" y="6443472"/>
            <a:ext cx="6827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1422 — Week 2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20496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resources: SteamVR &amp; the fishing sim</a:t>
            </a:r>
            <a:endParaRPr lang="en-US" sz="3100"/>
          </a:p>
        </p:txBody>
      </p:sp>
      <p:sp>
        <p:nvSpPr>
          <p:cNvPr id="6" name="Text 2"/>
          <p:cNvSpPr txBox="1"/>
          <p:nvPr/>
        </p:nvSpPr>
        <p:spPr>
          <a:xfrm>
            <a:off x="457200" y="16002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/>
          </a:p>
        </p:txBody>
      </p:sp>
      <p:pic>
        <p:nvPicPr>
          <p:cNvPr id="7" name="Image 2" descr="/tmp/pitt/icons/youtub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75104"/>
            <a:ext cx="246888" cy="24688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04672" y="196596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up the SteamVR plugin in Unity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https://www.youtube.com/watch?v=hMkfsiX2JiU</a:t>
            </a:r>
            <a:endParaRPr lang="en-US" sz="1400"/>
          </a:p>
        </p:txBody>
      </p:sp>
      <p:pic>
        <p:nvPicPr>
          <p:cNvPr id="9" name="Image 3" descr="/tmp/pitt/icons/youtub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96312"/>
            <a:ext cx="246888" cy="24688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04672" y="248716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fishing simulator, concept walkthrough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https://www.youtube.com/watch?v=Oohjh-JC020</a:t>
            </a:r>
            <a:endParaRPr lang="en-US" sz="1400"/>
          </a:p>
        </p:txBody>
      </p:sp>
      <p:sp>
        <p:nvSpPr>
          <p:cNvPr id="11" name="Text 5"/>
          <p:cNvSpPr txBox="1"/>
          <p:nvPr/>
        </p:nvSpPr>
        <p:spPr>
          <a:xfrm>
            <a:off x="457200" y="31089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/>
          </a:p>
        </p:txBody>
      </p:sp>
      <p:pic>
        <p:nvPicPr>
          <p:cNvPr id="12" name="Image 4" descr="/tmp/pitt/icons/github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483864"/>
            <a:ext cx="246888" cy="24688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04672" y="347472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Unity Plugin (official, Valve)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https://github.com/ValveSoftware/steamvr_unity_plugin</a:t>
            </a:r>
            <a:endParaRPr lang="en-US" sz="1400"/>
          </a:p>
        </p:txBody>
      </p:sp>
      <p:pic>
        <p:nvPicPr>
          <p:cNvPr id="14" name="Image 5" descr="/tmp/pitt/icons/github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005072"/>
            <a:ext cx="246888" cy="246888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04672" y="399592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NVJOB Boids — source of our fish-schooling asset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https://github.com/nvjob/nvjob-boids</a:t>
            </a:r>
            <a:endParaRPr lang="en-US" sz="1400"/>
          </a:p>
        </p:txBody>
      </p:sp>
      <p:sp>
        <p:nvSpPr>
          <p:cNvPr id="16" name="Text 8"/>
          <p:cNvSpPr txBox="1"/>
          <p:nvPr/>
        </p:nvSpPr>
        <p:spPr>
          <a:xfrm>
            <a:off x="457200" y="46177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/>
          </a:p>
        </p:txBody>
      </p:sp>
      <p:pic>
        <p:nvPicPr>
          <p:cNvPr id="17" name="Image 6" descr="/tmp/pitt/icons/link_cy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992624"/>
            <a:ext cx="246888" cy="246888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804672" y="498348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Interaction System docs (grab, throw, hints)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https://valvesoftware.github.io/steamvr_unity_plugin/articles/Interaction-System.html</a:t>
            </a:r>
            <a:endParaRPr lang="en-US" sz="1400"/>
          </a:p>
        </p:txBody>
      </p:sp>
      <p:pic>
        <p:nvPicPr>
          <p:cNvPr id="19" name="Image 7" descr="/tmp/pitt/icons/link_cy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5632704"/>
            <a:ext cx="246888" cy="246888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804672" y="562356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grabbing tutorial (SteamVR 2.0)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https://wirewhiz.com/vr-grabbing-tutorial/</a:t>
            </a:r>
            <a:endParaRPr lang="en-US" sz="1400"/>
          </a:p>
        </p:txBody>
      </p:sp>
      <p:sp>
        <p:nvSpPr>
          <p:cNvPr id="21" name="Shape 11"/>
          <p:cNvSpPr/>
          <p:nvPr/>
        </p:nvSpPr>
        <p:spPr>
          <a:xfrm>
            <a:off x="6080760" y="160020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E2841"/>
          </a:solidFill>
          <a:ln/>
        </p:spPr>
      </p:sp>
      <p:pic>
        <p:nvPicPr>
          <p:cNvPr id="22" name="Image 8" descr="/tmp/pitt/icons/water_gol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80" y="1847088"/>
            <a:ext cx="475488" cy="475488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6995160" y="188366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SaintTropez (VRPsych2024)</a:t>
            </a:r>
            <a:endParaRPr lang="en-US" sz="1600"/>
          </a:p>
        </p:txBody>
      </p:sp>
      <p:sp>
        <p:nvSpPr>
          <p:cNvPr id="24" name="Text 13"/>
          <p:cNvSpPr txBox="1"/>
          <p:nvPr/>
        </p:nvSpPr>
        <p:spPr>
          <a:xfrm>
            <a:off x="6995160" y="2423160"/>
            <a:ext cx="4480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#NVJOB Water Shaders V2 — water surface material</a:t>
            </a:r>
            <a:endParaRPr lang="en-US" sz="135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Schools — 5 species, boid-driven swimming</a:t>
            </a:r>
            <a:endParaRPr lang="en-US" sz="135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Pier-House 3 — dock/pier model for the walk-out</a:t>
            </a:r>
            <a:endParaRPr lang="en-US" sz="135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NWH Dynamic Water Physics 2 — buoyancy for the bobber</a:t>
            </a:r>
            <a:endParaRPr lang="en-US" sz="135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+ SteamVR_Input + VRInteractions — already wired in</a:t>
            </a:r>
            <a:endParaRPr lang="en-US" sz="1350"/>
          </a:p>
        </p:txBody>
      </p:sp>
      <p:sp>
        <p:nvSpPr>
          <p:cNvPr id="25" name="Text 14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325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Next steps – homework + planning</a:t>
            </a:r>
            <a:endParaRPr lang="en-US" sz="3600"/>
          </a:p>
        </p:txBody>
      </p:sp>
      <p:pic>
        <p:nvPicPr>
          <p:cNvPr id="17" name="Image 6" descr="/tmp/pitt/panther_photos/afw_savethedate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Virtual Reality 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2026-08-29T22:53:09Z</dcterms:created>
  <dcterms:modified xsi:type="dcterms:W3CDTF">2026-09-02T20:37:29Z</dcterms:modified>
</cp:coreProperties>
</file>