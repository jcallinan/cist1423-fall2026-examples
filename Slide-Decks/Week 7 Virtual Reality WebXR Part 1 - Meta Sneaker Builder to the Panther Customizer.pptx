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 docs: Meta-WebXR-Samples/README.md, Meta-WebXR-Samples/Sneaker-Builder.md, Alumni-Weekend-2026/panther-builder/FROM-SNEAKER-TO-PANTHER.md.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interaction ideas as SteamVR (rig, grab, ray, UI), with nothing hidden behind an editor.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7 session plan (with Exam 2 and Part 2): Lesson-Plans/Week-07-WebXR.md. Assign the Part 1 reading in Week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panther-builder URL worked on Quest Browser in MR and on the Vive Pros in VR, from the same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order: Sneaker Builder (whole pattern), Flap Frenzy src/flap.js (gameplay from raw controller positions), Chairs Etc. furniture.js + marker.js (scene understanding), RealMeasure for fun. Live demos at meta-quest.github.io/webxr-showcases/&lt;name&gt;.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Repos: github.com/meta-quest/reality-accelerator-toolkit, github.com/facebook/immersive-web-sdk, github.com/meta-quest/webxr-first-steps.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panther-builder's package.json has exactly the same dependency versions as upstream.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sneaker-builder/src/index.js.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mask shader is maskMaterial in player.js.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Details in Meta-WebXR-Samples/Sneaker-Builder.md section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Dependencies in package.json are identical to upstream as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Screenshots: Alumni-Weekend-2026/panther-builder/docs.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rename also fixed an upstream typo: .attahced → .attached in the skip-held-objects filter. userData.shoeId = "panther" is a deliberate shim so grab.js keeps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welcome.js was also changed to dock the real grabbable statue (not a copy) under the welcome card, and only while in XR.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candidates for a WebXR mini-project or extra credit.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 the self-signed certificate once. WebXR requires HTTPS.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Which system runs first in Sneaker Builder, and why does that matter?
   PlayerSystem: every later system sees the same "just pressed" flags that frame.
Q2. How does Sneaker Builder play a sound, the ECS way?
   Create an entity with a SoundEffectComponent; AudioSystem plays it at the right 3D position and destroys it.
Q3. Name two files panther-builder left unchanged, and why that was safe.
   Any of player, follow, pointer, audio, global: they are engine code that never mentions sneakers.
Q4. Why did the Vive Pro 2 need a code change to enter the Panther app?
   Upstream required AR features only the Quest Browser grants; it now falls back to immersive-vr.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are at the end of Meta-WebXR-Samples/Sneaker-Builder.md.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jpeg"/><Relationship Id="rId3" Type="http://schemas.openxmlformats.org/officeDocument/2006/relationships/image" Target="../media/image-1-3.jp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jpe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jpe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jpe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jpeg"/><Relationship Id="rId3" Type="http://schemas.openxmlformats.org/officeDocument/2006/relationships/image" Target="../media/image-5-3.jpg"/><Relationship Id="rId4" Type="http://schemas.openxmlformats.org/officeDocument/2006/relationships/image" Target="../media/image-5-4.jpg"/><Relationship Id="rId5" Type="http://schemas.openxmlformats.org/officeDocument/2006/relationships/image" Target="../media/image-5-5.jpg"/><Relationship Id="rId6" Type="http://schemas.openxmlformats.org/officeDocument/2006/relationships/image" Target="../media/image-5-6.jp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jpe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jpe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jpe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jpe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jpe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jpe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jpeg"/><Relationship Id="rId3" Type="http://schemas.openxmlformats.org/officeDocument/2006/relationships/image" Target="../media/image-12-3.jpg"/><Relationship Id="rId4" Type="http://schemas.openxmlformats.org/officeDocument/2006/relationships/image" Target="../media/image-12-4.jp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jpeg"/><Relationship Id="rId3" Type="http://schemas.openxmlformats.org/officeDocument/2006/relationships/image" Target="../media/image-13-3.jp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jpe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jpe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jpe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jpe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jpeg"/><Relationship Id="rId3" Type="http://schemas.openxmlformats.org/officeDocument/2006/relationships/image" Target="../media/image-18-3.jp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big.jpeg">    </p:cNvPr>
          <p:cNvPicPr>
            <a:picLocks noChangeAspect="1"/>
          </p:cNvPicPr>
          <p:nvPr/>
        </p:nvPicPr>
        <p:blipFill>
          <a:blip r:embed="rId1"/>
          <a:stretch>
            <a:fillRect/>
          </a:stretch>
        </p:blipFill>
        <p:spPr>
          <a:xfrm>
            <a:off x="0" y="9144"/>
            <a:ext cx="3392424" cy="841248"/>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9912096" y="0"/>
            <a:ext cx="2276856" cy="1371600"/>
          </a:xfrm>
          <a:prstGeom prst="rect">
            <a:avLst/>
          </a:prstGeom>
        </p:spPr>
      </p:pic>
      <p:sp>
        <p:nvSpPr>
          <p:cNvPr id="4" name="Text 0"/>
          <p:cNvSpPr txBox="1"/>
          <p:nvPr/>
        </p:nvSpPr>
        <p:spPr>
          <a:xfrm>
            <a:off x="548640" y="1371600"/>
            <a:ext cx="6400800" cy="2194560"/>
          </a:xfrm>
          <a:prstGeom prst="rect">
            <a:avLst/>
          </a:prstGeom>
          <a:noFill/>
          <a:ln/>
        </p:spPr>
        <p:txBody>
          <a:bodyPr wrap="square" lIns="0" tIns="0" rIns="0" bIns="0" rtlCol="0" anchor="ctr"/>
          <a:lstStyle/>
          <a:p>
            <a:pPr indent="0" marL="0">
              <a:buNone/>
            </a:pPr>
            <a:r>
              <a:rPr lang="en-US" sz="7200" dirty="0">
                <a:solidFill>
                  <a:srgbClr val="000000"/>
                </a:solidFill>
                <a:latin typeface="Calibri Light" pitchFamily="34" charset="0"/>
                <a:ea typeface="Calibri Light" pitchFamily="34" charset="-122"/>
                <a:cs typeface="Calibri Light" pitchFamily="34" charset="-120"/>
              </a:rPr>
              <a:t>Virtual Reality</a:t>
            </a:r>
            <a:endParaRPr lang="en-US" sz="7200" dirty="0"/>
          </a:p>
        </p:txBody>
      </p:sp>
      <p:pic>
        <p:nvPicPr>
          <p:cNvPr id="5" name="Image 2" descr="C:\Users\Jeremy Callinan\AppData\Local\Temp\claude\c--GitHub-CIST1423-Fall2026-Examples\62e170c0-4055-4e17-811f-6bb67e40bfc7\scratchpad\deck\img\sneaker-builder.jpg">    </p:cNvPr>
          <p:cNvPicPr>
            <a:picLocks noChangeAspect="1"/>
          </p:cNvPicPr>
          <p:nvPr/>
        </p:nvPicPr>
        <p:blipFill>
          <a:blip r:embed="rId3"/>
          <a:stretch>
            <a:fillRect/>
          </a:stretch>
        </p:blipFill>
        <p:spPr>
          <a:xfrm>
            <a:off x="7086600" y="1463040"/>
            <a:ext cx="2743200" cy="2743200"/>
          </a:xfrm>
          <a:prstGeom prst="rect">
            <a:avLst/>
          </a:prstGeom>
        </p:spPr>
      </p:pic>
      <p:sp>
        <p:nvSpPr>
          <p:cNvPr id="6" name="Text 1"/>
          <p:cNvSpPr txBox="1"/>
          <p:nvPr/>
        </p:nvSpPr>
        <p:spPr>
          <a:xfrm>
            <a:off x="548640" y="3611880"/>
            <a:ext cx="6400800" cy="731520"/>
          </a:xfrm>
          <a:prstGeom prst="rect">
            <a:avLst/>
          </a:prstGeom>
          <a:noFill/>
          <a:ln/>
        </p:spPr>
        <p:txBody>
          <a:bodyPr wrap="square" lIns="0" tIns="0" rIns="0" bIns="0" rtlCol="0" anchor="t"/>
          <a:lstStyle/>
          <a:p>
            <a:pPr indent="0" marL="0">
              <a:buNone/>
            </a:pPr>
            <a:r>
              <a:rPr lang="en-US" sz="2200" b="1" dirty="0">
                <a:solidFill>
                  <a:srgbClr val="0E2841"/>
                </a:solidFill>
                <a:latin typeface="Cambria" pitchFamily="34" charset="0"/>
                <a:ea typeface="Cambria" pitchFamily="34" charset="-122"/>
                <a:cs typeface="Cambria" pitchFamily="34" charset="-120"/>
              </a:rPr>
              <a:t>WebXR Part 1: how Meta's Sneaker Builder became our Panther Customizer</a:t>
            </a:r>
            <a:endParaRPr lang="en-US" sz="2200" dirty="0"/>
          </a:p>
        </p:txBody>
      </p:sp>
      <p:sp>
        <p:nvSpPr>
          <p:cNvPr id="7" name="Text 2"/>
          <p:cNvSpPr txBox="1"/>
          <p:nvPr/>
        </p:nvSpPr>
        <p:spPr>
          <a:xfrm>
            <a:off x="2130552" y="4572000"/>
            <a:ext cx="9217152" cy="914400"/>
          </a:xfrm>
          <a:prstGeom prst="rect">
            <a:avLst/>
          </a:prstGeom>
          <a:noFill/>
          <a:ln/>
        </p:spPr>
        <p:txBody>
          <a:bodyPr wrap="square" lIns="0" tIns="0" rIns="0" bIns="0" rtlCol="0" anchor="ctr"/>
          <a:lstStyle/>
          <a:p>
            <a:pPr algn="r" indent="0" marL="0">
              <a:buNone/>
            </a:pPr>
            <a:r>
              <a:rPr lang="en-US" sz="2000" dirty="0">
                <a:solidFill>
                  <a:srgbClr val="4472C4"/>
                </a:solidFill>
                <a:latin typeface="Calibri" pitchFamily="34" charset="0"/>
                <a:ea typeface="Calibri" pitchFamily="34" charset="-122"/>
                <a:cs typeface="Calibri" pitchFamily="34" charset="-120"/>
              </a:rPr>
              <a:t>Wednesdays at 6:00pm</a:t>
            </a:r>
            <a:endParaRPr lang="en-US" sz="2000" dirty="0"/>
          </a:p>
          <a:p>
            <a:pPr algn="r" indent="0" marL="0">
              <a:buNone/>
            </a:pPr>
            <a:r>
              <a:rPr lang="en-US" sz="1600" dirty="0">
                <a:solidFill>
                  <a:srgbClr val="000000"/>
                </a:solidFill>
                <a:latin typeface="Calibri" pitchFamily="34" charset="0"/>
                <a:ea typeface="Calibri" pitchFamily="34" charset="-122"/>
                <a:cs typeface="Calibri" pitchFamily="34" charset="-120"/>
              </a:rPr>
              <a:t>CIST 1423 - 2010   VIRTUAL REALITY PROGRAMMING AND TECHNOLOGY</a:t>
            </a:r>
            <a:endParaRPr lang="en-US" sz="2000" dirty="0"/>
          </a:p>
        </p:txBody>
      </p:sp>
      <p:sp>
        <p:nvSpPr>
          <p:cNvPr id="8" name="Shape 3"/>
          <p:cNvSpPr/>
          <p:nvPr/>
        </p:nvSpPr>
        <p:spPr>
          <a:xfrm>
            <a:off x="411480" y="5806440"/>
            <a:ext cx="8138160" cy="640080"/>
          </a:xfrm>
          <a:prstGeom prst="roundRect">
            <a:avLst>
              <a:gd name="adj" fmla="val 14286"/>
            </a:avLst>
          </a:prstGeom>
          <a:solidFill>
            <a:srgbClr val="0E2841"/>
          </a:solidFill>
          <a:ln w="12700">
            <a:solidFill>
              <a:srgbClr val="0E2841"/>
            </a:solidFill>
            <a:prstDash val="solid"/>
          </a:ln>
        </p:spPr>
      </p:sp>
      <p:pic>
        <p:nvPicPr>
          <p:cNvPr id="9" name="Image 3" descr="C:\Users\Jeremy Callinan\AppData\Local\Temp\claude\c--GitHub-CIST1423-Fall2026-Examples\62e170c0-4055-4e17-811f-6bb67e40bfc7\scratchpad\deck\img\paw.png">    </p:cNvPr>
          <p:cNvPicPr>
            <a:picLocks noChangeAspect="1"/>
          </p:cNvPicPr>
          <p:nvPr/>
        </p:nvPicPr>
        <p:blipFill>
          <a:blip r:embed="rId4"/>
          <a:stretch>
            <a:fillRect/>
          </a:stretch>
        </p:blipFill>
        <p:spPr>
          <a:xfrm>
            <a:off x="576072" y="5916168"/>
            <a:ext cx="420624" cy="420624"/>
          </a:xfrm>
          <a:prstGeom prst="rect">
            <a:avLst/>
          </a:prstGeom>
        </p:spPr>
      </p:pic>
      <p:sp>
        <p:nvSpPr>
          <p:cNvPr id="10" name="Text 4"/>
          <p:cNvSpPr txBox="1"/>
          <p:nvPr/>
        </p:nvSpPr>
        <p:spPr>
          <a:xfrm>
            <a:off x="1143000" y="5806440"/>
            <a:ext cx="7315200" cy="640080"/>
          </a:xfrm>
          <a:prstGeom prst="rect">
            <a:avLst/>
          </a:prstGeom>
          <a:noFill/>
          <a:ln/>
        </p:spPr>
        <p:txBody>
          <a:bodyPr wrap="square" lIns="0" tIns="0" rIns="0" bIns="0" rtlCol="0" anchor="ctr"/>
          <a:lstStyle/>
          <a:p>
            <a:pPr indent="0" marL="0">
              <a:buNone/>
            </a:pPr>
            <a:r>
              <a:rPr lang="en-US" sz="1600" b="1" dirty="0">
                <a:solidFill>
                  <a:srgbClr val="F0D68A"/>
                </a:solidFill>
                <a:latin typeface="Calibri" pitchFamily="34" charset="0"/>
                <a:ea typeface="Calibri" pitchFamily="34" charset="-122"/>
                <a:cs typeface="Calibri" pitchFamily="34" charset="-120"/>
              </a:rPr>
              <a:t>Try it in a headset: jcallinan.github.io/Alumni-Weekend-2026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big.jpeg">    </p:cNvPr>
          <p:cNvPicPr>
            <a:picLocks noChangeAspect="1"/>
          </p:cNvPicPr>
          <p:nvPr/>
        </p:nvPicPr>
        <p:blipFill>
          <a:blip r:embed="rId1"/>
          <a:stretch>
            <a:fillRect/>
          </a:stretch>
        </p:blipFill>
        <p:spPr>
          <a:xfrm>
            <a:off x="0" y="9144"/>
            <a:ext cx="3392424" cy="841248"/>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9912096" y="0"/>
            <a:ext cx="2276856" cy="1371600"/>
          </a:xfrm>
          <a:prstGeom prst="rect">
            <a:avLst/>
          </a:prstGeom>
        </p:spPr>
      </p:pic>
      <p:sp>
        <p:nvSpPr>
          <p:cNvPr id="4" name="Text 0"/>
          <p:cNvSpPr txBox="1"/>
          <p:nvPr/>
        </p:nvSpPr>
        <p:spPr>
          <a:xfrm>
            <a:off x="3200400" y="731520"/>
            <a:ext cx="5788152" cy="822960"/>
          </a:xfrm>
          <a:prstGeom prst="rect">
            <a:avLst/>
          </a:prstGeom>
          <a:noFill/>
          <a:ln/>
        </p:spPr>
        <p:txBody>
          <a:bodyPr wrap="square" lIns="0" tIns="0" rIns="0" bIns="0" rtlCol="0" anchor="ctr"/>
          <a:lstStyle/>
          <a:p>
            <a:pPr algn="ctr" indent="0" marL="0">
              <a:buNone/>
            </a:pPr>
            <a:r>
              <a:rPr lang="en-US" sz="4000" dirty="0">
                <a:solidFill>
                  <a:srgbClr val="000000"/>
                </a:solidFill>
                <a:latin typeface="Calibri Light" pitchFamily="34" charset="0"/>
                <a:ea typeface="Calibri Light" pitchFamily="34" charset="-122"/>
                <a:cs typeface="Calibri Light" pitchFamily="34" charset="-120"/>
              </a:rPr>
              <a:t>Agenda</a:t>
            </a:r>
            <a:endParaRPr lang="en-US" sz="4000" dirty="0"/>
          </a:p>
        </p:txBody>
      </p:sp>
      <p:pic>
        <p:nvPicPr>
          <p:cNvPr id="5" name="Image 2" descr="preencoded.png">    </p:cNvPr>
          <p:cNvPicPr>
            <a:picLocks noChangeAspect="1"/>
          </p:cNvPicPr>
          <p:nvPr/>
        </p:nvPicPr>
        <p:blipFill>
          <a:blip r:embed="rId3"/>
          <a:stretch>
            <a:fillRect/>
          </a:stretch>
        </p:blipFill>
        <p:spPr>
          <a:xfrm>
            <a:off x="2118208" y="2103120"/>
            <a:ext cx="1005840" cy="1005840"/>
          </a:xfrm>
          <a:prstGeom prst="rect">
            <a:avLst/>
          </a:prstGeom>
        </p:spPr>
      </p:pic>
      <p:sp>
        <p:nvSpPr>
          <p:cNvPr id="6" name="Text 1"/>
          <p:cNvSpPr txBox="1"/>
          <p:nvPr/>
        </p:nvSpPr>
        <p:spPr>
          <a:xfrm>
            <a:off x="1158088" y="3291840"/>
            <a:ext cx="2926080" cy="457200"/>
          </a:xfrm>
          <a:prstGeom prst="rect">
            <a:avLst/>
          </a:prstGeom>
          <a:noFill/>
          <a:ln/>
        </p:spPr>
        <p:txBody>
          <a:bodyPr wrap="square" lIns="0" tIns="0" rIns="0" bIns="0"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WebXR &amp; Meta's samples</a:t>
            </a:r>
            <a:endParaRPr lang="en-US" sz="2000" dirty="0"/>
          </a:p>
        </p:txBody>
      </p:sp>
      <p:sp>
        <p:nvSpPr>
          <p:cNvPr id="7" name="Text 2"/>
          <p:cNvSpPr txBox="1"/>
          <p:nvPr/>
        </p:nvSpPr>
        <p:spPr>
          <a:xfrm>
            <a:off x="1158088" y="3794760"/>
            <a:ext cx="2926080" cy="1097280"/>
          </a:xfrm>
          <a:prstGeom prst="rect">
            <a:avLst/>
          </a:prstGeom>
          <a:noFill/>
          <a:ln/>
        </p:spPr>
        <p:txBody>
          <a:bodyPr wrap="square" lIns="0" tIns="0" rIns="0" bIns="0" rtlCol="0" anchor="t"/>
          <a:lstStyle/>
          <a:p>
            <a:pPr algn="ctr" indent="0" marL="0">
              <a:buNone/>
            </a:pPr>
            <a:r>
              <a:rPr lang="en-US" sz="1300" dirty="0">
                <a:solidFill>
                  <a:srgbClr val="5B6B76"/>
                </a:solidFill>
                <a:latin typeface="Calibri" pitchFamily="34" charset="0"/>
                <a:ea typeface="Calibri" pitchFamily="34" charset="-122"/>
                <a:cs typeface="Calibri" pitchFamily="34" charset="-120"/>
              </a:rPr>
              <a:t>Four showcases and the toolkits behind them</a:t>
            </a:r>
            <a:endParaRPr lang="en-US" sz="1300" dirty="0"/>
          </a:p>
        </p:txBody>
      </p:sp>
      <p:pic>
        <p:nvPicPr>
          <p:cNvPr id="8" name="Image 3" descr="preencoded.png">    </p:cNvPr>
          <p:cNvPicPr>
            <a:picLocks noChangeAspect="1"/>
          </p:cNvPicPr>
          <p:nvPr/>
        </p:nvPicPr>
        <p:blipFill>
          <a:blip r:embed="rId4"/>
          <a:stretch>
            <a:fillRect/>
          </a:stretch>
        </p:blipFill>
        <p:spPr>
          <a:xfrm>
            <a:off x="5592928" y="2103120"/>
            <a:ext cx="1005840" cy="1005840"/>
          </a:xfrm>
          <a:prstGeom prst="rect">
            <a:avLst/>
          </a:prstGeom>
        </p:spPr>
      </p:pic>
      <p:sp>
        <p:nvSpPr>
          <p:cNvPr id="9" name="Text 3"/>
          <p:cNvSpPr txBox="1"/>
          <p:nvPr/>
        </p:nvSpPr>
        <p:spPr>
          <a:xfrm>
            <a:off x="4632808" y="3291840"/>
            <a:ext cx="2926080" cy="457200"/>
          </a:xfrm>
          <a:prstGeom prst="rect">
            <a:avLst/>
          </a:prstGeom>
          <a:noFill/>
          <a:ln/>
        </p:spPr>
        <p:txBody>
          <a:bodyPr wrap="square" lIns="0" tIns="0" rIns="0" bIns="0"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How Sneaker Builder works</a:t>
            </a:r>
            <a:endParaRPr lang="en-US" sz="2000" dirty="0"/>
          </a:p>
        </p:txBody>
      </p:sp>
      <p:sp>
        <p:nvSpPr>
          <p:cNvPr id="10" name="Text 4"/>
          <p:cNvSpPr txBox="1"/>
          <p:nvPr/>
        </p:nvSpPr>
        <p:spPr>
          <a:xfrm>
            <a:off x="4632808" y="3794760"/>
            <a:ext cx="2926080" cy="1097280"/>
          </a:xfrm>
          <a:prstGeom prst="rect">
            <a:avLst/>
          </a:prstGeom>
          <a:noFill/>
          <a:ln/>
        </p:spPr>
        <p:txBody>
          <a:bodyPr wrap="square" lIns="0" tIns="0" rIns="0" bIns="0" rtlCol="0" anchor="t"/>
          <a:lstStyle/>
          <a:p>
            <a:pPr algn="ctr" indent="0" marL="0">
              <a:buNone/>
            </a:pPr>
            <a:r>
              <a:rPr lang="en-US" sz="1300" dirty="0">
                <a:solidFill>
                  <a:srgbClr val="5B6B76"/>
                </a:solidFill>
                <a:latin typeface="Calibri" pitchFamily="34" charset="0"/>
                <a:ea typeface="Calibri" pitchFamily="34" charset="-122"/>
                <a:cs typeface="Calibri" pitchFamily="34" charset="-120"/>
              </a:rPr>
              <a:t>three.js + an ECS, file by file</a:t>
            </a:r>
            <a:endParaRPr lang="en-US" sz="1300" dirty="0"/>
          </a:p>
        </p:txBody>
      </p:sp>
      <p:pic>
        <p:nvPicPr>
          <p:cNvPr id="11" name="Image 4" descr="preencoded.png">    </p:cNvPr>
          <p:cNvPicPr>
            <a:picLocks noChangeAspect="1"/>
          </p:cNvPicPr>
          <p:nvPr/>
        </p:nvPicPr>
        <p:blipFill>
          <a:blip r:embed="rId5"/>
          <a:stretch>
            <a:fillRect/>
          </a:stretch>
        </p:blipFill>
        <p:spPr>
          <a:xfrm>
            <a:off x="9067648" y="2103120"/>
            <a:ext cx="1005840" cy="1005840"/>
          </a:xfrm>
          <a:prstGeom prst="rect">
            <a:avLst/>
          </a:prstGeom>
        </p:spPr>
      </p:pic>
      <p:sp>
        <p:nvSpPr>
          <p:cNvPr id="12" name="Text 5"/>
          <p:cNvSpPr txBox="1"/>
          <p:nvPr/>
        </p:nvSpPr>
        <p:spPr>
          <a:xfrm>
            <a:off x="8107528" y="3291840"/>
            <a:ext cx="2926080" cy="457200"/>
          </a:xfrm>
          <a:prstGeom prst="rect">
            <a:avLst/>
          </a:prstGeom>
          <a:noFill/>
          <a:ln/>
        </p:spPr>
        <p:txBody>
          <a:bodyPr wrap="square" lIns="0" tIns="0" rIns="0" bIns="0"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Sneaker → Panther</a:t>
            </a:r>
            <a:endParaRPr lang="en-US" sz="2000" dirty="0"/>
          </a:p>
        </p:txBody>
      </p:sp>
      <p:sp>
        <p:nvSpPr>
          <p:cNvPr id="13" name="Text 6"/>
          <p:cNvSpPr txBox="1"/>
          <p:nvPr/>
        </p:nvSpPr>
        <p:spPr>
          <a:xfrm>
            <a:off x="8107528" y="3794760"/>
            <a:ext cx="2926080" cy="1097280"/>
          </a:xfrm>
          <a:prstGeom prst="rect">
            <a:avLst/>
          </a:prstGeom>
          <a:noFill/>
          <a:ln/>
        </p:spPr>
        <p:txBody>
          <a:bodyPr wrap="square" lIns="0" tIns="0" rIns="0" bIns="0" rtlCol="0" anchor="t"/>
          <a:lstStyle/>
          <a:p>
            <a:pPr algn="ctr" indent="0" marL="0">
              <a:buNone/>
            </a:pPr>
            <a:r>
              <a:rPr lang="en-US" sz="1300" dirty="0">
                <a:solidFill>
                  <a:srgbClr val="5B6B76"/>
                </a:solidFill>
                <a:latin typeface="Calibri" pitchFamily="34" charset="0"/>
                <a:ea typeface="Calibri" pitchFamily="34" charset="-122"/>
                <a:cs typeface="Calibri" pitchFamily="34" charset="-120"/>
              </a:rPr>
              <a:t>What we kept, changed, replaced, and deleted</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small.png">    </p:cNvPr>
          <p:cNvPicPr>
            <a:picLocks noChangeAspect="1"/>
          </p:cNvPicPr>
          <p:nvPr/>
        </p:nvPicPr>
        <p:blipFill>
          <a:blip r:embed="rId1"/>
          <a:stretch>
            <a:fillRect/>
          </a:stretch>
        </p:blipFill>
        <p:spPr>
          <a:xfrm>
            <a:off x="320040" y="237744"/>
            <a:ext cx="1371600" cy="329184"/>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10561320" y="201168"/>
            <a:ext cx="1234440" cy="795528"/>
          </a:xfrm>
          <a:prstGeom prst="rect">
            <a:avLst/>
          </a:prstGeom>
        </p:spPr>
      </p:pic>
      <p:sp>
        <p:nvSpPr>
          <p:cNvPr id="4" name="Text 0"/>
          <p:cNvSpPr txBox="1"/>
          <p:nvPr/>
        </p:nvSpPr>
        <p:spPr>
          <a:xfrm>
            <a:off x="320040" y="621792"/>
            <a:ext cx="10058400" cy="658368"/>
          </a:xfrm>
          <a:prstGeom prst="rect">
            <a:avLst/>
          </a:prstGeom>
          <a:noFill/>
          <a:ln/>
        </p:spPr>
        <p:txBody>
          <a:bodyPr wrap="square" lIns="0" tIns="0" rIns="0" bIns="0" rtlCol="0" anchor="ctr"/>
          <a:lstStyle/>
          <a:p>
            <a:pPr indent="0" marL="0">
              <a:buNone/>
            </a:pPr>
            <a:r>
              <a:rPr lang="en-US" sz="2500" b="1" dirty="0">
                <a:solidFill>
                  <a:srgbClr val="0E2841"/>
                </a:solidFill>
                <a:latin typeface="Cambria" pitchFamily="34" charset="0"/>
                <a:ea typeface="Cambria" pitchFamily="34" charset="-122"/>
                <a:cs typeface="Cambria" pitchFamily="34" charset="-120"/>
              </a:rPr>
              <a:t>Today</a:t>
            </a:r>
            <a:endParaRPr lang="en-US" sz="2500" dirty="0"/>
          </a:p>
        </p:txBody>
      </p:sp>
      <p:sp>
        <p:nvSpPr>
          <p:cNvPr id="5" name="Shape 1"/>
          <p:cNvSpPr/>
          <p:nvPr/>
        </p:nvSpPr>
        <p:spPr>
          <a:xfrm>
            <a:off x="320040" y="1298448"/>
            <a:ext cx="9875520" cy="0"/>
          </a:xfrm>
          <a:prstGeom prst="line">
            <a:avLst/>
          </a:prstGeom>
          <a:noFill/>
          <a:ln w="9525">
            <a:solidFill>
              <a:srgbClr val="E97132"/>
            </a:solidFill>
            <a:prstDash val="solid"/>
          </a:ln>
        </p:spPr>
      </p:sp>
      <p:sp>
        <p:nvSpPr>
          <p:cNvPr id="6" name="Text 2"/>
          <p:cNvSpPr txBox="1"/>
          <p:nvPr/>
        </p:nvSpPr>
        <p:spPr>
          <a:xfrm>
            <a:off x="457200" y="1371600"/>
            <a:ext cx="11247120" cy="411480"/>
          </a:xfrm>
          <a:prstGeom prst="rect">
            <a:avLst/>
          </a:prstGeom>
          <a:noFill/>
          <a:ln/>
        </p:spPr>
        <p:txBody>
          <a:bodyPr wrap="square" lIns="0" tIns="0" rIns="0" bIns="0" rtlCol="0" anchor="ctr"/>
          <a:lstStyle/>
          <a:p>
            <a:pPr indent="0" marL="0">
              <a:buNone/>
            </a:pPr>
            <a:r>
              <a:rPr lang="en-US" sz="1350" dirty="0">
                <a:solidFill>
                  <a:srgbClr val="5B6B76"/>
                </a:solidFill>
                <a:latin typeface="Calibri" pitchFamily="34" charset="0"/>
                <a:ea typeface="Calibri" pitchFamily="34" charset="-122"/>
                <a:cs typeface="Calibri" pitchFamily="34" charset="-120"/>
              </a:rPr>
              <a:t>By the end of class you can…</a:t>
            </a:r>
            <a:endParaRPr lang="en-US" sz="1350" dirty="0"/>
          </a:p>
        </p:txBody>
      </p:sp>
      <p:sp>
        <p:nvSpPr>
          <p:cNvPr id="7" name="Shape 3"/>
          <p:cNvSpPr/>
          <p:nvPr/>
        </p:nvSpPr>
        <p:spPr>
          <a:xfrm>
            <a:off x="457200" y="1920240"/>
            <a:ext cx="6766560" cy="4206240"/>
          </a:xfrm>
          <a:prstGeom prst="roundRect">
            <a:avLst>
              <a:gd name="adj" fmla="val 1739"/>
            </a:avLst>
          </a:prstGeom>
          <a:solidFill>
            <a:srgbClr val="F4F7FA"/>
          </a:solidFill>
          <a:ln w="9525">
            <a:solidFill>
              <a:srgbClr val="D8E1E8"/>
            </a:solidFill>
            <a:prstDash val="solid"/>
          </a:ln>
        </p:spPr>
      </p:sp>
      <p:sp>
        <p:nvSpPr>
          <p:cNvPr id="8" name="Shape 4"/>
          <p:cNvSpPr/>
          <p:nvPr/>
        </p:nvSpPr>
        <p:spPr>
          <a:xfrm>
            <a:off x="685800" y="2331720"/>
            <a:ext cx="457200" cy="457200"/>
          </a:xfrm>
          <a:prstGeom prst="ellipse">
            <a:avLst/>
          </a:prstGeom>
          <a:solidFill>
            <a:srgbClr val="0E2841"/>
          </a:solidFill>
          <a:ln w="12700">
            <a:solidFill>
              <a:srgbClr val="0E2841"/>
            </a:solidFill>
            <a:prstDash val="solid"/>
          </a:ln>
        </p:spPr>
      </p:sp>
      <p:sp>
        <p:nvSpPr>
          <p:cNvPr id="9" name="Text 5"/>
          <p:cNvSpPr txBox="1"/>
          <p:nvPr/>
        </p:nvSpPr>
        <p:spPr>
          <a:xfrm>
            <a:off x="685800" y="2331720"/>
            <a:ext cx="457200" cy="457200"/>
          </a:xfrm>
          <a:prstGeom prst="rect">
            <a:avLst/>
          </a:prstGeom>
          <a:noFill/>
          <a:ln/>
        </p:spPr>
        <p:txBody>
          <a:bodyPr wrap="square" lIns="0" tIns="0" rIns="0" bIns="0" rtlCol="0" anchor="ctr"/>
          <a:lstStyle/>
          <a:p>
            <a:pPr algn="ctr" indent="0" marL="0">
              <a:buNone/>
            </a:pPr>
            <a:r>
              <a:rPr lang="en-US" sz="1500" b="1" dirty="0">
                <a:solidFill>
                  <a:srgbClr val="D4A017"/>
                </a:solidFill>
                <a:latin typeface="Calibri" pitchFamily="34" charset="0"/>
                <a:ea typeface="Calibri" pitchFamily="34" charset="-122"/>
                <a:cs typeface="Calibri" pitchFamily="34" charset="-120"/>
              </a:rPr>
              <a:t>1</a:t>
            </a:r>
            <a:endParaRPr lang="en-US" sz="1500" dirty="0"/>
          </a:p>
        </p:txBody>
      </p:sp>
      <p:sp>
        <p:nvSpPr>
          <p:cNvPr id="10" name="Text 6"/>
          <p:cNvSpPr txBox="1"/>
          <p:nvPr/>
        </p:nvSpPr>
        <p:spPr>
          <a:xfrm>
            <a:off x="1325880" y="2103120"/>
            <a:ext cx="5669280" cy="914400"/>
          </a:xfrm>
          <a:prstGeom prst="rect">
            <a:avLst/>
          </a:prstGeom>
          <a:noFill/>
          <a:ln/>
        </p:spPr>
        <p:txBody>
          <a:bodyPr wrap="square" lIns="0" tIns="0" rIns="0" bIns="0" rtlCol="0" anchor="ctr"/>
          <a:lstStyle/>
          <a:p>
            <a:pPr indent="0" marL="0">
              <a:buNone/>
            </a:pPr>
            <a:r>
              <a:rPr lang="en-US" sz="1500" dirty="0">
                <a:solidFill>
                  <a:srgbClr val="13202B"/>
                </a:solidFill>
                <a:latin typeface="Calibri" pitchFamily="34" charset="0"/>
                <a:ea typeface="Calibri" pitchFamily="34" charset="-122"/>
                <a:cs typeface="Calibri" pitchFamily="34" charset="-120"/>
              </a:rPr>
              <a:t>Explain what WebXR is good for, and name Meta’s four showcases and the toolkits behind them</a:t>
            </a:r>
            <a:endParaRPr lang="en-US" sz="1500" dirty="0"/>
          </a:p>
        </p:txBody>
      </p:sp>
      <p:sp>
        <p:nvSpPr>
          <p:cNvPr id="11" name="Shape 7"/>
          <p:cNvSpPr/>
          <p:nvPr/>
        </p:nvSpPr>
        <p:spPr>
          <a:xfrm>
            <a:off x="685800" y="3246120"/>
            <a:ext cx="457200" cy="457200"/>
          </a:xfrm>
          <a:prstGeom prst="ellipse">
            <a:avLst/>
          </a:prstGeom>
          <a:solidFill>
            <a:srgbClr val="0E2841"/>
          </a:solidFill>
          <a:ln w="12700">
            <a:solidFill>
              <a:srgbClr val="0E2841"/>
            </a:solidFill>
            <a:prstDash val="solid"/>
          </a:ln>
        </p:spPr>
      </p:sp>
      <p:sp>
        <p:nvSpPr>
          <p:cNvPr id="12" name="Text 8"/>
          <p:cNvSpPr txBox="1"/>
          <p:nvPr/>
        </p:nvSpPr>
        <p:spPr>
          <a:xfrm>
            <a:off x="685800" y="3246120"/>
            <a:ext cx="457200" cy="457200"/>
          </a:xfrm>
          <a:prstGeom prst="rect">
            <a:avLst/>
          </a:prstGeom>
          <a:noFill/>
          <a:ln/>
        </p:spPr>
        <p:txBody>
          <a:bodyPr wrap="square" lIns="0" tIns="0" rIns="0" bIns="0" rtlCol="0" anchor="ctr"/>
          <a:lstStyle/>
          <a:p>
            <a:pPr algn="ctr" indent="0" marL="0">
              <a:buNone/>
            </a:pPr>
            <a:r>
              <a:rPr lang="en-US" sz="1500" b="1" dirty="0">
                <a:solidFill>
                  <a:srgbClr val="D4A017"/>
                </a:solidFill>
                <a:latin typeface="Calibri" pitchFamily="34" charset="0"/>
                <a:ea typeface="Calibri" pitchFamily="34" charset="-122"/>
                <a:cs typeface="Calibri" pitchFamily="34" charset="-120"/>
              </a:rPr>
              <a:t>2</a:t>
            </a:r>
            <a:endParaRPr lang="en-US" sz="1500" dirty="0"/>
          </a:p>
        </p:txBody>
      </p:sp>
      <p:sp>
        <p:nvSpPr>
          <p:cNvPr id="13" name="Text 9"/>
          <p:cNvSpPr txBox="1"/>
          <p:nvPr/>
        </p:nvSpPr>
        <p:spPr>
          <a:xfrm>
            <a:off x="1325880" y="3017520"/>
            <a:ext cx="5669280" cy="914400"/>
          </a:xfrm>
          <a:prstGeom prst="rect">
            <a:avLst/>
          </a:prstGeom>
          <a:noFill/>
          <a:ln/>
        </p:spPr>
        <p:txBody>
          <a:bodyPr wrap="square" lIns="0" tIns="0" rIns="0" bIns="0" rtlCol="0" anchor="ctr"/>
          <a:lstStyle/>
          <a:p>
            <a:pPr indent="0" marL="0">
              <a:buNone/>
            </a:pPr>
            <a:r>
              <a:rPr lang="en-US" sz="1500" dirty="0">
                <a:solidFill>
                  <a:srgbClr val="13202B"/>
                </a:solidFill>
                <a:latin typeface="Calibri" pitchFamily="34" charset="0"/>
                <a:ea typeface="Calibri" pitchFamily="34" charset="-122"/>
                <a:cs typeface="Calibri" pitchFamily="34" charset="-120"/>
              </a:rPr>
              <a:t>Read Sneaker Builder’s ECS: components are data, systems are logic, order matters</a:t>
            </a:r>
            <a:endParaRPr lang="en-US" sz="1500" dirty="0"/>
          </a:p>
        </p:txBody>
      </p:sp>
      <p:sp>
        <p:nvSpPr>
          <p:cNvPr id="14" name="Shape 10"/>
          <p:cNvSpPr/>
          <p:nvPr/>
        </p:nvSpPr>
        <p:spPr>
          <a:xfrm>
            <a:off x="685800" y="4160520"/>
            <a:ext cx="457200" cy="457200"/>
          </a:xfrm>
          <a:prstGeom prst="ellipse">
            <a:avLst/>
          </a:prstGeom>
          <a:solidFill>
            <a:srgbClr val="0E2841"/>
          </a:solidFill>
          <a:ln w="12700">
            <a:solidFill>
              <a:srgbClr val="0E2841"/>
            </a:solidFill>
            <a:prstDash val="solid"/>
          </a:ln>
        </p:spPr>
      </p:sp>
      <p:sp>
        <p:nvSpPr>
          <p:cNvPr id="15" name="Text 11"/>
          <p:cNvSpPr txBox="1"/>
          <p:nvPr/>
        </p:nvSpPr>
        <p:spPr>
          <a:xfrm>
            <a:off x="685800" y="4160520"/>
            <a:ext cx="457200" cy="457200"/>
          </a:xfrm>
          <a:prstGeom prst="rect">
            <a:avLst/>
          </a:prstGeom>
          <a:noFill/>
          <a:ln/>
        </p:spPr>
        <p:txBody>
          <a:bodyPr wrap="square" lIns="0" tIns="0" rIns="0" bIns="0" rtlCol="0" anchor="ctr"/>
          <a:lstStyle/>
          <a:p>
            <a:pPr algn="ctr" indent="0" marL="0">
              <a:buNone/>
            </a:pPr>
            <a:r>
              <a:rPr lang="en-US" sz="1500" b="1" dirty="0">
                <a:solidFill>
                  <a:srgbClr val="D4A017"/>
                </a:solidFill>
                <a:latin typeface="Calibri" pitchFamily="34" charset="0"/>
                <a:ea typeface="Calibri" pitchFamily="34" charset="-122"/>
                <a:cs typeface="Calibri" pitchFamily="34" charset="-120"/>
              </a:rPr>
              <a:t>3</a:t>
            </a:r>
            <a:endParaRPr lang="en-US" sz="1500" dirty="0"/>
          </a:p>
        </p:txBody>
      </p:sp>
      <p:sp>
        <p:nvSpPr>
          <p:cNvPr id="16" name="Text 12"/>
          <p:cNvSpPr txBox="1"/>
          <p:nvPr/>
        </p:nvSpPr>
        <p:spPr>
          <a:xfrm>
            <a:off x="1325880" y="3931920"/>
            <a:ext cx="5669280" cy="914400"/>
          </a:xfrm>
          <a:prstGeom prst="rect">
            <a:avLst/>
          </a:prstGeom>
          <a:noFill/>
          <a:ln/>
        </p:spPr>
        <p:txBody>
          <a:bodyPr wrap="square" lIns="0" tIns="0" rIns="0" bIns="0" rtlCol="0" anchor="ctr"/>
          <a:lstStyle/>
          <a:p>
            <a:pPr indent="0" marL="0">
              <a:buNone/>
            </a:pPr>
            <a:r>
              <a:rPr lang="en-US" sz="1500" dirty="0">
                <a:solidFill>
                  <a:srgbClr val="13202B"/>
                </a:solidFill>
                <a:latin typeface="Calibri" pitchFamily="34" charset="0"/>
                <a:ea typeface="Calibri" pitchFamily="34" charset="-122"/>
                <a:cs typeface="Calibri" pitchFamily="34" charset="-120"/>
              </a:rPr>
              <a:t>Tell an app’s engine layer from its product layer, using the Sneaker → Panther fork</a:t>
            </a:r>
            <a:endParaRPr lang="en-US" sz="1500" dirty="0"/>
          </a:p>
        </p:txBody>
      </p:sp>
      <p:sp>
        <p:nvSpPr>
          <p:cNvPr id="17" name="Shape 13"/>
          <p:cNvSpPr/>
          <p:nvPr/>
        </p:nvSpPr>
        <p:spPr>
          <a:xfrm>
            <a:off x="685800" y="5074920"/>
            <a:ext cx="457200" cy="457200"/>
          </a:xfrm>
          <a:prstGeom prst="ellipse">
            <a:avLst/>
          </a:prstGeom>
          <a:solidFill>
            <a:srgbClr val="0E2841"/>
          </a:solidFill>
          <a:ln w="12700">
            <a:solidFill>
              <a:srgbClr val="0E2841"/>
            </a:solidFill>
            <a:prstDash val="solid"/>
          </a:ln>
        </p:spPr>
      </p:sp>
      <p:sp>
        <p:nvSpPr>
          <p:cNvPr id="18" name="Text 14"/>
          <p:cNvSpPr txBox="1"/>
          <p:nvPr/>
        </p:nvSpPr>
        <p:spPr>
          <a:xfrm>
            <a:off x="685800" y="5074920"/>
            <a:ext cx="457200" cy="457200"/>
          </a:xfrm>
          <a:prstGeom prst="rect">
            <a:avLst/>
          </a:prstGeom>
          <a:noFill/>
          <a:ln/>
        </p:spPr>
        <p:txBody>
          <a:bodyPr wrap="square" lIns="0" tIns="0" rIns="0" bIns="0" rtlCol="0" anchor="ctr"/>
          <a:lstStyle/>
          <a:p>
            <a:pPr algn="ctr" indent="0" marL="0">
              <a:buNone/>
            </a:pPr>
            <a:r>
              <a:rPr lang="en-US" sz="1500" b="1" dirty="0">
                <a:solidFill>
                  <a:srgbClr val="D4A017"/>
                </a:solidFill>
                <a:latin typeface="Calibri" pitchFamily="34" charset="0"/>
                <a:ea typeface="Calibri" pitchFamily="34" charset="-122"/>
                <a:cs typeface="Calibri" pitchFamily="34" charset="-120"/>
              </a:rPr>
              <a:t>4</a:t>
            </a:r>
            <a:endParaRPr lang="en-US" sz="1500" dirty="0"/>
          </a:p>
        </p:txBody>
      </p:sp>
      <p:sp>
        <p:nvSpPr>
          <p:cNvPr id="19" name="Text 15"/>
          <p:cNvSpPr txBox="1"/>
          <p:nvPr/>
        </p:nvSpPr>
        <p:spPr>
          <a:xfrm>
            <a:off x="1325880" y="4846320"/>
            <a:ext cx="5669280" cy="914400"/>
          </a:xfrm>
          <a:prstGeom prst="rect">
            <a:avLst/>
          </a:prstGeom>
          <a:noFill/>
          <a:ln/>
        </p:spPr>
        <p:txBody>
          <a:bodyPr wrap="square" lIns="0" tIns="0" rIns="0" bIns="0" rtlCol="0" anchor="ctr"/>
          <a:lstStyle/>
          <a:p>
            <a:pPr indent="0" marL="0">
              <a:buNone/>
            </a:pPr>
            <a:r>
              <a:rPr lang="en-US" sz="1500" dirty="0">
                <a:solidFill>
                  <a:srgbClr val="13202B"/>
                </a:solidFill>
                <a:latin typeface="Calibri" pitchFamily="34" charset="0"/>
                <a:ea typeface="Calibri" pitchFamily="34" charset="-122"/>
                <a:cs typeface="Calibri" pitchFamily="34" charset="-120"/>
              </a:rPr>
              <a:t>Explain the AR → VR fallback that lets one URL run on a Quest and a Vive Pro 2</a:t>
            </a:r>
            <a:endParaRPr lang="en-US" sz="1500" dirty="0"/>
          </a:p>
        </p:txBody>
      </p:sp>
      <p:sp>
        <p:nvSpPr>
          <p:cNvPr id="20" name="Shape 16"/>
          <p:cNvSpPr/>
          <p:nvPr/>
        </p:nvSpPr>
        <p:spPr>
          <a:xfrm>
            <a:off x="7452360" y="1920240"/>
            <a:ext cx="4251960" cy="4206240"/>
          </a:xfrm>
          <a:prstGeom prst="roundRect">
            <a:avLst>
              <a:gd name="adj" fmla="val 1739"/>
            </a:avLst>
          </a:prstGeom>
          <a:solidFill>
            <a:srgbClr val="0E2841"/>
          </a:solidFill>
          <a:ln w="12700">
            <a:solidFill>
              <a:srgbClr val="0E2841"/>
            </a:solidFill>
            <a:prstDash val="solid"/>
          </a:ln>
        </p:spPr>
      </p:sp>
      <p:sp>
        <p:nvSpPr>
          <p:cNvPr id="21" name="Text 17"/>
          <p:cNvSpPr txBox="1"/>
          <p:nvPr/>
        </p:nvSpPr>
        <p:spPr>
          <a:xfrm>
            <a:off x="7680960" y="2103120"/>
            <a:ext cx="379476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Tonight's plan</a:t>
            </a:r>
            <a:endParaRPr lang="en-US" sz="1500" dirty="0"/>
          </a:p>
        </p:txBody>
      </p:sp>
      <p:sp>
        <p:nvSpPr>
          <p:cNvPr id="22" name="Text 18"/>
          <p:cNvSpPr txBox="1"/>
          <p:nvPr/>
        </p:nvSpPr>
        <p:spPr>
          <a:xfrm>
            <a:off x="7680960" y="2606040"/>
            <a:ext cx="1051560" cy="566928"/>
          </a:xfrm>
          <a:prstGeom prst="rect">
            <a:avLst/>
          </a:prstGeom>
          <a:noFill/>
          <a:ln/>
        </p:spPr>
        <p:txBody>
          <a:bodyPr wrap="square" lIns="0" tIns="0" rIns="0" bIns="0" rtlCol="0" anchor="ctr"/>
          <a:lstStyle/>
          <a:p>
            <a:pPr indent="0" marL="0">
              <a:buNone/>
            </a:pPr>
            <a:r>
              <a:rPr lang="en-US" sz="1300" b="1" dirty="0">
                <a:solidFill>
                  <a:srgbClr val="D4A017"/>
                </a:solidFill>
                <a:latin typeface="Calibri" pitchFamily="34" charset="0"/>
                <a:ea typeface="Calibri" pitchFamily="34" charset="-122"/>
                <a:cs typeface="Calibri" pitchFamily="34" charset="-120"/>
              </a:rPr>
              <a:t>Before</a:t>
            </a:r>
            <a:endParaRPr lang="en-US" sz="1300" dirty="0"/>
          </a:p>
        </p:txBody>
      </p:sp>
      <p:sp>
        <p:nvSpPr>
          <p:cNvPr id="23" name="Text 19"/>
          <p:cNvSpPr txBox="1"/>
          <p:nvPr/>
        </p:nvSpPr>
        <p:spPr>
          <a:xfrm>
            <a:off x="8778240" y="2606040"/>
            <a:ext cx="2743200" cy="56692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Pre-reading: Sneaker-Builder.md + 4 questions</a:t>
            </a:r>
            <a:endParaRPr lang="en-US" sz="1300" dirty="0"/>
          </a:p>
        </p:txBody>
      </p:sp>
      <p:sp>
        <p:nvSpPr>
          <p:cNvPr id="24" name="Text 20"/>
          <p:cNvSpPr txBox="1"/>
          <p:nvPr/>
        </p:nvSpPr>
        <p:spPr>
          <a:xfrm>
            <a:off x="7680960" y="3172968"/>
            <a:ext cx="1051560" cy="566928"/>
          </a:xfrm>
          <a:prstGeom prst="rect">
            <a:avLst/>
          </a:prstGeom>
          <a:noFill/>
          <a:ln/>
        </p:spPr>
        <p:txBody>
          <a:bodyPr wrap="square" lIns="0" tIns="0" rIns="0" bIns="0" rtlCol="0" anchor="ctr"/>
          <a:lstStyle/>
          <a:p>
            <a:pPr indent="0" marL="0">
              <a:buNone/>
            </a:pPr>
            <a:r>
              <a:rPr lang="en-US" sz="1300" b="1" dirty="0">
                <a:solidFill>
                  <a:srgbClr val="D4A017"/>
                </a:solidFill>
                <a:latin typeface="Calibri" pitchFamily="34" charset="0"/>
                <a:ea typeface="Calibri" pitchFamily="34" charset="-122"/>
                <a:cs typeface="Calibri" pitchFamily="34" charset="-120"/>
              </a:rPr>
              <a:t>40–60</a:t>
            </a:r>
            <a:endParaRPr lang="en-US" sz="1300" dirty="0"/>
          </a:p>
        </p:txBody>
      </p:sp>
      <p:sp>
        <p:nvSpPr>
          <p:cNvPr id="25" name="Text 21"/>
          <p:cNvSpPr txBox="1"/>
          <p:nvPr/>
        </p:nvSpPr>
        <p:spPr>
          <a:xfrm>
            <a:off x="8778240" y="3172968"/>
            <a:ext cx="2743200" cy="56692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This deck: ECS, scorecard, AR → VR fallback</a:t>
            </a:r>
            <a:endParaRPr lang="en-US" sz="1300" dirty="0"/>
          </a:p>
        </p:txBody>
      </p:sp>
      <p:sp>
        <p:nvSpPr>
          <p:cNvPr id="26" name="Text 22"/>
          <p:cNvSpPr txBox="1"/>
          <p:nvPr/>
        </p:nvSpPr>
        <p:spPr>
          <a:xfrm>
            <a:off x="7680960" y="3739896"/>
            <a:ext cx="1051560" cy="566928"/>
          </a:xfrm>
          <a:prstGeom prst="rect">
            <a:avLst/>
          </a:prstGeom>
          <a:noFill/>
          <a:ln/>
        </p:spPr>
        <p:txBody>
          <a:bodyPr wrap="square" lIns="0" tIns="0" rIns="0" bIns="0" rtlCol="0" anchor="ctr"/>
          <a:lstStyle/>
          <a:p>
            <a:pPr indent="0" marL="0">
              <a:buNone/>
            </a:pPr>
            <a:r>
              <a:rPr lang="en-US" sz="1300" b="1" dirty="0">
                <a:solidFill>
                  <a:srgbClr val="D4A017"/>
                </a:solidFill>
                <a:latin typeface="Calibri" pitchFamily="34" charset="0"/>
                <a:ea typeface="Calibri" pitchFamily="34" charset="-122"/>
                <a:cs typeface="Calibri" pitchFamily="34" charset="-120"/>
              </a:rPr>
              <a:t>60–150</a:t>
            </a:r>
            <a:endParaRPr lang="en-US" sz="1300" dirty="0"/>
          </a:p>
        </p:txBody>
      </p:sp>
      <p:sp>
        <p:nvSpPr>
          <p:cNvPr id="27" name="Text 23"/>
          <p:cNvSpPr txBox="1"/>
          <p:nvPr/>
        </p:nvSpPr>
        <p:spPr>
          <a:xfrm>
            <a:off x="8778240" y="3739896"/>
            <a:ext cx="2743200" cy="56692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Part 2 deck: build WaterWorks</a:t>
            </a:r>
            <a:endParaRPr lang="en-US" sz="1300" dirty="0"/>
          </a:p>
        </p:txBody>
      </p:sp>
      <p:sp>
        <p:nvSpPr>
          <p:cNvPr id="28" name="Text 24"/>
          <p:cNvSpPr txBox="1"/>
          <p:nvPr/>
        </p:nvSpPr>
        <p:spPr>
          <a:xfrm>
            <a:off x="320040" y="6528816"/>
            <a:ext cx="8686800" cy="274320"/>
          </a:xfrm>
          <a:prstGeom prst="rect">
            <a:avLst/>
          </a:prstGeom>
          <a:noFill/>
          <a:ln/>
        </p:spPr>
        <p:txBody>
          <a:bodyPr wrap="square" lIns="0" tIns="0" rIns="0" bIns="0" rtlCol="0" anchor="ctr"/>
          <a:lstStyle/>
          <a:p>
            <a:pPr indent="0" marL="0">
              <a:buNone/>
            </a:pPr>
            <a:r>
              <a:rPr lang="en-US" sz="1050" dirty="0">
                <a:solidFill>
                  <a:srgbClr val="5B6B76"/>
                </a:solidFill>
                <a:latin typeface="Calibri" pitchFamily="34" charset="0"/>
                <a:ea typeface="Calibri" pitchFamily="34" charset="-122"/>
                <a:cs typeface="Calibri" pitchFamily="34" charset="-120"/>
              </a:rPr>
              <a:t>CIST 1423 — Week 7 — WebXR Part 1: Sneaker Builder → our Panther Customizer</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small.png">    </p:cNvPr>
          <p:cNvPicPr>
            <a:picLocks noChangeAspect="1"/>
          </p:cNvPicPr>
          <p:nvPr/>
        </p:nvPicPr>
        <p:blipFill>
          <a:blip r:embed="rId1"/>
          <a:stretch>
            <a:fillRect/>
          </a:stretch>
        </p:blipFill>
        <p:spPr>
          <a:xfrm>
            <a:off x="320040" y="237744"/>
            <a:ext cx="1371600" cy="329184"/>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10561320" y="201168"/>
            <a:ext cx="1234440" cy="795528"/>
          </a:xfrm>
          <a:prstGeom prst="rect">
            <a:avLst/>
          </a:prstGeom>
        </p:spPr>
      </p:pic>
      <p:sp>
        <p:nvSpPr>
          <p:cNvPr id="4" name="Text 0"/>
          <p:cNvSpPr txBox="1"/>
          <p:nvPr/>
        </p:nvSpPr>
        <p:spPr>
          <a:xfrm>
            <a:off x="320040" y="621792"/>
            <a:ext cx="10058400" cy="658368"/>
          </a:xfrm>
          <a:prstGeom prst="rect">
            <a:avLst/>
          </a:prstGeom>
          <a:noFill/>
          <a:ln/>
        </p:spPr>
        <p:txBody>
          <a:bodyPr wrap="square" lIns="0" tIns="0" rIns="0" bIns="0" rtlCol="0" anchor="ctr"/>
          <a:lstStyle/>
          <a:p>
            <a:pPr indent="0" marL="0">
              <a:buNone/>
            </a:pPr>
            <a:r>
              <a:rPr lang="en-US" sz="2500" b="1" dirty="0">
                <a:solidFill>
                  <a:srgbClr val="0E2841"/>
                </a:solidFill>
                <a:latin typeface="Cambria" pitchFamily="34" charset="0"/>
                <a:ea typeface="Cambria" pitchFamily="34" charset="-122"/>
                <a:cs typeface="Cambria" pitchFamily="34" charset="-120"/>
              </a:rPr>
              <a:t>Why WebXR?</a:t>
            </a:r>
            <a:endParaRPr lang="en-US" sz="2500" dirty="0"/>
          </a:p>
        </p:txBody>
      </p:sp>
      <p:sp>
        <p:nvSpPr>
          <p:cNvPr id="5" name="Shape 1"/>
          <p:cNvSpPr/>
          <p:nvPr/>
        </p:nvSpPr>
        <p:spPr>
          <a:xfrm>
            <a:off x="320040" y="1298448"/>
            <a:ext cx="9875520" cy="0"/>
          </a:xfrm>
          <a:prstGeom prst="line">
            <a:avLst/>
          </a:prstGeom>
          <a:noFill/>
          <a:ln w="9525">
            <a:solidFill>
              <a:srgbClr val="E97132"/>
            </a:solidFill>
            <a:prstDash val="solid"/>
          </a:ln>
        </p:spPr>
      </p:sp>
      <p:sp>
        <p:nvSpPr>
          <p:cNvPr id="6" name="Text 2"/>
          <p:cNvSpPr txBox="1"/>
          <p:nvPr/>
        </p:nvSpPr>
        <p:spPr>
          <a:xfrm>
            <a:off x="457200" y="1371600"/>
            <a:ext cx="11247120" cy="411480"/>
          </a:xfrm>
          <a:prstGeom prst="rect">
            <a:avLst/>
          </a:prstGeom>
          <a:noFill/>
          <a:ln/>
        </p:spPr>
        <p:txBody>
          <a:bodyPr wrap="square" lIns="0" tIns="0" rIns="0" bIns="0" rtlCol="0" anchor="ctr"/>
          <a:lstStyle/>
          <a:p>
            <a:pPr indent="0" marL="0">
              <a:buNone/>
            </a:pPr>
            <a:r>
              <a:rPr lang="en-US" sz="1350" dirty="0">
                <a:solidFill>
                  <a:srgbClr val="5B6B76"/>
                </a:solidFill>
                <a:latin typeface="Calibri" pitchFamily="34" charset="0"/>
                <a:ea typeface="Calibri" pitchFamily="34" charset="-122"/>
                <a:cs typeface="Calibri" pitchFamily="34" charset="-120"/>
              </a:rPr>
              <a:t>VR and MR in the headset's browser. The same ideas as Unity, with every line of the engine visible.</a:t>
            </a:r>
            <a:endParaRPr lang="en-US" sz="1350" dirty="0"/>
          </a:p>
        </p:txBody>
      </p:sp>
      <p:sp>
        <p:nvSpPr>
          <p:cNvPr id="7" name="Shape 3"/>
          <p:cNvSpPr/>
          <p:nvPr/>
        </p:nvSpPr>
        <p:spPr>
          <a:xfrm>
            <a:off x="457200" y="2011680"/>
            <a:ext cx="2651760" cy="2743200"/>
          </a:xfrm>
          <a:prstGeom prst="roundRect">
            <a:avLst>
              <a:gd name="adj" fmla="val 2759"/>
            </a:avLst>
          </a:prstGeom>
          <a:solidFill>
            <a:srgbClr val="0E2841"/>
          </a:solidFill>
          <a:ln w="9525">
            <a:solidFill>
              <a:srgbClr val="0E2841"/>
            </a:solidFill>
            <a:prstDash val="solid"/>
          </a:ln>
        </p:spPr>
      </p:sp>
      <p:sp>
        <p:nvSpPr>
          <p:cNvPr id="8" name="Text 4"/>
          <p:cNvSpPr txBox="1"/>
          <p:nvPr/>
        </p:nvSpPr>
        <p:spPr>
          <a:xfrm>
            <a:off x="640080" y="2148840"/>
            <a:ext cx="2286000" cy="914400"/>
          </a:xfrm>
          <a:prstGeom prst="rect">
            <a:avLst/>
          </a:prstGeom>
          <a:noFill/>
          <a:ln/>
        </p:spPr>
        <p:txBody>
          <a:bodyPr wrap="square" lIns="0" tIns="0" rIns="0" bIns="0" rtlCol="0" anchor="ctr"/>
          <a:lstStyle/>
          <a:p>
            <a:pPr indent="0" marL="0">
              <a:buNone/>
            </a:pPr>
            <a:r>
              <a:rPr lang="en-US" sz="4800" b="1" dirty="0">
                <a:solidFill>
                  <a:srgbClr val="D4A017"/>
                </a:solidFill>
                <a:latin typeface="Cambria" pitchFamily="34" charset="0"/>
                <a:ea typeface="Cambria" pitchFamily="34" charset="-122"/>
                <a:cs typeface="Cambria" pitchFamily="34" charset="-120"/>
              </a:rPr>
              <a:t>0</a:t>
            </a:r>
            <a:endParaRPr lang="en-US" sz="4800" dirty="0"/>
          </a:p>
        </p:txBody>
      </p:sp>
      <p:sp>
        <p:nvSpPr>
          <p:cNvPr id="9" name="Text 5"/>
          <p:cNvSpPr txBox="1"/>
          <p:nvPr/>
        </p:nvSpPr>
        <p:spPr>
          <a:xfrm>
            <a:off x="640080" y="3063240"/>
            <a:ext cx="22860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installs</a:t>
            </a:r>
            <a:endParaRPr lang="en-US" sz="1500" dirty="0"/>
          </a:p>
        </p:txBody>
      </p:sp>
      <p:sp>
        <p:nvSpPr>
          <p:cNvPr id="10" name="Text 6"/>
          <p:cNvSpPr txBox="1"/>
          <p:nvPr/>
        </p:nvSpPr>
        <p:spPr>
          <a:xfrm>
            <a:off x="640080" y="3520440"/>
            <a:ext cx="2286000" cy="109728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Ship a URL. Visitors at Alumni Weekend just opened a link</a:t>
            </a:r>
            <a:endParaRPr lang="en-US" sz="1250" dirty="0"/>
          </a:p>
        </p:txBody>
      </p:sp>
      <p:sp>
        <p:nvSpPr>
          <p:cNvPr id="11" name="Shape 7"/>
          <p:cNvSpPr/>
          <p:nvPr/>
        </p:nvSpPr>
        <p:spPr>
          <a:xfrm>
            <a:off x="3291840" y="2011680"/>
            <a:ext cx="2651760" cy="2743200"/>
          </a:xfrm>
          <a:prstGeom prst="roundRect">
            <a:avLst>
              <a:gd name="adj" fmla="val 2759"/>
            </a:avLst>
          </a:prstGeom>
          <a:solidFill>
            <a:srgbClr val="F4F7FA"/>
          </a:solidFill>
          <a:ln w="9525">
            <a:solidFill>
              <a:srgbClr val="D8E1E8"/>
            </a:solidFill>
            <a:prstDash val="solid"/>
          </a:ln>
        </p:spPr>
      </p:sp>
      <p:sp>
        <p:nvSpPr>
          <p:cNvPr id="12" name="Text 8"/>
          <p:cNvSpPr txBox="1"/>
          <p:nvPr/>
        </p:nvSpPr>
        <p:spPr>
          <a:xfrm>
            <a:off x="3474720" y="2148840"/>
            <a:ext cx="2286000" cy="914400"/>
          </a:xfrm>
          <a:prstGeom prst="rect">
            <a:avLst/>
          </a:prstGeom>
          <a:noFill/>
          <a:ln/>
        </p:spPr>
        <p:txBody>
          <a:bodyPr wrap="square" lIns="0" tIns="0" rIns="0" bIns="0" rtlCol="0" anchor="ctr"/>
          <a:lstStyle/>
          <a:p>
            <a:pPr indent="0" marL="0">
              <a:buNone/>
            </a:pPr>
            <a:r>
              <a:rPr lang="en-US" sz="4800" b="1" dirty="0">
                <a:solidFill>
                  <a:srgbClr val="156082"/>
                </a:solidFill>
                <a:latin typeface="Cambria" pitchFamily="34" charset="0"/>
                <a:ea typeface="Cambria" pitchFamily="34" charset="-122"/>
                <a:cs typeface="Cambria" pitchFamily="34" charset="-120"/>
              </a:rPr>
              <a:t>1</a:t>
            </a:r>
            <a:endParaRPr lang="en-US" sz="4800" dirty="0"/>
          </a:p>
        </p:txBody>
      </p:sp>
      <p:sp>
        <p:nvSpPr>
          <p:cNvPr id="13" name="Text 9"/>
          <p:cNvSpPr txBox="1"/>
          <p:nvPr/>
        </p:nvSpPr>
        <p:spPr>
          <a:xfrm>
            <a:off x="3474720" y="3063240"/>
            <a:ext cx="2286000" cy="365760"/>
          </a:xfrm>
          <a:prstGeom prst="rect">
            <a:avLst/>
          </a:prstGeom>
          <a:noFill/>
          <a:ln/>
        </p:spPr>
        <p:txBody>
          <a:bodyPr wrap="square" lIns="0" tIns="0" rIns="0" bIns="0" rtlCol="0" anchor="ctr"/>
          <a:lstStyle/>
          <a:p>
            <a:pPr indent="0" marL="0">
              <a:buNone/>
            </a:pPr>
            <a:r>
              <a:rPr lang="en-US" sz="1500" b="1" dirty="0">
                <a:solidFill>
                  <a:srgbClr val="0E2841"/>
                </a:solidFill>
                <a:latin typeface="Calibri" pitchFamily="34" charset="0"/>
                <a:ea typeface="Calibri" pitchFamily="34" charset="-122"/>
                <a:cs typeface="Calibri" pitchFamily="34" charset="-120"/>
              </a:rPr>
              <a:t>codebase</a:t>
            </a:r>
            <a:endParaRPr lang="en-US" sz="1500" dirty="0"/>
          </a:p>
        </p:txBody>
      </p:sp>
      <p:sp>
        <p:nvSpPr>
          <p:cNvPr id="14" name="Text 10"/>
          <p:cNvSpPr txBox="1"/>
          <p:nvPr/>
        </p:nvSpPr>
        <p:spPr>
          <a:xfrm>
            <a:off x="3474720" y="3520440"/>
            <a:ext cx="2286000" cy="1097280"/>
          </a:xfrm>
          <a:prstGeom prst="rect">
            <a:avLst/>
          </a:prstGeom>
          <a:noFill/>
          <a:ln/>
        </p:spPr>
        <p:txBody>
          <a:bodyPr wrap="square" lIns="0" tIns="0" rIns="0" bIns="0" rtlCol="0" anchor="t"/>
          <a:lstStyle/>
          <a:p>
            <a:pPr indent="0" marL="0">
              <a:buNone/>
            </a:pPr>
            <a:r>
              <a:rPr lang="en-US" sz="1250" dirty="0">
                <a:solidFill>
                  <a:srgbClr val="13202B"/>
                </a:solidFill>
                <a:latin typeface="Calibri" pitchFamily="34" charset="0"/>
                <a:ea typeface="Calibri" pitchFamily="34" charset="-122"/>
                <a:cs typeface="Calibri" pitchFamily="34" charset="-120"/>
              </a:rPr>
              <a:t>Quest (passthrough MR), SteamVR headsets (VR), laptops (3D viewer)</a:t>
            </a:r>
            <a:endParaRPr lang="en-US" sz="1250" dirty="0"/>
          </a:p>
        </p:txBody>
      </p:sp>
      <p:sp>
        <p:nvSpPr>
          <p:cNvPr id="15" name="Shape 11"/>
          <p:cNvSpPr/>
          <p:nvPr/>
        </p:nvSpPr>
        <p:spPr>
          <a:xfrm>
            <a:off x="6126480" y="2011680"/>
            <a:ext cx="2651760" cy="2743200"/>
          </a:xfrm>
          <a:prstGeom prst="roundRect">
            <a:avLst>
              <a:gd name="adj" fmla="val 2759"/>
            </a:avLst>
          </a:prstGeom>
          <a:solidFill>
            <a:srgbClr val="F4F7FA"/>
          </a:solidFill>
          <a:ln w="9525">
            <a:solidFill>
              <a:srgbClr val="D8E1E8"/>
            </a:solidFill>
            <a:prstDash val="solid"/>
          </a:ln>
        </p:spPr>
      </p:sp>
      <p:sp>
        <p:nvSpPr>
          <p:cNvPr id="16" name="Text 12"/>
          <p:cNvSpPr txBox="1"/>
          <p:nvPr/>
        </p:nvSpPr>
        <p:spPr>
          <a:xfrm>
            <a:off x="6309360" y="2148840"/>
            <a:ext cx="2286000" cy="914400"/>
          </a:xfrm>
          <a:prstGeom prst="rect">
            <a:avLst/>
          </a:prstGeom>
          <a:noFill/>
          <a:ln/>
        </p:spPr>
        <p:txBody>
          <a:bodyPr wrap="square" lIns="0" tIns="0" rIns="0" bIns="0" rtlCol="0" anchor="ctr"/>
          <a:lstStyle/>
          <a:p>
            <a:pPr indent="0" marL="0">
              <a:buNone/>
            </a:pPr>
            <a:r>
              <a:rPr lang="en-US" sz="4800" b="1" dirty="0">
                <a:solidFill>
                  <a:srgbClr val="156082"/>
                </a:solidFill>
                <a:latin typeface="Cambria" pitchFamily="34" charset="0"/>
                <a:ea typeface="Cambria" pitchFamily="34" charset="-122"/>
                <a:cs typeface="Cambria" pitchFamily="34" charset="-120"/>
              </a:rPr>
              <a:t>HTTPS</a:t>
            </a:r>
            <a:endParaRPr lang="en-US" sz="4800" dirty="0"/>
          </a:p>
        </p:txBody>
      </p:sp>
      <p:sp>
        <p:nvSpPr>
          <p:cNvPr id="17" name="Text 13"/>
          <p:cNvSpPr txBox="1"/>
          <p:nvPr/>
        </p:nvSpPr>
        <p:spPr>
          <a:xfrm>
            <a:off x="6309360" y="3063240"/>
            <a:ext cx="2286000" cy="365760"/>
          </a:xfrm>
          <a:prstGeom prst="rect">
            <a:avLst/>
          </a:prstGeom>
          <a:noFill/>
          <a:ln/>
        </p:spPr>
        <p:txBody>
          <a:bodyPr wrap="square" lIns="0" tIns="0" rIns="0" bIns="0" rtlCol="0" anchor="ctr"/>
          <a:lstStyle/>
          <a:p>
            <a:pPr indent="0" marL="0">
              <a:buNone/>
            </a:pPr>
            <a:r>
              <a:rPr lang="en-US" sz="1500" b="1" dirty="0">
                <a:solidFill>
                  <a:srgbClr val="0E2841"/>
                </a:solidFill>
                <a:latin typeface="Calibri" pitchFamily="34" charset="0"/>
                <a:ea typeface="Calibri" pitchFamily="34" charset="-122"/>
                <a:cs typeface="Calibri" pitchFamily="34" charset="-120"/>
              </a:rPr>
              <a:t>required</a:t>
            </a:r>
            <a:endParaRPr lang="en-US" sz="1500" dirty="0"/>
          </a:p>
        </p:txBody>
      </p:sp>
      <p:sp>
        <p:nvSpPr>
          <p:cNvPr id="18" name="Text 14"/>
          <p:cNvSpPr txBox="1"/>
          <p:nvPr/>
        </p:nvSpPr>
        <p:spPr>
          <a:xfrm>
            <a:off x="6309360" y="3520440"/>
            <a:ext cx="2286000" cy="1097280"/>
          </a:xfrm>
          <a:prstGeom prst="rect">
            <a:avLst/>
          </a:prstGeom>
          <a:noFill/>
          <a:ln/>
        </p:spPr>
        <p:txBody>
          <a:bodyPr wrap="square" lIns="0" tIns="0" rIns="0" bIns="0" rtlCol="0" anchor="t"/>
          <a:lstStyle/>
          <a:p>
            <a:pPr indent="0" marL="0">
              <a:buNone/>
            </a:pPr>
            <a:r>
              <a:rPr lang="en-US" sz="1250" dirty="0">
                <a:solidFill>
                  <a:srgbClr val="13202B"/>
                </a:solidFill>
                <a:latin typeface="Calibri" pitchFamily="34" charset="0"/>
                <a:ea typeface="Calibri" pitchFamily="34" charset="-122"/>
                <a:cs typeface="Calibri" pitchFamily="34" charset="-120"/>
              </a:rPr>
              <a:t>WebXR only runs on secure origins. The dev server uses a self-signed cert</a:t>
            </a:r>
            <a:endParaRPr lang="en-US" sz="1250" dirty="0"/>
          </a:p>
        </p:txBody>
      </p:sp>
      <p:sp>
        <p:nvSpPr>
          <p:cNvPr id="19" name="Shape 15"/>
          <p:cNvSpPr/>
          <p:nvPr/>
        </p:nvSpPr>
        <p:spPr>
          <a:xfrm>
            <a:off x="8961120" y="2011680"/>
            <a:ext cx="2651760" cy="2743200"/>
          </a:xfrm>
          <a:prstGeom prst="roundRect">
            <a:avLst>
              <a:gd name="adj" fmla="val 2759"/>
            </a:avLst>
          </a:prstGeom>
          <a:solidFill>
            <a:srgbClr val="F4F7FA"/>
          </a:solidFill>
          <a:ln w="9525">
            <a:solidFill>
              <a:srgbClr val="D8E1E8"/>
            </a:solidFill>
            <a:prstDash val="solid"/>
          </a:ln>
        </p:spPr>
      </p:sp>
      <p:sp>
        <p:nvSpPr>
          <p:cNvPr id="20" name="Text 16"/>
          <p:cNvSpPr txBox="1"/>
          <p:nvPr/>
        </p:nvSpPr>
        <p:spPr>
          <a:xfrm>
            <a:off x="9144000" y="2148840"/>
            <a:ext cx="2286000" cy="914400"/>
          </a:xfrm>
          <a:prstGeom prst="rect">
            <a:avLst/>
          </a:prstGeom>
          <a:noFill/>
          <a:ln/>
        </p:spPr>
        <p:txBody>
          <a:bodyPr wrap="square" lIns="0" tIns="0" rIns="0" bIns="0" rtlCol="0" anchor="ctr"/>
          <a:lstStyle/>
          <a:p>
            <a:pPr indent="0" marL="0">
              <a:buNone/>
            </a:pPr>
            <a:r>
              <a:rPr lang="en-US" sz="4800" b="1" dirty="0">
                <a:solidFill>
                  <a:srgbClr val="156082"/>
                </a:solidFill>
                <a:latin typeface="Cambria" pitchFamily="34" charset="0"/>
                <a:ea typeface="Cambria" pitchFamily="34" charset="-122"/>
                <a:cs typeface="Cambria" pitchFamily="34" charset="-120"/>
              </a:rPr>
              <a:t>~1.5k</a:t>
            </a:r>
            <a:endParaRPr lang="en-US" sz="4800" dirty="0"/>
          </a:p>
        </p:txBody>
      </p:sp>
      <p:sp>
        <p:nvSpPr>
          <p:cNvPr id="21" name="Text 17"/>
          <p:cNvSpPr txBox="1"/>
          <p:nvPr/>
        </p:nvSpPr>
        <p:spPr>
          <a:xfrm>
            <a:off x="9144000" y="3063240"/>
            <a:ext cx="2286000" cy="365760"/>
          </a:xfrm>
          <a:prstGeom prst="rect">
            <a:avLst/>
          </a:prstGeom>
          <a:noFill/>
          <a:ln/>
        </p:spPr>
        <p:txBody>
          <a:bodyPr wrap="square" lIns="0" tIns="0" rIns="0" bIns="0" rtlCol="0" anchor="ctr"/>
          <a:lstStyle/>
          <a:p>
            <a:pPr indent="0" marL="0">
              <a:buNone/>
            </a:pPr>
            <a:r>
              <a:rPr lang="en-US" sz="1500" b="1" dirty="0">
                <a:solidFill>
                  <a:srgbClr val="0E2841"/>
                </a:solidFill>
                <a:latin typeface="Calibri" pitchFamily="34" charset="0"/>
                <a:ea typeface="Calibri" pitchFamily="34" charset="-122"/>
                <a:cs typeface="Calibri" pitchFamily="34" charset="-120"/>
              </a:rPr>
              <a:t>lines of JS</a:t>
            </a:r>
            <a:endParaRPr lang="en-US" sz="1500" dirty="0"/>
          </a:p>
        </p:txBody>
      </p:sp>
      <p:sp>
        <p:nvSpPr>
          <p:cNvPr id="22" name="Text 18"/>
          <p:cNvSpPr txBox="1"/>
          <p:nvPr/>
        </p:nvSpPr>
        <p:spPr>
          <a:xfrm>
            <a:off x="9144000" y="3520440"/>
            <a:ext cx="2286000" cy="1097280"/>
          </a:xfrm>
          <a:prstGeom prst="rect">
            <a:avLst/>
          </a:prstGeom>
          <a:noFill/>
          <a:ln/>
        </p:spPr>
        <p:txBody>
          <a:bodyPr wrap="square" lIns="0" tIns="0" rIns="0" bIns="0" rtlCol="0" anchor="t"/>
          <a:lstStyle/>
          <a:p>
            <a:pPr indent="0" marL="0">
              <a:buNone/>
            </a:pPr>
            <a:r>
              <a:rPr lang="en-US" sz="1250" dirty="0">
                <a:solidFill>
                  <a:srgbClr val="13202B"/>
                </a:solidFill>
                <a:latin typeface="Calibri" pitchFamily="34" charset="0"/>
                <a:ea typeface="Calibri" pitchFamily="34" charset="-122"/>
                <a:cs typeface="Calibri" pitchFamily="34" charset="-120"/>
              </a:rPr>
              <a:t>Sneaker Builder is small enough to read in one sitting</a:t>
            </a:r>
            <a:endParaRPr lang="en-US" sz="1250" dirty="0"/>
          </a:p>
        </p:txBody>
      </p:sp>
      <p:sp>
        <p:nvSpPr>
          <p:cNvPr id="23" name="Shape 19"/>
          <p:cNvSpPr/>
          <p:nvPr/>
        </p:nvSpPr>
        <p:spPr>
          <a:xfrm>
            <a:off x="457200" y="5029200"/>
            <a:ext cx="11247120" cy="502920"/>
          </a:xfrm>
          <a:prstGeom prst="roundRect">
            <a:avLst>
              <a:gd name="adj" fmla="val 14545"/>
            </a:avLst>
          </a:prstGeom>
          <a:solidFill>
            <a:srgbClr val="F4F7FA"/>
          </a:solidFill>
          <a:ln w="9525">
            <a:solidFill>
              <a:srgbClr val="D8E1E8"/>
            </a:solidFill>
            <a:prstDash val="solid"/>
          </a:ln>
        </p:spPr>
      </p:sp>
      <p:sp>
        <p:nvSpPr>
          <p:cNvPr id="24" name="Text 20"/>
          <p:cNvSpPr txBox="1"/>
          <p:nvPr/>
        </p:nvSpPr>
        <p:spPr>
          <a:xfrm>
            <a:off x="457200" y="5029200"/>
            <a:ext cx="11247120" cy="502920"/>
          </a:xfrm>
          <a:prstGeom prst="rect">
            <a:avLst/>
          </a:prstGeom>
          <a:noFill/>
          <a:ln/>
        </p:spPr>
        <p:txBody>
          <a:bodyPr wrap="square" lIns="0" tIns="0" rIns="0" bIns="0" rtlCol="0" anchor="ctr"/>
          <a:lstStyle/>
          <a:p>
            <a:pPr algn="ctr" indent="0" marL="0">
              <a:buNone/>
            </a:pPr>
            <a:r>
              <a:rPr lang="en-US" sz="1250" dirty="0">
                <a:solidFill>
                  <a:srgbClr val="5B6B76"/>
                </a:solidFill>
                <a:latin typeface="Calibri" pitchFamily="34" charset="0"/>
                <a:ea typeface="Calibri" pitchFamily="34" charset="-122"/>
                <a:cs typeface="Calibri" pitchFamily="34" charset="-120"/>
              </a:rPr>
              <a:t>Unity + SteamVR is still our main engine. We read WebXR to see the same concepts built by hand.</a:t>
            </a:r>
            <a:endParaRPr lang="en-US" sz="1250" dirty="0"/>
          </a:p>
        </p:txBody>
      </p:sp>
      <p:sp>
        <p:nvSpPr>
          <p:cNvPr id="25" name="Text 21"/>
          <p:cNvSpPr txBox="1"/>
          <p:nvPr/>
        </p:nvSpPr>
        <p:spPr>
          <a:xfrm>
            <a:off x="320040" y="6528816"/>
            <a:ext cx="8686800" cy="274320"/>
          </a:xfrm>
          <a:prstGeom prst="rect">
            <a:avLst/>
          </a:prstGeom>
          <a:noFill/>
          <a:ln/>
        </p:spPr>
        <p:txBody>
          <a:bodyPr wrap="square" lIns="0" tIns="0" rIns="0" bIns="0" rtlCol="0" anchor="ctr"/>
          <a:lstStyle/>
          <a:p>
            <a:pPr indent="0" marL="0">
              <a:buNone/>
            </a:pPr>
            <a:r>
              <a:rPr lang="en-US" sz="1050" dirty="0">
                <a:solidFill>
                  <a:srgbClr val="5B6B76"/>
                </a:solidFill>
                <a:latin typeface="Calibri" pitchFamily="34" charset="0"/>
                <a:ea typeface="Calibri" pitchFamily="34" charset="-122"/>
                <a:cs typeface="Calibri" pitchFamily="34" charset="-120"/>
              </a:rPr>
              <a:t>CIST 1423 — Week 7 — WebXR Part 1: Sneaker Builder → our Panther Customizer</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small.png">    </p:cNvPr>
          <p:cNvPicPr>
            <a:picLocks noChangeAspect="1"/>
          </p:cNvPicPr>
          <p:nvPr/>
        </p:nvPicPr>
        <p:blipFill>
          <a:blip r:embed="rId1"/>
          <a:stretch>
            <a:fillRect/>
          </a:stretch>
        </p:blipFill>
        <p:spPr>
          <a:xfrm>
            <a:off x="320040" y="237744"/>
            <a:ext cx="1371600" cy="329184"/>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10561320" y="201168"/>
            <a:ext cx="1234440" cy="795528"/>
          </a:xfrm>
          <a:prstGeom prst="rect">
            <a:avLst/>
          </a:prstGeom>
        </p:spPr>
      </p:pic>
      <p:sp>
        <p:nvSpPr>
          <p:cNvPr id="4" name="Text 0"/>
          <p:cNvSpPr txBox="1"/>
          <p:nvPr/>
        </p:nvSpPr>
        <p:spPr>
          <a:xfrm>
            <a:off x="320040" y="621792"/>
            <a:ext cx="10058400" cy="658368"/>
          </a:xfrm>
          <a:prstGeom prst="rect">
            <a:avLst/>
          </a:prstGeom>
          <a:noFill/>
          <a:ln/>
        </p:spPr>
        <p:txBody>
          <a:bodyPr wrap="square" lIns="0" tIns="0" rIns="0" bIns="0" rtlCol="0" anchor="ctr"/>
          <a:lstStyle/>
          <a:p>
            <a:pPr indent="0" marL="0">
              <a:buNone/>
            </a:pPr>
            <a:r>
              <a:rPr lang="en-US" sz="2500" b="1" dirty="0">
                <a:solidFill>
                  <a:srgbClr val="0E2841"/>
                </a:solidFill>
                <a:latin typeface="Cambria" pitchFamily="34" charset="0"/>
                <a:ea typeface="Cambria" pitchFamily="34" charset="-122"/>
                <a:cs typeface="Cambria" pitchFamily="34" charset="-120"/>
              </a:rPr>
              <a:t>Meta's WebXR Showcases</a:t>
            </a:r>
            <a:endParaRPr lang="en-US" sz="2500" dirty="0"/>
          </a:p>
        </p:txBody>
      </p:sp>
      <p:sp>
        <p:nvSpPr>
          <p:cNvPr id="5" name="Shape 1"/>
          <p:cNvSpPr/>
          <p:nvPr/>
        </p:nvSpPr>
        <p:spPr>
          <a:xfrm>
            <a:off x="320040" y="1298448"/>
            <a:ext cx="9875520" cy="0"/>
          </a:xfrm>
          <a:prstGeom prst="line">
            <a:avLst/>
          </a:prstGeom>
          <a:noFill/>
          <a:ln w="9525">
            <a:solidFill>
              <a:srgbClr val="E97132"/>
            </a:solidFill>
            <a:prstDash val="solid"/>
          </a:ln>
        </p:spPr>
      </p:sp>
      <p:sp>
        <p:nvSpPr>
          <p:cNvPr id="6" name="Text 2"/>
          <p:cNvSpPr txBox="1"/>
          <p:nvPr/>
        </p:nvSpPr>
        <p:spPr>
          <a:xfrm>
            <a:off x="457200" y="1371600"/>
            <a:ext cx="11247120" cy="411480"/>
          </a:xfrm>
          <a:prstGeom prst="rect">
            <a:avLst/>
          </a:prstGeom>
          <a:noFill/>
          <a:ln/>
        </p:spPr>
        <p:txBody>
          <a:bodyPr wrap="square" lIns="0" tIns="0" rIns="0" bIns="0" rtlCol="0" anchor="ctr"/>
          <a:lstStyle/>
          <a:p>
            <a:pPr indent="0" marL="0">
              <a:buNone/>
            </a:pPr>
            <a:r>
              <a:rPr lang="en-US" sz="1350" dirty="0">
                <a:solidFill>
                  <a:srgbClr val="5B6B76"/>
                </a:solidFill>
                <a:latin typeface="Calibri" pitchFamily="34" charset="0"/>
                <a:ea typeface="Calibri" pitchFamily="34" charset="-122"/>
                <a:cs typeface="Calibri" pitchFamily="34" charset="-120"/>
              </a:rPr>
              <a:t>github.com/meta-quest/webxr-showcases (MIT). All four share one stack: three.js + elics ECS + ratk.</a:t>
            </a:r>
            <a:endParaRPr lang="en-US" sz="1350" dirty="0"/>
          </a:p>
        </p:txBody>
      </p:sp>
      <p:sp>
        <p:nvSpPr>
          <p:cNvPr id="7" name="Shape 3"/>
          <p:cNvSpPr/>
          <p:nvPr/>
        </p:nvSpPr>
        <p:spPr>
          <a:xfrm>
            <a:off x="457200" y="1920240"/>
            <a:ext cx="2651760" cy="4160520"/>
          </a:xfrm>
          <a:prstGeom prst="roundRect">
            <a:avLst>
              <a:gd name="adj" fmla="val 2759"/>
            </a:avLst>
          </a:prstGeom>
          <a:solidFill>
            <a:srgbClr val="F4F7FA"/>
          </a:solidFill>
          <a:ln w="9525">
            <a:solidFill>
              <a:srgbClr val="D8E1E8"/>
            </a:solidFill>
            <a:prstDash val="solid"/>
          </a:ln>
        </p:spPr>
      </p:sp>
      <p:pic>
        <p:nvPicPr>
          <p:cNvPr id="8" name="Image 2" descr="C:\Users\Jeremy Callinan\AppData\Local\Temp\claude\c--GitHub-CIST1423-Fall2026-Examples\62e170c0-4055-4e17-811f-6bb67e40bfc7\scratchpad\deck\img\sneaker-builder.jpg">    </p:cNvPr>
          <p:cNvPicPr>
            <a:picLocks noChangeAspect="1"/>
          </p:cNvPicPr>
          <p:nvPr/>
        </p:nvPicPr>
        <p:blipFill>
          <a:blip r:embed="rId3"/>
          <a:stretch>
            <a:fillRect/>
          </a:stretch>
        </p:blipFill>
        <p:spPr>
          <a:xfrm>
            <a:off x="594360" y="2057400"/>
            <a:ext cx="2377440" cy="2377440"/>
          </a:xfrm>
          <a:prstGeom prst="rect">
            <a:avLst/>
          </a:prstGeom>
        </p:spPr>
      </p:pic>
      <p:sp>
        <p:nvSpPr>
          <p:cNvPr id="9" name="Text 4"/>
          <p:cNvSpPr txBox="1"/>
          <p:nvPr/>
        </p:nvSpPr>
        <p:spPr>
          <a:xfrm>
            <a:off x="594360" y="4526280"/>
            <a:ext cx="2377440" cy="320040"/>
          </a:xfrm>
          <a:prstGeom prst="rect">
            <a:avLst/>
          </a:prstGeom>
          <a:noFill/>
          <a:ln/>
        </p:spPr>
        <p:txBody>
          <a:bodyPr wrap="square" lIns="0" tIns="0" rIns="0" bIns="0" rtlCol="0" anchor="ctr"/>
          <a:lstStyle/>
          <a:p>
            <a:pPr indent="0" marL="0">
              <a:buNone/>
            </a:pPr>
            <a:r>
              <a:rPr lang="en-US" sz="1500" b="1" dirty="0">
                <a:solidFill>
                  <a:srgbClr val="156082"/>
                </a:solidFill>
                <a:latin typeface="Calibri" pitchFamily="34" charset="0"/>
                <a:ea typeface="Calibri" pitchFamily="34" charset="-122"/>
                <a:cs typeface="Calibri" pitchFamily="34" charset="-120"/>
              </a:rPr>
              <a:t>Sneaker Builder</a:t>
            </a:r>
            <a:endParaRPr lang="en-US" sz="1500" dirty="0"/>
          </a:p>
        </p:txBody>
      </p:sp>
      <p:sp>
        <p:nvSpPr>
          <p:cNvPr id="10" name="Text 5"/>
          <p:cNvSpPr txBox="1"/>
          <p:nvPr/>
        </p:nvSpPr>
        <p:spPr>
          <a:xfrm>
            <a:off x="594360" y="4846320"/>
            <a:ext cx="2377440" cy="274320"/>
          </a:xfrm>
          <a:prstGeom prst="rect">
            <a:avLst/>
          </a:prstGeom>
          <a:noFill/>
          <a:ln/>
        </p:spPr>
        <p:txBody>
          <a:bodyPr wrap="square" lIns="0" tIns="0" rIns="0" bIns="0" rtlCol="0" anchor="ctr"/>
          <a:lstStyle/>
          <a:p>
            <a:pPr indent="0" marL="0">
              <a:buNone/>
            </a:pPr>
            <a:r>
              <a:rPr lang="en-US" sz="1100" i="1" dirty="0">
                <a:solidFill>
                  <a:srgbClr val="5B6B76"/>
                </a:solidFill>
                <a:latin typeface="Calibri" pitchFamily="34" charset="0"/>
                <a:ea typeface="Calibri" pitchFamily="34" charset="-122"/>
                <a:cs typeface="Calibri" pitchFamily="34" charset="-120"/>
              </a:rPr>
              <a:t>MR shopping</a:t>
            </a:r>
            <a:endParaRPr lang="en-US" sz="1100" dirty="0"/>
          </a:p>
        </p:txBody>
      </p:sp>
      <p:sp>
        <p:nvSpPr>
          <p:cNvPr id="11" name="Text 6"/>
          <p:cNvSpPr txBox="1"/>
          <p:nvPr/>
        </p:nvSpPr>
        <p:spPr>
          <a:xfrm>
            <a:off x="594360" y="5138928"/>
            <a:ext cx="2377440" cy="868680"/>
          </a:xfrm>
          <a:prstGeom prst="rect">
            <a:avLst/>
          </a:prstGeom>
          <a:noFill/>
          <a:ln/>
        </p:spPr>
        <p:txBody>
          <a:bodyPr wrap="square" lIns="0" tIns="0" rIns="0" bIns="0" rtlCol="0" anchor="t"/>
          <a:lstStyle/>
          <a:p>
            <a:pPr indent="0" marL="0">
              <a:buNone/>
            </a:pPr>
            <a:r>
              <a:rPr lang="en-US" sz="1200" dirty="0">
                <a:solidFill>
                  <a:srgbClr val="13202B"/>
                </a:solidFill>
                <a:latin typeface="Calibri" pitchFamily="34" charset="0"/>
                <a:ea typeface="Calibri" pitchFamily="34" charset="-122"/>
                <a:cs typeface="Calibri" pitchFamily="34" charset="-120"/>
              </a:rPr>
              <a:t>Grab, hold + point to customize, set down to size</a:t>
            </a:r>
            <a:endParaRPr lang="en-US" sz="1200" dirty="0"/>
          </a:p>
        </p:txBody>
      </p:sp>
      <p:sp>
        <p:nvSpPr>
          <p:cNvPr id="12" name="Shape 7"/>
          <p:cNvSpPr/>
          <p:nvPr/>
        </p:nvSpPr>
        <p:spPr>
          <a:xfrm>
            <a:off x="3291840" y="1920240"/>
            <a:ext cx="2651760" cy="4160520"/>
          </a:xfrm>
          <a:prstGeom prst="roundRect">
            <a:avLst>
              <a:gd name="adj" fmla="val 2759"/>
            </a:avLst>
          </a:prstGeom>
          <a:solidFill>
            <a:srgbClr val="F4F7FA"/>
          </a:solidFill>
          <a:ln w="9525">
            <a:solidFill>
              <a:srgbClr val="D8E1E8"/>
            </a:solidFill>
            <a:prstDash val="solid"/>
          </a:ln>
        </p:spPr>
      </p:sp>
      <p:pic>
        <p:nvPicPr>
          <p:cNvPr id="13" name="Image 3" descr="C:\Users\Jeremy Callinan\AppData\Local\Temp\claude\c--GitHub-CIST1423-Fall2026-Examples\62e170c0-4055-4e17-811f-6bb67e40bfc7\scratchpad\deck\img\chairs-etc.jpg">    </p:cNvPr>
          <p:cNvPicPr>
            <a:picLocks noChangeAspect="1"/>
          </p:cNvPicPr>
          <p:nvPr/>
        </p:nvPicPr>
        <p:blipFill>
          <a:blip r:embed="rId4"/>
          <a:stretch>
            <a:fillRect/>
          </a:stretch>
        </p:blipFill>
        <p:spPr>
          <a:xfrm>
            <a:off x="3429000" y="2057400"/>
            <a:ext cx="2377440" cy="2377440"/>
          </a:xfrm>
          <a:prstGeom prst="rect">
            <a:avLst/>
          </a:prstGeom>
        </p:spPr>
      </p:pic>
      <p:sp>
        <p:nvSpPr>
          <p:cNvPr id="14" name="Text 8"/>
          <p:cNvSpPr txBox="1"/>
          <p:nvPr/>
        </p:nvSpPr>
        <p:spPr>
          <a:xfrm>
            <a:off x="3429000" y="4526280"/>
            <a:ext cx="2377440" cy="320040"/>
          </a:xfrm>
          <a:prstGeom prst="rect">
            <a:avLst/>
          </a:prstGeom>
          <a:noFill/>
          <a:ln/>
        </p:spPr>
        <p:txBody>
          <a:bodyPr wrap="square" lIns="0" tIns="0" rIns="0" bIns="0" rtlCol="0" anchor="ctr"/>
          <a:lstStyle/>
          <a:p>
            <a:pPr indent="0" marL="0">
              <a:buNone/>
            </a:pPr>
            <a:r>
              <a:rPr lang="en-US" sz="1500" b="1" dirty="0">
                <a:solidFill>
                  <a:srgbClr val="156082"/>
                </a:solidFill>
                <a:latin typeface="Calibri" pitchFamily="34" charset="0"/>
                <a:ea typeface="Calibri" pitchFamily="34" charset="-122"/>
                <a:cs typeface="Calibri" pitchFamily="34" charset="-120"/>
              </a:rPr>
              <a:t>Chairs Etc.</a:t>
            </a:r>
            <a:endParaRPr lang="en-US" sz="1500" dirty="0"/>
          </a:p>
        </p:txBody>
      </p:sp>
      <p:sp>
        <p:nvSpPr>
          <p:cNvPr id="15" name="Text 9"/>
          <p:cNvSpPr txBox="1"/>
          <p:nvPr/>
        </p:nvSpPr>
        <p:spPr>
          <a:xfrm>
            <a:off x="3429000" y="4846320"/>
            <a:ext cx="2377440" cy="274320"/>
          </a:xfrm>
          <a:prstGeom prst="rect">
            <a:avLst/>
          </a:prstGeom>
          <a:noFill/>
          <a:ln/>
        </p:spPr>
        <p:txBody>
          <a:bodyPr wrap="square" lIns="0" tIns="0" rIns="0" bIns="0" rtlCol="0" anchor="ctr"/>
          <a:lstStyle/>
          <a:p>
            <a:pPr indent="0" marL="0">
              <a:buNone/>
            </a:pPr>
            <a:r>
              <a:rPr lang="en-US" sz="1100" i="1" dirty="0">
                <a:solidFill>
                  <a:srgbClr val="5B6B76"/>
                </a:solidFill>
                <a:latin typeface="Calibri" pitchFamily="34" charset="0"/>
                <a:ea typeface="Calibri" pitchFamily="34" charset="-122"/>
                <a:cs typeface="Calibri" pitchFamily="34" charset="-120"/>
              </a:rPr>
              <a:t>MR shopping</a:t>
            </a:r>
            <a:endParaRPr lang="en-US" sz="1100" dirty="0"/>
          </a:p>
        </p:txBody>
      </p:sp>
      <p:sp>
        <p:nvSpPr>
          <p:cNvPr id="16" name="Text 10"/>
          <p:cNvSpPr txBox="1"/>
          <p:nvPr/>
        </p:nvSpPr>
        <p:spPr>
          <a:xfrm>
            <a:off x="3429000" y="5138928"/>
            <a:ext cx="2377440" cy="868680"/>
          </a:xfrm>
          <a:prstGeom prst="rect">
            <a:avLst/>
          </a:prstGeom>
          <a:noFill/>
          <a:ln/>
        </p:spPr>
        <p:txBody>
          <a:bodyPr wrap="square" lIns="0" tIns="0" rIns="0" bIns="0" rtlCol="0" anchor="t"/>
          <a:lstStyle/>
          <a:p>
            <a:pPr indent="0" marL="0">
              <a:buNone/>
            </a:pPr>
            <a:r>
              <a:rPr lang="en-US" sz="1200" dirty="0">
                <a:solidFill>
                  <a:srgbClr val="13202B"/>
                </a:solidFill>
                <a:latin typeface="Calibri" pitchFamily="34" charset="0"/>
                <a:ea typeface="Calibri" pitchFamily="34" charset="-122"/>
                <a:cs typeface="Calibri" pitchFamily="34" charset="-120"/>
              </a:rPr>
              <a:t>Place furniture on real floors: plane detection, hit-test, Rapier physics</a:t>
            </a:r>
            <a:endParaRPr lang="en-US" sz="1200" dirty="0"/>
          </a:p>
        </p:txBody>
      </p:sp>
      <p:sp>
        <p:nvSpPr>
          <p:cNvPr id="17" name="Shape 11"/>
          <p:cNvSpPr/>
          <p:nvPr/>
        </p:nvSpPr>
        <p:spPr>
          <a:xfrm>
            <a:off x="6126480" y="1920240"/>
            <a:ext cx="2651760" cy="4160520"/>
          </a:xfrm>
          <a:prstGeom prst="roundRect">
            <a:avLst>
              <a:gd name="adj" fmla="val 2759"/>
            </a:avLst>
          </a:prstGeom>
          <a:solidFill>
            <a:srgbClr val="F4F7FA"/>
          </a:solidFill>
          <a:ln w="9525">
            <a:solidFill>
              <a:srgbClr val="D8E1E8"/>
            </a:solidFill>
            <a:prstDash val="solid"/>
          </a:ln>
        </p:spPr>
      </p:sp>
      <p:pic>
        <p:nvPicPr>
          <p:cNvPr id="18" name="Image 4" descr="C:\Users\Jeremy Callinan\AppData\Local\Temp\claude\c--GitHub-CIST1423-Fall2026-Examples\62e170c0-4055-4e17-811f-6bb67e40bfc7\scratchpad\deck\img\realmeasure.jpg">    </p:cNvPr>
          <p:cNvPicPr>
            <a:picLocks noChangeAspect="1"/>
          </p:cNvPicPr>
          <p:nvPr/>
        </p:nvPicPr>
        <p:blipFill>
          <a:blip r:embed="rId5"/>
          <a:stretch>
            <a:fillRect/>
          </a:stretch>
        </p:blipFill>
        <p:spPr>
          <a:xfrm>
            <a:off x="6263640" y="2057400"/>
            <a:ext cx="2377440" cy="2377440"/>
          </a:xfrm>
          <a:prstGeom prst="rect">
            <a:avLst/>
          </a:prstGeom>
        </p:spPr>
      </p:pic>
      <p:sp>
        <p:nvSpPr>
          <p:cNvPr id="19" name="Text 12"/>
          <p:cNvSpPr txBox="1"/>
          <p:nvPr/>
        </p:nvSpPr>
        <p:spPr>
          <a:xfrm>
            <a:off x="6263640" y="4526280"/>
            <a:ext cx="2377440" cy="320040"/>
          </a:xfrm>
          <a:prstGeom prst="rect">
            <a:avLst/>
          </a:prstGeom>
          <a:noFill/>
          <a:ln/>
        </p:spPr>
        <p:txBody>
          <a:bodyPr wrap="square" lIns="0" tIns="0" rIns="0" bIns="0" rtlCol="0" anchor="ctr"/>
          <a:lstStyle/>
          <a:p>
            <a:pPr indent="0" marL="0">
              <a:buNone/>
            </a:pPr>
            <a:r>
              <a:rPr lang="en-US" sz="1500" b="1" dirty="0">
                <a:solidFill>
                  <a:srgbClr val="156082"/>
                </a:solidFill>
                <a:latin typeface="Calibri" pitchFamily="34" charset="0"/>
                <a:ea typeface="Calibri" pitchFamily="34" charset="-122"/>
                <a:cs typeface="Calibri" pitchFamily="34" charset="-120"/>
              </a:rPr>
              <a:t>RealMeasure</a:t>
            </a:r>
            <a:endParaRPr lang="en-US" sz="1500" dirty="0"/>
          </a:p>
        </p:txBody>
      </p:sp>
      <p:sp>
        <p:nvSpPr>
          <p:cNvPr id="20" name="Text 13"/>
          <p:cNvSpPr txBox="1"/>
          <p:nvPr/>
        </p:nvSpPr>
        <p:spPr>
          <a:xfrm>
            <a:off x="6263640" y="4846320"/>
            <a:ext cx="2377440" cy="274320"/>
          </a:xfrm>
          <a:prstGeom prst="rect">
            <a:avLst/>
          </a:prstGeom>
          <a:noFill/>
          <a:ln/>
        </p:spPr>
        <p:txBody>
          <a:bodyPr wrap="square" lIns="0" tIns="0" rIns="0" bIns="0" rtlCol="0" anchor="ctr"/>
          <a:lstStyle/>
          <a:p>
            <a:pPr indent="0" marL="0">
              <a:buNone/>
            </a:pPr>
            <a:r>
              <a:rPr lang="en-US" sz="1100" i="1" dirty="0">
                <a:solidFill>
                  <a:srgbClr val="5B6B76"/>
                </a:solidFill>
                <a:latin typeface="Calibri" pitchFamily="34" charset="0"/>
                <a:ea typeface="Calibri" pitchFamily="34" charset="-122"/>
                <a:cs typeface="Calibri" pitchFamily="34" charset="-120"/>
              </a:rPr>
              <a:t>MR utility</a:t>
            </a:r>
            <a:endParaRPr lang="en-US" sz="1100" dirty="0"/>
          </a:p>
        </p:txBody>
      </p:sp>
      <p:sp>
        <p:nvSpPr>
          <p:cNvPr id="21" name="Text 14"/>
          <p:cNvSpPr txBox="1"/>
          <p:nvPr/>
        </p:nvSpPr>
        <p:spPr>
          <a:xfrm>
            <a:off x="6263640" y="5138928"/>
            <a:ext cx="2377440" cy="868680"/>
          </a:xfrm>
          <a:prstGeom prst="rect">
            <a:avLst/>
          </a:prstGeom>
          <a:noFill/>
          <a:ln/>
        </p:spPr>
        <p:txBody>
          <a:bodyPr wrap="square" lIns="0" tIns="0" rIns="0" bIns="0" rtlCol="0" anchor="t"/>
          <a:lstStyle/>
          <a:p>
            <a:pPr indent="0" marL="0">
              <a:buNone/>
            </a:pPr>
            <a:r>
              <a:rPr lang="en-US" sz="1200" dirty="0">
                <a:solidFill>
                  <a:srgbClr val="13202B"/>
                </a:solidFill>
                <a:latin typeface="Calibri" pitchFamily="34" charset="0"/>
                <a:ea typeface="Calibri" pitchFamily="34" charset="-122"/>
                <a:cs typeface="Calibri" pitchFamily="34" charset="-120"/>
              </a:rPr>
              <a:t>A controller tape measure, anchored in your room</a:t>
            </a:r>
            <a:endParaRPr lang="en-US" sz="1200" dirty="0"/>
          </a:p>
        </p:txBody>
      </p:sp>
      <p:sp>
        <p:nvSpPr>
          <p:cNvPr id="22" name="Shape 15"/>
          <p:cNvSpPr/>
          <p:nvPr/>
        </p:nvSpPr>
        <p:spPr>
          <a:xfrm>
            <a:off x="8961120" y="1920240"/>
            <a:ext cx="2651760" cy="4160520"/>
          </a:xfrm>
          <a:prstGeom prst="roundRect">
            <a:avLst>
              <a:gd name="adj" fmla="val 2759"/>
            </a:avLst>
          </a:prstGeom>
          <a:solidFill>
            <a:srgbClr val="F4F7FA"/>
          </a:solidFill>
          <a:ln w="9525">
            <a:solidFill>
              <a:srgbClr val="D8E1E8"/>
            </a:solidFill>
            <a:prstDash val="solid"/>
          </a:ln>
        </p:spPr>
      </p:sp>
      <p:pic>
        <p:nvPicPr>
          <p:cNvPr id="23" name="Image 5" descr="C:\Users\Jeremy Callinan\AppData\Local\Temp\claude\c--GitHub-CIST1423-Fall2026-Examples\62e170c0-4055-4e17-811f-6bb67e40bfc7\scratchpad\deck\img\flap-frenzy.jpg">    </p:cNvPr>
          <p:cNvPicPr>
            <a:picLocks noChangeAspect="1"/>
          </p:cNvPicPr>
          <p:nvPr/>
        </p:nvPicPr>
        <p:blipFill>
          <a:blip r:embed="rId6"/>
          <a:srcRect l="0" r="0" t="0" b="0"/>
          <a:stretch/>
        </p:blipFill>
        <p:spPr>
          <a:xfrm>
            <a:off x="9098280" y="2057400"/>
            <a:ext cx="2377440" cy="2377440"/>
          </a:xfrm>
          <a:prstGeom prst="rect">
            <a:avLst/>
          </a:prstGeom>
        </p:spPr>
      </p:pic>
      <p:sp>
        <p:nvSpPr>
          <p:cNvPr id="24" name="Text 16"/>
          <p:cNvSpPr txBox="1"/>
          <p:nvPr/>
        </p:nvSpPr>
        <p:spPr>
          <a:xfrm>
            <a:off x="9098280" y="4526280"/>
            <a:ext cx="2377440" cy="320040"/>
          </a:xfrm>
          <a:prstGeom prst="rect">
            <a:avLst/>
          </a:prstGeom>
          <a:noFill/>
          <a:ln/>
        </p:spPr>
        <p:txBody>
          <a:bodyPr wrap="square" lIns="0" tIns="0" rIns="0" bIns="0" rtlCol="0" anchor="ctr"/>
          <a:lstStyle/>
          <a:p>
            <a:pPr indent="0" marL="0">
              <a:buNone/>
            </a:pPr>
            <a:r>
              <a:rPr lang="en-US" sz="1500" b="1" dirty="0">
                <a:solidFill>
                  <a:srgbClr val="156082"/>
                </a:solidFill>
                <a:latin typeface="Calibri" pitchFamily="34" charset="0"/>
                <a:ea typeface="Calibri" pitchFamily="34" charset="-122"/>
                <a:cs typeface="Calibri" pitchFamily="34" charset="-120"/>
              </a:rPr>
              <a:t>Flap Frenzy</a:t>
            </a:r>
            <a:endParaRPr lang="en-US" sz="1500" dirty="0"/>
          </a:p>
        </p:txBody>
      </p:sp>
      <p:sp>
        <p:nvSpPr>
          <p:cNvPr id="25" name="Text 17"/>
          <p:cNvSpPr txBox="1"/>
          <p:nvPr/>
        </p:nvSpPr>
        <p:spPr>
          <a:xfrm>
            <a:off x="9098280" y="4846320"/>
            <a:ext cx="2377440" cy="274320"/>
          </a:xfrm>
          <a:prstGeom prst="rect">
            <a:avLst/>
          </a:prstGeom>
          <a:noFill/>
          <a:ln/>
        </p:spPr>
        <p:txBody>
          <a:bodyPr wrap="square" lIns="0" tIns="0" rIns="0" bIns="0" rtlCol="0" anchor="ctr"/>
          <a:lstStyle/>
          <a:p>
            <a:pPr indent="0" marL="0">
              <a:buNone/>
            </a:pPr>
            <a:r>
              <a:rPr lang="en-US" sz="1100" i="1" dirty="0">
                <a:solidFill>
                  <a:srgbClr val="5B6B76"/>
                </a:solidFill>
                <a:latin typeface="Calibri" pitchFamily="34" charset="0"/>
                <a:ea typeface="Calibri" pitchFamily="34" charset="-122"/>
                <a:cs typeface="Calibri" pitchFamily="34" charset="-120"/>
              </a:rPr>
              <a:t>VR game</a:t>
            </a:r>
            <a:endParaRPr lang="en-US" sz="1100" dirty="0"/>
          </a:p>
        </p:txBody>
      </p:sp>
      <p:sp>
        <p:nvSpPr>
          <p:cNvPr id="26" name="Text 18"/>
          <p:cNvSpPr txBox="1"/>
          <p:nvPr/>
        </p:nvSpPr>
        <p:spPr>
          <a:xfrm>
            <a:off x="9098280" y="5138928"/>
            <a:ext cx="2377440" cy="868680"/>
          </a:xfrm>
          <a:prstGeom prst="rect">
            <a:avLst/>
          </a:prstGeom>
          <a:noFill/>
          <a:ln/>
        </p:spPr>
        <p:txBody>
          <a:bodyPr wrap="square" lIns="0" tIns="0" rIns="0" bIns="0" rtlCol="0" anchor="t"/>
          <a:lstStyle/>
          <a:p>
            <a:pPr indent="0" marL="0">
              <a:buNone/>
            </a:pPr>
            <a:r>
              <a:rPr lang="en-US" sz="1200" dirty="0">
                <a:solidFill>
                  <a:srgbClr val="13202B"/>
                </a:solidFill>
                <a:latin typeface="Calibri" pitchFamily="34" charset="0"/>
                <a:ea typeface="Calibri" pitchFamily="34" charset="-122"/>
                <a:cs typeface="Calibri" pitchFamily="34" charset="-120"/>
              </a:rPr>
              <a:t>Flap your arms to fly: body movement as input</a:t>
            </a:r>
            <a:endParaRPr lang="en-US" sz="1200" dirty="0"/>
          </a:p>
        </p:txBody>
      </p:sp>
      <p:sp>
        <p:nvSpPr>
          <p:cNvPr id="27" name="Text 19"/>
          <p:cNvSpPr txBox="1"/>
          <p:nvPr/>
        </p:nvSpPr>
        <p:spPr>
          <a:xfrm>
            <a:off x="320040" y="6528816"/>
            <a:ext cx="8686800" cy="274320"/>
          </a:xfrm>
          <a:prstGeom prst="rect">
            <a:avLst/>
          </a:prstGeom>
          <a:noFill/>
          <a:ln/>
        </p:spPr>
        <p:txBody>
          <a:bodyPr wrap="square" lIns="0" tIns="0" rIns="0" bIns="0" rtlCol="0" anchor="ctr"/>
          <a:lstStyle/>
          <a:p>
            <a:pPr indent="0" marL="0">
              <a:buNone/>
            </a:pPr>
            <a:r>
              <a:rPr lang="en-US" sz="1050" dirty="0">
                <a:solidFill>
                  <a:srgbClr val="5B6B76"/>
                </a:solidFill>
                <a:latin typeface="Calibri" pitchFamily="34" charset="0"/>
                <a:ea typeface="Calibri" pitchFamily="34" charset="-122"/>
                <a:cs typeface="Calibri" pitchFamily="34" charset="-120"/>
              </a:rPr>
              <a:t>CIST 1423 — Week 7 — WebXR Part 1: Sneaker Builder → our Panther Customizer</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small.png">    </p:cNvPr>
          <p:cNvPicPr>
            <a:picLocks noChangeAspect="1"/>
          </p:cNvPicPr>
          <p:nvPr/>
        </p:nvPicPr>
        <p:blipFill>
          <a:blip r:embed="rId1"/>
          <a:stretch>
            <a:fillRect/>
          </a:stretch>
        </p:blipFill>
        <p:spPr>
          <a:xfrm>
            <a:off x="320040" y="237744"/>
            <a:ext cx="1371600" cy="329184"/>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10561320" y="201168"/>
            <a:ext cx="1234440" cy="795528"/>
          </a:xfrm>
          <a:prstGeom prst="rect">
            <a:avLst/>
          </a:prstGeom>
        </p:spPr>
      </p:pic>
      <p:sp>
        <p:nvSpPr>
          <p:cNvPr id="4" name="Text 0"/>
          <p:cNvSpPr txBox="1"/>
          <p:nvPr/>
        </p:nvSpPr>
        <p:spPr>
          <a:xfrm>
            <a:off x="320040" y="621792"/>
            <a:ext cx="10058400" cy="658368"/>
          </a:xfrm>
          <a:prstGeom prst="rect">
            <a:avLst/>
          </a:prstGeom>
          <a:noFill/>
          <a:ln/>
        </p:spPr>
        <p:txBody>
          <a:bodyPr wrap="square" lIns="0" tIns="0" rIns="0" bIns="0" rtlCol="0" anchor="ctr"/>
          <a:lstStyle/>
          <a:p>
            <a:pPr indent="0" marL="0">
              <a:buNone/>
            </a:pPr>
            <a:r>
              <a:rPr lang="en-US" sz="2500" b="1" dirty="0">
                <a:solidFill>
                  <a:srgbClr val="0E2841"/>
                </a:solidFill>
                <a:latin typeface="Cambria" pitchFamily="34" charset="0"/>
                <a:ea typeface="Cambria" pitchFamily="34" charset="-122"/>
                <a:cs typeface="Cambria" pitchFamily="34" charset="-120"/>
              </a:rPr>
              <a:t>The toolkits behind them</a:t>
            </a:r>
            <a:endParaRPr lang="en-US" sz="2500" dirty="0"/>
          </a:p>
        </p:txBody>
      </p:sp>
      <p:sp>
        <p:nvSpPr>
          <p:cNvPr id="5" name="Shape 1"/>
          <p:cNvSpPr/>
          <p:nvPr/>
        </p:nvSpPr>
        <p:spPr>
          <a:xfrm>
            <a:off x="320040" y="1298448"/>
            <a:ext cx="9875520" cy="0"/>
          </a:xfrm>
          <a:prstGeom prst="line">
            <a:avLst/>
          </a:prstGeom>
          <a:noFill/>
          <a:ln w="9525">
            <a:solidFill>
              <a:srgbClr val="E97132"/>
            </a:solidFill>
            <a:prstDash val="solid"/>
          </a:ln>
        </p:spPr>
      </p:sp>
      <p:sp>
        <p:nvSpPr>
          <p:cNvPr id="6" name="Text 2"/>
          <p:cNvSpPr txBox="1"/>
          <p:nvPr/>
        </p:nvSpPr>
        <p:spPr>
          <a:xfrm>
            <a:off x="457200" y="1371600"/>
            <a:ext cx="11247120" cy="411480"/>
          </a:xfrm>
          <a:prstGeom prst="rect">
            <a:avLst/>
          </a:prstGeom>
          <a:noFill/>
          <a:ln/>
        </p:spPr>
        <p:txBody>
          <a:bodyPr wrap="square" lIns="0" tIns="0" rIns="0" bIns="0" rtlCol="0" anchor="ctr"/>
          <a:lstStyle/>
          <a:p>
            <a:pPr indent="0" marL="0">
              <a:buNone/>
            </a:pPr>
            <a:r>
              <a:rPr lang="en-US" sz="1350" dirty="0">
                <a:solidFill>
                  <a:srgbClr val="5B6B76"/>
                </a:solidFill>
                <a:latin typeface="Calibri" pitchFamily="34" charset="0"/>
                <a:ea typeface="Calibri" pitchFamily="34" charset="-122"/>
                <a:cs typeface="Calibri" pitchFamily="34" charset="-120"/>
              </a:rPr>
              <a:t>Learn how it works from a showcase, then build faster with the SDK.</a:t>
            </a:r>
            <a:endParaRPr lang="en-US" sz="1350" dirty="0"/>
          </a:p>
        </p:txBody>
      </p:sp>
      <p:sp>
        <p:nvSpPr>
          <p:cNvPr id="7" name="Shape 3"/>
          <p:cNvSpPr/>
          <p:nvPr/>
        </p:nvSpPr>
        <p:spPr>
          <a:xfrm>
            <a:off x="457200" y="1920240"/>
            <a:ext cx="5532120" cy="1965960"/>
          </a:xfrm>
          <a:prstGeom prst="roundRect">
            <a:avLst>
              <a:gd name="adj" fmla="val 3721"/>
            </a:avLst>
          </a:prstGeom>
          <a:solidFill>
            <a:srgbClr val="F4F7FA"/>
          </a:solidFill>
          <a:ln w="9525">
            <a:solidFill>
              <a:srgbClr val="D8E1E8"/>
            </a:solidFill>
            <a:prstDash val="solid"/>
          </a:ln>
        </p:spPr>
      </p:sp>
      <p:pic>
        <p:nvPicPr>
          <p:cNvPr id="8" name="Image 2" descr="preencoded.png">    </p:cNvPr>
          <p:cNvPicPr>
            <a:picLocks noChangeAspect="1"/>
          </p:cNvPicPr>
          <p:nvPr/>
        </p:nvPicPr>
        <p:blipFill>
          <a:blip r:embed="rId3"/>
          <a:stretch>
            <a:fillRect/>
          </a:stretch>
        </p:blipFill>
        <p:spPr>
          <a:xfrm>
            <a:off x="640080" y="2103120"/>
            <a:ext cx="329184" cy="329184"/>
          </a:xfrm>
          <a:prstGeom prst="rect">
            <a:avLst/>
          </a:prstGeom>
        </p:spPr>
      </p:pic>
      <p:sp>
        <p:nvSpPr>
          <p:cNvPr id="9" name="Text 4"/>
          <p:cNvSpPr txBox="1"/>
          <p:nvPr/>
        </p:nvSpPr>
        <p:spPr>
          <a:xfrm>
            <a:off x="1097280" y="2103120"/>
            <a:ext cx="4709160" cy="329184"/>
          </a:xfrm>
          <a:prstGeom prst="rect">
            <a:avLst/>
          </a:prstGeom>
          <a:noFill/>
          <a:ln/>
        </p:spPr>
        <p:txBody>
          <a:bodyPr wrap="square" lIns="0" tIns="0" rIns="0" bIns="0" rtlCol="0" anchor="ctr"/>
          <a:lstStyle/>
          <a:p>
            <a:pPr indent="0" marL="0">
              <a:buNone/>
            </a:pPr>
            <a:r>
              <a:rPr lang="en-US" sz="1450" b="1" dirty="0">
                <a:solidFill>
                  <a:srgbClr val="156082"/>
                </a:solidFill>
                <a:latin typeface="Calibri" pitchFamily="34" charset="0"/>
                <a:ea typeface="Calibri" pitchFamily="34" charset="-122"/>
                <a:cs typeface="Calibri" pitchFamily="34" charset="-120"/>
              </a:rPr>
              <a:t>Reality Accelerator Toolkit (ratk)</a:t>
            </a:r>
            <a:endParaRPr lang="en-US" sz="1450" dirty="0"/>
          </a:p>
        </p:txBody>
      </p:sp>
      <p:sp>
        <p:nvSpPr>
          <p:cNvPr id="10" name="Text 5"/>
          <p:cNvSpPr txBox="1"/>
          <p:nvPr/>
        </p:nvSpPr>
        <p:spPr>
          <a:xfrm>
            <a:off x="640080" y="2560320"/>
            <a:ext cx="5166360" cy="114300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Planes, meshes, anchors, and hit-test as three.js objects</a:t>
            </a:r>
            <a:endParaRPr lang="en-US" sz="1250" dirty="0"/>
          </a:p>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ARButton / VRButton helpers</a:t>
            </a:r>
            <a:endParaRPr lang="en-US" sz="1250" dirty="0"/>
          </a:p>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Used by every showcase and by panther-builder</a:t>
            </a:r>
            <a:endParaRPr lang="en-US" sz="1250" dirty="0"/>
          </a:p>
        </p:txBody>
      </p:sp>
      <p:sp>
        <p:nvSpPr>
          <p:cNvPr id="11" name="Shape 6"/>
          <p:cNvSpPr/>
          <p:nvPr/>
        </p:nvSpPr>
        <p:spPr>
          <a:xfrm>
            <a:off x="6172200" y="1920240"/>
            <a:ext cx="5532120" cy="1965960"/>
          </a:xfrm>
          <a:prstGeom prst="roundRect">
            <a:avLst>
              <a:gd name="adj" fmla="val 3721"/>
            </a:avLst>
          </a:prstGeom>
          <a:solidFill>
            <a:srgbClr val="F4F7FA"/>
          </a:solidFill>
          <a:ln w="9525">
            <a:solidFill>
              <a:srgbClr val="D8E1E8"/>
            </a:solidFill>
            <a:prstDash val="solid"/>
          </a:ln>
        </p:spPr>
      </p:sp>
      <p:pic>
        <p:nvPicPr>
          <p:cNvPr id="12" name="Image 3" descr="preencoded.png">    </p:cNvPr>
          <p:cNvPicPr>
            <a:picLocks noChangeAspect="1"/>
          </p:cNvPicPr>
          <p:nvPr/>
        </p:nvPicPr>
        <p:blipFill>
          <a:blip r:embed="rId4"/>
          <a:stretch>
            <a:fillRect/>
          </a:stretch>
        </p:blipFill>
        <p:spPr>
          <a:xfrm>
            <a:off x="6355080" y="2103120"/>
            <a:ext cx="329184" cy="329184"/>
          </a:xfrm>
          <a:prstGeom prst="rect">
            <a:avLst/>
          </a:prstGeom>
        </p:spPr>
      </p:pic>
      <p:sp>
        <p:nvSpPr>
          <p:cNvPr id="13" name="Text 7"/>
          <p:cNvSpPr txBox="1"/>
          <p:nvPr/>
        </p:nvSpPr>
        <p:spPr>
          <a:xfrm>
            <a:off x="6812280" y="2103120"/>
            <a:ext cx="4709160" cy="329184"/>
          </a:xfrm>
          <a:prstGeom prst="rect">
            <a:avLst/>
          </a:prstGeom>
          <a:noFill/>
          <a:ln/>
        </p:spPr>
        <p:txBody>
          <a:bodyPr wrap="square" lIns="0" tIns="0" rIns="0" bIns="0" rtlCol="0" anchor="ctr"/>
          <a:lstStyle/>
          <a:p>
            <a:pPr indent="0" marL="0">
              <a:buNone/>
            </a:pPr>
            <a:r>
              <a:rPr lang="en-US" sz="1450" b="1" dirty="0">
                <a:solidFill>
                  <a:srgbClr val="156082"/>
                </a:solidFill>
                <a:latin typeface="Calibri" pitchFamily="34" charset="0"/>
                <a:ea typeface="Calibri" pitchFamily="34" charset="-122"/>
                <a:cs typeface="Calibri" pitchFamily="34" charset="-120"/>
              </a:rPr>
              <a:t>Immersive Web Emulator</a:t>
            </a:r>
            <a:endParaRPr lang="en-US" sz="1450" dirty="0"/>
          </a:p>
        </p:txBody>
      </p:sp>
      <p:sp>
        <p:nvSpPr>
          <p:cNvPr id="14" name="Text 8"/>
          <p:cNvSpPr txBox="1"/>
          <p:nvPr/>
        </p:nvSpPr>
        <p:spPr>
          <a:xfrm>
            <a:off x="6355080" y="2560320"/>
            <a:ext cx="5166360" cy="114300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Chrome extension: an emulated Quest + controllers in DevTools</a:t>
            </a:r>
            <a:endParaRPr lang="en-US" sz="1250" dirty="0"/>
          </a:p>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Test without a headset, like SteamVR's 2D fallback</a:t>
            </a:r>
            <a:endParaRPr lang="en-US" sz="1250" dirty="0"/>
          </a:p>
        </p:txBody>
      </p:sp>
      <p:sp>
        <p:nvSpPr>
          <p:cNvPr id="15" name="Shape 9"/>
          <p:cNvSpPr/>
          <p:nvPr/>
        </p:nvSpPr>
        <p:spPr>
          <a:xfrm>
            <a:off x="457200" y="4069080"/>
            <a:ext cx="5532120" cy="1965960"/>
          </a:xfrm>
          <a:prstGeom prst="roundRect">
            <a:avLst>
              <a:gd name="adj" fmla="val 3721"/>
            </a:avLst>
          </a:prstGeom>
          <a:solidFill>
            <a:srgbClr val="0E2841"/>
          </a:solidFill>
          <a:ln w="9525">
            <a:solidFill>
              <a:srgbClr val="0E2841"/>
            </a:solidFill>
            <a:prstDash val="solid"/>
          </a:ln>
        </p:spPr>
      </p:sp>
      <p:pic>
        <p:nvPicPr>
          <p:cNvPr id="16" name="Image 4" descr="preencoded.png">    </p:cNvPr>
          <p:cNvPicPr>
            <a:picLocks noChangeAspect="1"/>
          </p:cNvPicPr>
          <p:nvPr/>
        </p:nvPicPr>
        <p:blipFill>
          <a:blip r:embed="rId5"/>
          <a:stretch>
            <a:fillRect/>
          </a:stretch>
        </p:blipFill>
        <p:spPr>
          <a:xfrm>
            <a:off x="640080" y="4251960"/>
            <a:ext cx="329184" cy="329184"/>
          </a:xfrm>
          <a:prstGeom prst="rect">
            <a:avLst/>
          </a:prstGeom>
        </p:spPr>
      </p:pic>
      <p:sp>
        <p:nvSpPr>
          <p:cNvPr id="17" name="Text 10"/>
          <p:cNvSpPr txBox="1"/>
          <p:nvPr/>
        </p:nvSpPr>
        <p:spPr>
          <a:xfrm>
            <a:off x="1097280" y="4251960"/>
            <a:ext cx="4709160" cy="329184"/>
          </a:xfrm>
          <a:prstGeom prst="rect">
            <a:avLst/>
          </a:prstGeom>
          <a:noFill/>
          <a:ln/>
        </p:spPr>
        <p:txBody>
          <a:bodyPr wrap="square" lIns="0" tIns="0" rIns="0" bIns="0" rtlCol="0" anchor="ctr"/>
          <a:lstStyle/>
          <a:p>
            <a:pPr indent="0" marL="0">
              <a:buNone/>
            </a:pPr>
            <a:r>
              <a:rPr lang="en-US" sz="1450" b="1" dirty="0">
                <a:solidFill>
                  <a:srgbClr val="D4A017"/>
                </a:solidFill>
                <a:latin typeface="Calibri" pitchFamily="34" charset="0"/>
                <a:ea typeface="Calibri" pitchFamily="34" charset="-122"/>
                <a:cs typeface="Calibri" pitchFamily="34" charset="-120"/>
              </a:rPr>
              <a:t>Immersive Web SDK (IWSDK)</a:t>
            </a:r>
            <a:endParaRPr lang="en-US" sz="1450" dirty="0"/>
          </a:p>
        </p:txBody>
      </p:sp>
      <p:sp>
        <p:nvSpPr>
          <p:cNvPr id="18" name="Text 11"/>
          <p:cNvSpPr txBox="1"/>
          <p:nvPr/>
        </p:nvSpPr>
        <p:spPr>
          <a:xfrm>
            <a:off x="640080" y="4709160"/>
            <a:ext cx="5166360" cy="114300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Meta's full framework: three.js + ECS with grab, locomotion, spatial UI, Havok physics</a:t>
            </a:r>
            <a:endParaRPr lang="en-US" sz="1250" dirty="0"/>
          </a:p>
          <a:p>
            <a:pPr marL="177800" indent="-1778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npm create @iwsdk@latest  ·  iwsdk.dev</a:t>
            </a:r>
            <a:endParaRPr lang="en-US" sz="1250" dirty="0"/>
          </a:p>
        </p:txBody>
      </p:sp>
      <p:sp>
        <p:nvSpPr>
          <p:cNvPr id="19" name="Shape 12"/>
          <p:cNvSpPr/>
          <p:nvPr/>
        </p:nvSpPr>
        <p:spPr>
          <a:xfrm>
            <a:off x="6172200" y="4069080"/>
            <a:ext cx="5532120" cy="1965960"/>
          </a:xfrm>
          <a:prstGeom prst="roundRect">
            <a:avLst>
              <a:gd name="adj" fmla="val 3721"/>
            </a:avLst>
          </a:prstGeom>
          <a:solidFill>
            <a:srgbClr val="F4F7FA"/>
          </a:solidFill>
          <a:ln w="9525">
            <a:solidFill>
              <a:srgbClr val="D8E1E8"/>
            </a:solidFill>
            <a:prstDash val="solid"/>
          </a:ln>
        </p:spPr>
      </p:sp>
      <p:pic>
        <p:nvPicPr>
          <p:cNvPr id="20" name="Image 5" descr="preencoded.png">    </p:cNvPr>
          <p:cNvPicPr>
            <a:picLocks noChangeAspect="1"/>
          </p:cNvPicPr>
          <p:nvPr/>
        </p:nvPicPr>
        <p:blipFill>
          <a:blip r:embed="rId6"/>
          <a:stretch>
            <a:fillRect/>
          </a:stretch>
        </p:blipFill>
        <p:spPr>
          <a:xfrm>
            <a:off x="6355080" y="4251960"/>
            <a:ext cx="329184" cy="329184"/>
          </a:xfrm>
          <a:prstGeom prst="rect">
            <a:avLst/>
          </a:prstGeom>
        </p:spPr>
      </p:pic>
      <p:sp>
        <p:nvSpPr>
          <p:cNvPr id="21" name="Text 13"/>
          <p:cNvSpPr txBox="1"/>
          <p:nvPr/>
        </p:nvSpPr>
        <p:spPr>
          <a:xfrm>
            <a:off x="6812280" y="4251960"/>
            <a:ext cx="4709160" cy="329184"/>
          </a:xfrm>
          <a:prstGeom prst="rect">
            <a:avLst/>
          </a:prstGeom>
          <a:noFill/>
          <a:ln/>
        </p:spPr>
        <p:txBody>
          <a:bodyPr wrap="square" lIns="0" tIns="0" rIns="0" bIns="0" rtlCol="0" anchor="ctr"/>
          <a:lstStyle/>
          <a:p>
            <a:pPr indent="0" marL="0">
              <a:buNone/>
            </a:pPr>
            <a:r>
              <a:rPr lang="en-US" sz="1450" b="1" dirty="0">
                <a:solidFill>
                  <a:srgbClr val="156082"/>
                </a:solidFill>
                <a:latin typeface="Calibri" pitchFamily="34" charset="0"/>
                <a:ea typeface="Calibri" pitchFamily="34" charset="-122"/>
                <a:cs typeface="Calibri" pitchFamily="34" charset="-120"/>
              </a:rPr>
              <a:t>webxr-first-steps</a:t>
            </a:r>
            <a:endParaRPr lang="en-US" sz="1450" dirty="0"/>
          </a:p>
        </p:txBody>
      </p:sp>
      <p:sp>
        <p:nvSpPr>
          <p:cNvPr id="22" name="Text 14"/>
          <p:cNvSpPr txBox="1"/>
          <p:nvPr/>
        </p:nvSpPr>
        <p:spPr>
          <a:xfrm>
            <a:off x="6355080" y="4709160"/>
            <a:ext cx="5166360" cy="114300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Meta's beginner tutorial project</a:t>
            </a:r>
            <a:endParaRPr lang="en-US" sz="1250" dirty="0"/>
          </a:p>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Do this first if you have never written three.js</a:t>
            </a:r>
            <a:endParaRPr lang="en-US" sz="1250" dirty="0"/>
          </a:p>
        </p:txBody>
      </p:sp>
      <p:sp>
        <p:nvSpPr>
          <p:cNvPr id="23" name="Text 15"/>
          <p:cNvSpPr txBox="1"/>
          <p:nvPr/>
        </p:nvSpPr>
        <p:spPr>
          <a:xfrm>
            <a:off x="320040" y="6528816"/>
            <a:ext cx="8686800" cy="274320"/>
          </a:xfrm>
          <a:prstGeom prst="rect">
            <a:avLst/>
          </a:prstGeom>
          <a:noFill/>
          <a:ln/>
        </p:spPr>
        <p:txBody>
          <a:bodyPr wrap="square" lIns="0" tIns="0" rIns="0" bIns="0" rtlCol="0" anchor="ctr"/>
          <a:lstStyle/>
          <a:p>
            <a:pPr indent="0" marL="0">
              <a:buNone/>
            </a:pPr>
            <a:r>
              <a:rPr lang="en-US" sz="1050" dirty="0">
                <a:solidFill>
                  <a:srgbClr val="5B6B76"/>
                </a:solidFill>
                <a:latin typeface="Calibri" pitchFamily="34" charset="0"/>
                <a:ea typeface="Calibri" pitchFamily="34" charset="-122"/>
                <a:cs typeface="Calibri" pitchFamily="34" charset="-120"/>
              </a:rPr>
              <a:t>CIST 1423 — Week 7 — WebXR Part 1: Sneaker Builder → our Panther Customizer</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small.png">    </p:cNvPr>
          <p:cNvPicPr>
            <a:picLocks noChangeAspect="1"/>
          </p:cNvPicPr>
          <p:nvPr/>
        </p:nvPicPr>
        <p:blipFill>
          <a:blip r:embed="rId1"/>
          <a:stretch>
            <a:fillRect/>
          </a:stretch>
        </p:blipFill>
        <p:spPr>
          <a:xfrm>
            <a:off x="320040" y="237744"/>
            <a:ext cx="1371600" cy="329184"/>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10561320" y="201168"/>
            <a:ext cx="1234440" cy="795528"/>
          </a:xfrm>
          <a:prstGeom prst="rect">
            <a:avLst/>
          </a:prstGeom>
        </p:spPr>
      </p:pic>
      <p:sp>
        <p:nvSpPr>
          <p:cNvPr id="4" name="Text 0"/>
          <p:cNvSpPr txBox="1"/>
          <p:nvPr/>
        </p:nvSpPr>
        <p:spPr>
          <a:xfrm>
            <a:off x="320040" y="621792"/>
            <a:ext cx="10058400" cy="658368"/>
          </a:xfrm>
          <a:prstGeom prst="rect">
            <a:avLst/>
          </a:prstGeom>
          <a:noFill/>
          <a:ln/>
        </p:spPr>
        <p:txBody>
          <a:bodyPr wrap="square" lIns="0" tIns="0" rIns="0" bIns="0" rtlCol="0" anchor="ctr"/>
          <a:lstStyle/>
          <a:p>
            <a:pPr indent="0" marL="0">
              <a:buNone/>
            </a:pPr>
            <a:r>
              <a:rPr lang="en-US" sz="2500" b="1" dirty="0">
                <a:solidFill>
                  <a:srgbClr val="0E2841"/>
                </a:solidFill>
                <a:latin typeface="Cambria" pitchFamily="34" charset="0"/>
                <a:ea typeface="Cambria" pitchFamily="34" charset="-122"/>
                <a:cs typeface="Cambria" pitchFamily="34" charset="-120"/>
              </a:rPr>
              <a:t>Sneaker Builder's stack, in Unity terms</a:t>
            </a:r>
            <a:endParaRPr lang="en-US" sz="2500" dirty="0"/>
          </a:p>
        </p:txBody>
      </p:sp>
      <p:sp>
        <p:nvSpPr>
          <p:cNvPr id="5" name="Shape 1"/>
          <p:cNvSpPr/>
          <p:nvPr/>
        </p:nvSpPr>
        <p:spPr>
          <a:xfrm>
            <a:off x="320040" y="1298448"/>
            <a:ext cx="9875520" cy="0"/>
          </a:xfrm>
          <a:prstGeom prst="line">
            <a:avLst/>
          </a:prstGeom>
          <a:noFill/>
          <a:ln w="9525">
            <a:solidFill>
              <a:srgbClr val="E97132"/>
            </a:solidFill>
            <a:prstDash val="solid"/>
          </a:ln>
        </p:spPr>
      </p:sp>
      <p:sp>
        <p:nvSpPr>
          <p:cNvPr id="6" name="Text 2"/>
          <p:cNvSpPr txBox="1"/>
          <p:nvPr/>
        </p:nvSpPr>
        <p:spPr>
          <a:xfrm>
            <a:off x="457200" y="1371600"/>
            <a:ext cx="11247120" cy="411480"/>
          </a:xfrm>
          <a:prstGeom prst="rect">
            <a:avLst/>
          </a:prstGeom>
          <a:noFill/>
          <a:ln/>
        </p:spPr>
        <p:txBody>
          <a:bodyPr wrap="square" lIns="0" tIns="0" rIns="0" bIns="0" rtlCol="0" anchor="ctr"/>
          <a:lstStyle/>
          <a:p>
            <a:pPr indent="0" marL="0">
              <a:buNone/>
            </a:pPr>
            <a:r>
              <a:rPr lang="en-US" sz="1350" dirty="0">
                <a:solidFill>
                  <a:srgbClr val="5B6B76"/>
                </a:solidFill>
                <a:latin typeface="Calibri" pitchFamily="34" charset="0"/>
                <a:ea typeface="Calibri" pitchFamily="34" charset="-122"/>
                <a:cs typeface="Calibri" pitchFamily="34" charset="-120"/>
              </a:rPr>
              <a:t>Every package has a Unity analogy you already know.</a:t>
            </a:r>
            <a:endParaRPr lang="en-US" sz="13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11247120" cy="914400"/>
        </p:xfrm>
        <a:graphic>
          <a:graphicData uri="http://schemas.openxmlformats.org/drawingml/2006/table">
            <a:tbl>
              <a:tblPr/>
              <a:tblGrid>
                <a:gridCol w="2743200"/>
                <a:gridCol w="5120640"/>
                <a:gridCol w="3383280"/>
              </a:tblGrid>
              <a:tr h="40233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Package</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0E284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Role</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0E284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Unity analogy</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0E2841"/>
                    </a:solidFill>
                  </a:tcPr>
                </a:tc>
              </a:tr>
              <a:tr h="402336">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three (super-three 0.165)</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Renders the scene and runs the WebXR session through renderer.xr</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The engine</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elics</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Tiny Entity-Component-System library</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GameObject + MonoBehaviour, split into data and logic</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r>
              <a:tr h="402336">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ratk</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Enter AR/VR buttons, MR features (planes, anchors, hit-test)</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XR Plug-in Mgmt + AR Foundation</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gamepad-wrapper</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Edge detection + haptics on the raw WebXR Gamepad</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SteamVR Input actions</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r>
              <a:tr h="402336">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troika-three-text</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Crisp SDF text in 3D</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TextMeshPro</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three-mesh-bvh</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Fast raycasts on high-poly meshes</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Physics.Raycast</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r>
              <a:tr h="402336">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howler</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Spatial audio</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AudioSource, spatialBlend = 1</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webpack (HTTPS dev server)</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Bundles src/ → dist/</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Build Settings</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r>
              <a:tr h="402336">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@gltf-transform</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Draco mesh + KTX2 texture compression (content/compress.mjs)</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Texture/mesh import settings</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r>
            </a:tbl>
          </a:graphicData>
        </a:graphic>
      </p:graphicFrame>
      <p:sp>
        <p:nvSpPr>
          <p:cNvPr id="8" name="Text 3"/>
          <p:cNvSpPr txBox="1"/>
          <p:nvPr/>
        </p:nvSpPr>
        <p:spPr>
          <a:xfrm>
            <a:off x="320040" y="6528816"/>
            <a:ext cx="8686800" cy="274320"/>
          </a:xfrm>
          <a:prstGeom prst="rect">
            <a:avLst/>
          </a:prstGeom>
          <a:noFill/>
          <a:ln/>
        </p:spPr>
        <p:txBody>
          <a:bodyPr wrap="square" lIns="0" tIns="0" rIns="0" bIns="0" rtlCol="0" anchor="ctr"/>
          <a:lstStyle/>
          <a:p>
            <a:pPr indent="0" marL="0">
              <a:buNone/>
            </a:pPr>
            <a:r>
              <a:rPr lang="en-US" sz="1050" dirty="0">
                <a:solidFill>
                  <a:srgbClr val="5B6B76"/>
                </a:solidFill>
                <a:latin typeface="Calibri" pitchFamily="34" charset="0"/>
                <a:ea typeface="Calibri" pitchFamily="34" charset="-122"/>
                <a:cs typeface="Calibri" pitchFamily="34" charset="-120"/>
              </a:rPr>
              <a:t>CIST 1423 — Week 7 — WebXR Part 1: Sneaker Builder → our Panther Customizer</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small.png">    </p:cNvPr>
          <p:cNvPicPr>
            <a:picLocks noChangeAspect="1"/>
          </p:cNvPicPr>
          <p:nvPr/>
        </p:nvPicPr>
        <p:blipFill>
          <a:blip r:embed="rId1"/>
          <a:stretch>
            <a:fillRect/>
          </a:stretch>
        </p:blipFill>
        <p:spPr>
          <a:xfrm>
            <a:off x="320040" y="237744"/>
            <a:ext cx="1371600" cy="329184"/>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10561320" y="201168"/>
            <a:ext cx="1234440" cy="795528"/>
          </a:xfrm>
          <a:prstGeom prst="rect">
            <a:avLst/>
          </a:prstGeom>
        </p:spPr>
      </p:pic>
      <p:sp>
        <p:nvSpPr>
          <p:cNvPr id="4" name="Text 0"/>
          <p:cNvSpPr txBox="1"/>
          <p:nvPr/>
        </p:nvSpPr>
        <p:spPr>
          <a:xfrm>
            <a:off x="320040" y="621792"/>
            <a:ext cx="10058400" cy="658368"/>
          </a:xfrm>
          <a:prstGeom prst="rect">
            <a:avLst/>
          </a:prstGeom>
          <a:noFill/>
          <a:ln/>
        </p:spPr>
        <p:txBody>
          <a:bodyPr wrap="square" lIns="0" tIns="0" rIns="0" bIns="0" rtlCol="0" anchor="ctr"/>
          <a:lstStyle/>
          <a:p>
            <a:pPr indent="0" marL="0">
              <a:buNone/>
            </a:pPr>
            <a:r>
              <a:rPr lang="en-US" sz="2500" b="1" dirty="0">
                <a:solidFill>
                  <a:srgbClr val="0E2841"/>
                </a:solidFill>
                <a:latin typeface="Cambria" pitchFamily="34" charset="0"/>
                <a:ea typeface="Cambria" pitchFamily="34" charset="-122"/>
                <a:cs typeface="Cambria" pitchFamily="34" charset="-120"/>
              </a:rPr>
              <a:t>The architecture: ECS in 60 seconds</a:t>
            </a:r>
            <a:endParaRPr lang="en-US" sz="2500" dirty="0"/>
          </a:p>
        </p:txBody>
      </p:sp>
      <p:sp>
        <p:nvSpPr>
          <p:cNvPr id="5" name="Shape 1"/>
          <p:cNvSpPr/>
          <p:nvPr/>
        </p:nvSpPr>
        <p:spPr>
          <a:xfrm>
            <a:off x="320040" y="1298448"/>
            <a:ext cx="9875520" cy="0"/>
          </a:xfrm>
          <a:prstGeom prst="line">
            <a:avLst/>
          </a:prstGeom>
          <a:noFill/>
          <a:ln w="9525">
            <a:solidFill>
              <a:srgbClr val="E97132"/>
            </a:solidFill>
            <a:prstDash val="solid"/>
          </a:ln>
        </p:spPr>
      </p:sp>
      <p:sp>
        <p:nvSpPr>
          <p:cNvPr id="6" name="Text 2"/>
          <p:cNvSpPr txBox="1"/>
          <p:nvPr/>
        </p:nvSpPr>
        <p:spPr>
          <a:xfrm>
            <a:off x="457200" y="1371600"/>
            <a:ext cx="11247120" cy="411480"/>
          </a:xfrm>
          <a:prstGeom prst="rect">
            <a:avLst/>
          </a:prstGeom>
          <a:noFill/>
          <a:ln/>
        </p:spPr>
        <p:txBody>
          <a:bodyPr wrap="square" lIns="0" tIns="0" rIns="0" bIns="0" rtlCol="0" anchor="ctr"/>
          <a:lstStyle/>
          <a:p>
            <a:pPr indent="0" marL="0">
              <a:buNone/>
            </a:pPr>
            <a:r>
              <a:rPr lang="en-US" sz="1350" dirty="0">
                <a:solidFill>
                  <a:srgbClr val="5B6B76"/>
                </a:solidFill>
                <a:latin typeface="Calibri" pitchFamily="34" charset="0"/>
                <a:ea typeface="Calibri" pitchFamily="34" charset="-122"/>
                <a:cs typeface="Calibri" pitchFamily="34" charset="-120"/>
              </a:rPr>
              <a:t>Components are data, systems are logic, and registration order is execution order.</a:t>
            </a:r>
            <a:endParaRPr lang="en-US" sz="1350" dirty="0"/>
          </a:p>
        </p:txBody>
      </p:sp>
      <p:sp>
        <p:nvSpPr>
          <p:cNvPr id="7" name="Shape 3"/>
          <p:cNvSpPr/>
          <p:nvPr/>
        </p:nvSpPr>
        <p:spPr>
          <a:xfrm>
            <a:off x="457200" y="1920240"/>
            <a:ext cx="6309360" cy="4160520"/>
          </a:xfrm>
          <a:prstGeom prst="roundRect">
            <a:avLst>
              <a:gd name="adj" fmla="val 1758"/>
            </a:avLst>
          </a:prstGeom>
          <a:solidFill>
            <a:srgbClr val="0B1620"/>
          </a:solidFill>
          <a:ln w="9525">
            <a:solidFill>
              <a:srgbClr val="0B1620"/>
            </a:solidFill>
            <a:prstDash val="solid"/>
          </a:ln>
        </p:spPr>
      </p:sp>
      <p:sp>
        <p:nvSpPr>
          <p:cNvPr id="8" name="Text 4"/>
          <p:cNvSpPr txBox="1"/>
          <p:nvPr/>
        </p:nvSpPr>
        <p:spPr>
          <a:xfrm>
            <a:off x="621792" y="2048256"/>
            <a:ext cx="5980176" cy="3904488"/>
          </a:xfrm>
          <a:prstGeom prst="rect">
            <a:avLst/>
          </a:prstGeom>
          <a:noFill/>
          <a:ln/>
        </p:spPr>
        <p:txBody>
          <a:bodyPr wrap="square" lIns="0" tIns="0" rIns="0" bIns="0" rtlCol="0" anchor="t"/>
          <a:lstStyle/>
          <a:p>
            <a:pPr indent="0" marL="0">
              <a:buNone/>
            </a:pPr>
            <a:r>
              <a:rPr lang="en-US" sz="1200" dirty="0">
                <a:solidFill>
                  <a:srgbClr val="D6E4EC"/>
                </a:solidFill>
                <a:latin typeface="Consolas" pitchFamily="34" charset="0"/>
                <a:ea typeface="Consolas" pitchFamily="34" charset="-122"/>
                <a:cs typeface="Consolas" pitchFamily="34" charset="-120"/>
              </a:rPr>
              <a:t>const world = new World();</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world</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.registerComponent(GlobalComponent) // + 4 more</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.registerSystem(PlayerSystem)   // 1st: read controllers</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.registerSystem(WelcomeSystem)</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.registerSystem(SizingSystem)</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.registerSystem(InlineSystem)   // desktop mode</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.registerSystem(ConfigUISystem) // may switch to ray...</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.registerSystem(GrabSystem)</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.registerSystem(FollowSystem)</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.registerSystem(AudioSystem)</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.registerSystem(PointerSystem); // ...last: draw it</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renderer.setAnimationLoop(() =&gt; {   // ≈ Update()</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world.update(clock.getDelta(), clock.elapsedTime);</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renderer.render(scene, camera);</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a:t>
            </a:r>
            <a:endParaRPr lang="en-US" sz="1200" dirty="0"/>
          </a:p>
        </p:txBody>
      </p:sp>
      <p:sp>
        <p:nvSpPr>
          <p:cNvPr id="9" name="Shape 5"/>
          <p:cNvSpPr/>
          <p:nvPr/>
        </p:nvSpPr>
        <p:spPr>
          <a:xfrm>
            <a:off x="6995160" y="1920240"/>
            <a:ext cx="4709160" cy="2103120"/>
          </a:xfrm>
          <a:prstGeom prst="roundRect">
            <a:avLst>
              <a:gd name="adj" fmla="val 3478"/>
            </a:avLst>
          </a:prstGeom>
          <a:solidFill>
            <a:srgbClr val="F4F7FA"/>
          </a:solidFill>
          <a:ln w="9525">
            <a:solidFill>
              <a:srgbClr val="D8E1E8"/>
            </a:solidFill>
            <a:prstDash val="solid"/>
          </a:ln>
        </p:spPr>
      </p:sp>
      <p:pic>
        <p:nvPicPr>
          <p:cNvPr id="10" name="Image 2" descr="preencoded.png">    </p:cNvPr>
          <p:cNvPicPr>
            <a:picLocks noChangeAspect="1"/>
          </p:cNvPicPr>
          <p:nvPr/>
        </p:nvPicPr>
        <p:blipFill>
          <a:blip r:embed="rId3"/>
          <a:stretch>
            <a:fillRect/>
          </a:stretch>
        </p:blipFill>
        <p:spPr>
          <a:xfrm>
            <a:off x="7178040" y="2103120"/>
            <a:ext cx="329184" cy="329184"/>
          </a:xfrm>
          <a:prstGeom prst="rect">
            <a:avLst/>
          </a:prstGeom>
        </p:spPr>
      </p:pic>
      <p:sp>
        <p:nvSpPr>
          <p:cNvPr id="11" name="Text 6"/>
          <p:cNvSpPr txBox="1"/>
          <p:nvPr/>
        </p:nvSpPr>
        <p:spPr>
          <a:xfrm>
            <a:off x="7635240" y="2103120"/>
            <a:ext cx="3886200" cy="329184"/>
          </a:xfrm>
          <a:prstGeom prst="rect">
            <a:avLst/>
          </a:prstGeom>
          <a:noFill/>
          <a:ln/>
        </p:spPr>
        <p:txBody>
          <a:bodyPr wrap="square" lIns="0" tIns="0" rIns="0" bIns="0" rtlCol="0" anchor="ctr"/>
          <a:lstStyle/>
          <a:p>
            <a:pPr indent="0" marL="0">
              <a:buNone/>
            </a:pPr>
            <a:r>
              <a:rPr lang="en-US" sz="1450" b="1" dirty="0">
                <a:solidFill>
                  <a:srgbClr val="156082"/>
                </a:solidFill>
                <a:latin typeface="Calibri" pitchFamily="34" charset="0"/>
                <a:ea typeface="Calibri" pitchFamily="34" charset="-122"/>
                <a:cs typeface="Calibri" pitchFamily="34" charset="-120"/>
              </a:rPr>
              <a:t>Queries, not references</a:t>
            </a:r>
            <a:endParaRPr lang="en-US" sz="1450" dirty="0"/>
          </a:p>
        </p:txBody>
      </p:sp>
      <p:sp>
        <p:nvSpPr>
          <p:cNvPr id="12" name="Text 7"/>
          <p:cNvSpPr txBox="1"/>
          <p:nvPr/>
        </p:nvSpPr>
        <p:spPr>
          <a:xfrm>
            <a:off x="7178040" y="2560320"/>
            <a:ext cx="4343400" cy="128016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A system asks for "every entity with a GrabComponent"</a:t>
            </a:r>
            <a:endParaRPr lang="en-US" sz="1250" dirty="0"/>
          </a:p>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Systems never call each other, so you can delete one cleanly</a:t>
            </a:r>
            <a:endParaRPr lang="en-US" sz="1250" dirty="0"/>
          </a:p>
        </p:txBody>
      </p:sp>
      <p:sp>
        <p:nvSpPr>
          <p:cNvPr id="13" name="Shape 8"/>
          <p:cNvSpPr/>
          <p:nvPr/>
        </p:nvSpPr>
        <p:spPr>
          <a:xfrm>
            <a:off x="6995160" y="4206240"/>
            <a:ext cx="4709160" cy="1874520"/>
          </a:xfrm>
          <a:prstGeom prst="roundRect">
            <a:avLst>
              <a:gd name="adj" fmla="val 3902"/>
            </a:avLst>
          </a:prstGeom>
          <a:solidFill>
            <a:srgbClr val="0E2841"/>
          </a:solidFill>
          <a:ln w="9525">
            <a:solidFill>
              <a:srgbClr val="0E2841"/>
            </a:solidFill>
            <a:prstDash val="solid"/>
          </a:ln>
        </p:spPr>
      </p:sp>
      <p:pic>
        <p:nvPicPr>
          <p:cNvPr id="14" name="Image 3" descr="preencoded.png">    </p:cNvPr>
          <p:cNvPicPr>
            <a:picLocks noChangeAspect="1"/>
          </p:cNvPicPr>
          <p:nvPr/>
        </p:nvPicPr>
        <p:blipFill>
          <a:blip r:embed="rId4"/>
          <a:stretch>
            <a:fillRect/>
          </a:stretch>
        </p:blipFill>
        <p:spPr>
          <a:xfrm>
            <a:off x="7178040" y="4389120"/>
            <a:ext cx="329184" cy="329184"/>
          </a:xfrm>
          <a:prstGeom prst="rect">
            <a:avLst/>
          </a:prstGeom>
        </p:spPr>
      </p:pic>
      <p:sp>
        <p:nvSpPr>
          <p:cNvPr id="15" name="Text 9"/>
          <p:cNvSpPr txBox="1"/>
          <p:nvPr/>
        </p:nvSpPr>
        <p:spPr>
          <a:xfrm>
            <a:off x="7635240" y="4389120"/>
            <a:ext cx="3886200" cy="329184"/>
          </a:xfrm>
          <a:prstGeom prst="rect">
            <a:avLst/>
          </a:prstGeom>
          <a:noFill/>
          <a:ln/>
        </p:spPr>
        <p:txBody>
          <a:bodyPr wrap="square" lIns="0" tIns="0" rIns="0" bIns="0" rtlCol="0" anchor="ctr"/>
          <a:lstStyle/>
          <a:p>
            <a:pPr indent="0" marL="0">
              <a:buNone/>
            </a:pPr>
            <a:r>
              <a:rPr lang="en-US" sz="1450" b="1" dirty="0">
                <a:solidFill>
                  <a:srgbClr val="D4A017"/>
                </a:solidFill>
                <a:latin typeface="Calibri" pitchFamily="34" charset="0"/>
                <a:ea typeface="Calibri" pitchFamily="34" charset="-122"/>
                <a:cs typeface="Calibri" pitchFamily="34" charset="-120"/>
              </a:rPr>
              <a:t>Order matters</a:t>
            </a:r>
            <a:endParaRPr lang="en-US" sz="1450" dirty="0"/>
          </a:p>
        </p:txBody>
      </p:sp>
      <p:sp>
        <p:nvSpPr>
          <p:cNvPr id="16" name="Text 10"/>
          <p:cNvSpPr txBox="1"/>
          <p:nvPr/>
        </p:nvSpPr>
        <p:spPr>
          <a:xfrm>
            <a:off x="7178040" y="4846320"/>
            <a:ext cx="4343400" cy="105156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PlayerSystem first: everyone sees the same "just pressed" flags</a:t>
            </a:r>
            <a:endParaRPr lang="en-US" sz="1250" dirty="0"/>
          </a:p>
          <a:p>
            <a:pPr marL="177800" indent="-1778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Unity needs Script Execution Order for this</a:t>
            </a:r>
            <a:endParaRPr lang="en-US" sz="1250" dirty="0"/>
          </a:p>
        </p:txBody>
      </p:sp>
      <p:sp>
        <p:nvSpPr>
          <p:cNvPr id="17" name="Text 11"/>
          <p:cNvSpPr txBox="1"/>
          <p:nvPr/>
        </p:nvSpPr>
        <p:spPr>
          <a:xfrm>
            <a:off x="320040" y="6528816"/>
            <a:ext cx="8686800" cy="274320"/>
          </a:xfrm>
          <a:prstGeom prst="rect">
            <a:avLst/>
          </a:prstGeom>
          <a:noFill/>
          <a:ln/>
        </p:spPr>
        <p:txBody>
          <a:bodyPr wrap="square" lIns="0" tIns="0" rIns="0" bIns="0" rtlCol="0" anchor="ctr"/>
          <a:lstStyle/>
          <a:p>
            <a:pPr indent="0" marL="0">
              <a:buNone/>
            </a:pPr>
            <a:r>
              <a:rPr lang="en-US" sz="1050" dirty="0">
                <a:solidFill>
                  <a:srgbClr val="5B6B76"/>
                </a:solidFill>
                <a:latin typeface="Calibri" pitchFamily="34" charset="0"/>
                <a:ea typeface="Calibri" pitchFamily="34" charset="-122"/>
                <a:cs typeface="Calibri" pitchFamily="34" charset="-120"/>
              </a:rPr>
              <a:t>CIST 1423 — Week 7 — WebXR Part 1: Sneaker Builder → our Panther Customizer</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small.png">    </p:cNvPr>
          <p:cNvPicPr>
            <a:picLocks noChangeAspect="1"/>
          </p:cNvPicPr>
          <p:nvPr/>
        </p:nvPicPr>
        <p:blipFill>
          <a:blip r:embed="rId1"/>
          <a:stretch>
            <a:fillRect/>
          </a:stretch>
        </p:blipFill>
        <p:spPr>
          <a:xfrm>
            <a:off x="320040" y="237744"/>
            <a:ext cx="1371600" cy="329184"/>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10561320" y="201168"/>
            <a:ext cx="1234440" cy="795528"/>
          </a:xfrm>
          <a:prstGeom prst="rect">
            <a:avLst/>
          </a:prstGeom>
        </p:spPr>
      </p:pic>
      <p:sp>
        <p:nvSpPr>
          <p:cNvPr id="4" name="Text 0"/>
          <p:cNvSpPr txBox="1"/>
          <p:nvPr/>
        </p:nvSpPr>
        <p:spPr>
          <a:xfrm>
            <a:off x="320040" y="621792"/>
            <a:ext cx="10058400" cy="658368"/>
          </a:xfrm>
          <a:prstGeom prst="rect">
            <a:avLst/>
          </a:prstGeom>
          <a:noFill/>
          <a:ln/>
        </p:spPr>
        <p:txBody>
          <a:bodyPr wrap="square" lIns="0" tIns="0" rIns="0" bIns="0" rtlCol="0" anchor="ctr"/>
          <a:lstStyle/>
          <a:p>
            <a:pPr indent="0" marL="0">
              <a:buNone/>
            </a:pPr>
            <a:r>
              <a:rPr lang="en-US" sz="2500" b="1" dirty="0">
                <a:solidFill>
                  <a:srgbClr val="0E2841"/>
                </a:solidFill>
                <a:latin typeface="Cambria" pitchFamily="34" charset="0"/>
                <a:ea typeface="Cambria" pitchFamily="34" charset="-122"/>
                <a:cs typeface="Cambria" pitchFamily="34" charset="-120"/>
              </a:rPr>
              <a:t>player.js: controllers → a clean input model</a:t>
            </a:r>
            <a:endParaRPr lang="en-US" sz="2500" dirty="0"/>
          </a:p>
        </p:txBody>
      </p:sp>
      <p:sp>
        <p:nvSpPr>
          <p:cNvPr id="5" name="Shape 1"/>
          <p:cNvSpPr/>
          <p:nvPr/>
        </p:nvSpPr>
        <p:spPr>
          <a:xfrm>
            <a:off x="320040" y="1298448"/>
            <a:ext cx="9875520" cy="0"/>
          </a:xfrm>
          <a:prstGeom prst="line">
            <a:avLst/>
          </a:prstGeom>
          <a:noFill/>
          <a:ln w="9525">
            <a:solidFill>
              <a:srgbClr val="E97132"/>
            </a:solidFill>
            <a:prstDash val="solid"/>
          </a:ln>
        </p:spPr>
      </p:sp>
      <p:sp>
        <p:nvSpPr>
          <p:cNvPr id="6" name="Text 2"/>
          <p:cNvSpPr txBox="1"/>
          <p:nvPr/>
        </p:nvSpPr>
        <p:spPr>
          <a:xfrm>
            <a:off x="457200" y="1371600"/>
            <a:ext cx="11247120" cy="411480"/>
          </a:xfrm>
          <a:prstGeom prst="rect">
            <a:avLst/>
          </a:prstGeom>
          <a:noFill/>
          <a:ln/>
        </p:spPr>
        <p:txBody>
          <a:bodyPr wrap="square" lIns="0" tIns="0" rIns="0" bIns="0" rtlCol="0" anchor="ctr"/>
          <a:lstStyle/>
          <a:p>
            <a:pPr indent="0" marL="0">
              <a:buNone/>
            </a:pPr>
            <a:r>
              <a:rPr lang="en-US" sz="1350" dirty="0">
                <a:solidFill>
                  <a:srgbClr val="5B6B76"/>
                </a:solidFill>
                <a:latin typeface="Calibri" pitchFamily="34" charset="0"/>
                <a:ea typeface="Calibri" pitchFamily="34" charset="-122"/>
                <a:cs typeface="Calibri" pitchFamily="34" charset="-120"/>
              </a:rPr>
              <a:t>Unchanged in panther-builder. It is the engine layer.</a:t>
            </a:r>
            <a:endParaRPr lang="en-US" sz="1350" dirty="0"/>
          </a:p>
        </p:txBody>
      </p:sp>
      <p:sp>
        <p:nvSpPr>
          <p:cNvPr id="7" name="Shape 3"/>
          <p:cNvSpPr/>
          <p:nvPr/>
        </p:nvSpPr>
        <p:spPr>
          <a:xfrm>
            <a:off x="457200" y="1920240"/>
            <a:ext cx="5532120" cy="4160520"/>
          </a:xfrm>
          <a:prstGeom prst="roundRect">
            <a:avLst>
              <a:gd name="adj" fmla="val 1758"/>
            </a:avLst>
          </a:prstGeom>
          <a:solidFill>
            <a:srgbClr val="F4F7FA"/>
          </a:solidFill>
          <a:ln w="9525">
            <a:solidFill>
              <a:srgbClr val="D8E1E8"/>
            </a:solidFill>
            <a:prstDash val="solid"/>
          </a:ln>
        </p:spPr>
      </p:sp>
      <p:pic>
        <p:nvPicPr>
          <p:cNvPr id="8" name="Image 2" descr="preencoded.png">    </p:cNvPr>
          <p:cNvPicPr>
            <a:picLocks noChangeAspect="1"/>
          </p:cNvPicPr>
          <p:nvPr/>
        </p:nvPicPr>
        <p:blipFill>
          <a:blip r:embed="rId3"/>
          <a:stretch>
            <a:fillRect/>
          </a:stretch>
        </p:blipFill>
        <p:spPr>
          <a:xfrm>
            <a:off x="640080" y="2103120"/>
            <a:ext cx="329184" cy="329184"/>
          </a:xfrm>
          <a:prstGeom prst="rect">
            <a:avLst/>
          </a:prstGeom>
        </p:spPr>
      </p:pic>
      <p:sp>
        <p:nvSpPr>
          <p:cNvPr id="9" name="Text 4"/>
          <p:cNvSpPr txBox="1"/>
          <p:nvPr/>
        </p:nvSpPr>
        <p:spPr>
          <a:xfrm>
            <a:off x="1097280" y="2103120"/>
            <a:ext cx="4709160" cy="329184"/>
          </a:xfrm>
          <a:prstGeom prst="rect">
            <a:avLst/>
          </a:prstGeom>
          <a:noFill/>
          <a:ln/>
        </p:spPr>
        <p:txBody>
          <a:bodyPr wrap="square" lIns="0" tIns="0" rIns="0" bIns="0" rtlCol="0" anchor="ctr"/>
          <a:lstStyle/>
          <a:p>
            <a:pPr indent="0" marL="0">
              <a:buNone/>
            </a:pPr>
            <a:r>
              <a:rPr lang="en-US" sz="1450" b="1" dirty="0">
                <a:solidFill>
                  <a:srgbClr val="156082"/>
                </a:solidFill>
                <a:latin typeface="Calibri" pitchFamily="34" charset="0"/>
                <a:ea typeface="Calibri" pitchFamily="34" charset="-122"/>
                <a:cs typeface="Calibri" pitchFamily="34" charset="-120"/>
              </a:rPr>
              <a:t>For each controller</a:t>
            </a:r>
            <a:endParaRPr lang="en-US" sz="1450" dirty="0"/>
          </a:p>
        </p:txBody>
      </p:sp>
      <p:sp>
        <p:nvSpPr>
          <p:cNvPr id="10" name="Text 5"/>
          <p:cNvSpPr txBox="1"/>
          <p:nvPr/>
        </p:nvSpPr>
        <p:spPr>
          <a:xfrm>
            <a:off x="640080" y="2560320"/>
            <a:ext cx="5166360" cy="333756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renderer.xr.getController(i) → target-ray space (where you point from)</a:t>
            </a:r>
            <a:endParaRPr lang="en-US" sz="1250" dirty="0"/>
          </a:p>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renderer.xr.getControllerGrip(i) → grip space (where your hand is)</a:t>
            </a:r>
            <a:endParaRPr lang="en-US" sz="1250" dirty="0"/>
          </a:p>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selectstart / selectend → isSelecting; every frame derives justStartedSelecting and justStoppedSelecting (≈ GetStateDown / GetStateUp)</a:t>
            </a:r>
            <a:endParaRPr lang="en-US" sz="1250" dirty="0"/>
          </a:p>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A Raycaster aimed down the target ray, shared by every system</a:t>
            </a:r>
            <a:endParaRPr lang="en-US" sz="1250" dirty="0"/>
          </a:p>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Head pose from frame.getViewerPose(), stored on player.head for UI to follow</a:t>
            </a:r>
            <a:endParaRPr lang="en-US" sz="1250" dirty="0"/>
          </a:p>
        </p:txBody>
      </p:sp>
      <p:sp>
        <p:nvSpPr>
          <p:cNvPr id="11" name="Shape 6"/>
          <p:cNvSpPr/>
          <p:nvPr/>
        </p:nvSpPr>
        <p:spPr>
          <a:xfrm>
            <a:off x="6217920" y="1920240"/>
            <a:ext cx="5486400" cy="2377440"/>
          </a:xfrm>
          <a:prstGeom prst="roundRect">
            <a:avLst>
              <a:gd name="adj" fmla="val 3077"/>
            </a:avLst>
          </a:prstGeom>
          <a:solidFill>
            <a:srgbClr val="0E2841"/>
          </a:solidFill>
          <a:ln w="9525">
            <a:solidFill>
              <a:srgbClr val="0E2841"/>
            </a:solidFill>
            <a:prstDash val="solid"/>
          </a:ln>
        </p:spPr>
      </p:sp>
      <p:pic>
        <p:nvPicPr>
          <p:cNvPr id="12" name="Image 3" descr="preencoded.png">    </p:cNvPr>
          <p:cNvPicPr>
            <a:picLocks noChangeAspect="1"/>
          </p:cNvPicPr>
          <p:nvPr/>
        </p:nvPicPr>
        <p:blipFill>
          <a:blip r:embed="rId4"/>
          <a:stretch>
            <a:fillRect/>
          </a:stretch>
        </p:blipFill>
        <p:spPr>
          <a:xfrm>
            <a:off x="6400800" y="2103120"/>
            <a:ext cx="329184" cy="329184"/>
          </a:xfrm>
          <a:prstGeom prst="rect">
            <a:avLst/>
          </a:prstGeom>
        </p:spPr>
      </p:pic>
      <p:sp>
        <p:nvSpPr>
          <p:cNvPr id="13" name="Text 7"/>
          <p:cNvSpPr txBox="1"/>
          <p:nvPr/>
        </p:nvSpPr>
        <p:spPr>
          <a:xfrm>
            <a:off x="6858000" y="2103120"/>
            <a:ext cx="4663440" cy="329184"/>
          </a:xfrm>
          <a:prstGeom prst="rect">
            <a:avLst/>
          </a:prstGeom>
          <a:noFill/>
          <a:ln/>
        </p:spPr>
        <p:txBody>
          <a:bodyPr wrap="square" lIns="0" tIns="0" rIns="0" bIns="0" rtlCol="0" anchor="ctr"/>
          <a:lstStyle/>
          <a:p>
            <a:pPr indent="0" marL="0">
              <a:buNone/>
            </a:pPr>
            <a:r>
              <a:rPr lang="en-US" sz="1450" b="1" dirty="0">
                <a:solidFill>
                  <a:srgbClr val="D4A017"/>
                </a:solidFill>
                <a:latin typeface="Calibri" pitchFamily="34" charset="0"/>
                <a:ea typeface="Calibri" pitchFamily="34" charset="-122"/>
                <a:cs typeface="Calibri" pitchFamily="34" charset="-120"/>
              </a:rPr>
              <a:t>Trick: see your real controllers</a:t>
            </a:r>
            <a:endParaRPr lang="en-US" sz="1450" dirty="0"/>
          </a:p>
        </p:txBody>
      </p:sp>
      <p:sp>
        <p:nvSpPr>
          <p:cNvPr id="14" name="Text 8"/>
          <p:cNvSpPr txBox="1"/>
          <p:nvPr/>
        </p:nvSpPr>
        <p:spPr>
          <a:xfrm>
            <a:off x="6400800" y="2560320"/>
            <a:ext cx="5120640" cy="155448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Controller models get a shader that outputs vec4(0,0,0,0)</a:t>
            </a:r>
            <a:endParaRPr lang="en-US" sz="1250" dirty="0"/>
          </a:p>
          <a:p>
            <a:pPr marL="177800" indent="-1778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They write depth but are transparent, so they cut a hole in the virtual scene and passthrough shows your real hands</a:t>
            </a:r>
            <a:endParaRPr lang="en-US" sz="1250" dirty="0"/>
          </a:p>
        </p:txBody>
      </p:sp>
      <p:sp>
        <p:nvSpPr>
          <p:cNvPr id="15" name="Shape 9"/>
          <p:cNvSpPr/>
          <p:nvPr/>
        </p:nvSpPr>
        <p:spPr>
          <a:xfrm>
            <a:off x="6217920" y="4480560"/>
            <a:ext cx="5486400" cy="1600200"/>
          </a:xfrm>
          <a:prstGeom prst="roundRect">
            <a:avLst>
              <a:gd name="adj" fmla="val 4571"/>
            </a:avLst>
          </a:prstGeom>
          <a:solidFill>
            <a:srgbClr val="0B1620"/>
          </a:solidFill>
          <a:ln w="9525">
            <a:solidFill>
              <a:srgbClr val="0B1620"/>
            </a:solidFill>
            <a:prstDash val="solid"/>
          </a:ln>
        </p:spPr>
      </p:sp>
      <p:sp>
        <p:nvSpPr>
          <p:cNvPr id="16" name="Text 10"/>
          <p:cNvSpPr txBox="1"/>
          <p:nvPr/>
        </p:nvSpPr>
        <p:spPr>
          <a:xfrm>
            <a:off x="6382512" y="4608576"/>
            <a:ext cx="5157216" cy="1344168"/>
          </a:xfrm>
          <a:prstGeom prst="rect">
            <a:avLst/>
          </a:prstGeom>
          <a:noFill/>
          <a:ln/>
        </p:spPr>
        <p:txBody>
          <a:bodyPr wrap="square" lIns="0" tIns="0" rIns="0" bIns="0" rtlCol="0" anchor="t"/>
          <a:lstStyle/>
          <a:p>
            <a:pPr indent="0" marL="0">
              <a:buNone/>
            </a:pPr>
            <a:r>
              <a:rPr lang="en-US" sz="1200" dirty="0">
                <a:solidFill>
                  <a:srgbClr val="6EE7A8"/>
                </a:solidFill>
                <a:latin typeface="Consolas" pitchFamily="34" charset="0"/>
                <a:ea typeface="Consolas" pitchFamily="34" charset="-122"/>
                <a:cs typeface="Consolas" pitchFamily="34" charset="-120"/>
              </a:rPr>
              <a:t>// edge detection, once per frame</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c.justStartedSelecting = c.isSelecting &amp;&amp; !c._prevSelecting;</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c.justStoppedSelecting = !c.isSelecting &amp;&amp; c._prevSelecting;</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c._prevSelecting = c.isSelecting;</a:t>
            </a:r>
            <a:endParaRPr lang="en-US" sz="1200" dirty="0"/>
          </a:p>
        </p:txBody>
      </p:sp>
      <p:sp>
        <p:nvSpPr>
          <p:cNvPr id="17" name="Text 11"/>
          <p:cNvSpPr txBox="1"/>
          <p:nvPr/>
        </p:nvSpPr>
        <p:spPr>
          <a:xfrm>
            <a:off x="320040" y="6528816"/>
            <a:ext cx="8686800" cy="274320"/>
          </a:xfrm>
          <a:prstGeom prst="rect">
            <a:avLst/>
          </a:prstGeom>
          <a:noFill/>
          <a:ln/>
        </p:spPr>
        <p:txBody>
          <a:bodyPr wrap="square" lIns="0" tIns="0" rIns="0" bIns="0" rtlCol="0" anchor="ctr"/>
          <a:lstStyle/>
          <a:p>
            <a:pPr indent="0" marL="0">
              <a:buNone/>
            </a:pPr>
            <a:r>
              <a:rPr lang="en-US" sz="1050" dirty="0">
                <a:solidFill>
                  <a:srgbClr val="5B6B76"/>
                </a:solidFill>
                <a:latin typeface="Calibri" pitchFamily="34" charset="0"/>
                <a:ea typeface="Calibri" pitchFamily="34" charset="-122"/>
                <a:cs typeface="Calibri" pitchFamily="34" charset="-120"/>
              </a:rPr>
              <a:t>CIST 1423 — Week 7 — WebXR Part 1: Sneaker Builder → our Panther Customizer</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small.png">    </p:cNvPr>
          <p:cNvPicPr>
            <a:picLocks noChangeAspect="1"/>
          </p:cNvPicPr>
          <p:nvPr/>
        </p:nvPicPr>
        <p:blipFill>
          <a:blip r:embed="rId1"/>
          <a:stretch>
            <a:fillRect/>
          </a:stretch>
        </p:blipFill>
        <p:spPr>
          <a:xfrm>
            <a:off x="320040" y="237744"/>
            <a:ext cx="1371600" cy="329184"/>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10561320" y="201168"/>
            <a:ext cx="1234440" cy="795528"/>
          </a:xfrm>
          <a:prstGeom prst="rect">
            <a:avLst/>
          </a:prstGeom>
        </p:spPr>
      </p:pic>
      <p:sp>
        <p:nvSpPr>
          <p:cNvPr id="4" name="Text 0"/>
          <p:cNvSpPr txBox="1"/>
          <p:nvPr/>
        </p:nvSpPr>
        <p:spPr>
          <a:xfrm>
            <a:off x="320040" y="621792"/>
            <a:ext cx="10058400" cy="658368"/>
          </a:xfrm>
          <a:prstGeom prst="rect">
            <a:avLst/>
          </a:prstGeom>
          <a:noFill/>
          <a:ln/>
        </p:spPr>
        <p:txBody>
          <a:bodyPr wrap="square" lIns="0" tIns="0" rIns="0" bIns="0" rtlCol="0" anchor="ctr"/>
          <a:lstStyle/>
          <a:p>
            <a:pPr indent="0" marL="0">
              <a:buNone/>
            </a:pPr>
            <a:r>
              <a:rPr lang="en-US" sz="2500" b="1" dirty="0">
                <a:solidFill>
                  <a:srgbClr val="0E2841"/>
                </a:solidFill>
                <a:latin typeface="Cambria" pitchFamily="34" charset="0"/>
                <a:ea typeface="Cambria" pitchFamily="34" charset="-122"/>
                <a:cs typeface="Cambria" pitchFamily="34" charset="-120"/>
              </a:rPr>
              <a:t>The product layer: grab, customize, size</a:t>
            </a:r>
            <a:endParaRPr lang="en-US" sz="2500" dirty="0"/>
          </a:p>
        </p:txBody>
      </p:sp>
      <p:sp>
        <p:nvSpPr>
          <p:cNvPr id="5" name="Shape 1"/>
          <p:cNvSpPr/>
          <p:nvPr/>
        </p:nvSpPr>
        <p:spPr>
          <a:xfrm>
            <a:off x="320040" y="1298448"/>
            <a:ext cx="9875520" cy="0"/>
          </a:xfrm>
          <a:prstGeom prst="line">
            <a:avLst/>
          </a:prstGeom>
          <a:noFill/>
          <a:ln w="9525">
            <a:solidFill>
              <a:srgbClr val="E97132"/>
            </a:solidFill>
            <a:prstDash val="solid"/>
          </a:ln>
        </p:spPr>
      </p:sp>
      <p:sp>
        <p:nvSpPr>
          <p:cNvPr id="6" name="Text 2"/>
          <p:cNvSpPr txBox="1"/>
          <p:nvPr/>
        </p:nvSpPr>
        <p:spPr>
          <a:xfrm>
            <a:off x="457200" y="1371600"/>
            <a:ext cx="11247120" cy="411480"/>
          </a:xfrm>
          <a:prstGeom prst="rect">
            <a:avLst/>
          </a:prstGeom>
          <a:noFill/>
          <a:ln/>
        </p:spPr>
        <p:txBody>
          <a:bodyPr wrap="square" lIns="0" tIns="0" rIns="0" bIns="0" rtlCol="0" anchor="ctr"/>
          <a:lstStyle/>
          <a:p>
            <a:pPr indent="0" marL="0">
              <a:buNone/>
            </a:pPr>
            <a:r>
              <a:rPr lang="en-US" sz="1350" dirty="0">
                <a:solidFill>
                  <a:srgbClr val="5B6B76"/>
                </a:solidFill>
                <a:latin typeface="Calibri" pitchFamily="34" charset="0"/>
                <a:ea typeface="Calibri" pitchFamily="34" charset="-122"/>
                <a:cs typeface="Calibri" pitchFamily="34" charset="-120"/>
              </a:rPr>
              <a:t>One hand holds, the other points. Set the shoe down to check your size.</a:t>
            </a:r>
            <a:endParaRPr lang="en-US" sz="1350" dirty="0"/>
          </a:p>
        </p:txBody>
      </p:sp>
      <p:sp>
        <p:nvSpPr>
          <p:cNvPr id="7" name="Shape 3"/>
          <p:cNvSpPr/>
          <p:nvPr/>
        </p:nvSpPr>
        <p:spPr>
          <a:xfrm>
            <a:off x="457200" y="1920240"/>
            <a:ext cx="3611880" cy="3429000"/>
          </a:xfrm>
          <a:prstGeom prst="roundRect">
            <a:avLst>
              <a:gd name="adj" fmla="val 2133"/>
            </a:avLst>
          </a:prstGeom>
          <a:solidFill>
            <a:srgbClr val="F4F7FA"/>
          </a:solidFill>
          <a:ln w="9525">
            <a:solidFill>
              <a:srgbClr val="D8E1E8"/>
            </a:solidFill>
            <a:prstDash val="solid"/>
          </a:ln>
        </p:spPr>
      </p:sp>
      <p:pic>
        <p:nvPicPr>
          <p:cNvPr id="8" name="Image 2" descr="preencoded.png">    </p:cNvPr>
          <p:cNvPicPr>
            <a:picLocks noChangeAspect="1"/>
          </p:cNvPicPr>
          <p:nvPr/>
        </p:nvPicPr>
        <p:blipFill>
          <a:blip r:embed="rId3"/>
          <a:stretch>
            <a:fillRect/>
          </a:stretch>
        </p:blipFill>
        <p:spPr>
          <a:xfrm>
            <a:off x="640080" y="2103120"/>
            <a:ext cx="329184" cy="329184"/>
          </a:xfrm>
          <a:prstGeom prst="rect">
            <a:avLst/>
          </a:prstGeom>
        </p:spPr>
      </p:pic>
      <p:sp>
        <p:nvSpPr>
          <p:cNvPr id="9" name="Text 4"/>
          <p:cNvSpPr txBox="1"/>
          <p:nvPr/>
        </p:nvSpPr>
        <p:spPr>
          <a:xfrm>
            <a:off x="1097280" y="2103120"/>
            <a:ext cx="2788920" cy="329184"/>
          </a:xfrm>
          <a:prstGeom prst="rect">
            <a:avLst/>
          </a:prstGeom>
          <a:noFill/>
          <a:ln/>
        </p:spPr>
        <p:txBody>
          <a:bodyPr wrap="square" lIns="0" tIns="0" rIns="0" bIns="0" rtlCol="0" anchor="ctr"/>
          <a:lstStyle/>
          <a:p>
            <a:pPr indent="0" marL="0">
              <a:buNone/>
            </a:pPr>
            <a:r>
              <a:rPr lang="en-US" sz="1450" b="1" dirty="0">
                <a:solidFill>
                  <a:srgbClr val="156082"/>
                </a:solidFill>
                <a:latin typeface="Calibri" pitchFamily="34" charset="0"/>
                <a:ea typeface="Calibri" pitchFamily="34" charset="-122"/>
                <a:cs typeface="Calibri" pitchFamily="34" charset="-120"/>
              </a:rPr>
              <a:t>grab.js</a:t>
            </a:r>
            <a:endParaRPr lang="en-US" sz="1450" dirty="0"/>
          </a:p>
        </p:txBody>
      </p:sp>
      <p:sp>
        <p:nvSpPr>
          <p:cNvPr id="10" name="Text 5"/>
          <p:cNvSpPr txBox="1"/>
          <p:nvPr/>
        </p:nvSpPr>
        <p:spPr>
          <a:xfrm>
            <a:off x="640080" y="2560320"/>
            <a:ext cx="3246120" cy="26060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13202B"/>
                </a:solidFill>
                <a:latin typeface="Calibri" pitchFamily="34" charset="0"/>
                <a:ea typeface="Calibri" pitchFamily="34" charset="-122"/>
                <a:cs typeface="Calibri" pitchFamily="34" charset="-120"/>
              </a:rPr>
              <a:t>Nearest grabbable to a free controller</a:t>
            </a:r>
            <a:endParaRPr lang="en-US" sz="1200" dirty="0"/>
          </a:p>
          <a:p>
            <a:pPr marL="177800" indent="-177800">
              <a:spcAft>
                <a:spcPts val="500"/>
              </a:spcAft>
              <a:buSzPct val="100000"/>
              <a:buChar char="•"/>
            </a:pPr>
            <a:r>
              <a:rPr lang="en-US" sz="1200" dirty="0">
                <a:solidFill>
                  <a:srgbClr val="13202B"/>
                </a:solidFill>
                <a:latin typeface="Calibri" pitchFamily="34" charset="0"/>
                <a:ea typeface="Calibri" pitchFamily="34" charset="-122"/>
                <a:cs typeface="Calibri" pitchFamily="34" charset="-120"/>
              </a:rPr>
              <a:t>Hand-tuned box around the shoe, in the shoe's local space</a:t>
            </a:r>
            <a:endParaRPr lang="en-US" sz="1200" dirty="0"/>
          </a:p>
          <a:p>
            <a:pPr marL="177800" indent="-177800">
              <a:spcAft>
                <a:spcPts val="500"/>
              </a:spcAft>
              <a:buSzPct val="100000"/>
              <a:buChar char="•"/>
            </a:pPr>
            <a:r>
              <a:rPr lang="en-US" sz="1200" dirty="0">
                <a:solidFill>
                  <a:srgbClr val="13202B"/>
                </a:solidFill>
                <a:latin typeface="Calibri" pitchFamily="34" charset="0"/>
                <a:ea typeface="Calibri" pitchFamily="34" charset="-122"/>
                <a:cs typeface="Calibri" pitchFamily="34" charset="-120"/>
              </a:rPr>
              <a:t>Grab: controller.attach(shoe). Release: scene.attach(shoe). Keeps the world transform, like SetParent(p, true)</a:t>
            </a:r>
            <a:endParaRPr lang="en-US" sz="1200" dirty="0"/>
          </a:p>
        </p:txBody>
      </p:sp>
      <p:sp>
        <p:nvSpPr>
          <p:cNvPr id="11" name="Shape 6"/>
          <p:cNvSpPr/>
          <p:nvPr/>
        </p:nvSpPr>
        <p:spPr>
          <a:xfrm>
            <a:off x="4279392" y="1920240"/>
            <a:ext cx="3611880" cy="3429000"/>
          </a:xfrm>
          <a:prstGeom prst="roundRect">
            <a:avLst>
              <a:gd name="adj" fmla="val 2133"/>
            </a:avLst>
          </a:prstGeom>
          <a:solidFill>
            <a:srgbClr val="F4F7FA"/>
          </a:solidFill>
          <a:ln w="9525">
            <a:solidFill>
              <a:srgbClr val="D8E1E8"/>
            </a:solidFill>
            <a:prstDash val="solid"/>
          </a:ln>
        </p:spPr>
      </p:sp>
      <p:pic>
        <p:nvPicPr>
          <p:cNvPr id="12" name="Image 3" descr="preencoded.png">    </p:cNvPr>
          <p:cNvPicPr>
            <a:picLocks noChangeAspect="1"/>
          </p:cNvPicPr>
          <p:nvPr/>
        </p:nvPicPr>
        <p:blipFill>
          <a:blip r:embed="rId4"/>
          <a:stretch>
            <a:fillRect/>
          </a:stretch>
        </p:blipFill>
        <p:spPr>
          <a:xfrm>
            <a:off x="4462272" y="2103120"/>
            <a:ext cx="329184" cy="329184"/>
          </a:xfrm>
          <a:prstGeom prst="rect">
            <a:avLst/>
          </a:prstGeom>
        </p:spPr>
      </p:pic>
      <p:sp>
        <p:nvSpPr>
          <p:cNvPr id="13" name="Text 7"/>
          <p:cNvSpPr txBox="1"/>
          <p:nvPr/>
        </p:nvSpPr>
        <p:spPr>
          <a:xfrm>
            <a:off x="4919472" y="2103120"/>
            <a:ext cx="2788920" cy="329184"/>
          </a:xfrm>
          <a:prstGeom prst="rect">
            <a:avLst/>
          </a:prstGeom>
          <a:noFill/>
          <a:ln/>
        </p:spPr>
        <p:txBody>
          <a:bodyPr wrap="square" lIns="0" tIns="0" rIns="0" bIns="0" rtlCol="0" anchor="ctr"/>
          <a:lstStyle/>
          <a:p>
            <a:pPr indent="0" marL="0">
              <a:buNone/>
            </a:pPr>
            <a:r>
              <a:rPr lang="en-US" sz="1450" b="1" dirty="0">
                <a:solidFill>
                  <a:srgbClr val="156082"/>
                </a:solidFill>
                <a:latin typeface="Calibri" pitchFamily="34" charset="0"/>
                <a:ea typeface="Calibri" pitchFamily="34" charset="-122"/>
                <a:cs typeface="Calibri" pitchFamily="34" charset="-120"/>
              </a:rPr>
              <a:t>configUI.js + sneaker.js</a:t>
            </a:r>
            <a:endParaRPr lang="en-US" sz="1450" dirty="0"/>
          </a:p>
        </p:txBody>
      </p:sp>
      <p:sp>
        <p:nvSpPr>
          <p:cNvPr id="14" name="Text 8"/>
          <p:cNvSpPr txBox="1"/>
          <p:nvPr/>
        </p:nvSpPr>
        <p:spPr>
          <a:xfrm>
            <a:off x="4462272" y="2560320"/>
            <a:ext cx="3246120" cy="26060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13202B"/>
                </a:solidFill>
                <a:latin typeface="Calibri" pitchFamily="34" charset="0"/>
                <a:ea typeface="Calibri" pitchFamily="34" charset="-122"/>
                <a:cs typeface="Calibri" pitchFamily="34" charset="-120"/>
              </a:rPr>
              <a:t>While a shoe is held, the free hand becomes a ray</a:t>
            </a:r>
            <a:endParaRPr lang="en-US" sz="1200" dirty="0"/>
          </a:p>
          <a:p>
            <a:pPr marL="177800" indent="-177800">
              <a:spcAft>
                <a:spcPts val="500"/>
              </a:spcAft>
              <a:buSzPct val="100000"/>
              <a:buChar char="•"/>
            </a:pPr>
            <a:r>
              <a:rPr lang="en-US" sz="1200" dirty="0">
                <a:solidFill>
                  <a:srgbClr val="13202B"/>
                </a:solidFill>
                <a:latin typeface="Calibri" pitchFamily="34" charset="0"/>
                <a:ea typeface="Calibri" pitchFamily="34" charset="-122"/>
                <a:cs typeface="Calibri" pitchFamily="34" charset="-120"/>
              </a:rPr>
              <a:t>Ray a part (12 named meshes) → select it, click + haptic</a:t>
            </a:r>
            <a:endParaRPr lang="en-US" sz="1200" dirty="0"/>
          </a:p>
          <a:p>
            <a:pPr marL="177800" indent="-177800">
              <a:spcAft>
                <a:spcPts val="500"/>
              </a:spcAft>
              <a:buSzPct val="100000"/>
              <a:buChar char="•"/>
            </a:pPr>
            <a:r>
              <a:rPr lang="en-US" sz="1200" dirty="0">
                <a:solidFill>
                  <a:srgbClr val="13202B"/>
                </a:solidFill>
                <a:latin typeface="Calibri" pitchFamily="34" charset="0"/>
                <a:ea typeface="Calibri" pitchFamily="34" charset="-122"/>
                <a:cs typeface="Calibri" pitchFamily="34" charset="-120"/>
              </a:rPr>
              <a:t>Ray a swatch → copy color/roughness/metalness onto that part</a:t>
            </a:r>
            <a:endParaRPr lang="en-US" sz="1200" dirty="0"/>
          </a:p>
          <a:p>
            <a:pPr marL="177800" indent="-177800">
              <a:spcAft>
                <a:spcPts val="500"/>
              </a:spcAft>
              <a:buSzPct val="100000"/>
              <a:buChar char="•"/>
            </a:pPr>
            <a:r>
              <a:rPr lang="en-US" sz="1200" dirty="0">
                <a:solidFill>
                  <a:srgbClr val="13202B"/>
                </a:solidFill>
                <a:latin typeface="Calibri" pitchFamily="34" charset="0"/>
                <a:ea typeface="Calibri" pitchFamily="34" charset="-122"/>
                <a:cs typeface="Calibri" pitchFamily="34" charset="-120"/>
              </a:rPr>
              <a:t>Prefabs: default, mcdonalds, panda, stone</a:t>
            </a:r>
            <a:endParaRPr lang="en-US" sz="1200" dirty="0"/>
          </a:p>
        </p:txBody>
      </p:sp>
      <p:sp>
        <p:nvSpPr>
          <p:cNvPr id="15" name="Shape 9"/>
          <p:cNvSpPr/>
          <p:nvPr/>
        </p:nvSpPr>
        <p:spPr>
          <a:xfrm>
            <a:off x="8101584" y="1920240"/>
            <a:ext cx="3611880" cy="3429000"/>
          </a:xfrm>
          <a:prstGeom prst="roundRect">
            <a:avLst>
              <a:gd name="adj" fmla="val 2133"/>
            </a:avLst>
          </a:prstGeom>
          <a:solidFill>
            <a:srgbClr val="F4F7FA"/>
          </a:solidFill>
          <a:ln w="9525">
            <a:solidFill>
              <a:srgbClr val="D8E1E8"/>
            </a:solidFill>
            <a:prstDash val="solid"/>
          </a:ln>
        </p:spPr>
      </p:sp>
      <p:pic>
        <p:nvPicPr>
          <p:cNvPr id="16" name="Image 4" descr="preencoded.png">    </p:cNvPr>
          <p:cNvPicPr>
            <a:picLocks noChangeAspect="1"/>
          </p:cNvPicPr>
          <p:nvPr/>
        </p:nvPicPr>
        <p:blipFill>
          <a:blip r:embed="rId5"/>
          <a:stretch>
            <a:fillRect/>
          </a:stretch>
        </p:blipFill>
        <p:spPr>
          <a:xfrm>
            <a:off x="8284464" y="2103120"/>
            <a:ext cx="329184" cy="329184"/>
          </a:xfrm>
          <a:prstGeom prst="rect">
            <a:avLst/>
          </a:prstGeom>
        </p:spPr>
      </p:pic>
      <p:sp>
        <p:nvSpPr>
          <p:cNvPr id="17" name="Text 10"/>
          <p:cNvSpPr txBox="1"/>
          <p:nvPr/>
        </p:nvSpPr>
        <p:spPr>
          <a:xfrm>
            <a:off x="8741664" y="2103120"/>
            <a:ext cx="2788920" cy="329184"/>
          </a:xfrm>
          <a:prstGeom prst="rect">
            <a:avLst/>
          </a:prstGeom>
          <a:noFill/>
          <a:ln/>
        </p:spPr>
        <p:txBody>
          <a:bodyPr wrap="square" lIns="0" tIns="0" rIns="0" bIns="0" rtlCol="0" anchor="ctr"/>
          <a:lstStyle/>
          <a:p>
            <a:pPr indent="0" marL="0">
              <a:buNone/>
            </a:pPr>
            <a:r>
              <a:rPr lang="en-US" sz="1450" b="1" dirty="0">
                <a:solidFill>
                  <a:srgbClr val="156082"/>
                </a:solidFill>
                <a:latin typeface="Calibri" pitchFamily="34" charset="0"/>
                <a:ea typeface="Calibri" pitchFamily="34" charset="-122"/>
                <a:cs typeface="Calibri" pitchFamily="34" charset="-120"/>
              </a:rPr>
              <a:t>size.js</a:t>
            </a:r>
            <a:endParaRPr lang="en-US" sz="1450" dirty="0"/>
          </a:p>
        </p:txBody>
      </p:sp>
      <p:sp>
        <p:nvSpPr>
          <p:cNvPr id="18" name="Text 11"/>
          <p:cNvSpPr txBox="1"/>
          <p:nvPr/>
        </p:nvSpPr>
        <p:spPr>
          <a:xfrm>
            <a:off x="8284464" y="2560320"/>
            <a:ext cx="3246120" cy="26060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13202B"/>
                </a:solidFill>
                <a:latin typeface="Calibri" pitchFamily="34" charset="0"/>
                <a:ea typeface="Calibri" pitchFamily="34" charset="-122"/>
                <a:cs typeface="Calibri" pitchFamily="34" charset="-120"/>
              </a:rPr>
              <a:t>Drop below 0.5 m → it glides to the floor and faces you</a:t>
            </a:r>
            <a:endParaRPr lang="en-US" sz="1200" dirty="0"/>
          </a:p>
          <a:p>
            <a:pPr marL="177800" indent="-177800">
              <a:spcAft>
                <a:spcPts val="500"/>
              </a:spcAft>
              <a:buSzPct val="100000"/>
              <a:buChar char="•"/>
            </a:pPr>
            <a:r>
              <a:rPr lang="en-US" sz="1200" dirty="0">
                <a:solidFill>
                  <a:srgbClr val="13202B"/>
                </a:solidFill>
                <a:latin typeface="Calibri" pitchFamily="34" charset="0"/>
                <a:ea typeface="Calibri" pitchFamily="34" charset="-122"/>
                <a:cs typeface="Calibri" pitchFamily="34" charset="-120"/>
              </a:rPr>
              <a:t>Ray the top/bottom of the sizing panel (uv.y) for ± half a size</a:t>
            </a:r>
            <a:endParaRPr lang="en-US" sz="1200" dirty="0"/>
          </a:p>
          <a:p>
            <a:pPr marL="177800" indent="-177800">
              <a:spcAft>
                <a:spcPts val="500"/>
              </a:spcAft>
              <a:buSzPct val="100000"/>
              <a:buChar char="•"/>
            </a:pPr>
            <a:r>
              <a:rPr lang="en-US" sz="1200" dirty="0">
                <a:solidFill>
                  <a:srgbClr val="13202B"/>
                </a:solidFill>
                <a:latin typeface="Calibri" pitchFamily="34" charset="0"/>
                <a:ea typeface="Calibri" pitchFamily="34" charset="-122"/>
                <a:cs typeface="Calibri" pitchFamily="34" charset="-120"/>
              </a:rPr>
              <a:t>US size → length in cm → scale the shoe</a:t>
            </a:r>
            <a:endParaRPr lang="en-US" sz="1200" dirty="0"/>
          </a:p>
        </p:txBody>
      </p:sp>
      <p:sp>
        <p:nvSpPr>
          <p:cNvPr id="19" name="Shape 12"/>
          <p:cNvSpPr/>
          <p:nvPr/>
        </p:nvSpPr>
        <p:spPr>
          <a:xfrm>
            <a:off x="457200" y="5532120"/>
            <a:ext cx="11247120" cy="548640"/>
          </a:xfrm>
          <a:prstGeom prst="roundRect">
            <a:avLst>
              <a:gd name="adj" fmla="val 13333"/>
            </a:avLst>
          </a:prstGeom>
          <a:solidFill>
            <a:srgbClr val="F4F7FA"/>
          </a:solidFill>
          <a:ln w="9525">
            <a:solidFill>
              <a:srgbClr val="D8E1E8"/>
            </a:solidFill>
            <a:prstDash val="solid"/>
          </a:ln>
        </p:spPr>
      </p:sp>
      <p:sp>
        <p:nvSpPr>
          <p:cNvPr id="20" name="Text 13"/>
          <p:cNvSpPr txBox="1"/>
          <p:nvPr/>
        </p:nvSpPr>
        <p:spPr>
          <a:xfrm>
            <a:off x="457200" y="5532120"/>
            <a:ext cx="11247120" cy="548640"/>
          </a:xfrm>
          <a:prstGeom prst="rect">
            <a:avLst/>
          </a:prstGeom>
          <a:noFill/>
          <a:ln/>
        </p:spPr>
        <p:txBody>
          <a:bodyPr wrap="square" lIns="0" tIns="0" rIns="0" bIns="0" rtlCol="0" anchor="ctr"/>
          <a:lstStyle/>
          <a:p>
            <a:pPr algn="ctr" indent="0" marL="0">
              <a:buNone/>
            </a:pPr>
            <a:r>
              <a:rPr lang="en-US" sz="1250" dirty="0">
                <a:solidFill>
                  <a:srgbClr val="5B6B76"/>
                </a:solidFill>
                <a:latin typeface="Calibri" pitchFamily="34" charset="0"/>
                <a:ea typeface="Calibri" pitchFamily="34" charset="-122"/>
                <a:cs typeface="Calibri" pitchFamily="34" charset="-120"/>
              </a:rPr>
              <a:t>Sound as an event: create an entity with a SoundEffectComponent. AudioSystem plays it in 3D, then destroys it.</a:t>
            </a:r>
            <a:endParaRPr lang="en-US" sz="1250" dirty="0"/>
          </a:p>
        </p:txBody>
      </p:sp>
      <p:sp>
        <p:nvSpPr>
          <p:cNvPr id="21" name="Text 14"/>
          <p:cNvSpPr txBox="1"/>
          <p:nvPr/>
        </p:nvSpPr>
        <p:spPr>
          <a:xfrm>
            <a:off x="320040" y="6528816"/>
            <a:ext cx="8686800" cy="274320"/>
          </a:xfrm>
          <a:prstGeom prst="rect">
            <a:avLst/>
          </a:prstGeom>
          <a:noFill/>
          <a:ln/>
        </p:spPr>
        <p:txBody>
          <a:bodyPr wrap="square" lIns="0" tIns="0" rIns="0" bIns="0" rtlCol="0" anchor="ctr"/>
          <a:lstStyle/>
          <a:p>
            <a:pPr indent="0" marL="0">
              <a:buNone/>
            </a:pPr>
            <a:r>
              <a:rPr lang="en-US" sz="1050" dirty="0">
                <a:solidFill>
                  <a:srgbClr val="5B6B76"/>
                </a:solidFill>
                <a:latin typeface="Calibri" pitchFamily="34" charset="0"/>
                <a:ea typeface="Calibri" pitchFamily="34" charset="-122"/>
                <a:cs typeface="Calibri" pitchFamily="34" charset="-120"/>
              </a:rPr>
              <a:t>CIST 1423 — Week 7 — WebXR Part 1: Sneaker Builder → our Panther Customizer</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small.png">    </p:cNvPr>
          <p:cNvPicPr>
            <a:picLocks noChangeAspect="1"/>
          </p:cNvPicPr>
          <p:nvPr/>
        </p:nvPicPr>
        <p:blipFill>
          <a:blip r:embed="rId1"/>
          <a:stretch>
            <a:fillRect/>
          </a:stretch>
        </p:blipFill>
        <p:spPr>
          <a:xfrm>
            <a:off x="320040" y="237744"/>
            <a:ext cx="1371600" cy="329184"/>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10561320" y="201168"/>
            <a:ext cx="1234440" cy="795528"/>
          </a:xfrm>
          <a:prstGeom prst="rect">
            <a:avLst/>
          </a:prstGeom>
        </p:spPr>
      </p:pic>
      <p:sp>
        <p:nvSpPr>
          <p:cNvPr id="4" name="Text 0"/>
          <p:cNvSpPr txBox="1"/>
          <p:nvPr/>
        </p:nvSpPr>
        <p:spPr>
          <a:xfrm>
            <a:off x="320040" y="621792"/>
            <a:ext cx="10058400" cy="658368"/>
          </a:xfrm>
          <a:prstGeom prst="rect">
            <a:avLst/>
          </a:prstGeom>
          <a:noFill/>
          <a:ln/>
        </p:spPr>
        <p:txBody>
          <a:bodyPr wrap="square" lIns="0" tIns="0" rIns="0" bIns="0" rtlCol="0" anchor="ctr"/>
          <a:lstStyle/>
          <a:p>
            <a:pPr indent="0" marL="0">
              <a:buNone/>
            </a:pPr>
            <a:r>
              <a:rPr lang="en-US" sz="2500" b="1" dirty="0">
                <a:solidFill>
                  <a:srgbClr val="0E2841"/>
                </a:solidFill>
                <a:latin typeface="Cambria" pitchFamily="34" charset="0"/>
                <a:ea typeface="Cambria" pitchFamily="34" charset="-122"/>
                <a:cs typeface="Cambria" pitchFamily="34" charset="-120"/>
              </a:rPr>
              <a:t>Sneaker → Panther: the scorecard</a:t>
            </a:r>
            <a:endParaRPr lang="en-US" sz="2500" dirty="0"/>
          </a:p>
        </p:txBody>
      </p:sp>
      <p:sp>
        <p:nvSpPr>
          <p:cNvPr id="5" name="Shape 1"/>
          <p:cNvSpPr/>
          <p:nvPr/>
        </p:nvSpPr>
        <p:spPr>
          <a:xfrm>
            <a:off x="320040" y="1298448"/>
            <a:ext cx="9875520" cy="0"/>
          </a:xfrm>
          <a:prstGeom prst="line">
            <a:avLst/>
          </a:prstGeom>
          <a:noFill/>
          <a:ln w="9525">
            <a:solidFill>
              <a:srgbClr val="E97132"/>
            </a:solidFill>
            <a:prstDash val="solid"/>
          </a:ln>
        </p:spPr>
      </p:sp>
      <p:sp>
        <p:nvSpPr>
          <p:cNvPr id="6" name="Text 2"/>
          <p:cNvSpPr txBox="1"/>
          <p:nvPr/>
        </p:nvSpPr>
        <p:spPr>
          <a:xfrm>
            <a:off x="457200" y="1371600"/>
            <a:ext cx="11247120" cy="411480"/>
          </a:xfrm>
          <a:prstGeom prst="rect">
            <a:avLst/>
          </a:prstGeom>
          <a:noFill/>
          <a:ln/>
        </p:spPr>
        <p:txBody>
          <a:bodyPr wrap="square" lIns="0" tIns="0" rIns="0" bIns="0" rtlCol="0" anchor="ctr"/>
          <a:lstStyle/>
          <a:p>
            <a:pPr indent="0" marL="0">
              <a:buNone/>
            </a:pPr>
            <a:r>
              <a:rPr lang="en-US" sz="1350" dirty="0">
                <a:solidFill>
                  <a:srgbClr val="5B6B76"/>
                </a:solidFill>
                <a:latin typeface="Calibri" pitchFamily="34" charset="0"/>
                <a:ea typeface="Calibri" pitchFamily="34" charset="-122"/>
                <a:cs typeface="Calibri" pitchFamily="34" charset="-120"/>
              </a:rPr>
              <a:t>Upstream sneaker-builder/src compared line by line with panther-builder/src.</a:t>
            </a:r>
            <a:endParaRPr lang="en-US" sz="1350" dirty="0"/>
          </a:p>
        </p:txBody>
      </p:sp>
      <p:sp>
        <p:nvSpPr>
          <p:cNvPr id="7" name="Shape 3"/>
          <p:cNvSpPr/>
          <p:nvPr/>
        </p:nvSpPr>
        <p:spPr>
          <a:xfrm>
            <a:off x="457200" y="1920240"/>
            <a:ext cx="2651760" cy="2194560"/>
          </a:xfrm>
          <a:prstGeom prst="roundRect">
            <a:avLst>
              <a:gd name="adj" fmla="val 3333"/>
            </a:avLst>
          </a:prstGeom>
          <a:solidFill>
            <a:srgbClr val="F4F7FA"/>
          </a:solidFill>
          <a:ln w="9525">
            <a:solidFill>
              <a:srgbClr val="D8E1E8"/>
            </a:solidFill>
            <a:prstDash val="solid"/>
          </a:ln>
        </p:spPr>
      </p:sp>
      <p:sp>
        <p:nvSpPr>
          <p:cNvPr id="8" name="Text 4"/>
          <p:cNvSpPr txBox="1"/>
          <p:nvPr/>
        </p:nvSpPr>
        <p:spPr>
          <a:xfrm>
            <a:off x="640080" y="2011680"/>
            <a:ext cx="2286000" cy="914400"/>
          </a:xfrm>
          <a:prstGeom prst="rect">
            <a:avLst/>
          </a:prstGeom>
          <a:noFill/>
          <a:ln/>
        </p:spPr>
        <p:txBody>
          <a:bodyPr wrap="square" lIns="0" tIns="0" rIns="0" bIns="0" rtlCol="0" anchor="ctr"/>
          <a:lstStyle/>
          <a:p>
            <a:pPr indent="0" marL="0">
              <a:buNone/>
            </a:pPr>
            <a:r>
              <a:rPr lang="en-US" sz="5400" b="1" dirty="0">
                <a:solidFill>
                  <a:srgbClr val="156082"/>
                </a:solidFill>
                <a:latin typeface="Cambria" pitchFamily="34" charset="0"/>
                <a:ea typeface="Cambria" pitchFamily="34" charset="-122"/>
                <a:cs typeface="Cambria" pitchFamily="34" charset="-120"/>
              </a:rPr>
              <a:t>5</a:t>
            </a:r>
            <a:endParaRPr lang="en-US" sz="5400" dirty="0"/>
          </a:p>
        </p:txBody>
      </p:sp>
      <p:sp>
        <p:nvSpPr>
          <p:cNvPr id="9" name="Text 5"/>
          <p:cNvSpPr txBox="1"/>
          <p:nvPr/>
        </p:nvSpPr>
        <p:spPr>
          <a:xfrm>
            <a:off x="640080" y="2926080"/>
            <a:ext cx="2286000" cy="365760"/>
          </a:xfrm>
          <a:prstGeom prst="rect">
            <a:avLst/>
          </a:prstGeom>
          <a:noFill/>
          <a:ln/>
        </p:spPr>
        <p:txBody>
          <a:bodyPr wrap="square" lIns="0" tIns="0" rIns="0" bIns="0" rtlCol="0" anchor="ctr"/>
          <a:lstStyle/>
          <a:p>
            <a:pPr indent="0" marL="0">
              <a:buNone/>
            </a:pPr>
            <a:r>
              <a:rPr lang="en-US" sz="1600" b="1" dirty="0">
                <a:solidFill>
                  <a:srgbClr val="0E2841"/>
                </a:solidFill>
                <a:latin typeface="Calibri" pitchFamily="34" charset="0"/>
                <a:ea typeface="Calibri" pitchFamily="34" charset="-122"/>
                <a:cs typeface="Calibri" pitchFamily="34" charset="-120"/>
              </a:rPr>
              <a:t>unchanged</a:t>
            </a:r>
            <a:endParaRPr lang="en-US" sz="1600" dirty="0"/>
          </a:p>
        </p:txBody>
      </p:sp>
      <p:sp>
        <p:nvSpPr>
          <p:cNvPr id="10" name="Text 6"/>
          <p:cNvSpPr txBox="1"/>
          <p:nvPr/>
        </p:nvSpPr>
        <p:spPr>
          <a:xfrm>
            <a:off x="640080" y="3337560"/>
            <a:ext cx="2286000" cy="685800"/>
          </a:xfrm>
          <a:prstGeom prst="rect">
            <a:avLst/>
          </a:prstGeom>
          <a:noFill/>
          <a:ln/>
        </p:spPr>
        <p:txBody>
          <a:bodyPr wrap="square" lIns="0" tIns="0" rIns="0" bIns="0" rtlCol="0" anchor="t"/>
          <a:lstStyle/>
          <a:p>
            <a:pPr indent="0" marL="0">
              <a:buNone/>
            </a:pPr>
            <a:r>
              <a:rPr lang="en-US" sz="1200" dirty="0">
                <a:solidFill>
                  <a:srgbClr val="13202B"/>
                </a:solidFill>
                <a:latin typeface="Calibri" pitchFamily="34" charset="0"/>
                <a:ea typeface="Calibri" pitchFamily="34" charset="-122"/>
                <a:cs typeface="Calibri" pitchFamily="34" charset="-120"/>
              </a:rPr>
              <a:t>player, follow, pointer, audio, global</a:t>
            </a:r>
            <a:endParaRPr lang="en-US" sz="1200" dirty="0"/>
          </a:p>
        </p:txBody>
      </p:sp>
      <p:sp>
        <p:nvSpPr>
          <p:cNvPr id="11" name="Shape 7"/>
          <p:cNvSpPr/>
          <p:nvPr/>
        </p:nvSpPr>
        <p:spPr>
          <a:xfrm>
            <a:off x="3291840" y="1920240"/>
            <a:ext cx="2651760" cy="2194560"/>
          </a:xfrm>
          <a:prstGeom prst="roundRect">
            <a:avLst>
              <a:gd name="adj" fmla="val 3333"/>
            </a:avLst>
          </a:prstGeom>
          <a:solidFill>
            <a:srgbClr val="F4F7FA"/>
          </a:solidFill>
          <a:ln w="9525">
            <a:solidFill>
              <a:srgbClr val="D8E1E8"/>
            </a:solidFill>
            <a:prstDash val="solid"/>
          </a:ln>
        </p:spPr>
      </p:sp>
      <p:sp>
        <p:nvSpPr>
          <p:cNvPr id="12" name="Text 8"/>
          <p:cNvSpPr txBox="1"/>
          <p:nvPr/>
        </p:nvSpPr>
        <p:spPr>
          <a:xfrm>
            <a:off x="3474720" y="2011680"/>
            <a:ext cx="2286000" cy="914400"/>
          </a:xfrm>
          <a:prstGeom prst="rect">
            <a:avLst/>
          </a:prstGeom>
          <a:noFill/>
          <a:ln/>
        </p:spPr>
        <p:txBody>
          <a:bodyPr wrap="square" lIns="0" tIns="0" rIns="0" bIns="0" rtlCol="0" anchor="ctr"/>
          <a:lstStyle/>
          <a:p>
            <a:pPr indent="0" marL="0">
              <a:buNone/>
            </a:pPr>
            <a:r>
              <a:rPr lang="en-US" sz="5400" b="1" dirty="0">
                <a:solidFill>
                  <a:srgbClr val="0E2841"/>
                </a:solidFill>
                <a:latin typeface="Cambria" pitchFamily="34" charset="0"/>
                <a:ea typeface="Cambria" pitchFamily="34" charset="-122"/>
                <a:cs typeface="Cambria" pitchFamily="34" charset="-120"/>
              </a:rPr>
              <a:t>5</a:t>
            </a:r>
            <a:endParaRPr lang="en-US" sz="5400" dirty="0"/>
          </a:p>
        </p:txBody>
      </p:sp>
      <p:sp>
        <p:nvSpPr>
          <p:cNvPr id="13" name="Text 9"/>
          <p:cNvSpPr txBox="1"/>
          <p:nvPr/>
        </p:nvSpPr>
        <p:spPr>
          <a:xfrm>
            <a:off x="3474720" y="2926080"/>
            <a:ext cx="2286000" cy="365760"/>
          </a:xfrm>
          <a:prstGeom prst="rect">
            <a:avLst/>
          </a:prstGeom>
          <a:noFill/>
          <a:ln/>
        </p:spPr>
        <p:txBody>
          <a:bodyPr wrap="square" lIns="0" tIns="0" rIns="0" bIns="0" rtlCol="0" anchor="ctr"/>
          <a:lstStyle/>
          <a:p>
            <a:pPr indent="0" marL="0">
              <a:buNone/>
            </a:pPr>
            <a:r>
              <a:rPr lang="en-US" sz="1600" b="1" dirty="0">
                <a:solidFill>
                  <a:srgbClr val="0E2841"/>
                </a:solidFill>
                <a:latin typeface="Calibri" pitchFamily="34" charset="0"/>
                <a:ea typeface="Calibri" pitchFamily="34" charset="-122"/>
                <a:cs typeface="Calibri" pitchFamily="34" charset="-120"/>
              </a:rPr>
              <a:t>modified</a:t>
            </a:r>
            <a:endParaRPr lang="en-US" sz="1600" dirty="0"/>
          </a:p>
        </p:txBody>
      </p:sp>
      <p:sp>
        <p:nvSpPr>
          <p:cNvPr id="14" name="Text 10"/>
          <p:cNvSpPr txBox="1"/>
          <p:nvPr/>
        </p:nvSpPr>
        <p:spPr>
          <a:xfrm>
            <a:off x="3474720" y="3337560"/>
            <a:ext cx="2286000" cy="685800"/>
          </a:xfrm>
          <a:prstGeom prst="rect">
            <a:avLst/>
          </a:prstGeom>
          <a:noFill/>
          <a:ln/>
        </p:spPr>
        <p:txBody>
          <a:bodyPr wrap="square" lIns="0" tIns="0" rIns="0" bIns="0" rtlCol="0" anchor="t"/>
          <a:lstStyle/>
          <a:p>
            <a:pPr indent="0" marL="0">
              <a:buNone/>
            </a:pPr>
            <a:r>
              <a:rPr lang="en-US" sz="1200" dirty="0">
                <a:solidFill>
                  <a:srgbClr val="13202B"/>
                </a:solidFill>
                <a:latin typeface="Calibri" pitchFamily="34" charset="0"/>
                <a:ea typeface="Calibri" pitchFamily="34" charset="-122"/>
                <a:cs typeface="Calibri" pitchFamily="34" charset="-120"/>
              </a:rPr>
              <a:t>index, scene, grab, welcome, landing</a:t>
            </a:r>
            <a:endParaRPr lang="en-US" sz="1200" dirty="0"/>
          </a:p>
        </p:txBody>
      </p:sp>
      <p:sp>
        <p:nvSpPr>
          <p:cNvPr id="15" name="Shape 11"/>
          <p:cNvSpPr/>
          <p:nvPr/>
        </p:nvSpPr>
        <p:spPr>
          <a:xfrm>
            <a:off x="6126480" y="1920240"/>
            <a:ext cx="2651760" cy="2194560"/>
          </a:xfrm>
          <a:prstGeom prst="roundRect">
            <a:avLst>
              <a:gd name="adj" fmla="val 3333"/>
            </a:avLst>
          </a:prstGeom>
          <a:solidFill>
            <a:srgbClr val="F4F7FA"/>
          </a:solidFill>
          <a:ln w="9525">
            <a:solidFill>
              <a:srgbClr val="D8E1E8"/>
            </a:solidFill>
            <a:prstDash val="solid"/>
          </a:ln>
        </p:spPr>
      </p:sp>
      <p:sp>
        <p:nvSpPr>
          <p:cNvPr id="16" name="Text 12"/>
          <p:cNvSpPr txBox="1"/>
          <p:nvPr/>
        </p:nvSpPr>
        <p:spPr>
          <a:xfrm>
            <a:off x="6309360" y="2011680"/>
            <a:ext cx="2286000" cy="914400"/>
          </a:xfrm>
          <a:prstGeom prst="rect">
            <a:avLst/>
          </a:prstGeom>
          <a:noFill/>
          <a:ln/>
        </p:spPr>
        <p:txBody>
          <a:bodyPr wrap="square" lIns="0" tIns="0" rIns="0" bIns="0" rtlCol="0" anchor="ctr"/>
          <a:lstStyle/>
          <a:p>
            <a:pPr indent="0" marL="0">
              <a:buNone/>
            </a:pPr>
            <a:r>
              <a:rPr lang="en-US" sz="5400" b="1" dirty="0">
                <a:solidFill>
                  <a:srgbClr val="E97132"/>
                </a:solidFill>
                <a:latin typeface="Cambria" pitchFamily="34" charset="0"/>
                <a:ea typeface="Cambria" pitchFamily="34" charset="-122"/>
                <a:cs typeface="Cambria" pitchFamily="34" charset="-120"/>
              </a:rPr>
              <a:t>3</a:t>
            </a:r>
            <a:endParaRPr lang="en-US" sz="5400" dirty="0"/>
          </a:p>
        </p:txBody>
      </p:sp>
      <p:sp>
        <p:nvSpPr>
          <p:cNvPr id="17" name="Text 13"/>
          <p:cNvSpPr txBox="1"/>
          <p:nvPr/>
        </p:nvSpPr>
        <p:spPr>
          <a:xfrm>
            <a:off x="6309360" y="2926080"/>
            <a:ext cx="2286000" cy="365760"/>
          </a:xfrm>
          <a:prstGeom prst="rect">
            <a:avLst/>
          </a:prstGeom>
          <a:noFill/>
          <a:ln/>
        </p:spPr>
        <p:txBody>
          <a:bodyPr wrap="square" lIns="0" tIns="0" rIns="0" bIns="0" rtlCol="0" anchor="ctr"/>
          <a:lstStyle/>
          <a:p>
            <a:pPr indent="0" marL="0">
              <a:buNone/>
            </a:pPr>
            <a:r>
              <a:rPr lang="en-US" sz="1600" b="1" dirty="0">
                <a:solidFill>
                  <a:srgbClr val="0E2841"/>
                </a:solidFill>
                <a:latin typeface="Calibri" pitchFamily="34" charset="0"/>
                <a:ea typeface="Calibri" pitchFamily="34" charset="-122"/>
                <a:cs typeface="Calibri" pitchFamily="34" charset="-120"/>
              </a:rPr>
              <a:t>replaced</a:t>
            </a:r>
            <a:endParaRPr lang="en-US" sz="1600" dirty="0"/>
          </a:p>
        </p:txBody>
      </p:sp>
      <p:sp>
        <p:nvSpPr>
          <p:cNvPr id="18" name="Text 14"/>
          <p:cNvSpPr txBox="1"/>
          <p:nvPr/>
        </p:nvSpPr>
        <p:spPr>
          <a:xfrm>
            <a:off x="6309360" y="3337560"/>
            <a:ext cx="2286000" cy="685800"/>
          </a:xfrm>
          <a:prstGeom prst="rect">
            <a:avLst/>
          </a:prstGeom>
          <a:noFill/>
          <a:ln/>
        </p:spPr>
        <p:txBody>
          <a:bodyPr wrap="square" lIns="0" tIns="0" rIns="0" bIns="0" rtlCol="0" anchor="t"/>
          <a:lstStyle/>
          <a:p>
            <a:pPr indent="0" marL="0">
              <a:buNone/>
            </a:pPr>
            <a:r>
              <a:rPr lang="en-US" sz="1200" dirty="0">
                <a:solidFill>
                  <a:srgbClr val="13202B"/>
                </a:solidFill>
                <a:latin typeface="Calibri" pitchFamily="34" charset="0"/>
                <a:ea typeface="Calibri" pitchFamily="34" charset="-122"/>
                <a:cs typeface="Calibri" pitchFamily="34" charset="-120"/>
              </a:rPr>
              <a:t>constants · sneaker → panther · size → pantherSize</a:t>
            </a:r>
            <a:endParaRPr lang="en-US" sz="1200" dirty="0"/>
          </a:p>
        </p:txBody>
      </p:sp>
      <p:sp>
        <p:nvSpPr>
          <p:cNvPr id="19" name="Shape 15"/>
          <p:cNvSpPr/>
          <p:nvPr/>
        </p:nvSpPr>
        <p:spPr>
          <a:xfrm>
            <a:off x="8961120" y="1920240"/>
            <a:ext cx="2651760" cy="2194560"/>
          </a:xfrm>
          <a:prstGeom prst="roundRect">
            <a:avLst>
              <a:gd name="adj" fmla="val 3333"/>
            </a:avLst>
          </a:prstGeom>
          <a:solidFill>
            <a:srgbClr val="F4F7FA"/>
          </a:solidFill>
          <a:ln w="9525">
            <a:solidFill>
              <a:srgbClr val="D8E1E8"/>
            </a:solidFill>
            <a:prstDash val="solid"/>
          </a:ln>
        </p:spPr>
      </p:sp>
      <p:sp>
        <p:nvSpPr>
          <p:cNvPr id="20" name="Text 16"/>
          <p:cNvSpPr txBox="1"/>
          <p:nvPr/>
        </p:nvSpPr>
        <p:spPr>
          <a:xfrm>
            <a:off x="9144000" y="2011680"/>
            <a:ext cx="2286000" cy="914400"/>
          </a:xfrm>
          <a:prstGeom prst="rect">
            <a:avLst/>
          </a:prstGeom>
          <a:noFill/>
          <a:ln/>
        </p:spPr>
        <p:txBody>
          <a:bodyPr wrap="square" lIns="0" tIns="0" rIns="0" bIns="0" rtlCol="0" anchor="ctr"/>
          <a:lstStyle/>
          <a:p>
            <a:pPr indent="0" marL="0">
              <a:buNone/>
            </a:pPr>
            <a:r>
              <a:rPr lang="en-US" sz="5400" b="1" dirty="0">
                <a:solidFill>
                  <a:srgbClr val="5B6B76"/>
                </a:solidFill>
                <a:latin typeface="Cambria" pitchFamily="34" charset="0"/>
                <a:ea typeface="Cambria" pitchFamily="34" charset="-122"/>
                <a:cs typeface="Cambria" pitchFamily="34" charset="-120"/>
              </a:rPr>
              <a:t>2</a:t>
            </a:r>
            <a:endParaRPr lang="en-US" sz="5400" dirty="0"/>
          </a:p>
        </p:txBody>
      </p:sp>
      <p:sp>
        <p:nvSpPr>
          <p:cNvPr id="21" name="Text 17"/>
          <p:cNvSpPr txBox="1"/>
          <p:nvPr/>
        </p:nvSpPr>
        <p:spPr>
          <a:xfrm>
            <a:off x="9144000" y="2926080"/>
            <a:ext cx="2286000" cy="365760"/>
          </a:xfrm>
          <a:prstGeom prst="rect">
            <a:avLst/>
          </a:prstGeom>
          <a:noFill/>
          <a:ln/>
        </p:spPr>
        <p:txBody>
          <a:bodyPr wrap="square" lIns="0" tIns="0" rIns="0" bIns="0" rtlCol="0" anchor="ctr"/>
          <a:lstStyle/>
          <a:p>
            <a:pPr indent="0" marL="0">
              <a:buNone/>
            </a:pPr>
            <a:r>
              <a:rPr lang="en-US" sz="1600" b="1" dirty="0">
                <a:solidFill>
                  <a:srgbClr val="0E2841"/>
                </a:solidFill>
                <a:latin typeface="Calibri" pitchFamily="34" charset="0"/>
                <a:ea typeface="Calibri" pitchFamily="34" charset="-122"/>
                <a:cs typeface="Calibri" pitchFamily="34" charset="-120"/>
              </a:rPr>
              <a:t>deleted</a:t>
            </a:r>
            <a:endParaRPr lang="en-US" sz="1600" dirty="0"/>
          </a:p>
        </p:txBody>
      </p:sp>
      <p:sp>
        <p:nvSpPr>
          <p:cNvPr id="22" name="Text 18"/>
          <p:cNvSpPr txBox="1"/>
          <p:nvPr/>
        </p:nvSpPr>
        <p:spPr>
          <a:xfrm>
            <a:off x="9144000" y="3337560"/>
            <a:ext cx="2286000" cy="685800"/>
          </a:xfrm>
          <a:prstGeom prst="rect">
            <a:avLst/>
          </a:prstGeom>
          <a:noFill/>
          <a:ln/>
        </p:spPr>
        <p:txBody>
          <a:bodyPr wrap="square" lIns="0" tIns="0" rIns="0" bIns="0" rtlCol="0" anchor="t"/>
          <a:lstStyle/>
          <a:p>
            <a:pPr indent="0" marL="0">
              <a:buNone/>
            </a:pPr>
            <a:r>
              <a:rPr lang="en-US" sz="1200" dirty="0">
                <a:solidFill>
                  <a:srgbClr val="13202B"/>
                </a:solidFill>
                <a:latin typeface="Calibri" pitchFamily="34" charset="0"/>
                <a:ea typeface="Calibri" pitchFamily="34" charset="-122"/>
                <a:cs typeface="Calibri" pitchFamily="34" charset="-120"/>
              </a:rPr>
              <a:t>configUI, sizeLayout</a:t>
            </a:r>
            <a:endParaRPr lang="en-US" sz="1200" dirty="0"/>
          </a:p>
        </p:txBody>
      </p:sp>
      <p:sp>
        <p:nvSpPr>
          <p:cNvPr id="23" name="Shape 19"/>
          <p:cNvSpPr/>
          <p:nvPr/>
        </p:nvSpPr>
        <p:spPr>
          <a:xfrm>
            <a:off x="457200" y="4343400"/>
            <a:ext cx="11247120" cy="1737360"/>
          </a:xfrm>
          <a:prstGeom prst="roundRect">
            <a:avLst>
              <a:gd name="adj" fmla="val 4211"/>
            </a:avLst>
          </a:prstGeom>
          <a:solidFill>
            <a:srgbClr val="0E2841"/>
          </a:solidFill>
          <a:ln w="9525">
            <a:solidFill>
              <a:srgbClr val="0E2841"/>
            </a:solidFill>
            <a:prstDash val="solid"/>
          </a:ln>
        </p:spPr>
      </p:sp>
      <p:pic>
        <p:nvPicPr>
          <p:cNvPr id="24" name="Image 2" descr="preencoded.png">    </p:cNvPr>
          <p:cNvPicPr>
            <a:picLocks noChangeAspect="1"/>
          </p:cNvPicPr>
          <p:nvPr/>
        </p:nvPicPr>
        <p:blipFill>
          <a:blip r:embed="rId3"/>
          <a:stretch>
            <a:fillRect/>
          </a:stretch>
        </p:blipFill>
        <p:spPr>
          <a:xfrm>
            <a:off x="640080" y="4526280"/>
            <a:ext cx="329184" cy="329184"/>
          </a:xfrm>
          <a:prstGeom prst="rect">
            <a:avLst/>
          </a:prstGeom>
        </p:spPr>
      </p:pic>
      <p:sp>
        <p:nvSpPr>
          <p:cNvPr id="25" name="Text 20"/>
          <p:cNvSpPr txBox="1"/>
          <p:nvPr/>
        </p:nvSpPr>
        <p:spPr>
          <a:xfrm>
            <a:off x="1097280" y="4526280"/>
            <a:ext cx="10424160" cy="329184"/>
          </a:xfrm>
          <a:prstGeom prst="rect">
            <a:avLst/>
          </a:prstGeom>
          <a:noFill/>
          <a:ln/>
        </p:spPr>
        <p:txBody>
          <a:bodyPr wrap="square" lIns="0" tIns="0" rIns="0" bIns="0" rtlCol="0" anchor="ctr"/>
          <a:lstStyle/>
          <a:p>
            <a:pPr indent="0" marL="0">
              <a:buNone/>
            </a:pPr>
            <a:r>
              <a:rPr lang="en-US" sz="1450" b="1" dirty="0">
                <a:solidFill>
                  <a:srgbClr val="D4A017"/>
                </a:solidFill>
                <a:latin typeface="Calibri" pitchFamily="34" charset="0"/>
                <a:ea typeface="Calibri" pitchFamily="34" charset="-122"/>
                <a:cs typeface="Calibri" pitchFamily="34" charset="-120"/>
              </a:rPr>
              <a:t>The lesson</a:t>
            </a:r>
            <a:endParaRPr lang="en-US" sz="1450" dirty="0"/>
          </a:p>
        </p:txBody>
      </p:sp>
      <p:sp>
        <p:nvSpPr>
          <p:cNvPr id="26" name="Text 21"/>
          <p:cNvSpPr txBox="1"/>
          <p:nvPr/>
        </p:nvSpPr>
        <p:spPr>
          <a:xfrm>
            <a:off x="640080" y="4983480"/>
            <a:ext cx="10881360" cy="91440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You don't need to understand a codebase completely before you reshape it. You need to know which parts are the engine (input, pointer, UI follow, audio, loading) and which parts are the product. Every untouched file is engine. Every change is product.</a:t>
            </a:r>
            <a:endParaRPr lang="en-US" sz="1250" dirty="0"/>
          </a:p>
        </p:txBody>
      </p:sp>
      <p:sp>
        <p:nvSpPr>
          <p:cNvPr id="27" name="Text 22"/>
          <p:cNvSpPr txBox="1"/>
          <p:nvPr/>
        </p:nvSpPr>
        <p:spPr>
          <a:xfrm>
            <a:off x="320040" y="6528816"/>
            <a:ext cx="8686800" cy="274320"/>
          </a:xfrm>
          <a:prstGeom prst="rect">
            <a:avLst/>
          </a:prstGeom>
          <a:noFill/>
          <a:ln/>
        </p:spPr>
        <p:txBody>
          <a:bodyPr wrap="square" lIns="0" tIns="0" rIns="0" bIns="0" rtlCol="0" anchor="ctr"/>
          <a:lstStyle/>
          <a:p>
            <a:pPr indent="0" marL="0">
              <a:buNone/>
            </a:pPr>
            <a:r>
              <a:rPr lang="en-US" sz="1050" dirty="0">
                <a:solidFill>
                  <a:srgbClr val="5B6B76"/>
                </a:solidFill>
                <a:latin typeface="Calibri" pitchFamily="34" charset="0"/>
                <a:ea typeface="Calibri" pitchFamily="34" charset="-122"/>
                <a:cs typeface="Calibri" pitchFamily="34" charset="-120"/>
              </a:rPr>
              <a:t>CIST 1423 — Week 7 — WebXR Part 1: Sneaker Builder → our Panther Customizer</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small.png">    </p:cNvPr>
          <p:cNvPicPr>
            <a:picLocks noChangeAspect="1"/>
          </p:cNvPicPr>
          <p:nvPr/>
        </p:nvPicPr>
        <p:blipFill>
          <a:blip r:embed="rId1"/>
          <a:stretch>
            <a:fillRect/>
          </a:stretch>
        </p:blipFill>
        <p:spPr>
          <a:xfrm>
            <a:off x="320040" y="237744"/>
            <a:ext cx="1371600" cy="329184"/>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10561320" y="201168"/>
            <a:ext cx="1234440" cy="795528"/>
          </a:xfrm>
          <a:prstGeom prst="rect">
            <a:avLst/>
          </a:prstGeom>
        </p:spPr>
      </p:pic>
      <p:sp>
        <p:nvSpPr>
          <p:cNvPr id="4" name="Text 0"/>
          <p:cNvSpPr txBox="1"/>
          <p:nvPr/>
        </p:nvSpPr>
        <p:spPr>
          <a:xfrm>
            <a:off x="320040" y="621792"/>
            <a:ext cx="10058400" cy="658368"/>
          </a:xfrm>
          <a:prstGeom prst="rect">
            <a:avLst/>
          </a:prstGeom>
          <a:noFill/>
          <a:ln/>
        </p:spPr>
        <p:txBody>
          <a:bodyPr wrap="square" lIns="0" tIns="0" rIns="0" bIns="0" rtlCol="0" anchor="ctr"/>
          <a:lstStyle/>
          <a:p>
            <a:pPr indent="0" marL="0">
              <a:buNone/>
            </a:pPr>
            <a:r>
              <a:rPr lang="en-US" sz="2500" b="1" dirty="0">
                <a:solidFill>
                  <a:srgbClr val="0E2841"/>
                </a:solidFill>
                <a:latin typeface="Cambria" pitchFamily="34" charset="0"/>
                <a:ea typeface="Cambria" pitchFamily="34" charset="-122"/>
                <a:cs typeface="Cambria" pitchFamily="34" charset="-120"/>
              </a:rPr>
              <a:t>The Panther Customizer, running</a:t>
            </a:r>
            <a:endParaRPr lang="en-US" sz="2500" dirty="0"/>
          </a:p>
        </p:txBody>
      </p:sp>
      <p:sp>
        <p:nvSpPr>
          <p:cNvPr id="5" name="Shape 1"/>
          <p:cNvSpPr/>
          <p:nvPr/>
        </p:nvSpPr>
        <p:spPr>
          <a:xfrm>
            <a:off x="320040" y="1298448"/>
            <a:ext cx="9875520" cy="0"/>
          </a:xfrm>
          <a:prstGeom prst="line">
            <a:avLst/>
          </a:prstGeom>
          <a:noFill/>
          <a:ln w="9525">
            <a:solidFill>
              <a:srgbClr val="E97132"/>
            </a:solidFill>
            <a:prstDash val="solid"/>
          </a:ln>
        </p:spPr>
      </p:sp>
      <p:sp>
        <p:nvSpPr>
          <p:cNvPr id="6" name="Text 2"/>
          <p:cNvSpPr txBox="1"/>
          <p:nvPr/>
        </p:nvSpPr>
        <p:spPr>
          <a:xfrm>
            <a:off x="457200" y="1371600"/>
            <a:ext cx="11247120" cy="411480"/>
          </a:xfrm>
          <a:prstGeom prst="rect">
            <a:avLst/>
          </a:prstGeom>
          <a:noFill/>
          <a:ln/>
        </p:spPr>
        <p:txBody>
          <a:bodyPr wrap="square" lIns="0" tIns="0" rIns="0" bIns="0" rtlCol="0" anchor="ctr"/>
          <a:lstStyle/>
          <a:p>
            <a:pPr indent="0" marL="0">
              <a:buNone/>
            </a:pPr>
            <a:r>
              <a:rPr lang="en-US" sz="1350" dirty="0">
                <a:solidFill>
                  <a:srgbClr val="5B6B76"/>
                </a:solidFill>
                <a:latin typeface="Calibri" pitchFamily="34" charset="0"/>
                <a:ea typeface="Calibri" pitchFamily="34" charset="-122"/>
                <a:cs typeface="Calibri" pitchFamily="34" charset="-120"/>
              </a:rPr>
              <a:t>Desktop mode in Chrome (no headset attached), before and after picking a finish.</a:t>
            </a:r>
            <a:endParaRPr lang="en-US" sz="1350" dirty="0"/>
          </a:p>
        </p:txBody>
      </p:sp>
      <p:pic>
        <p:nvPicPr>
          <p:cNvPr id="7" name="Image 2" descr="C:\Users\Jeremy Callinan\AppData\Local\Temp\claude\c--GitHub-CIST1423-Fall2026-Examples\62e170c0-4055-4e17-811f-6bb67e40bfc7\scratchpad\deck\img\panther_desktop.jpg">    </p:cNvPr>
          <p:cNvPicPr>
            <a:picLocks noChangeAspect="1"/>
          </p:cNvPicPr>
          <p:nvPr/>
        </p:nvPicPr>
        <p:blipFill>
          <a:blip r:embed="rId3"/>
          <a:stretch>
            <a:fillRect/>
          </a:stretch>
        </p:blipFill>
        <p:spPr>
          <a:xfrm>
            <a:off x="457200" y="1920240"/>
            <a:ext cx="5486400" cy="3088059"/>
          </a:xfrm>
          <a:prstGeom prst="rect">
            <a:avLst/>
          </a:prstGeom>
        </p:spPr>
      </p:pic>
      <p:sp>
        <p:nvSpPr>
          <p:cNvPr id="8" name="Text 3"/>
          <p:cNvSpPr txBox="1"/>
          <p:nvPr/>
        </p:nvSpPr>
        <p:spPr>
          <a:xfrm>
            <a:off x="457200" y="5099739"/>
            <a:ext cx="5486400" cy="685800"/>
          </a:xfrm>
          <a:prstGeom prst="rect">
            <a:avLst/>
          </a:prstGeom>
          <a:noFill/>
          <a:ln/>
        </p:spPr>
        <p:txBody>
          <a:bodyPr wrap="square" lIns="0" tIns="0" rIns="0" bIns="0" rtlCol="0" anchor="t"/>
          <a:lstStyle/>
          <a:p>
            <a:pPr indent="0" marL="0">
              <a:buNone/>
            </a:pPr>
            <a:r>
              <a:rPr lang="en-US" sz="1200" dirty="0">
                <a:solidFill>
                  <a:srgbClr val="13202B"/>
                </a:solidFill>
                <a:latin typeface="Calibri" pitchFamily="34" charset="0"/>
                <a:ea typeface="Calibri" pitchFamily="34" charset="-122"/>
                <a:cs typeface="Calibri" pitchFamily="34" charset="-120"/>
              </a:rPr>
              <a:t>Original scan finish at tabletop size. The XR debug log (top left) reports that no XR device was found, so the 3D viewer is the fallback.</a:t>
            </a:r>
            <a:endParaRPr lang="en-US" sz="1200" dirty="0"/>
          </a:p>
        </p:txBody>
      </p:sp>
      <p:pic>
        <p:nvPicPr>
          <p:cNvPr id="9" name="Image 3" descr="C:\Users\Jeremy Callinan\AppData\Local\Temp\claude\c--GitHub-CIST1423-Fall2026-Examples\62e170c0-4055-4e17-811f-6bb67e40bfc7\scratchpad\deck\img\panther_gold.jpg">    </p:cNvPr>
          <p:cNvPicPr>
            <a:picLocks noChangeAspect="1"/>
          </p:cNvPicPr>
          <p:nvPr/>
        </p:nvPicPr>
        <p:blipFill>
          <a:blip r:embed="rId4"/>
          <a:stretch>
            <a:fillRect/>
          </a:stretch>
        </p:blipFill>
        <p:spPr>
          <a:xfrm>
            <a:off x="6217920" y="1920240"/>
            <a:ext cx="5486400" cy="3088059"/>
          </a:xfrm>
          <a:prstGeom prst="rect">
            <a:avLst/>
          </a:prstGeom>
        </p:spPr>
      </p:pic>
      <p:sp>
        <p:nvSpPr>
          <p:cNvPr id="10" name="Text 4"/>
          <p:cNvSpPr txBox="1"/>
          <p:nvPr/>
        </p:nvSpPr>
        <p:spPr>
          <a:xfrm>
            <a:off x="6217920" y="5099739"/>
            <a:ext cx="5486400" cy="685800"/>
          </a:xfrm>
          <a:prstGeom prst="rect">
            <a:avLst/>
          </a:prstGeom>
          <a:noFill/>
          <a:ln/>
        </p:spPr>
        <p:txBody>
          <a:bodyPr wrap="square" lIns="0" tIns="0" rIns="0" bIns="0" rtlCol="0" anchor="t"/>
          <a:lstStyle/>
          <a:p>
            <a:pPr indent="0" marL="0">
              <a:buNone/>
            </a:pPr>
            <a:r>
              <a:rPr lang="en-US" sz="1200" dirty="0">
                <a:solidFill>
                  <a:srgbClr val="13202B"/>
                </a:solidFill>
                <a:latin typeface="Calibri" pitchFamily="34" charset="0"/>
                <a:ea typeface="Calibri" pitchFamily="34" charset="-122"/>
                <a:cs typeface="Calibri" pitchFamily="34" charset="-120"/>
              </a:rPr>
              <a:t>One click on Pitt Gold: panther.setFinish() rebuilds a MeshStandardMaterial (metalness 0.85).</a:t>
            </a:r>
            <a:endParaRPr lang="en-US" sz="1200" dirty="0"/>
          </a:p>
        </p:txBody>
      </p:sp>
      <p:sp>
        <p:nvSpPr>
          <p:cNvPr id="11" name="Text 5"/>
          <p:cNvSpPr txBox="1"/>
          <p:nvPr/>
        </p:nvSpPr>
        <p:spPr>
          <a:xfrm>
            <a:off x="320040" y="6528816"/>
            <a:ext cx="8686800" cy="274320"/>
          </a:xfrm>
          <a:prstGeom prst="rect">
            <a:avLst/>
          </a:prstGeom>
          <a:noFill/>
          <a:ln/>
        </p:spPr>
        <p:txBody>
          <a:bodyPr wrap="square" lIns="0" tIns="0" rIns="0" bIns="0" rtlCol="0" anchor="ctr"/>
          <a:lstStyle/>
          <a:p>
            <a:pPr indent="0" marL="0">
              <a:buNone/>
            </a:pPr>
            <a:r>
              <a:rPr lang="en-US" sz="1050" dirty="0">
                <a:solidFill>
                  <a:srgbClr val="5B6B76"/>
                </a:solidFill>
                <a:latin typeface="Calibri" pitchFamily="34" charset="0"/>
                <a:ea typeface="Calibri" pitchFamily="34" charset="-122"/>
                <a:cs typeface="Calibri" pitchFamily="34" charset="-120"/>
              </a:rPr>
              <a:t>CIST 1423 — Week 7 — WebXR Part 1: Sneaker Builder → our Panther Customizer</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small.png">    </p:cNvPr>
          <p:cNvPicPr>
            <a:picLocks noChangeAspect="1"/>
          </p:cNvPicPr>
          <p:nvPr/>
        </p:nvPicPr>
        <p:blipFill>
          <a:blip r:embed="rId1"/>
          <a:stretch>
            <a:fillRect/>
          </a:stretch>
        </p:blipFill>
        <p:spPr>
          <a:xfrm>
            <a:off x="320040" y="237744"/>
            <a:ext cx="1371600" cy="329184"/>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10561320" y="201168"/>
            <a:ext cx="1234440" cy="795528"/>
          </a:xfrm>
          <a:prstGeom prst="rect">
            <a:avLst/>
          </a:prstGeom>
        </p:spPr>
      </p:pic>
      <p:sp>
        <p:nvSpPr>
          <p:cNvPr id="4" name="Text 0"/>
          <p:cNvSpPr txBox="1"/>
          <p:nvPr/>
        </p:nvSpPr>
        <p:spPr>
          <a:xfrm>
            <a:off x="320040" y="621792"/>
            <a:ext cx="10058400" cy="658368"/>
          </a:xfrm>
          <a:prstGeom prst="rect">
            <a:avLst/>
          </a:prstGeom>
          <a:noFill/>
          <a:ln/>
        </p:spPr>
        <p:txBody>
          <a:bodyPr wrap="square" lIns="0" tIns="0" rIns="0" bIns="0" rtlCol="0" anchor="ctr"/>
          <a:lstStyle/>
          <a:p>
            <a:pPr indent="0" marL="0">
              <a:buNone/>
            </a:pPr>
            <a:r>
              <a:rPr lang="en-US" sz="2500" b="1" dirty="0">
                <a:solidFill>
                  <a:srgbClr val="0E2841"/>
                </a:solidFill>
                <a:latin typeface="Cambria" pitchFamily="34" charset="0"/>
                <a:ea typeface="Cambria" pitchFamily="34" charset="-122"/>
                <a:cs typeface="Cambria" pitchFamily="34" charset="-120"/>
              </a:rPr>
              <a:t>A scanned statue is not a product model</a:t>
            </a:r>
            <a:endParaRPr lang="en-US" sz="2500" dirty="0"/>
          </a:p>
        </p:txBody>
      </p:sp>
      <p:sp>
        <p:nvSpPr>
          <p:cNvPr id="5" name="Shape 1"/>
          <p:cNvSpPr/>
          <p:nvPr/>
        </p:nvSpPr>
        <p:spPr>
          <a:xfrm>
            <a:off x="320040" y="1298448"/>
            <a:ext cx="9875520" cy="0"/>
          </a:xfrm>
          <a:prstGeom prst="line">
            <a:avLst/>
          </a:prstGeom>
          <a:noFill/>
          <a:ln w="9525">
            <a:solidFill>
              <a:srgbClr val="E97132"/>
            </a:solidFill>
            <a:prstDash val="solid"/>
          </a:ln>
        </p:spPr>
      </p:sp>
      <p:sp>
        <p:nvSpPr>
          <p:cNvPr id="6" name="Text 2"/>
          <p:cNvSpPr txBox="1"/>
          <p:nvPr/>
        </p:nvSpPr>
        <p:spPr>
          <a:xfrm>
            <a:off x="457200" y="1371600"/>
            <a:ext cx="11247120" cy="411480"/>
          </a:xfrm>
          <a:prstGeom prst="rect">
            <a:avLst/>
          </a:prstGeom>
          <a:noFill/>
          <a:ln/>
        </p:spPr>
        <p:txBody>
          <a:bodyPr wrap="square" lIns="0" tIns="0" rIns="0" bIns="0" rtlCol="0" anchor="ctr"/>
          <a:lstStyle/>
          <a:p>
            <a:pPr indent="0" marL="0">
              <a:buNone/>
            </a:pPr>
            <a:r>
              <a:rPr lang="en-US" sz="1350" dirty="0">
                <a:solidFill>
                  <a:srgbClr val="5B6B76"/>
                </a:solidFill>
                <a:latin typeface="Calibri" pitchFamily="34" charset="0"/>
                <a:ea typeface="Calibri" pitchFamily="34" charset="-122"/>
                <a:cs typeface="Calibri" pitchFamily="34" charset="-120"/>
              </a:rPr>
              <a:t>panther.js replaces sneaker.js, and grab.js has to follow.</a:t>
            </a:r>
            <a:endParaRPr lang="en-US" sz="1350" dirty="0"/>
          </a:p>
        </p:txBody>
      </p:sp>
      <p:pic>
        <p:nvPicPr>
          <p:cNvPr id="7" name="Image 2" descr="C:\Users\Jeremy Callinan\AppData\Local\Temp\claude\c--GitHub-CIST1423-Fall2026-Examples\62e170c0-4055-4e17-811f-6bb67e40bfc7\scratchpad\deck\img\panther_photo.jpg">    </p:cNvPr>
          <p:cNvPicPr>
            <a:picLocks noChangeAspect="1"/>
          </p:cNvPicPr>
          <p:nvPr/>
        </p:nvPicPr>
        <p:blipFill>
          <a:blip r:embed="rId3"/>
          <a:stretch>
            <a:fillRect/>
          </a:stretch>
        </p:blipFill>
        <p:spPr>
          <a:xfrm>
            <a:off x="457200" y="1920240"/>
            <a:ext cx="3017520" cy="2011680"/>
          </a:xfrm>
          <a:prstGeom prst="rect">
            <a:avLst/>
          </a:prstGeom>
        </p:spPr>
      </p:pic>
      <p:sp>
        <p:nvSpPr>
          <p:cNvPr id="8" name="Text 3"/>
          <p:cNvSpPr txBox="1"/>
          <p:nvPr/>
        </p:nvSpPr>
        <p:spPr>
          <a:xfrm>
            <a:off x="457200" y="3977640"/>
            <a:ext cx="3017520" cy="457200"/>
          </a:xfrm>
          <a:prstGeom prst="rect">
            <a:avLst/>
          </a:prstGeom>
          <a:noFill/>
          <a:ln/>
        </p:spPr>
        <p:txBody>
          <a:bodyPr wrap="square" lIns="0" tIns="0" rIns="0" bIns="0" rtlCol="0" anchor="ctr"/>
          <a:lstStyle/>
          <a:p>
            <a:pPr indent="0" marL="0">
              <a:buNone/>
            </a:pPr>
            <a:r>
              <a:rPr lang="en-US" sz="1100" i="1" dirty="0">
                <a:solidFill>
                  <a:srgbClr val="5B6B76"/>
                </a:solidFill>
                <a:latin typeface="Calibri" pitchFamily="34" charset="0"/>
                <a:ea typeface="Calibri" pitchFamily="34" charset="-122"/>
                <a:cs typeface="Calibri" pitchFamily="34" charset="-120"/>
              </a:rPr>
              <a:t>The bronze Panther → Scaniverse → panther.glb (13 MB)</a:t>
            </a:r>
            <a:endParaRPr lang="en-US" sz="1100" dirty="0"/>
          </a:p>
        </p:txBody>
      </p:sp>
      <p:sp>
        <p:nvSpPr>
          <p:cNvPr id="9" name="Shape 4"/>
          <p:cNvSpPr/>
          <p:nvPr/>
        </p:nvSpPr>
        <p:spPr>
          <a:xfrm>
            <a:off x="3703320" y="1920240"/>
            <a:ext cx="3657600" cy="3566160"/>
          </a:xfrm>
          <a:prstGeom prst="roundRect">
            <a:avLst>
              <a:gd name="adj" fmla="val 2051"/>
            </a:avLst>
          </a:prstGeom>
          <a:solidFill>
            <a:srgbClr val="F4F7FA"/>
          </a:solidFill>
          <a:ln w="9525">
            <a:solidFill>
              <a:srgbClr val="D8E1E8"/>
            </a:solidFill>
            <a:prstDash val="solid"/>
          </a:ln>
        </p:spPr>
      </p:sp>
      <p:pic>
        <p:nvPicPr>
          <p:cNvPr id="10" name="Image 3" descr="preencoded.png">    </p:cNvPr>
          <p:cNvPicPr>
            <a:picLocks noChangeAspect="1"/>
          </p:cNvPicPr>
          <p:nvPr/>
        </p:nvPicPr>
        <p:blipFill>
          <a:blip r:embed="rId4"/>
          <a:stretch>
            <a:fillRect/>
          </a:stretch>
        </p:blipFill>
        <p:spPr>
          <a:xfrm>
            <a:off x="3886200" y="2103120"/>
            <a:ext cx="329184" cy="329184"/>
          </a:xfrm>
          <a:prstGeom prst="rect">
            <a:avLst/>
          </a:prstGeom>
        </p:spPr>
      </p:pic>
      <p:sp>
        <p:nvSpPr>
          <p:cNvPr id="11" name="Text 5"/>
          <p:cNvSpPr txBox="1"/>
          <p:nvPr/>
        </p:nvSpPr>
        <p:spPr>
          <a:xfrm>
            <a:off x="4343400" y="2103120"/>
            <a:ext cx="2834640" cy="329184"/>
          </a:xfrm>
          <a:prstGeom prst="rect">
            <a:avLst/>
          </a:prstGeom>
          <a:noFill/>
          <a:ln/>
        </p:spPr>
        <p:txBody>
          <a:bodyPr wrap="square" lIns="0" tIns="0" rIns="0" bIns="0" rtlCol="0" anchor="ctr"/>
          <a:lstStyle/>
          <a:p>
            <a:pPr indent="0" marL="0">
              <a:buNone/>
            </a:pPr>
            <a:r>
              <a:rPr lang="en-US" sz="1450" b="1" dirty="0">
                <a:solidFill>
                  <a:srgbClr val="156082"/>
                </a:solidFill>
                <a:latin typeface="Calibri" pitchFamily="34" charset="0"/>
                <a:ea typeface="Calibri" pitchFamily="34" charset="-122"/>
                <a:cs typeface="Calibri" pitchFamily="34" charset="-120"/>
              </a:rPr>
              <a:t>panther.js</a:t>
            </a:r>
            <a:endParaRPr lang="en-US" sz="1450" dirty="0"/>
          </a:p>
        </p:txBody>
      </p:sp>
      <p:sp>
        <p:nvSpPr>
          <p:cNvPr id="12" name="Text 6"/>
          <p:cNvSpPr txBox="1"/>
          <p:nvPr/>
        </p:nvSpPr>
        <p:spPr>
          <a:xfrm>
            <a:off x="3886200" y="2560320"/>
            <a:ext cx="3291840" cy="2743200"/>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rgbClr val="13202B"/>
                </a:solidFill>
                <a:latin typeface="Calibri" pitchFamily="34" charset="0"/>
                <a:ea typeface="Calibri" pitchFamily="34" charset="-122"/>
                <a:cs typeface="Calibri" pitchFamily="34" charset="-120"/>
              </a:rPr>
              <a:t>One mesh, one baked texture: no parts to recolor</a:t>
            </a:r>
            <a:endParaRPr lang="en-US" sz="1350" dirty="0"/>
          </a:p>
          <a:p>
            <a:pPr marL="177800" indent="-177800">
              <a:spcAft>
                <a:spcPts val="500"/>
              </a:spcAft>
              <a:buSzPct val="100000"/>
              <a:buChar char="•"/>
            </a:pPr>
            <a:r>
              <a:rPr lang="en-US" sz="1350" dirty="0">
                <a:solidFill>
                  <a:srgbClr val="13202B"/>
                </a:solidFill>
                <a:latin typeface="Calibri" pitchFamily="34" charset="0"/>
                <a:ea typeface="Calibri" pitchFamily="34" charset="-122"/>
                <a:cs typeface="Calibri" pitchFamily="34" charset="-120"/>
              </a:rPr>
              <a:t>Normalize the pivot: center X/Z, base at Y = 0</a:t>
            </a:r>
            <a:endParaRPr lang="en-US" sz="1350" dirty="0"/>
          </a:p>
          <a:p>
            <a:pPr marL="177800" indent="-177800">
              <a:spcAft>
                <a:spcPts val="500"/>
              </a:spcAft>
              <a:buSzPct val="100000"/>
              <a:buChar char="•"/>
            </a:pPr>
            <a:r>
              <a:rPr lang="en-US" sz="1350" dirty="0">
                <a:solidFill>
                  <a:srgbClr val="13202B"/>
                </a:solidFill>
                <a:latin typeface="Calibri" pitchFamily="34" charset="0"/>
                <a:ea typeface="Calibri" pitchFamily="34" charset="-122"/>
                <a:cs typeface="Calibri" pitchFamily="34" charset="-120"/>
              </a:rPr>
              <a:t>Finishes: rebuild a MeshStandardMaterial from PANTHER_FINISHES (Royal Blue #003594, Gold #FFB81C, Bronze, Marble, Onyx) or restore the scan</a:t>
            </a:r>
            <a:endParaRPr lang="en-US" sz="1350" dirty="0"/>
          </a:p>
          <a:p>
            <a:pPr marL="177800" indent="-177800">
              <a:spcAft>
                <a:spcPts val="500"/>
              </a:spcAft>
              <a:buSzPct val="100000"/>
              <a:buChar char="•"/>
            </a:pPr>
            <a:r>
              <a:rPr lang="en-US" sz="1350" dirty="0">
                <a:solidFill>
                  <a:srgbClr val="13202B"/>
                </a:solidFill>
                <a:latin typeface="Calibri" pitchFamily="34" charset="0"/>
                <a:ea typeface="Calibri" pitchFamily="34" charset="-122"/>
                <a:cs typeface="Calibri" pitchFamily="34" charset="-120"/>
              </a:rPr>
              <a:t>Scale the inner mesh, not the root, so UI on the root stays readable</a:t>
            </a:r>
            <a:endParaRPr lang="en-US" sz="1350" dirty="0"/>
          </a:p>
        </p:txBody>
      </p:sp>
      <p:sp>
        <p:nvSpPr>
          <p:cNvPr id="13" name="Shape 7"/>
          <p:cNvSpPr/>
          <p:nvPr/>
        </p:nvSpPr>
        <p:spPr>
          <a:xfrm>
            <a:off x="7589520" y="1920240"/>
            <a:ext cx="4114800" cy="3566160"/>
          </a:xfrm>
          <a:prstGeom prst="roundRect">
            <a:avLst>
              <a:gd name="adj" fmla="val 2051"/>
            </a:avLst>
          </a:prstGeom>
          <a:solidFill>
            <a:srgbClr val="0B1620"/>
          </a:solidFill>
          <a:ln w="9525">
            <a:solidFill>
              <a:srgbClr val="0B1620"/>
            </a:solidFill>
            <a:prstDash val="solid"/>
          </a:ln>
        </p:spPr>
      </p:sp>
      <p:sp>
        <p:nvSpPr>
          <p:cNvPr id="14" name="Text 8"/>
          <p:cNvSpPr txBox="1"/>
          <p:nvPr/>
        </p:nvSpPr>
        <p:spPr>
          <a:xfrm>
            <a:off x="7754112" y="2048256"/>
            <a:ext cx="3785616" cy="3310128"/>
          </a:xfrm>
          <a:prstGeom prst="rect">
            <a:avLst/>
          </a:prstGeom>
          <a:noFill/>
          <a:ln/>
        </p:spPr>
        <p:txBody>
          <a:bodyPr wrap="square" lIns="0" tIns="0" rIns="0" bIns="0" rtlCol="0" anchor="t"/>
          <a:lstStyle/>
          <a:p>
            <a:pPr indent="0" marL="0">
              <a:buNone/>
            </a:pPr>
            <a:r>
              <a:rPr lang="en-US" sz="1250" dirty="0">
                <a:solidFill>
                  <a:srgbClr val="6EE7A8"/>
                </a:solidFill>
                <a:latin typeface="Consolas" pitchFamily="34" charset="0"/>
                <a:ea typeface="Consolas" pitchFamily="34" charset="-122"/>
                <a:cs typeface="Consolas" pitchFamily="34" charset="-120"/>
              </a:rPr>
              <a:t>// sneaker-builder: fixed box</a:t>
            </a:r>
            <a:endParaRPr lang="en-US" sz="1250" dirty="0"/>
          </a:p>
          <a:p>
            <a:pPr indent="0" marL="0">
              <a:buNone/>
            </a:pPr>
            <a:r>
              <a:rPr lang="en-US" sz="1250" dirty="0">
                <a:solidFill>
                  <a:srgbClr val="D6E4EC"/>
                </a:solidFill>
                <a:latin typeface="Consolas" pitchFamily="34" charset="0"/>
                <a:ea typeface="Consolas" pitchFamily="34" charset="-122"/>
                <a:cs typeface="Consolas" pitchFamily="34" charset="-120"/>
              </a:rPr>
              <a:t>localVec3.x &gt; 0.02 - 0.18 &amp;&amp;</a:t>
            </a:r>
            <a:endParaRPr lang="en-US" sz="1250" dirty="0"/>
          </a:p>
          <a:p>
            <a:pPr indent="0" marL="0">
              <a:buNone/>
            </a:pPr>
            <a:r>
              <a:rPr lang="en-US" sz="1250" dirty="0">
                <a:solidFill>
                  <a:srgbClr val="D6E4EC"/>
                </a:solidFill>
                <a:latin typeface="Consolas" pitchFamily="34" charset="0"/>
                <a:ea typeface="Consolas" pitchFamily="34" charset="-122"/>
                <a:cs typeface="Consolas" pitchFamily="34" charset="-120"/>
              </a:rPr>
              <a:t>localVec3.x &lt; 0.02 + 0.18 &amp;&amp; ...</a:t>
            </a:r>
            <a:endParaRPr lang="en-US" sz="1250" dirty="0"/>
          </a:p>
          <a:p>
            <a:pPr indent="0" marL="0">
              <a:buNone/>
            </a:pPr>
            <a:r>
              <a:rPr lang="en-US" sz="1250" dirty="0">
                <a:solidFill>
                  <a:srgbClr val="D6E4EC"/>
                </a:solidFill>
                <a:latin typeface="Consolas" pitchFamily="34" charset="0"/>
                <a:ea typeface="Consolas" pitchFamily="34" charset="-122"/>
                <a:cs typeface="Consolas" pitchFamily="34" charset="-120"/>
              </a:rPr>
              <a:t> </a:t>
            </a:r>
            <a:endParaRPr lang="en-US" sz="1250" dirty="0"/>
          </a:p>
          <a:p>
            <a:pPr indent="0" marL="0">
              <a:buNone/>
            </a:pPr>
            <a:r>
              <a:rPr lang="en-US" sz="1250" dirty="0">
                <a:solidFill>
                  <a:srgbClr val="6EE7A8"/>
                </a:solidFill>
                <a:latin typeface="Consolas" pitchFamily="34" charset="0"/>
                <a:ea typeface="Consolas" pitchFamily="34" charset="-122"/>
                <a:cs typeface="Consolas" pitchFamily="34" charset="-120"/>
              </a:rPr>
              <a:t>// panther-builder: grows with</a:t>
            </a:r>
            <a:endParaRPr lang="en-US" sz="1250" dirty="0"/>
          </a:p>
          <a:p>
            <a:pPr indent="0" marL="0">
              <a:buNone/>
            </a:pPr>
            <a:r>
              <a:rPr lang="en-US" sz="1250" dirty="0">
                <a:solidFill>
                  <a:srgbClr val="6EE7A8"/>
                </a:solidFill>
                <a:latin typeface="Consolas" pitchFamily="34" charset="0"/>
                <a:ea typeface="Consolas" pitchFamily="34" charset="-122"/>
                <a:cs typeface="Consolas" pitchFamily="34" charset="-120"/>
              </a:rPr>
              <a:t>// the statue (20 cm → 4 m).</a:t>
            </a:r>
            <a:endParaRPr lang="en-US" sz="1250" dirty="0"/>
          </a:p>
          <a:p>
            <a:pPr indent="0" marL="0">
              <a:buNone/>
            </a:pPr>
            <a:r>
              <a:rPr lang="en-US" sz="1250" dirty="0">
                <a:solidFill>
                  <a:srgbClr val="6EE7A8"/>
                </a:solidFill>
                <a:latin typeface="Consolas" pitchFamily="34" charset="0"/>
                <a:ea typeface="Consolas" pitchFamily="34" charset="-122"/>
                <a:cs typeface="Consolas" pitchFamily="34" charset="-120"/>
              </a:rPr>
              <a:t>// The root is always scale 1,</a:t>
            </a:r>
            <a:endParaRPr lang="en-US" sz="1250" dirty="0"/>
          </a:p>
          <a:p>
            <a:pPr indent="0" marL="0">
              <a:buNone/>
            </a:pPr>
            <a:r>
              <a:rPr lang="en-US" sz="1250" dirty="0">
                <a:solidFill>
                  <a:srgbClr val="6EE7A8"/>
                </a:solidFill>
                <a:latin typeface="Consolas" pitchFamily="34" charset="0"/>
                <a:ea typeface="Consolas" pitchFamily="34" charset="-122"/>
                <a:cs typeface="Consolas" pitchFamily="34" charset="-120"/>
              </a:rPr>
              <a:t>// so read the real scale:</a:t>
            </a:r>
            <a:endParaRPr lang="en-US" sz="1250" dirty="0"/>
          </a:p>
          <a:p>
            <a:pPr indent="0" marL="0">
              <a:buNone/>
            </a:pPr>
            <a:r>
              <a:rPr lang="en-US" sz="1250" dirty="0">
                <a:solidFill>
                  <a:srgbClr val="D6E4EC"/>
                </a:solidFill>
                <a:latin typeface="Consolas" pitchFamily="34" charset="0"/>
                <a:ea typeface="Consolas" pitchFamily="34" charset="-122"/>
                <a:cs typeface="Consolas" pitchFamily="34" charset="-120"/>
              </a:rPr>
              <a:t>const objScale =</a:t>
            </a:r>
            <a:endParaRPr lang="en-US" sz="1250" dirty="0"/>
          </a:p>
          <a:p>
            <a:pPr indent="0" marL="0">
              <a:buNone/>
            </a:pPr>
            <a:r>
              <a:rPr lang="en-US" sz="1250" dirty="0">
                <a:solidFill>
                  <a:srgbClr val="D6E4EC"/>
                </a:solidFill>
                <a:latin typeface="Consolas" pitchFamily="34" charset="0"/>
                <a:ea typeface="Consolas" pitchFamily="34" charset="-122"/>
                <a:cs typeface="Consolas" pitchFamily="34" charset="-120"/>
              </a:rPr>
              <a:t>  global.panther.currentScale;</a:t>
            </a:r>
            <a:endParaRPr lang="en-US" sz="1250" dirty="0"/>
          </a:p>
          <a:p>
            <a:pPr indent="0" marL="0">
              <a:buNone/>
            </a:pPr>
            <a:r>
              <a:rPr lang="en-US" sz="1250" dirty="0">
                <a:solidFill>
                  <a:srgbClr val="D6E4EC"/>
                </a:solidFill>
                <a:latin typeface="Consolas" pitchFamily="34" charset="0"/>
                <a:ea typeface="Consolas" pitchFamily="34" charset="-122"/>
                <a:cs typeface="Consolas" pitchFamily="34" charset="-120"/>
              </a:rPr>
              <a:t>const grabThreshold =</a:t>
            </a:r>
            <a:endParaRPr lang="en-US" sz="1250" dirty="0"/>
          </a:p>
          <a:p>
            <a:pPr indent="0" marL="0">
              <a:buNone/>
            </a:pPr>
            <a:r>
              <a:rPr lang="en-US" sz="1250" dirty="0">
                <a:solidFill>
                  <a:srgbClr val="D6E4EC"/>
                </a:solidFill>
                <a:latin typeface="Consolas" pitchFamily="34" charset="0"/>
                <a:ea typeface="Consolas" pitchFamily="34" charset="-122"/>
                <a:cs typeface="Consolas" pitchFamily="34" charset="-120"/>
              </a:rPr>
              <a:t>  Math.max(0.4, objScale * 0.8);</a:t>
            </a:r>
            <a:endParaRPr lang="en-US" sz="1250" dirty="0"/>
          </a:p>
          <a:p>
            <a:pPr indent="0" marL="0">
              <a:buNone/>
            </a:pPr>
            <a:r>
              <a:rPr lang="en-US" sz="1250" dirty="0">
                <a:solidFill>
                  <a:srgbClr val="D6E4EC"/>
                </a:solidFill>
                <a:latin typeface="Consolas" pitchFamily="34" charset="0"/>
                <a:ea typeface="Consolas" pitchFamily="34" charset="-122"/>
                <a:cs typeface="Consolas" pitchFamily="34" charset="-120"/>
              </a:rPr>
              <a:t>if (dist &lt; grabThreshold) { ... }</a:t>
            </a:r>
            <a:endParaRPr lang="en-US" sz="1250" dirty="0"/>
          </a:p>
        </p:txBody>
      </p:sp>
      <p:sp>
        <p:nvSpPr>
          <p:cNvPr id="15" name="Text 9"/>
          <p:cNvSpPr txBox="1"/>
          <p:nvPr/>
        </p:nvSpPr>
        <p:spPr>
          <a:xfrm>
            <a:off x="320040" y="6528816"/>
            <a:ext cx="8686800" cy="274320"/>
          </a:xfrm>
          <a:prstGeom prst="rect">
            <a:avLst/>
          </a:prstGeom>
          <a:noFill/>
          <a:ln/>
        </p:spPr>
        <p:txBody>
          <a:bodyPr wrap="square" lIns="0" tIns="0" rIns="0" bIns="0" rtlCol="0" anchor="ctr"/>
          <a:lstStyle/>
          <a:p>
            <a:pPr indent="0" marL="0">
              <a:buNone/>
            </a:pPr>
            <a:r>
              <a:rPr lang="en-US" sz="1050" dirty="0">
                <a:solidFill>
                  <a:srgbClr val="5B6B76"/>
                </a:solidFill>
                <a:latin typeface="Calibri" pitchFamily="34" charset="0"/>
                <a:ea typeface="Calibri" pitchFamily="34" charset="-122"/>
                <a:cs typeface="Calibri" pitchFamily="34" charset="-120"/>
              </a:rPr>
              <a:t>CIST 1423 — Week 7 — WebXR Part 1: Sneaker Builder → our Panther Customizer</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small.png">    </p:cNvPr>
          <p:cNvPicPr>
            <a:picLocks noChangeAspect="1"/>
          </p:cNvPicPr>
          <p:nvPr/>
        </p:nvPicPr>
        <p:blipFill>
          <a:blip r:embed="rId1"/>
          <a:stretch>
            <a:fillRect/>
          </a:stretch>
        </p:blipFill>
        <p:spPr>
          <a:xfrm>
            <a:off x="320040" y="237744"/>
            <a:ext cx="1371600" cy="329184"/>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10561320" y="201168"/>
            <a:ext cx="1234440" cy="795528"/>
          </a:xfrm>
          <a:prstGeom prst="rect">
            <a:avLst/>
          </a:prstGeom>
        </p:spPr>
      </p:pic>
      <p:sp>
        <p:nvSpPr>
          <p:cNvPr id="4" name="Text 0"/>
          <p:cNvSpPr txBox="1"/>
          <p:nvPr/>
        </p:nvSpPr>
        <p:spPr>
          <a:xfrm>
            <a:off x="320040" y="621792"/>
            <a:ext cx="10058400" cy="658368"/>
          </a:xfrm>
          <a:prstGeom prst="rect">
            <a:avLst/>
          </a:prstGeom>
          <a:noFill/>
          <a:ln/>
        </p:spPr>
        <p:txBody>
          <a:bodyPr wrap="square" lIns="0" tIns="0" rIns="0" bIns="0" rtlCol="0" anchor="ctr"/>
          <a:lstStyle/>
          <a:p>
            <a:pPr indent="0" marL="0">
              <a:buNone/>
            </a:pPr>
            <a:r>
              <a:rPr lang="en-US" sz="2500" b="1" dirty="0">
                <a:solidFill>
                  <a:srgbClr val="0E2841"/>
                </a:solidFill>
                <a:latin typeface="Cambria" pitchFamily="34" charset="0"/>
                <a:ea typeface="Cambria" pitchFamily="34" charset="-122"/>
                <a:cs typeface="Cambria" pitchFamily="34" charset="-120"/>
              </a:rPr>
              <a:t>One URL, two kinds of headset: AR → VR fallback</a:t>
            </a:r>
            <a:endParaRPr lang="en-US" sz="2500" dirty="0"/>
          </a:p>
        </p:txBody>
      </p:sp>
      <p:sp>
        <p:nvSpPr>
          <p:cNvPr id="5" name="Shape 1"/>
          <p:cNvSpPr/>
          <p:nvPr/>
        </p:nvSpPr>
        <p:spPr>
          <a:xfrm>
            <a:off x="320040" y="1298448"/>
            <a:ext cx="9875520" cy="0"/>
          </a:xfrm>
          <a:prstGeom prst="line">
            <a:avLst/>
          </a:prstGeom>
          <a:noFill/>
          <a:ln w="9525">
            <a:solidFill>
              <a:srgbClr val="E97132"/>
            </a:solidFill>
            <a:prstDash val="solid"/>
          </a:ln>
        </p:spPr>
      </p:sp>
      <p:sp>
        <p:nvSpPr>
          <p:cNvPr id="6" name="Text 2"/>
          <p:cNvSpPr txBox="1"/>
          <p:nvPr/>
        </p:nvSpPr>
        <p:spPr>
          <a:xfrm>
            <a:off x="457200" y="1371600"/>
            <a:ext cx="11247120" cy="411480"/>
          </a:xfrm>
          <a:prstGeom prst="rect">
            <a:avLst/>
          </a:prstGeom>
          <a:noFill/>
          <a:ln/>
        </p:spPr>
        <p:txBody>
          <a:bodyPr wrap="square" lIns="0" tIns="0" rIns="0" bIns="0" rtlCol="0" anchor="ctr"/>
          <a:lstStyle/>
          <a:p>
            <a:pPr indent="0" marL="0">
              <a:buNone/>
            </a:pPr>
            <a:r>
              <a:rPr lang="en-US" sz="1350" dirty="0">
                <a:solidFill>
                  <a:srgbClr val="5B6B76"/>
                </a:solidFill>
                <a:latin typeface="Calibri" pitchFamily="34" charset="0"/>
                <a:ea typeface="Calibri" pitchFamily="34" charset="-122"/>
                <a:cs typeface="Calibri" pitchFamily="34" charset="-120"/>
              </a:rPr>
              <a:t>Upstream required plane/mesh detection and anchors, which only the Quest Browser grants. The lab Vive Pros can only do VR.</a:t>
            </a:r>
            <a:endParaRPr lang="en-US" sz="1350" dirty="0"/>
          </a:p>
        </p:txBody>
      </p:sp>
      <p:sp>
        <p:nvSpPr>
          <p:cNvPr id="7" name="Shape 3"/>
          <p:cNvSpPr/>
          <p:nvPr/>
        </p:nvSpPr>
        <p:spPr>
          <a:xfrm>
            <a:off x="457200" y="1920240"/>
            <a:ext cx="6766560" cy="2514600"/>
          </a:xfrm>
          <a:prstGeom prst="roundRect">
            <a:avLst>
              <a:gd name="adj" fmla="val 2909"/>
            </a:avLst>
          </a:prstGeom>
          <a:solidFill>
            <a:srgbClr val="0B1620"/>
          </a:solidFill>
          <a:ln w="9525">
            <a:solidFill>
              <a:srgbClr val="0B1620"/>
            </a:solidFill>
            <a:prstDash val="solid"/>
          </a:ln>
        </p:spPr>
      </p:sp>
      <p:sp>
        <p:nvSpPr>
          <p:cNvPr id="8" name="Text 4"/>
          <p:cNvSpPr txBox="1"/>
          <p:nvPr/>
        </p:nvSpPr>
        <p:spPr>
          <a:xfrm>
            <a:off x="621792" y="2048256"/>
            <a:ext cx="6437376" cy="2258568"/>
          </a:xfrm>
          <a:prstGeom prst="rect">
            <a:avLst/>
          </a:prstGeom>
          <a:noFill/>
          <a:ln/>
        </p:spPr>
        <p:txBody>
          <a:bodyPr wrap="square" lIns="0" tIns="0" rIns="0" bIns="0" rtlCol="0" anchor="t"/>
          <a:lstStyle/>
          <a:p>
            <a:pPr indent="0" marL="0">
              <a:buNone/>
            </a:pPr>
            <a:r>
              <a:rPr lang="en-US" sz="1250" dirty="0">
                <a:solidFill>
                  <a:srgbClr val="6EE7A8"/>
                </a:solidFill>
                <a:latin typeface="Consolas" pitchFamily="34" charset="0"/>
                <a:ea typeface="Consolas" pitchFamily="34" charset="-122"/>
                <a:cs typeface="Consolas" pitchFamily="34" charset="-120"/>
              </a:rPr>
              <a:t>// landing.js: ask before binding the button</a:t>
            </a:r>
            <a:endParaRPr lang="en-US" sz="1250" dirty="0"/>
          </a:p>
          <a:p>
            <a:pPr indent="0" marL="0">
              <a:buNone/>
            </a:pPr>
            <a:r>
              <a:rPr lang="en-US" sz="1250" dirty="0">
                <a:solidFill>
                  <a:srgbClr val="D6E4EC"/>
                </a:solidFill>
                <a:latin typeface="Consolas" pitchFamily="34" charset="0"/>
                <a:ea typeface="Consolas" pitchFamily="34" charset="-122"/>
                <a:cs typeface="Consolas" pitchFamily="34" charset="-120"/>
              </a:rPr>
              <a:t>const ar = await navigator.xr.isSessionSupported('immersive-ar');</a:t>
            </a:r>
            <a:endParaRPr lang="en-US" sz="1250" dirty="0"/>
          </a:p>
          <a:p>
            <a:pPr indent="0" marL="0">
              <a:buNone/>
            </a:pPr>
            <a:r>
              <a:rPr lang="en-US" sz="1250" dirty="0">
                <a:solidFill>
                  <a:srgbClr val="D6E4EC"/>
                </a:solidFill>
                <a:latin typeface="Consolas" pitchFamily="34" charset="0"/>
                <a:ea typeface="Consolas" pitchFamily="34" charset="-122"/>
                <a:cs typeface="Consolas" pitchFamily="34" charset="-120"/>
              </a:rPr>
              <a:t>const vr = await navigator.xr.isSessionSupported('immersive-vr');</a:t>
            </a:r>
            <a:endParaRPr lang="en-US" sz="1250" dirty="0"/>
          </a:p>
          <a:p>
            <a:pPr indent="0" marL="0">
              <a:buNone/>
            </a:pPr>
            <a:r>
              <a:rPr lang="en-US" sz="1250" dirty="0">
                <a:solidFill>
                  <a:srgbClr val="D6E4EC"/>
                </a:solidFill>
                <a:latin typeface="Consolas" pitchFamily="34" charset="0"/>
                <a:ea typeface="Consolas" pitchFamily="34" charset="-122"/>
                <a:cs typeface="Consolas" pitchFamily="34" charset="-120"/>
              </a:rPr>
              <a:t> </a:t>
            </a:r>
            <a:endParaRPr lang="en-US" sz="1250" dirty="0"/>
          </a:p>
          <a:p>
            <a:pPr indent="0" marL="0">
              <a:buNone/>
            </a:pPr>
            <a:r>
              <a:rPr lang="en-US" sz="1250" dirty="0">
                <a:solidFill>
                  <a:srgbClr val="D6E4EC"/>
                </a:solidFill>
                <a:latin typeface="Consolas" pitchFamily="34" charset="0"/>
                <a:ea typeface="Consolas" pitchFamily="34" charset="-122"/>
                <a:cs typeface="Consolas" pitchFamily="34" charset="-120"/>
              </a:rPr>
              <a:t>if (ar) ARButton.convertToARButton(btn, renderer, {</a:t>
            </a:r>
            <a:endParaRPr lang="en-US" sz="1250" dirty="0"/>
          </a:p>
          <a:p>
            <a:pPr indent="0" marL="0">
              <a:buNone/>
            </a:pPr>
            <a:r>
              <a:rPr lang="en-US" sz="1250" dirty="0">
                <a:solidFill>
                  <a:srgbClr val="D6E4EC"/>
                </a:solidFill>
                <a:latin typeface="Consolas" pitchFamily="34" charset="0"/>
                <a:ea typeface="Consolas" pitchFamily="34" charset="-122"/>
                <a:cs typeface="Consolas" pitchFamily="34" charset="-120"/>
              </a:rPr>
              <a:t>          requiredFeatures: [],        // were required upstream</a:t>
            </a:r>
            <a:endParaRPr lang="en-US" sz="1250" dirty="0"/>
          </a:p>
          <a:p>
            <a:pPr indent="0" marL="0">
              <a:buNone/>
            </a:pPr>
            <a:r>
              <a:rPr lang="en-US" sz="1250" dirty="0">
                <a:solidFill>
                  <a:srgbClr val="D6E4EC"/>
                </a:solidFill>
                <a:latin typeface="Consolas" pitchFamily="34" charset="0"/>
                <a:ea typeface="Consolas" pitchFamily="34" charset="-122"/>
                <a:cs typeface="Consolas" pitchFamily="34" charset="-120"/>
              </a:rPr>
              <a:t>          optionalFeatures: ['hit-test', 'local-floor', ...] });</a:t>
            </a:r>
            <a:endParaRPr lang="en-US" sz="1250" dirty="0"/>
          </a:p>
          <a:p>
            <a:pPr indent="0" marL="0">
              <a:buNone/>
            </a:pPr>
            <a:r>
              <a:rPr lang="en-US" sz="1250" dirty="0">
                <a:solidFill>
                  <a:srgbClr val="D6E4EC"/>
                </a:solidFill>
                <a:latin typeface="Consolas" pitchFamily="34" charset="0"/>
                <a:ea typeface="Consolas" pitchFamily="34" charset="-122"/>
                <a:cs typeface="Consolas" pitchFamily="34" charset="-120"/>
              </a:rPr>
              <a:t>else if (vr) VRButton.convertToVRButton(btn, renderer, {</a:t>
            </a:r>
            <a:endParaRPr lang="en-US" sz="1250" dirty="0"/>
          </a:p>
          <a:p>
            <a:pPr indent="0" marL="0">
              <a:buNone/>
            </a:pPr>
            <a:r>
              <a:rPr lang="en-US" sz="1250" dirty="0">
                <a:solidFill>
                  <a:srgbClr val="D6E4EC"/>
                </a:solidFill>
                <a:latin typeface="Consolas" pitchFamily="34" charset="0"/>
                <a:ea typeface="Consolas" pitchFamily="34" charset="-122"/>
                <a:cs typeface="Consolas" pitchFamily="34" charset="-120"/>
              </a:rPr>
              <a:t>          ENTER_XR_TEXT: 'Enter VR Experience' });</a:t>
            </a:r>
            <a:endParaRPr lang="en-US" sz="1250" dirty="0"/>
          </a:p>
        </p:txBody>
      </p:sp>
      <p:sp>
        <p:nvSpPr>
          <p:cNvPr id="9" name="Shape 5"/>
          <p:cNvSpPr/>
          <p:nvPr/>
        </p:nvSpPr>
        <p:spPr>
          <a:xfrm>
            <a:off x="7452360" y="1920240"/>
            <a:ext cx="4251960" cy="2514600"/>
          </a:xfrm>
          <a:prstGeom prst="roundRect">
            <a:avLst>
              <a:gd name="adj" fmla="val 2909"/>
            </a:avLst>
          </a:prstGeom>
          <a:solidFill>
            <a:srgbClr val="F4F7FA"/>
          </a:solidFill>
          <a:ln w="9525">
            <a:solidFill>
              <a:srgbClr val="D8E1E8"/>
            </a:solidFill>
            <a:prstDash val="solid"/>
          </a:ln>
        </p:spPr>
      </p:sp>
      <p:pic>
        <p:nvPicPr>
          <p:cNvPr id="10" name="Image 2" descr="preencoded.png">    </p:cNvPr>
          <p:cNvPicPr>
            <a:picLocks noChangeAspect="1"/>
          </p:cNvPicPr>
          <p:nvPr/>
        </p:nvPicPr>
        <p:blipFill>
          <a:blip r:embed="rId3"/>
          <a:stretch>
            <a:fillRect/>
          </a:stretch>
        </p:blipFill>
        <p:spPr>
          <a:xfrm>
            <a:off x="7635240" y="2103120"/>
            <a:ext cx="329184" cy="329184"/>
          </a:xfrm>
          <a:prstGeom prst="rect">
            <a:avLst/>
          </a:prstGeom>
        </p:spPr>
      </p:pic>
      <p:sp>
        <p:nvSpPr>
          <p:cNvPr id="11" name="Text 6"/>
          <p:cNvSpPr txBox="1"/>
          <p:nvPr/>
        </p:nvSpPr>
        <p:spPr>
          <a:xfrm>
            <a:off x="8092440" y="2103120"/>
            <a:ext cx="3429000" cy="329184"/>
          </a:xfrm>
          <a:prstGeom prst="rect">
            <a:avLst/>
          </a:prstGeom>
          <a:noFill/>
          <a:ln/>
        </p:spPr>
        <p:txBody>
          <a:bodyPr wrap="square" lIns="0" tIns="0" rIns="0" bIns="0" rtlCol="0" anchor="ctr"/>
          <a:lstStyle/>
          <a:p>
            <a:pPr indent="0" marL="0">
              <a:buNone/>
            </a:pPr>
            <a:r>
              <a:rPr lang="en-US" sz="1450" b="1" dirty="0">
                <a:solidFill>
                  <a:srgbClr val="156082"/>
                </a:solidFill>
                <a:latin typeface="Calibri" pitchFamily="34" charset="0"/>
                <a:ea typeface="Calibri" pitchFamily="34" charset="-122"/>
                <a:cs typeface="Calibri" pitchFamily="34" charset="-120"/>
              </a:rPr>
              <a:t>Debugging in a headset</a:t>
            </a:r>
            <a:endParaRPr lang="en-US" sz="1450" dirty="0"/>
          </a:p>
        </p:txBody>
      </p:sp>
      <p:sp>
        <p:nvSpPr>
          <p:cNvPr id="12" name="Text 7"/>
          <p:cNvSpPr txBox="1"/>
          <p:nvPr/>
        </p:nvSpPr>
        <p:spPr>
          <a:xfrm>
            <a:off x="7635240" y="2560320"/>
            <a:ext cx="3886200" cy="169164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No DevTools in the headset, so logXRDebug() prints the last 12 XR events into an on-page panel</a:t>
            </a:r>
            <a:endParaRPr lang="en-US" sz="1250" dirty="0"/>
          </a:p>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Feature-detect vendor extensions: updateTargetFrameRate(72) is a Quest Browser extension, now guarded + try/catch</a:t>
            </a:r>
            <a:endParaRPr lang="en-US" sz="1250" dirty="0"/>
          </a:p>
        </p:txBody>
      </p:sp>
      <p:sp>
        <p:nvSpPr>
          <p:cNvPr id="13" name="Shape 8"/>
          <p:cNvSpPr/>
          <p:nvPr/>
        </p:nvSpPr>
        <p:spPr>
          <a:xfrm>
            <a:off x="457200" y="4663440"/>
            <a:ext cx="11247120" cy="713232"/>
          </a:xfrm>
          <a:prstGeom prst="roundRect">
            <a:avLst>
              <a:gd name="adj" fmla="val 10256"/>
            </a:avLst>
          </a:prstGeom>
          <a:solidFill>
            <a:srgbClr val="0E2841"/>
          </a:solidFill>
          <a:ln w="9525">
            <a:solidFill>
              <a:srgbClr val="0E2841"/>
            </a:solidFill>
            <a:prstDash val="solid"/>
          </a:ln>
        </p:spPr>
      </p:sp>
      <p:pic>
        <p:nvPicPr>
          <p:cNvPr id="14" name="Image 3" descr="preencoded.png">    </p:cNvPr>
          <p:cNvPicPr>
            <a:picLocks noChangeAspect="1"/>
          </p:cNvPicPr>
          <p:nvPr/>
        </p:nvPicPr>
        <p:blipFill>
          <a:blip r:embed="rId4"/>
          <a:stretch>
            <a:fillRect/>
          </a:stretch>
        </p:blipFill>
        <p:spPr>
          <a:xfrm>
            <a:off x="640080" y="4846320"/>
            <a:ext cx="329184" cy="329184"/>
          </a:xfrm>
          <a:prstGeom prst="rect">
            <a:avLst/>
          </a:prstGeom>
        </p:spPr>
      </p:pic>
      <p:sp>
        <p:nvSpPr>
          <p:cNvPr id="15" name="Text 9"/>
          <p:cNvSpPr txBox="1"/>
          <p:nvPr/>
        </p:nvSpPr>
        <p:spPr>
          <a:xfrm>
            <a:off x="1097280" y="4846320"/>
            <a:ext cx="10424160" cy="329184"/>
          </a:xfrm>
          <a:prstGeom prst="rect">
            <a:avLst/>
          </a:prstGeom>
          <a:noFill/>
          <a:ln/>
        </p:spPr>
        <p:txBody>
          <a:bodyPr wrap="square" lIns="0" tIns="0" rIns="0" bIns="0" rtlCol="0" anchor="ctr"/>
          <a:lstStyle/>
          <a:p>
            <a:pPr indent="0" marL="0">
              <a:buNone/>
            </a:pPr>
            <a:r>
              <a:rPr lang="en-US" sz="1450" b="1" dirty="0">
                <a:solidFill>
                  <a:srgbClr val="D4A017"/>
                </a:solidFill>
                <a:latin typeface="Calibri" pitchFamily="34" charset="0"/>
                <a:ea typeface="Calibri" pitchFamily="34" charset="-122"/>
                <a:cs typeface="Calibri" pitchFamily="34" charset="-120"/>
              </a:rPr>
              <a:t>Result: Quest → passthrough MR · Vive Pro via SteamVR → VR · laptop → 3D viewer with the HTML finish/size panel</a:t>
            </a:r>
            <a:endParaRPr lang="en-US" sz="1450" dirty="0"/>
          </a:p>
        </p:txBody>
      </p:sp>
      <p:sp>
        <p:nvSpPr>
          <p:cNvPr id="16" name="Text 10"/>
          <p:cNvSpPr txBox="1"/>
          <p:nvPr/>
        </p:nvSpPr>
        <p:spPr>
          <a:xfrm>
            <a:off x="320040" y="6528816"/>
            <a:ext cx="8686800" cy="274320"/>
          </a:xfrm>
          <a:prstGeom prst="rect">
            <a:avLst/>
          </a:prstGeom>
          <a:noFill/>
          <a:ln/>
        </p:spPr>
        <p:txBody>
          <a:bodyPr wrap="square" lIns="0" tIns="0" rIns="0" bIns="0" rtlCol="0" anchor="ctr"/>
          <a:lstStyle/>
          <a:p>
            <a:pPr indent="0" marL="0">
              <a:buNone/>
            </a:pPr>
            <a:r>
              <a:rPr lang="en-US" sz="1050" dirty="0">
                <a:solidFill>
                  <a:srgbClr val="5B6B76"/>
                </a:solidFill>
                <a:latin typeface="Calibri" pitchFamily="34" charset="0"/>
                <a:ea typeface="Calibri" pitchFamily="34" charset="-122"/>
                <a:cs typeface="Calibri" pitchFamily="34" charset="-120"/>
              </a:rPr>
              <a:t>CIST 1423 — Week 7 — WebXR Part 1: Sneaker Builder → our Panther Customizer</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small.png">    </p:cNvPr>
          <p:cNvPicPr>
            <a:picLocks noChangeAspect="1"/>
          </p:cNvPicPr>
          <p:nvPr/>
        </p:nvPicPr>
        <p:blipFill>
          <a:blip r:embed="rId1"/>
          <a:stretch>
            <a:fillRect/>
          </a:stretch>
        </p:blipFill>
        <p:spPr>
          <a:xfrm>
            <a:off x="320040" y="237744"/>
            <a:ext cx="1371600" cy="329184"/>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10561320" y="201168"/>
            <a:ext cx="1234440" cy="795528"/>
          </a:xfrm>
          <a:prstGeom prst="rect">
            <a:avLst/>
          </a:prstGeom>
        </p:spPr>
      </p:pic>
      <p:sp>
        <p:nvSpPr>
          <p:cNvPr id="4" name="Text 0"/>
          <p:cNvSpPr txBox="1"/>
          <p:nvPr/>
        </p:nvSpPr>
        <p:spPr>
          <a:xfrm>
            <a:off x="320040" y="621792"/>
            <a:ext cx="10058400" cy="658368"/>
          </a:xfrm>
          <a:prstGeom prst="rect">
            <a:avLst/>
          </a:prstGeom>
          <a:noFill/>
          <a:ln/>
        </p:spPr>
        <p:txBody>
          <a:bodyPr wrap="square" lIns="0" tIns="0" rIns="0" bIns="0" rtlCol="0" anchor="ctr"/>
          <a:lstStyle/>
          <a:p>
            <a:pPr indent="0" marL="0">
              <a:buNone/>
            </a:pPr>
            <a:r>
              <a:rPr lang="en-US" sz="2500" b="1" dirty="0">
                <a:solidFill>
                  <a:srgbClr val="0E2841"/>
                </a:solidFill>
                <a:latin typeface="Cambria" pitchFamily="34" charset="0"/>
                <a:ea typeface="Cambria" pitchFamily="34" charset="-122"/>
                <a:cs typeface="Cambria" pitchFamily="34" charset="-120"/>
              </a:rPr>
              <a:t>What didn't make the cut: your exercises</a:t>
            </a:r>
            <a:endParaRPr lang="en-US" sz="2500" dirty="0"/>
          </a:p>
        </p:txBody>
      </p:sp>
      <p:sp>
        <p:nvSpPr>
          <p:cNvPr id="5" name="Shape 1"/>
          <p:cNvSpPr/>
          <p:nvPr/>
        </p:nvSpPr>
        <p:spPr>
          <a:xfrm>
            <a:off x="320040" y="1298448"/>
            <a:ext cx="9875520" cy="0"/>
          </a:xfrm>
          <a:prstGeom prst="line">
            <a:avLst/>
          </a:prstGeom>
          <a:noFill/>
          <a:ln w="9525">
            <a:solidFill>
              <a:srgbClr val="E97132"/>
            </a:solidFill>
            <a:prstDash val="solid"/>
          </a:ln>
        </p:spPr>
      </p:sp>
      <p:sp>
        <p:nvSpPr>
          <p:cNvPr id="6" name="Text 2"/>
          <p:cNvSpPr txBox="1"/>
          <p:nvPr/>
        </p:nvSpPr>
        <p:spPr>
          <a:xfrm>
            <a:off x="457200" y="1371600"/>
            <a:ext cx="11247120" cy="411480"/>
          </a:xfrm>
          <a:prstGeom prst="rect">
            <a:avLst/>
          </a:prstGeom>
          <a:noFill/>
          <a:ln/>
        </p:spPr>
        <p:txBody>
          <a:bodyPr wrap="square" lIns="0" tIns="0" rIns="0" bIns="0" rtlCol="0" anchor="ctr"/>
          <a:lstStyle/>
          <a:p>
            <a:pPr indent="0" marL="0">
              <a:buNone/>
            </a:pPr>
            <a:r>
              <a:rPr lang="en-US" sz="1350" dirty="0">
                <a:solidFill>
                  <a:srgbClr val="5B6B76"/>
                </a:solidFill>
                <a:latin typeface="Calibri" pitchFamily="34" charset="0"/>
                <a:ea typeface="Calibri" pitchFamily="34" charset="-122"/>
                <a:cs typeface="Calibri" pitchFamily="34" charset="-120"/>
              </a:rPr>
              <a:t>Each gap has most of its answer sitting in upstream sneaker-builder.</a:t>
            </a:r>
            <a:endParaRPr lang="en-US" sz="13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11247120" cy="914400"/>
        </p:xfrm>
        <a:graphic>
          <a:graphicData uri="http://schemas.openxmlformats.org/drawingml/2006/table">
            <a:tbl>
              <a:tblPr/>
              <a:tblGrid>
                <a:gridCol w="3931920"/>
                <a:gridCol w="2926080"/>
                <a:gridCol w="4389120"/>
              </a:tblGrid>
              <a:tr h="5669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Gap</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0E284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Where</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0E284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Idea</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0E2841"/>
                    </a:solidFill>
                  </a:tcPr>
                </a:tc>
              </a:tr>
              <a:tr h="566928">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No in-headset finish picker (HTML panel hides in XR)</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configUI.js was deleted</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Port it back: hold the statue, ray a 6-swatch panel</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r>
              <a:tr h="566928">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No in-headset resizing</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pantherSize.js: empty controller loop</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Ray the top/bottom of the size panel, like size.js</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r>
              <a:tr h="566928">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README promises "trigger to place". No hit-test placement</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landing.js requests hit-test, nothing uses it</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ratk HitTestTarget reticle, place on trigger</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r>
              <a:tr h="566928">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Label stays "Tabletop (50 cm)" after using the slider</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setScaleValue() keeps _currentScaleIndex</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Track a "custom" scale and show the %</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r>
              <a:tr h="566928">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Sneaker leftovers ship (ogimage.png is a shoe!)</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src/assets/</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Delete, or reuse for the picker</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r>
            </a:tbl>
          </a:graphicData>
        </a:graphic>
      </p:graphicFrame>
      <p:sp>
        <p:nvSpPr>
          <p:cNvPr id="8" name="Shape 3"/>
          <p:cNvSpPr/>
          <p:nvPr/>
        </p:nvSpPr>
        <p:spPr>
          <a:xfrm>
            <a:off x="457200" y="5577840"/>
            <a:ext cx="11247120" cy="502920"/>
          </a:xfrm>
          <a:prstGeom prst="roundRect">
            <a:avLst>
              <a:gd name="adj" fmla="val 14545"/>
            </a:avLst>
          </a:prstGeom>
          <a:solidFill>
            <a:srgbClr val="F4F7FA"/>
          </a:solidFill>
          <a:ln w="9525">
            <a:solidFill>
              <a:srgbClr val="D8E1E8"/>
            </a:solidFill>
            <a:prstDash val="solid"/>
          </a:ln>
        </p:spPr>
      </p:sp>
      <p:sp>
        <p:nvSpPr>
          <p:cNvPr id="9" name="Text 4"/>
          <p:cNvSpPr txBox="1"/>
          <p:nvPr/>
        </p:nvSpPr>
        <p:spPr>
          <a:xfrm>
            <a:off x="457200" y="5577840"/>
            <a:ext cx="11247120" cy="502920"/>
          </a:xfrm>
          <a:prstGeom prst="rect">
            <a:avLst/>
          </a:prstGeom>
          <a:noFill/>
          <a:ln/>
        </p:spPr>
        <p:txBody>
          <a:bodyPr wrap="square" lIns="0" tIns="0" rIns="0" bIns="0" rtlCol="0" anchor="ctr"/>
          <a:lstStyle/>
          <a:p>
            <a:pPr algn="ctr" indent="0" marL="0">
              <a:buNone/>
            </a:pPr>
            <a:r>
              <a:rPr lang="en-US" sz="1250" dirty="0">
                <a:solidFill>
                  <a:srgbClr val="5B6B76"/>
                </a:solidFill>
                <a:latin typeface="Calibri" pitchFamily="34" charset="0"/>
                <a:ea typeface="Calibri" pitchFamily="34" charset="-122"/>
                <a:cs typeface="Calibri" pitchFamily="34" charset="-120"/>
              </a:rPr>
              <a:t>Full list with file pointers: Alumni-Weekend-2026/panther-builder/FROM-SNEAKER-TO-PANTHER.md</a:t>
            </a:r>
            <a:endParaRPr lang="en-US" sz="1250" dirty="0"/>
          </a:p>
        </p:txBody>
      </p:sp>
      <p:sp>
        <p:nvSpPr>
          <p:cNvPr id="10" name="Text 5"/>
          <p:cNvSpPr txBox="1"/>
          <p:nvPr/>
        </p:nvSpPr>
        <p:spPr>
          <a:xfrm>
            <a:off x="320040" y="6528816"/>
            <a:ext cx="8686800" cy="274320"/>
          </a:xfrm>
          <a:prstGeom prst="rect">
            <a:avLst/>
          </a:prstGeom>
          <a:noFill/>
          <a:ln/>
        </p:spPr>
        <p:txBody>
          <a:bodyPr wrap="square" lIns="0" tIns="0" rIns="0" bIns="0" rtlCol="0" anchor="ctr"/>
          <a:lstStyle/>
          <a:p>
            <a:pPr indent="0" marL="0">
              <a:buNone/>
            </a:pPr>
            <a:r>
              <a:rPr lang="en-US" sz="1050" dirty="0">
                <a:solidFill>
                  <a:srgbClr val="5B6B76"/>
                </a:solidFill>
                <a:latin typeface="Calibri" pitchFamily="34" charset="0"/>
                <a:ea typeface="Calibri" pitchFamily="34" charset="-122"/>
                <a:cs typeface="Calibri" pitchFamily="34" charset="-120"/>
              </a:rPr>
              <a:t>CIST 1423 — Week 7 — WebXR Part 1: Sneaker Builder → our Panther Customizer</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small.png">    </p:cNvPr>
          <p:cNvPicPr>
            <a:picLocks noChangeAspect="1"/>
          </p:cNvPicPr>
          <p:nvPr/>
        </p:nvPicPr>
        <p:blipFill>
          <a:blip r:embed="rId1"/>
          <a:stretch>
            <a:fillRect/>
          </a:stretch>
        </p:blipFill>
        <p:spPr>
          <a:xfrm>
            <a:off x="320040" y="237744"/>
            <a:ext cx="1371600" cy="329184"/>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10561320" y="201168"/>
            <a:ext cx="1234440" cy="795528"/>
          </a:xfrm>
          <a:prstGeom prst="rect">
            <a:avLst/>
          </a:prstGeom>
        </p:spPr>
      </p:pic>
      <p:sp>
        <p:nvSpPr>
          <p:cNvPr id="4" name="Text 0"/>
          <p:cNvSpPr txBox="1"/>
          <p:nvPr/>
        </p:nvSpPr>
        <p:spPr>
          <a:xfrm>
            <a:off x="320040" y="621792"/>
            <a:ext cx="10058400" cy="658368"/>
          </a:xfrm>
          <a:prstGeom prst="rect">
            <a:avLst/>
          </a:prstGeom>
          <a:noFill/>
          <a:ln/>
        </p:spPr>
        <p:txBody>
          <a:bodyPr wrap="square" lIns="0" tIns="0" rIns="0" bIns="0" rtlCol="0" anchor="ctr"/>
          <a:lstStyle/>
          <a:p>
            <a:pPr indent="0" marL="0">
              <a:buNone/>
            </a:pPr>
            <a:r>
              <a:rPr lang="en-US" sz="2500" b="1" dirty="0">
                <a:solidFill>
                  <a:srgbClr val="0E2841"/>
                </a:solidFill>
                <a:latin typeface="Cambria" pitchFamily="34" charset="0"/>
                <a:ea typeface="Cambria" pitchFamily="34" charset="-122"/>
                <a:cs typeface="Cambria" pitchFamily="34" charset="-120"/>
              </a:rPr>
              <a:t>Same ideas, two toolchains</a:t>
            </a:r>
            <a:endParaRPr lang="en-US" sz="2500" dirty="0"/>
          </a:p>
        </p:txBody>
      </p:sp>
      <p:sp>
        <p:nvSpPr>
          <p:cNvPr id="5" name="Shape 1"/>
          <p:cNvSpPr/>
          <p:nvPr/>
        </p:nvSpPr>
        <p:spPr>
          <a:xfrm>
            <a:off x="320040" y="1298448"/>
            <a:ext cx="9875520" cy="0"/>
          </a:xfrm>
          <a:prstGeom prst="line">
            <a:avLst/>
          </a:prstGeom>
          <a:noFill/>
          <a:ln w="9525">
            <a:solidFill>
              <a:srgbClr val="E97132"/>
            </a:solidFill>
            <a:prstDash val="solid"/>
          </a:ln>
        </p:spPr>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6949440" cy="914400"/>
        </p:xfrm>
        <a:graphic>
          <a:graphicData uri="http://schemas.openxmlformats.org/drawingml/2006/table">
            <a:tbl>
              <a:tblPr/>
              <a:tblGrid>
                <a:gridCol w="1554480"/>
                <a:gridCol w="2834640"/>
                <a:gridCol w="2560320"/>
              </a:tblGrid>
              <a:tr h="45720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Idea</a:t>
                      </a:r>
                      <a:endParaRPr lang="en-US" sz="115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0E284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WebXR showcases</a:t>
                      </a:r>
                      <a:endParaRPr lang="en-US" sz="115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0E284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Unity + SteamVR</a:t>
                      </a:r>
                      <a:endParaRPr lang="en-US" sz="115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0E2841"/>
                    </a:solidFill>
                  </a:tcPr>
                </a:tc>
              </a:tr>
              <a:tr h="457200">
                <a:tc>
                  <a:txBody>
                    <a:bodyPr/>
                    <a:lstStyle/>
                    <a:p>
                      <a:pPr indent="0" marL="0">
                        <a:buNone/>
                      </a:pPr>
                      <a:r>
                        <a:rPr lang="en-US" sz="1150" dirty="0">
                          <a:solidFill>
                            <a:srgbClr val="13202B"/>
                          </a:solidFill>
                          <a:latin typeface="Calibri" pitchFamily="34" charset="0"/>
                          <a:ea typeface="Calibri" pitchFamily="34" charset="-122"/>
                          <a:cs typeface="Calibri" pitchFamily="34" charset="-120"/>
                        </a:rPr>
                        <a:t>Game loop</a:t>
                      </a:r>
                      <a:endParaRPr lang="en-US" sz="115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150" dirty="0">
                          <a:solidFill>
                            <a:srgbClr val="13202B"/>
                          </a:solidFill>
                          <a:latin typeface="Calibri" pitchFamily="34" charset="0"/>
                          <a:ea typeface="Calibri" pitchFamily="34" charset="-122"/>
                          <a:cs typeface="Calibri" pitchFamily="34" charset="-120"/>
                        </a:rPr>
                        <a:t>setAnimationLoop → world.update()</a:t>
                      </a:r>
                      <a:endParaRPr lang="en-US" sz="115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150" dirty="0">
                          <a:solidFill>
                            <a:srgbClr val="13202B"/>
                          </a:solidFill>
                          <a:latin typeface="Calibri" pitchFamily="34" charset="0"/>
                          <a:ea typeface="Calibri" pitchFamily="34" charset="-122"/>
                          <a:cs typeface="Calibri" pitchFamily="34" charset="-120"/>
                        </a:rPr>
                        <a:t>Update()</a:t>
                      </a:r>
                      <a:endParaRPr lang="en-US" sz="115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r>
              <a:tr h="457200">
                <a:tc>
                  <a:txBody>
                    <a:bodyPr/>
                    <a:lstStyle/>
                    <a:p>
                      <a:pPr indent="0" marL="0">
                        <a:buNone/>
                      </a:pPr>
                      <a:r>
                        <a:rPr lang="en-US" sz="1150" dirty="0">
                          <a:solidFill>
                            <a:srgbClr val="13202B"/>
                          </a:solidFill>
                          <a:latin typeface="Calibri" pitchFamily="34" charset="0"/>
                          <a:ea typeface="Calibri" pitchFamily="34" charset="-122"/>
                          <a:cs typeface="Calibri" pitchFamily="34" charset="-120"/>
                        </a:rPr>
                        <a:t>Rig</a:t>
                      </a:r>
                      <a:endParaRPr lang="en-US" sz="115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c>
                  <a:txBody>
                    <a:bodyPr/>
                    <a:lstStyle/>
                    <a:p>
                      <a:pPr indent="0" marL="0">
                        <a:buNone/>
                      </a:pPr>
                      <a:r>
                        <a:rPr lang="en-US" sz="1150" dirty="0">
                          <a:solidFill>
                            <a:srgbClr val="13202B"/>
                          </a:solidFill>
                          <a:latin typeface="Calibri" pitchFamily="34" charset="0"/>
                          <a:ea typeface="Calibri" pitchFamily="34" charset="-122"/>
                          <a:cs typeface="Calibri" pitchFamily="34" charset="-120"/>
                        </a:rPr>
                        <a:t>xr.getController / getControllerGrip</a:t>
                      </a:r>
                      <a:endParaRPr lang="en-US" sz="115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c>
                  <a:txBody>
                    <a:bodyPr/>
                    <a:lstStyle/>
                    <a:p>
                      <a:pPr indent="0" marL="0">
                        <a:buNone/>
                      </a:pPr>
                      <a:r>
                        <a:rPr lang="en-US" sz="1150" dirty="0">
                          <a:solidFill>
                            <a:srgbClr val="13202B"/>
                          </a:solidFill>
                          <a:latin typeface="Calibri" pitchFamily="34" charset="0"/>
                          <a:ea typeface="Calibri" pitchFamily="34" charset="-122"/>
                          <a:cs typeface="Calibri" pitchFamily="34" charset="-120"/>
                        </a:rPr>
                        <a:t>Player prefab, Hand</a:t>
                      </a:r>
                      <a:endParaRPr lang="en-US" sz="115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r>
              <a:tr h="457200">
                <a:tc>
                  <a:txBody>
                    <a:bodyPr/>
                    <a:lstStyle/>
                    <a:p>
                      <a:pPr indent="0" marL="0">
                        <a:buNone/>
                      </a:pPr>
                      <a:r>
                        <a:rPr lang="en-US" sz="1150" dirty="0">
                          <a:solidFill>
                            <a:srgbClr val="13202B"/>
                          </a:solidFill>
                          <a:latin typeface="Calibri" pitchFamily="34" charset="0"/>
                          <a:ea typeface="Calibri" pitchFamily="34" charset="-122"/>
                          <a:cs typeface="Calibri" pitchFamily="34" charset="-120"/>
                        </a:rPr>
                        <a:t>Just pressed</a:t>
                      </a:r>
                      <a:endParaRPr lang="en-US" sz="115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150" dirty="0">
                          <a:solidFill>
                            <a:srgbClr val="13202B"/>
                          </a:solidFill>
                          <a:latin typeface="Calibri" pitchFamily="34" charset="0"/>
                          <a:ea typeface="Calibri" pitchFamily="34" charset="-122"/>
                          <a:cs typeface="Calibri" pitchFamily="34" charset="-120"/>
                        </a:rPr>
                        <a:t>isSelecting &amp;&amp; !_prevSelecting</a:t>
                      </a:r>
                      <a:endParaRPr lang="en-US" sz="115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150" dirty="0">
                          <a:solidFill>
                            <a:srgbClr val="13202B"/>
                          </a:solidFill>
                          <a:latin typeface="Calibri" pitchFamily="34" charset="0"/>
                          <a:ea typeface="Calibri" pitchFamily="34" charset="-122"/>
                          <a:cs typeface="Calibri" pitchFamily="34" charset="-120"/>
                        </a:rPr>
                        <a:t>GetStateDown</a:t>
                      </a:r>
                      <a:endParaRPr lang="en-US" sz="115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r>
              <a:tr h="457200">
                <a:tc>
                  <a:txBody>
                    <a:bodyPr/>
                    <a:lstStyle/>
                    <a:p>
                      <a:pPr indent="0" marL="0">
                        <a:buNone/>
                      </a:pPr>
                      <a:r>
                        <a:rPr lang="en-US" sz="1150" dirty="0">
                          <a:solidFill>
                            <a:srgbClr val="13202B"/>
                          </a:solidFill>
                          <a:latin typeface="Calibri" pitchFamily="34" charset="0"/>
                          <a:ea typeface="Calibri" pitchFamily="34" charset="-122"/>
                          <a:cs typeface="Calibri" pitchFamily="34" charset="-120"/>
                        </a:rPr>
                        <a:t>Grab</a:t>
                      </a:r>
                      <a:endParaRPr lang="en-US" sz="115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c>
                  <a:txBody>
                    <a:bodyPr/>
                    <a:lstStyle/>
                    <a:p>
                      <a:pPr indent="0" marL="0">
                        <a:buNone/>
                      </a:pPr>
                      <a:r>
                        <a:rPr lang="en-US" sz="1150" dirty="0">
                          <a:solidFill>
                            <a:srgbClr val="13202B"/>
                          </a:solidFill>
                          <a:latin typeface="Calibri" pitchFamily="34" charset="0"/>
                          <a:ea typeface="Calibri" pitchFamily="34" charset="-122"/>
                          <a:cs typeface="Calibri" pitchFamily="34" charset="-120"/>
                        </a:rPr>
                        <a:t>controller.attach / scene.attach</a:t>
                      </a:r>
                      <a:endParaRPr lang="en-US" sz="115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c>
                  <a:txBody>
                    <a:bodyPr/>
                    <a:lstStyle/>
                    <a:p>
                      <a:pPr indent="0" marL="0">
                        <a:buNone/>
                      </a:pPr>
                      <a:r>
                        <a:rPr lang="en-US" sz="1150" dirty="0">
                          <a:solidFill>
                            <a:srgbClr val="13202B"/>
                          </a:solidFill>
                          <a:latin typeface="Calibri" pitchFamily="34" charset="0"/>
                          <a:ea typeface="Calibri" pitchFamily="34" charset="-122"/>
                          <a:cs typeface="Calibri" pitchFamily="34" charset="-120"/>
                        </a:rPr>
                        <a:t>Hand.AttachObject</a:t>
                      </a:r>
                      <a:endParaRPr lang="en-US" sz="115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r>
              <a:tr h="457200">
                <a:tc>
                  <a:txBody>
                    <a:bodyPr/>
                    <a:lstStyle/>
                    <a:p>
                      <a:pPr indent="0" marL="0">
                        <a:buNone/>
                      </a:pPr>
                      <a:r>
                        <a:rPr lang="en-US" sz="1150" dirty="0">
                          <a:solidFill>
                            <a:srgbClr val="13202B"/>
                          </a:solidFill>
                          <a:latin typeface="Calibri" pitchFamily="34" charset="0"/>
                          <a:ea typeface="Calibri" pitchFamily="34" charset="-122"/>
                          <a:cs typeface="Calibri" pitchFamily="34" charset="-120"/>
                        </a:rPr>
                        <a:t>Haptics</a:t>
                      </a:r>
                      <a:endParaRPr lang="en-US" sz="115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150" dirty="0">
                          <a:solidFill>
                            <a:srgbClr val="13202B"/>
                          </a:solidFill>
                          <a:latin typeface="Calibri" pitchFamily="34" charset="0"/>
                          <a:ea typeface="Calibri" pitchFamily="34" charset="-122"/>
                          <a:cs typeface="Calibri" pitchFamily="34" charset="-120"/>
                        </a:rPr>
                        <a:t>getHapticActuator(0).pulse(0.1, 50)</a:t>
                      </a:r>
                      <a:endParaRPr lang="en-US" sz="115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150" dirty="0">
                          <a:solidFill>
                            <a:srgbClr val="13202B"/>
                          </a:solidFill>
                          <a:latin typeface="Calibri" pitchFamily="34" charset="0"/>
                          <a:ea typeface="Calibri" pitchFamily="34" charset="-122"/>
                          <a:cs typeface="Calibri" pitchFamily="34" charset="-120"/>
                        </a:rPr>
                        <a:t>TriggerHapticPulse</a:t>
                      </a:r>
                      <a:endParaRPr lang="en-US" sz="115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r>
              <a:tr h="457200">
                <a:tc>
                  <a:txBody>
                    <a:bodyPr/>
                    <a:lstStyle/>
                    <a:p>
                      <a:pPr indent="0" marL="0">
                        <a:buNone/>
                      </a:pPr>
                      <a:r>
                        <a:rPr lang="en-US" sz="1150" dirty="0">
                          <a:solidFill>
                            <a:srgbClr val="13202B"/>
                          </a:solidFill>
                          <a:latin typeface="Calibri" pitchFamily="34" charset="0"/>
                          <a:ea typeface="Calibri" pitchFamily="34" charset="-122"/>
                          <a:cs typeface="Calibri" pitchFamily="34" charset="-120"/>
                        </a:rPr>
                        <a:t>Deploy</a:t>
                      </a:r>
                      <a:endParaRPr lang="en-US" sz="115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c>
                  <a:txBody>
                    <a:bodyPr/>
                    <a:lstStyle/>
                    <a:p>
                      <a:pPr indent="0" marL="0">
                        <a:buNone/>
                      </a:pPr>
                      <a:r>
                        <a:rPr lang="en-US" sz="1150" dirty="0">
                          <a:solidFill>
                            <a:srgbClr val="13202B"/>
                          </a:solidFill>
                          <a:latin typeface="Calibri" pitchFamily="34" charset="0"/>
                          <a:ea typeface="Calibri" pitchFamily="34" charset="-122"/>
                          <a:cs typeface="Calibri" pitchFamily="34" charset="-120"/>
                        </a:rPr>
                        <a:t>npm run build → GitHub Pages</a:t>
                      </a:r>
                      <a:endParaRPr lang="en-US" sz="115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c>
                  <a:txBody>
                    <a:bodyPr/>
                    <a:lstStyle/>
                    <a:p>
                      <a:pPr indent="0" marL="0">
                        <a:buNone/>
                      </a:pPr>
                      <a:r>
                        <a:rPr lang="en-US" sz="1150" dirty="0">
                          <a:solidFill>
                            <a:srgbClr val="13202B"/>
                          </a:solidFill>
                          <a:latin typeface="Calibri" pitchFamily="34" charset="0"/>
                          <a:ea typeface="Calibri" pitchFamily="34" charset="-122"/>
                          <a:cs typeface="Calibri" pitchFamily="34" charset="-120"/>
                        </a:rPr>
                        <a:t>Windows .exe</a:t>
                      </a:r>
                      <a:endParaRPr lang="en-US" sz="115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r>
            </a:tbl>
          </a:graphicData>
        </a:graphic>
      </p:graphicFrame>
      <p:sp>
        <p:nvSpPr>
          <p:cNvPr id="7" name="Shape 2"/>
          <p:cNvSpPr/>
          <p:nvPr/>
        </p:nvSpPr>
        <p:spPr>
          <a:xfrm>
            <a:off x="7635240" y="1600200"/>
            <a:ext cx="4069080" cy="2834640"/>
          </a:xfrm>
          <a:prstGeom prst="roundRect">
            <a:avLst>
              <a:gd name="adj" fmla="val 2581"/>
            </a:avLst>
          </a:prstGeom>
          <a:solidFill>
            <a:srgbClr val="0B1620"/>
          </a:solidFill>
          <a:ln w="9525">
            <a:solidFill>
              <a:srgbClr val="0B1620"/>
            </a:solidFill>
            <a:prstDash val="solid"/>
          </a:ln>
        </p:spPr>
      </p:sp>
      <p:sp>
        <p:nvSpPr>
          <p:cNvPr id="8" name="Text 3"/>
          <p:cNvSpPr txBox="1"/>
          <p:nvPr/>
        </p:nvSpPr>
        <p:spPr>
          <a:xfrm>
            <a:off x="7799832" y="1728216"/>
            <a:ext cx="3739896" cy="2578608"/>
          </a:xfrm>
          <a:prstGeom prst="rect">
            <a:avLst/>
          </a:prstGeom>
          <a:noFill/>
          <a:ln/>
        </p:spPr>
        <p:txBody>
          <a:bodyPr wrap="square" lIns="0" tIns="0" rIns="0" bIns="0" rtlCol="0" anchor="t"/>
          <a:lstStyle/>
          <a:p>
            <a:pPr indent="0" marL="0">
              <a:buNone/>
            </a:pPr>
            <a:r>
              <a:rPr lang="en-US" sz="1200" dirty="0">
                <a:solidFill>
                  <a:srgbClr val="6EE7A8"/>
                </a:solidFill>
                <a:latin typeface="Consolas" pitchFamily="34" charset="0"/>
                <a:ea typeface="Consolas" pitchFamily="34" charset="-122"/>
                <a:cs typeface="Consolas" pitchFamily="34" charset="-120"/>
              </a:rPr>
              <a:t># run the Panther Customizer</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cd Alumni-Weekend-2026/panther-builder</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npm install</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npm test     # 3 tests</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npm run serve</a:t>
            </a:r>
            <a:endParaRPr lang="en-US" sz="1200" dirty="0"/>
          </a:p>
          <a:p>
            <a:pPr indent="0" marL="0">
              <a:buNone/>
            </a:pPr>
            <a:r>
              <a:rPr lang="en-US" sz="1200" dirty="0">
                <a:solidFill>
                  <a:srgbClr val="6EE7A8"/>
                </a:solidFill>
                <a:latin typeface="Consolas" pitchFamily="34" charset="0"/>
                <a:ea typeface="Consolas" pitchFamily="34" charset="-122"/>
                <a:cs typeface="Consolas" pitchFamily="34" charset="-120"/>
              </a:rPr>
              <a:t># https://localhost:8081</a:t>
            </a:r>
            <a:endParaRPr lang="en-US" sz="1200" dirty="0"/>
          </a:p>
          <a:p>
            <a:pPr indent="0" marL="0">
              <a:buNone/>
            </a:pPr>
            <a:r>
              <a:rPr lang="en-US" sz="1200" dirty="0">
                <a:solidFill>
                  <a:srgbClr val="6EE7A8"/>
                </a:solidFill>
                <a:latin typeface="Consolas" pitchFamily="34" charset="0"/>
                <a:ea typeface="Consolas" pitchFamily="34" charset="-122"/>
                <a:cs typeface="Consolas" pitchFamily="34" charset="-120"/>
              </a:rPr>
              <a:t># headset: https://&lt;PC-IP&gt;:8081</a:t>
            </a:r>
            <a:endParaRPr lang="en-US" sz="1200" dirty="0"/>
          </a:p>
        </p:txBody>
      </p:sp>
      <p:sp>
        <p:nvSpPr>
          <p:cNvPr id="9" name="Shape 4"/>
          <p:cNvSpPr/>
          <p:nvPr/>
        </p:nvSpPr>
        <p:spPr>
          <a:xfrm>
            <a:off x="7635240" y="4617720"/>
            <a:ext cx="4069080" cy="1463040"/>
          </a:xfrm>
          <a:prstGeom prst="roundRect">
            <a:avLst>
              <a:gd name="adj" fmla="val 5000"/>
            </a:avLst>
          </a:prstGeom>
          <a:solidFill>
            <a:srgbClr val="0E2841"/>
          </a:solidFill>
          <a:ln w="9525">
            <a:solidFill>
              <a:srgbClr val="0E2841"/>
            </a:solidFill>
            <a:prstDash val="solid"/>
          </a:ln>
        </p:spPr>
      </p:sp>
      <p:pic>
        <p:nvPicPr>
          <p:cNvPr id="10" name="Image 2" descr="preencoded.png">    </p:cNvPr>
          <p:cNvPicPr>
            <a:picLocks noChangeAspect="1"/>
          </p:cNvPicPr>
          <p:nvPr/>
        </p:nvPicPr>
        <p:blipFill>
          <a:blip r:embed="rId3"/>
          <a:stretch>
            <a:fillRect/>
          </a:stretch>
        </p:blipFill>
        <p:spPr>
          <a:xfrm>
            <a:off x="7818120" y="4800600"/>
            <a:ext cx="329184" cy="329184"/>
          </a:xfrm>
          <a:prstGeom prst="rect">
            <a:avLst/>
          </a:prstGeom>
        </p:spPr>
      </p:pic>
      <p:sp>
        <p:nvSpPr>
          <p:cNvPr id="11" name="Text 5"/>
          <p:cNvSpPr txBox="1"/>
          <p:nvPr/>
        </p:nvSpPr>
        <p:spPr>
          <a:xfrm>
            <a:off x="8275320" y="4800600"/>
            <a:ext cx="3246120" cy="329184"/>
          </a:xfrm>
          <a:prstGeom prst="rect">
            <a:avLst/>
          </a:prstGeom>
          <a:noFill/>
          <a:ln/>
        </p:spPr>
        <p:txBody>
          <a:bodyPr wrap="square" lIns="0" tIns="0" rIns="0" bIns="0" rtlCol="0" anchor="ctr"/>
          <a:lstStyle/>
          <a:p>
            <a:pPr indent="0" marL="0">
              <a:buNone/>
            </a:pPr>
            <a:r>
              <a:rPr lang="en-US" sz="1450" b="1" dirty="0">
                <a:solidFill>
                  <a:srgbClr val="D4A017"/>
                </a:solidFill>
                <a:latin typeface="Calibri" pitchFamily="34" charset="0"/>
                <a:ea typeface="Calibri" pitchFamily="34" charset="-122"/>
                <a:cs typeface="Calibri" pitchFamily="34" charset="-120"/>
              </a:rPr>
              <a:t>Read next</a:t>
            </a:r>
            <a:endParaRPr lang="en-US" sz="1450" dirty="0"/>
          </a:p>
        </p:txBody>
      </p:sp>
      <p:sp>
        <p:nvSpPr>
          <p:cNvPr id="12" name="Text 6"/>
          <p:cNvSpPr txBox="1"/>
          <p:nvPr/>
        </p:nvSpPr>
        <p:spPr>
          <a:xfrm>
            <a:off x="7818120" y="5257800"/>
            <a:ext cx="3703320" cy="64008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Meta-WebXR-Samples/Sneaker-Builder.md</a:t>
            </a:r>
            <a:endParaRPr lang="en-US" sz="1200" dirty="0"/>
          </a:p>
          <a:p>
            <a:pPr marL="177800" indent="-1778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panther-builder/FROM-SNEAKER-TO-PANTHER.md</a:t>
            </a:r>
            <a:endParaRPr lang="en-US" sz="1200" dirty="0"/>
          </a:p>
        </p:txBody>
      </p:sp>
      <p:sp>
        <p:nvSpPr>
          <p:cNvPr id="13" name="Text 7"/>
          <p:cNvSpPr txBox="1"/>
          <p:nvPr/>
        </p:nvSpPr>
        <p:spPr>
          <a:xfrm>
            <a:off x="320040" y="6528816"/>
            <a:ext cx="8686800" cy="274320"/>
          </a:xfrm>
          <a:prstGeom prst="rect">
            <a:avLst/>
          </a:prstGeom>
          <a:noFill/>
          <a:ln/>
        </p:spPr>
        <p:txBody>
          <a:bodyPr wrap="square" lIns="0" tIns="0" rIns="0" bIns="0" rtlCol="0" anchor="ctr"/>
          <a:lstStyle/>
          <a:p>
            <a:pPr indent="0" marL="0">
              <a:buNone/>
            </a:pPr>
            <a:r>
              <a:rPr lang="en-US" sz="1050" dirty="0">
                <a:solidFill>
                  <a:srgbClr val="5B6B76"/>
                </a:solidFill>
                <a:latin typeface="Calibri" pitchFamily="34" charset="0"/>
                <a:ea typeface="Calibri" pitchFamily="34" charset="-122"/>
                <a:cs typeface="Calibri" pitchFamily="34" charset="-120"/>
              </a:rPr>
              <a:t>CIST 1423 — Week 7 — WebXR Part 1: Sneaker Builder → our Panther Customizer</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small.png">    </p:cNvPr>
          <p:cNvPicPr>
            <a:picLocks noChangeAspect="1"/>
          </p:cNvPicPr>
          <p:nvPr/>
        </p:nvPicPr>
        <p:blipFill>
          <a:blip r:embed="rId1"/>
          <a:stretch>
            <a:fillRect/>
          </a:stretch>
        </p:blipFill>
        <p:spPr>
          <a:xfrm>
            <a:off x="320040" y="237744"/>
            <a:ext cx="1371600" cy="329184"/>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10561320" y="201168"/>
            <a:ext cx="1234440" cy="795528"/>
          </a:xfrm>
          <a:prstGeom prst="rect">
            <a:avLst/>
          </a:prstGeom>
        </p:spPr>
      </p:pic>
      <p:sp>
        <p:nvSpPr>
          <p:cNvPr id="4" name="Text 0"/>
          <p:cNvSpPr txBox="1"/>
          <p:nvPr/>
        </p:nvSpPr>
        <p:spPr>
          <a:xfrm>
            <a:off x="320040" y="621792"/>
            <a:ext cx="10058400" cy="658368"/>
          </a:xfrm>
          <a:prstGeom prst="rect">
            <a:avLst/>
          </a:prstGeom>
          <a:noFill/>
          <a:ln/>
        </p:spPr>
        <p:txBody>
          <a:bodyPr wrap="square" lIns="0" tIns="0" rIns="0" bIns="0" rtlCol="0" anchor="ctr"/>
          <a:lstStyle/>
          <a:p>
            <a:pPr indent="0" marL="0">
              <a:buNone/>
            </a:pPr>
            <a:r>
              <a:rPr lang="en-US" sz="2500" b="1" dirty="0">
                <a:solidFill>
                  <a:srgbClr val="0E2841"/>
                </a:solidFill>
                <a:latin typeface="Cambria" pitchFamily="34" charset="0"/>
                <a:ea typeface="Cambria" pitchFamily="34" charset="-122"/>
                <a:cs typeface="Cambria" pitchFamily="34" charset="-120"/>
              </a:rPr>
              <a:t>Check your understanding</a:t>
            </a:r>
            <a:endParaRPr lang="en-US" sz="2500" dirty="0"/>
          </a:p>
        </p:txBody>
      </p:sp>
      <p:sp>
        <p:nvSpPr>
          <p:cNvPr id="5" name="Shape 1"/>
          <p:cNvSpPr/>
          <p:nvPr/>
        </p:nvSpPr>
        <p:spPr>
          <a:xfrm>
            <a:off x="320040" y="1298448"/>
            <a:ext cx="9875520" cy="0"/>
          </a:xfrm>
          <a:prstGeom prst="line">
            <a:avLst/>
          </a:prstGeom>
          <a:noFill/>
          <a:ln w="9525">
            <a:solidFill>
              <a:srgbClr val="E97132"/>
            </a:solidFill>
            <a:prstDash val="solid"/>
          </a:ln>
        </p:spPr>
      </p:sp>
      <p:sp>
        <p:nvSpPr>
          <p:cNvPr id="6" name="Text 2"/>
          <p:cNvSpPr txBox="1"/>
          <p:nvPr/>
        </p:nvSpPr>
        <p:spPr>
          <a:xfrm>
            <a:off x="457200" y="1371600"/>
            <a:ext cx="11247120" cy="411480"/>
          </a:xfrm>
          <a:prstGeom prst="rect">
            <a:avLst/>
          </a:prstGeom>
          <a:noFill/>
          <a:ln/>
        </p:spPr>
        <p:txBody>
          <a:bodyPr wrap="square" lIns="0" tIns="0" rIns="0" bIns="0" rtlCol="0" anchor="ctr"/>
          <a:lstStyle/>
          <a:p>
            <a:pPr indent="0" marL="0">
              <a:buNone/>
            </a:pPr>
            <a:r>
              <a:rPr lang="en-US" sz="1350" dirty="0">
                <a:solidFill>
                  <a:srgbClr val="5B6B76"/>
                </a:solidFill>
                <a:latin typeface="Calibri" pitchFamily="34" charset="0"/>
                <a:ea typeface="Calibri" pitchFamily="34" charset="-122"/>
                <a:cs typeface="Calibri" pitchFamily="34" charset="-120"/>
              </a:rPr>
              <a:t>Answer with a partner first, then we'll compare.</a:t>
            </a:r>
            <a:endParaRPr lang="en-US" sz="1350" dirty="0"/>
          </a:p>
        </p:txBody>
      </p:sp>
      <p:sp>
        <p:nvSpPr>
          <p:cNvPr id="7" name="Shape 3"/>
          <p:cNvSpPr/>
          <p:nvPr/>
        </p:nvSpPr>
        <p:spPr>
          <a:xfrm>
            <a:off x="457200" y="1920240"/>
            <a:ext cx="5509260" cy="1988820"/>
          </a:xfrm>
          <a:prstGeom prst="roundRect">
            <a:avLst>
              <a:gd name="adj" fmla="val 3678"/>
            </a:avLst>
          </a:prstGeom>
          <a:solidFill>
            <a:srgbClr val="F4F7FA"/>
          </a:solidFill>
          <a:ln w="9525">
            <a:solidFill>
              <a:srgbClr val="D8E1E8"/>
            </a:solidFill>
            <a:prstDash val="solid"/>
          </a:ln>
        </p:spPr>
      </p:sp>
      <p:sp>
        <p:nvSpPr>
          <p:cNvPr id="8" name="Text 4"/>
          <p:cNvSpPr txBox="1"/>
          <p:nvPr/>
        </p:nvSpPr>
        <p:spPr>
          <a:xfrm>
            <a:off x="685800" y="2103120"/>
            <a:ext cx="914400" cy="457200"/>
          </a:xfrm>
          <a:prstGeom prst="rect">
            <a:avLst/>
          </a:prstGeom>
          <a:noFill/>
          <a:ln/>
        </p:spPr>
        <p:txBody>
          <a:bodyPr wrap="square" lIns="0" tIns="0" rIns="0" bIns="0" rtlCol="0" anchor="ctr"/>
          <a:lstStyle/>
          <a:p>
            <a:pPr indent="0" marL="0">
              <a:buNone/>
            </a:pPr>
            <a:r>
              <a:rPr lang="en-US" sz="2400" b="1" dirty="0">
                <a:solidFill>
                  <a:srgbClr val="156082"/>
                </a:solidFill>
                <a:latin typeface="Cambria" pitchFamily="34" charset="0"/>
                <a:ea typeface="Cambria" pitchFamily="34" charset="-122"/>
                <a:cs typeface="Cambria" pitchFamily="34" charset="-120"/>
              </a:rPr>
              <a:t>Q1</a:t>
            </a:r>
            <a:endParaRPr lang="en-US" sz="2400" dirty="0"/>
          </a:p>
        </p:txBody>
      </p:sp>
      <p:sp>
        <p:nvSpPr>
          <p:cNvPr id="9" name="Text 5"/>
          <p:cNvSpPr txBox="1"/>
          <p:nvPr/>
        </p:nvSpPr>
        <p:spPr>
          <a:xfrm>
            <a:off x="685800" y="2606040"/>
            <a:ext cx="5052060" cy="1120140"/>
          </a:xfrm>
          <a:prstGeom prst="rect">
            <a:avLst/>
          </a:prstGeom>
          <a:noFill/>
          <a:ln/>
        </p:spPr>
        <p:txBody>
          <a:bodyPr wrap="square" lIns="0" tIns="0" rIns="0" bIns="0" rtlCol="0" anchor="t"/>
          <a:lstStyle/>
          <a:p>
            <a:pPr indent="0" marL="0">
              <a:buNone/>
            </a:pPr>
            <a:r>
              <a:rPr lang="en-US" sz="1600" dirty="0">
                <a:solidFill>
                  <a:srgbClr val="13202B"/>
                </a:solidFill>
                <a:latin typeface="Calibri" pitchFamily="34" charset="0"/>
                <a:ea typeface="Calibri" pitchFamily="34" charset="-122"/>
                <a:cs typeface="Calibri" pitchFamily="34" charset="-120"/>
              </a:rPr>
              <a:t>Which system runs first in Sneaker Builder, and why does that matter?</a:t>
            </a:r>
            <a:endParaRPr lang="en-US" sz="1600" dirty="0"/>
          </a:p>
        </p:txBody>
      </p:sp>
      <p:sp>
        <p:nvSpPr>
          <p:cNvPr id="10" name="Shape 6"/>
          <p:cNvSpPr/>
          <p:nvPr/>
        </p:nvSpPr>
        <p:spPr>
          <a:xfrm>
            <a:off x="6195060" y="1920240"/>
            <a:ext cx="5509260" cy="1988820"/>
          </a:xfrm>
          <a:prstGeom prst="roundRect">
            <a:avLst>
              <a:gd name="adj" fmla="val 3678"/>
            </a:avLst>
          </a:prstGeom>
          <a:solidFill>
            <a:srgbClr val="F4F7FA"/>
          </a:solidFill>
          <a:ln w="9525">
            <a:solidFill>
              <a:srgbClr val="D8E1E8"/>
            </a:solidFill>
            <a:prstDash val="solid"/>
          </a:ln>
        </p:spPr>
      </p:sp>
      <p:sp>
        <p:nvSpPr>
          <p:cNvPr id="11" name="Text 7"/>
          <p:cNvSpPr txBox="1"/>
          <p:nvPr/>
        </p:nvSpPr>
        <p:spPr>
          <a:xfrm>
            <a:off x="6423660" y="2103120"/>
            <a:ext cx="914400" cy="457200"/>
          </a:xfrm>
          <a:prstGeom prst="rect">
            <a:avLst/>
          </a:prstGeom>
          <a:noFill/>
          <a:ln/>
        </p:spPr>
        <p:txBody>
          <a:bodyPr wrap="square" lIns="0" tIns="0" rIns="0" bIns="0" rtlCol="0" anchor="ctr"/>
          <a:lstStyle/>
          <a:p>
            <a:pPr indent="0" marL="0">
              <a:buNone/>
            </a:pPr>
            <a:r>
              <a:rPr lang="en-US" sz="2400" b="1" dirty="0">
                <a:solidFill>
                  <a:srgbClr val="156082"/>
                </a:solidFill>
                <a:latin typeface="Cambria" pitchFamily="34" charset="0"/>
                <a:ea typeface="Cambria" pitchFamily="34" charset="-122"/>
                <a:cs typeface="Cambria" pitchFamily="34" charset="-120"/>
              </a:rPr>
              <a:t>Q2</a:t>
            </a:r>
            <a:endParaRPr lang="en-US" sz="2400" dirty="0"/>
          </a:p>
        </p:txBody>
      </p:sp>
      <p:sp>
        <p:nvSpPr>
          <p:cNvPr id="12" name="Text 8"/>
          <p:cNvSpPr txBox="1"/>
          <p:nvPr/>
        </p:nvSpPr>
        <p:spPr>
          <a:xfrm>
            <a:off x="6423660" y="2606040"/>
            <a:ext cx="5052060" cy="1120140"/>
          </a:xfrm>
          <a:prstGeom prst="rect">
            <a:avLst/>
          </a:prstGeom>
          <a:noFill/>
          <a:ln/>
        </p:spPr>
        <p:txBody>
          <a:bodyPr wrap="square" lIns="0" tIns="0" rIns="0" bIns="0" rtlCol="0" anchor="t"/>
          <a:lstStyle/>
          <a:p>
            <a:pPr indent="0" marL="0">
              <a:buNone/>
            </a:pPr>
            <a:r>
              <a:rPr lang="en-US" sz="1600" dirty="0">
                <a:solidFill>
                  <a:srgbClr val="13202B"/>
                </a:solidFill>
                <a:latin typeface="Calibri" pitchFamily="34" charset="0"/>
                <a:ea typeface="Calibri" pitchFamily="34" charset="-122"/>
                <a:cs typeface="Calibri" pitchFamily="34" charset="-120"/>
              </a:rPr>
              <a:t>How does Sneaker Builder play a sound, the ECS way?</a:t>
            </a:r>
            <a:endParaRPr lang="en-US" sz="1600" dirty="0"/>
          </a:p>
        </p:txBody>
      </p:sp>
      <p:sp>
        <p:nvSpPr>
          <p:cNvPr id="13" name="Shape 9"/>
          <p:cNvSpPr/>
          <p:nvPr/>
        </p:nvSpPr>
        <p:spPr>
          <a:xfrm>
            <a:off x="457200" y="4137660"/>
            <a:ext cx="5509260" cy="1988820"/>
          </a:xfrm>
          <a:prstGeom prst="roundRect">
            <a:avLst>
              <a:gd name="adj" fmla="val 3678"/>
            </a:avLst>
          </a:prstGeom>
          <a:solidFill>
            <a:srgbClr val="F4F7FA"/>
          </a:solidFill>
          <a:ln w="9525">
            <a:solidFill>
              <a:srgbClr val="D8E1E8"/>
            </a:solidFill>
            <a:prstDash val="solid"/>
          </a:ln>
        </p:spPr>
      </p:sp>
      <p:sp>
        <p:nvSpPr>
          <p:cNvPr id="14" name="Text 10"/>
          <p:cNvSpPr txBox="1"/>
          <p:nvPr/>
        </p:nvSpPr>
        <p:spPr>
          <a:xfrm>
            <a:off x="685800" y="4320540"/>
            <a:ext cx="914400" cy="457200"/>
          </a:xfrm>
          <a:prstGeom prst="rect">
            <a:avLst/>
          </a:prstGeom>
          <a:noFill/>
          <a:ln/>
        </p:spPr>
        <p:txBody>
          <a:bodyPr wrap="square" lIns="0" tIns="0" rIns="0" bIns="0" rtlCol="0" anchor="ctr"/>
          <a:lstStyle/>
          <a:p>
            <a:pPr indent="0" marL="0">
              <a:buNone/>
            </a:pPr>
            <a:r>
              <a:rPr lang="en-US" sz="2400" b="1" dirty="0">
                <a:solidFill>
                  <a:srgbClr val="156082"/>
                </a:solidFill>
                <a:latin typeface="Cambria" pitchFamily="34" charset="0"/>
                <a:ea typeface="Cambria" pitchFamily="34" charset="-122"/>
                <a:cs typeface="Cambria" pitchFamily="34" charset="-120"/>
              </a:rPr>
              <a:t>Q3</a:t>
            </a:r>
            <a:endParaRPr lang="en-US" sz="2400" dirty="0"/>
          </a:p>
        </p:txBody>
      </p:sp>
      <p:sp>
        <p:nvSpPr>
          <p:cNvPr id="15" name="Text 11"/>
          <p:cNvSpPr txBox="1"/>
          <p:nvPr/>
        </p:nvSpPr>
        <p:spPr>
          <a:xfrm>
            <a:off x="685800" y="4823460"/>
            <a:ext cx="5052060" cy="1120140"/>
          </a:xfrm>
          <a:prstGeom prst="rect">
            <a:avLst/>
          </a:prstGeom>
          <a:noFill/>
          <a:ln/>
        </p:spPr>
        <p:txBody>
          <a:bodyPr wrap="square" lIns="0" tIns="0" rIns="0" bIns="0" rtlCol="0" anchor="t"/>
          <a:lstStyle/>
          <a:p>
            <a:pPr indent="0" marL="0">
              <a:buNone/>
            </a:pPr>
            <a:r>
              <a:rPr lang="en-US" sz="1600" dirty="0">
                <a:solidFill>
                  <a:srgbClr val="13202B"/>
                </a:solidFill>
                <a:latin typeface="Calibri" pitchFamily="34" charset="0"/>
                <a:ea typeface="Calibri" pitchFamily="34" charset="-122"/>
                <a:cs typeface="Calibri" pitchFamily="34" charset="-120"/>
              </a:rPr>
              <a:t>Name two files panther-builder left unchanged, and why that was safe.</a:t>
            </a:r>
            <a:endParaRPr lang="en-US" sz="1600" dirty="0"/>
          </a:p>
        </p:txBody>
      </p:sp>
      <p:sp>
        <p:nvSpPr>
          <p:cNvPr id="16" name="Shape 12"/>
          <p:cNvSpPr/>
          <p:nvPr/>
        </p:nvSpPr>
        <p:spPr>
          <a:xfrm>
            <a:off x="6195060" y="4137660"/>
            <a:ext cx="5509260" cy="1988820"/>
          </a:xfrm>
          <a:prstGeom prst="roundRect">
            <a:avLst>
              <a:gd name="adj" fmla="val 3678"/>
            </a:avLst>
          </a:prstGeom>
          <a:solidFill>
            <a:srgbClr val="F4F7FA"/>
          </a:solidFill>
          <a:ln w="9525">
            <a:solidFill>
              <a:srgbClr val="D8E1E8"/>
            </a:solidFill>
            <a:prstDash val="solid"/>
          </a:ln>
        </p:spPr>
      </p:sp>
      <p:sp>
        <p:nvSpPr>
          <p:cNvPr id="17" name="Text 13"/>
          <p:cNvSpPr txBox="1"/>
          <p:nvPr/>
        </p:nvSpPr>
        <p:spPr>
          <a:xfrm>
            <a:off x="6423660" y="4320540"/>
            <a:ext cx="914400" cy="457200"/>
          </a:xfrm>
          <a:prstGeom prst="rect">
            <a:avLst/>
          </a:prstGeom>
          <a:noFill/>
          <a:ln/>
        </p:spPr>
        <p:txBody>
          <a:bodyPr wrap="square" lIns="0" tIns="0" rIns="0" bIns="0" rtlCol="0" anchor="ctr"/>
          <a:lstStyle/>
          <a:p>
            <a:pPr indent="0" marL="0">
              <a:buNone/>
            </a:pPr>
            <a:r>
              <a:rPr lang="en-US" sz="2400" b="1" dirty="0">
                <a:solidFill>
                  <a:srgbClr val="156082"/>
                </a:solidFill>
                <a:latin typeface="Cambria" pitchFamily="34" charset="0"/>
                <a:ea typeface="Cambria" pitchFamily="34" charset="-122"/>
                <a:cs typeface="Cambria" pitchFamily="34" charset="-120"/>
              </a:rPr>
              <a:t>Q4</a:t>
            </a:r>
            <a:endParaRPr lang="en-US" sz="2400" dirty="0"/>
          </a:p>
        </p:txBody>
      </p:sp>
      <p:sp>
        <p:nvSpPr>
          <p:cNvPr id="18" name="Text 14"/>
          <p:cNvSpPr txBox="1"/>
          <p:nvPr/>
        </p:nvSpPr>
        <p:spPr>
          <a:xfrm>
            <a:off x="6423660" y="4823460"/>
            <a:ext cx="5052060" cy="1120140"/>
          </a:xfrm>
          <a:prstGeom prst="rect">
            <a:avLst/>
          </a:prstGeom>
          <a:noFill/>
          <a:ln/>
        </p:spPr>
        <p:txBody>
          <a:bodyPr wrap="square" lIns="0" tIns="0" rIns="0" bIns="0" rtlCol="0" anchor="t"/>
          <a:lstStyle/>
          <a:p>
            <a:pPr indent="0" marL="0">
              <a:buNone/>
            </a:pPr>
            <a:r>
              <a:rPr lang="en-US" sz="1600" dirty="0">
                <a:solidFill>
                  <a:srgbClr val="13202B"/>
                </a:solidFill>
                <a:latin typeface="Calibri" pitchFamily="34" charset="0"/>
                <a:ea typeface="Calibri" pitchFamily="34" charset="-122"/>
                <a:cs typeface="Calibri" pitchFamily="34" charset="-120"/>
              </a:rPr>
              <a:t>Why did the Vive Pro 2 need a code change to enter the Panther app?</a:t>
            </a:r>
            <a:endParaRPr lang="en-US" sz="1600" dirty="0"/>
          </a:p>
        </p:txBody>
      </p:sp>
      <p:sp>
        <p:nvSpPr>
          <p:cNvPr id="19" name="Text 15"/>
          <p:cNvSpPr txBox="1"/>
          <p:nvPr/>
        </p:nvSpPr>
        <p:spPr>
          <a:xfrm>
            <a:off x="320040" y="6528816"/>
            <a:ext cx="8686800" cy="274320"/>
          </a:xfrm>
          <a:prstGeom prst="rect">
            <a:avLst/>
          </a:prstGeom>
          <a:noFill/>
          <a:ln/>
        </p:spPr>
        <p:txBody>
          <a:bodyPr wrap="square" lIns="0" tIns="0" rIns="0" bIns="0" rtlCol="0" anchor="ctr"/>
          <a:lstStyle/>
          <a:p>
            <a:pPr indent="0" marL="0">
              <a:buNone/>
            </a:pPr>
            <a:r>
              <a:rPr lang="en-US" sz="1050" dirty="0">
                <a:solidFill>
                  <a:srgbClr val="5B6B76"/>
                </a:solidFill>
                <a:latin typeface="Calibri" pitchFamily="34" charset="0"/>
                <a:ea typeface="Calibri" pitchFamily="34" charset="-122"/>
                <a:cs typeface="Calibri" pitchFamily="34" charset="-120"/>
              </a:rPr>
              <a:t>CIST 1423 — Week 7 — WebXR Part 1: Sneaker Builder → our Panther Customizer</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C10"/>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small.png">    </p:cNvPr>
          <p:cNvPicPr>
            <a:picLocks noChangeAspect="1"/>
          </p:cNvPicPr>
          <p:nvPr/>
        </p:nvPicPr>
        <p:blipFill>
          <a:blip r:embed="rId1"/>
          <a:stretch>
            <a:fillRect/>
          </a:stretch>
        </p:blipFill>
        <p:spPr>
          <a:xfrm>
            <a:off x="320040" y="256032"/>
            <a:ext cx="1371600" cy="329184"/>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10561320" y="201168"/>
            <a:ext cx="1234440" cy="795528"/>
          </a:xfrm>
          <a:prstGeom prst="rect">
            <a:avLst/>
          </a:prstGeom>
        </p:spPr>
      </p:pic>
      <p:sp>
        <p:nvSpPr>
          <p:cNvPr id="4" name="Text 0"/>
          <p:cNvSpPr txBox="1"/>
          <p:nvPr/>
        </p:nvSpPr>
        <p:spPr>
          <a:xfrm>
            <a:off x="457200" y="1097280"/>
            <a:ext cx="96012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Next steps: homework + planning</a:t>
            </a:r>
            <a:endParaRPr lang="en-US" sz="3600" dirty="0"/>
          </a:p>
        </p:txBody>
      </p:sp>
      <p:sp>
        <p:nvSpPr>
          <p:cNvPr id="5" name="Text 1"/>
          <p:cNvSpPr txBox="1"/>
          <p:nvPr/>
        </p:nvSpPr>
        <p:spPr>
          <a:xfrm>
            <a:off x="548640" y="2103120"/>
            <a:ext cx="7863840" cy="3840480"/>
          </a:xfrm>
          <a:prstGeom prst="rect">
            <a:avLst/>
          </a:prstGeom>
          <a:noFill/>
          <a:ln/>
        </p:spPr>
        <p:txBody>
          <a:bodyPr wrap="square" lIns="0" tIns="0" rIns="0" bIns="0" rtlCol="0" anchor="t"/>
          <a:lstStyle/>
          <a:p>
            <a:pPr marL="177800" indent="-177800">
              <a:spcAft>
                <a:spcPts val="500"/>
              </a:spcAft>
              <a:buSzPct val="100000"/>
              <a:buChar char="•"/>
            </a:pPr>
            <a:r>
              <a:rPr lang="en-US" sz="1600" dirty="0">
                <a:solidFill>
                  <a:srgbClr val="FFFFFF"/>
                </a:solidFill>
                <a:latin typeface="Calibri" pitchFamily="34" charset="0"/>
                <a:ea typeface="Calibri" pitchFamily="34" charset="-122"/>
                <a:cs typeface="Calibri" pitchFamily="34" charset="-120"/>
              </a:rPr>
              <a:t>Run Sneaker Builder locally (or in the Immersive Web Emulator) and answer the 4 reading questions</a:t>
            </a:r>
            <a:endParaRPr lang="en-US" sz="1600" dirty="0"/>
          </a:p>
          <a:p>
            <a:pPr marL="177800" indent="-177800">
              <a:spcAft>
                <a:spcPts val="500"/>
              </a:spcAft>
              <a:buSzPct val="100000"/>
              <a:buChar char="•"/>
            </a:pPr>
            <a:r>
              <a:rPr lang="en-US" sz="1600" dirty="0">
                <a:solidFill>
                  <a:srgbClr val="FFFFFF"/>
                </a:solidFill>
                <a:latin typeface="Calibri" pitchFamily="34" charset="0"/>
                <a:ea typeface="Calibri" pitchFamily="34" charset="-122"/>
                <a:cs typeface="Calibri" pitchFamily="34" charset="-120"/>
              </a:rPr>
              <a:t>Read FROM-SNEAKER-TO-PANTHER.md and pick one exercise</a:t>
            </a:r>
            <a:endParaRPr lang="en-US" sz="1600" dirty="0"/>
          </a:p>
          <a:p>
            <a:pPr marL="177800" indent="-177800">
              <a:spcAft>
                <a:spcPts val="500"/>
              </a:spcAft>
              <a:buSzPct val="100000"/>
              <a:buChar char="•"/>
            </a:pPr>
            <a:r>
              <a:rPr lang="en-US" sz="1600" dirty="0">
                <a:solidFill>
                  <a:srgbClr val="FFFFFF"/>
                </a:solidFill>
                <a:latin typeface="Calibri" pitchFamily="34" charset="0"/>
                <a:ea typeface="Calibri" pitchFamily="34" charset="-122"/>
                <a:cs typeface="Calibri" pitchFamily="34" charset="-120"/>
              </a:rPr>
              <a:t>Stretch: fork panther-builder with your own scanned campus object, then list the files you didn't touch</a:t>
            </a:r>
            <a:endParaRPr lang="en-US" sz="1600" dirty="0"/>
          </a:p>
          <a:p>
            <a:pPr marL="177800" indent="-177800">
              <a:spcAft>
                <a:spcPts val="500"/>
              </a:spcAft>
              <a:buSzPct val="100000"/>
              <a:buChar char="•"/>
            </a:pPr>
            <a:r>
              <a:rPr lang="en-US" sz="1600" dirty="0">
                <a:solidFill>
                  <a:srgbClr val="FFFFFF"/>
                </a:solidFill>
                <a:latin typeface="Calibri" pitchFamily="34" charset="0"/>
                <a:ea typeface="Calibri" pitchFamily="34" charset="-122"/>
                <a:cs typeface="Calibri" pitchFamily="34" charset="-120"/>
              </a:rPr>
              <a:t>Part 2 (this week): we fork it again into WaterWorks, a multiplayer water-system builder</a:t>
            </a:r>
            <a:endParaRPr lang="en-US" sz="1600" dirty="0"/>
          </a:p>
        </p:txBody>
      </p:sp>
      <p:pic>
        <p:nvPicPr>
          <p:cNvPr id="6" name="Image 2" descr="C:\Users\Jeremy Callinan\AppData\Local\Temp\claude\c--GitHub-CIST1423-Fall2026-Examples\62e170c0-4055-4e17-811f-6bb67e40bfc7\scratchpad\deck\img\alumni_badge.jpg">    </p:cNvPr>
          <p:cNvPicPr>
            <a:picLocks noChangeAspect="1"/>
          </p:cNvPicPr>
          <p:nvPr/>
        </p:nvPicPr>
        <p:blipFill>
          <a:blip r:embed="rId3"/>
          <a:stretch>
            <a:fillRect/>
          </a:stretch>
        </p:blipFill>
        <p:spPr>
          <a:xfrm>
            <a:off x="8778240" y="4846320"/>
            <a:ext cx="2926080" cy="1691640"/>
          </a:xfrm>
          <a:prstGeom prst="rect">
            <a:avLst/>
          </a:prstGeom>
        </p:spPr>
      </p:pic>
      <p:sp>
        <p:nvSpPr>
          <p:cNvPr id="7" name="Text 2"/>
          <p:cNvSpPr txBox="1"/>
          <p:nvPr/>
        </p:nvSpPr>
        <p:spPr>
          <a:xfrm>
            <a:off x="320040" y="6528816"/>
            <a:ext cx="8229600" cy="274320"/>
          </a:xfrm>
          <a:prstGeom prst="rect">
            <a:avLst/>
          </a:prstGeom>
          <a:noFill/>
          <a:ln/>
        </p:spPr>
        <p:txBody>
          <a:bodyPr wrap="square" lIns="0" tIns="0" rIns="0" bIns="0" rtlCol="0" anchor="ctr"/>
          <a:lstStyle/>
          <a:p>
            <a:pPr indent="0" marL="0">
              <a:buNone/>
            </a:pPr>
            <a:r>
              <a:rPr lang="en-US" sz="1050" dirty="0">
                <a:solidFill>
                  <a:srgbClr val="9AA7B1"/>
                </a:solidFill>
                <a:latin typeface="Calibri" pitchFamily="34" charset="0"/>
                <a:ea typeface="Calibri" pitchFamily="34" charset="-122"/>
                <a:cs typeface="Calibri" pitchFamily="34" charset="-120"/>
              </a:rPr>
              <a:t>CIST 1423 — Week 7 — WebXR Part 1: Sneaker Builder → our Panther Customizer</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WebXR: Sneaker Builder to Panther Customizer</dc:title>
  <dc:subject>PptxGenJS Presentation</dc:subject>
  <dc:creator>PptxGenJS</dc:creator>
  <cp:lastModifiedBy>PptxGenJS</cp:lastModifiedBy>
  <cp:revision>1</cp:revision>
  <dcterms:created xsi:type="dcterms:W3CDTF">2026-09-28T00:20:12Z</dcterms:created>
  <dcterms:modified xsi:type="dcterms:W3CDTF">2026-09-28T00:20:12Z</dcterms:modified>
</cp:coreProperties>
</file>