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What does TrackableType.PlaneWithinPolygon filter for?
   Hits inside a detected plane's outline, not its infinite extension.
Q2. How does Swap keep the object in the same place?
   It saves the placed object's pose, destroys it, and instantiates the new prefab at that pose.
Q3. Why check IsPointerOverGameObject before raycasting?
   So tapping a menu button doesn't also place an object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e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e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big.jpeg">    </p:cNvPr>
          <p:cNvPicPr>
            <a:picLocks noChangeAspect="1"/>
          </p:cNvPicPr>
          <p:nvPr/>
        </p:nvPicPr>
        <p:blipFill>
          <a:blip r:embed="rId1"/>
          <a:stretch>
            <a:fillRect/>
          </a:stretch>
        </p:blipFill>
        <p:spPr>
          <a:xfrm>
            <a:off x="0" y="9144"/>
            <a:ext cx="3392424" cy="841248"/>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9912096" y="0"/>
            <a:ext cx="2276856" cy="1371600"/>
          </a:xfrm>
          <a:prstGeom prst="rect">
            <a:avLst/>
          </a:prstGeom>
        </p:spPr>
      </p:pic>
      <p:sp>
        <p:nvSpPr>
          <p:cNvPr id="4" name="Text 0"/>
          <p:cNvSpPr txBox="1"/>
          <p:nvPr/>
        </p:nvSpPr>
        <p:spPr>
          <a:xfrm>
            <a:off x="548640" y="1371600"/>
            <a:ext cx="6400800" cy="2194560"/>
          </a:xfrm>
          <a:prstGeom prst="rect">
            <a:avLst/>
          </a:prstGeom>
          <a:noFill/>
          <a:ln/>
        </p:spPr>
        <p:txBody>
          <a:bodyPr wrap="square" lIns="0" tIns="0" rIns="0" bIns="0" rtlCol="0" anchor="ctr"/>
          <a:lstStyle/>
          <a:p>
            <a:pPr indent="0" marL="0">
              <a:buNone/>
            </a:pPr>
            <a:r>
              <a:rPr lang="en-US" sz="7200" dirty="0">
                <a:solidFill>
                  <a:srgbClr val="000000"/>
                </a:solidFill>
                <a:latin typeface="Calibri Light" pitchFamily="34" charset="0"/>
                <a:ea typeface="Calibri Light" pitchFamily="34" charset="-122"/>
                <a:cs typeface="Calibri Light" pitchFamily="34" charset="-120"/>
              </a:rPr>
              <a:t>Virtual Reality</a:t>
            </a:r>
            <a:endParaRPr lang="en-US" sz="7200" dirty="0"/>
          </a:p>
        </p:txBody>
      </p:sp>
      <p:pic>
        <p:nvPicPr>
          <p:cNvPr id="5" name="Image 2" descr="C:\Users\Jeremy Callinan\AppData\Local\Temp\claude\c--GitHub-CIST1423-Fall2026-Examples\62e170c0-4055-4e17-811f-6bb67e40bfc7\scratchpad\deck\img\ww_desktop.jpg">    </p:cNvPr>
          <p:cNvPicPr>
            <a:picLocks noChangeAspect="1"/>
          </p:cNvPicPr>
          <p:nvPr/>
        </p:nvPicPr>
        <p:blipFill>
          <a:blip r:embed="rId3"/>
          <a:stretch>
            <a:fillRect/>
          </a:stretch>
        </p:blipFill>
        <p:spPr>
          <a:xfrm>
            <a:off x="7086600" y="1463040"/>
            <a:ext cx="4480560" cy="2523744"/>
          </a:xfrm>
          <a:prstGeom prst="rect">
            <a:avLst/>
          </a:prstGeom>
        </p:spPr>
      </p:pic>
      <p:sp>
        <p:nvSpPr>
          <p:cNvPr id="6" name="Text 1"/>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2200" b="1" dirty="0">
                <a:solidFill>
                  <a:srgbClr val="0E2841"/>
                </a:solidFill>
                <a:latin typeface="Cambria" pitchFamily="34" charset="0"/>
                <a:ea typeface="Cambria" pitchFamily="34" charset="-122"/>
                <a:cs typeface="Cambria" pitchFamily="34" charset="-120"/>
              </a:rPr>
              <a:t>Interactive AR: a menu that places and swaps objects in the real world</a:t>
            </a:r>
            <a:endParaRPr lang="en-US" sz="2200" dirty="0"/>
          </a:p>
        </p:txBody>
      </p:sp>
      <p:sp>
        <p:nvSpPr>
          <p:cNvPr id="7" name="Text 2"/>
          <p:cNvSpPr txBox="1"/>
          <p:nvPr/>
        </p:nvSpPr>
        <p:spPr>
          <a:xfrm>
            <a:off x="2130552" y="4572000"/>
            <a:ext cx="9217152" cy="914400"/>
          </a:xfrm>
          <a:prstGeom prst="rect">
            <a:avLst/>
          </a:prstGeom>
          <a:noFill/>
          <a:ln/>
        </p:spPr>
        <p:txBody>
          <a:bodyPr wrap="square" lIns="0" tIns="0" rIns="0" bIns="0" rtlCol="0" anchor="ctr"/>
          <a:lstStyle/>
          <a:p>
            <a:pPr algn="r" indent="0" marL="0">
              <a:buNone/>
            </a:pPr>
            <a:r>
              <a:rPr lang="en-US" sz="2000" dirty="0">
                <a:solidFill>
                  <a:srgbClr val="4472C4"/>
                </a:solidFill>
                <a:latin typeface="Calibri" pitchFamily="34" charset="0"/>
                <a:ea typeface="Calibri" pitchFamily="34" charset="-122"/>
                <a:cs typeface="Calibri" pitchFamily="34" charset="-120"/>
              </a:rPr>
              <a:t>Wednesdays at 6:00pm</a:t>
            </a:r>
            <a:endParaRPr lang="en-US" sz="2000" dirty="0"/>
          </a:p>
          <a:p>
            <a:pPr algn="r" indent="0" marL="0">
              <a:buNone/>
            </a:pPr>
            <a:r>
              <a:rPr lang="en-US" sz="1600" dirty="0">
                <a:solidFill>
                  <a:srgbClr val="000000"/>
                </a:solidFill>
                <a:latin typeface="Calibri" pitchFamily="34" charset="0"/>
                <a:ea typeface="Calibri" pitchFamily="34" charset="-122"/>
                <a:cs typeface="Calibri" pitchFamily="34" charset="-120"/>
              </a:rPr>
              <a:t>CIST 1423 - 2010   VIRTUAL REALITY PROGRAMMING AND TECHNOLOGY</a:t>
            </a:r>
            <a:endParaRPr lang="en-US" sz="2000" dirty="0"/>
          </a:p>
        </p:txBody>
      </p:sp>
      <p:sp>
        <p:nvSpPr>
          <p:cNvPr id="8" name="Shape 3"/>
          <p:cNvSpPr/>
          <p:nvPr/>
        </p:nvSpPr>
        <p:spPr>
          <a:xfrm>
            <a:off x="411480" y="5806440"/>
            <a:ext cx="8138160" cy="640080"/>
          </a:xfrm>
          <a:prstGeom prst="roundRect">
            <a:avLst>
              <a:gd name="adj" fmla="val 14286"/>
            </a:avLst>
          </a:prstGeom>
          <a:solidFill>
            <a:srgbClr val="0E2841"/>
          </a:solidFill>
          <a:ln w="12700">
            <a:solidFill>
              <a:srgbClr val="0E2841"/>
            </a:solidFill>
            <a:prstDash val="solid"/>
          </a:ln>
        </p:spPr>
      </p:sp>
      <p:pic>
        <p:nvPicPr>
          <p:cNvPr id="9" name="Image 3" descr="C:\Users\Jeremy Callinan\AppData\Local\Temp\claude\c--GitHub-CIST1423-Fall2026-Examples\62e170c0-4055-4e17-811f-6bb67e40bfc7\scratchpad\deck\img\paw.png">    </p:cNvPr>
          <p:cNvPicPr>
            <a:picLocks noChangeAspect="1"/>
          </p:cNvPicPr>
          <p:nvPr/>
        </p:nvPicPr>
        <p:blipFill>
          <a:blip r:embed="rId4"/>
          <a:stretch>
            <a:fillRect/>
          </a:stretch>
        </p:blipFill>
        <p:spPr>
          <a:xfrm>
            <a:off x="576072" y="5916168"/>
            <a:ext cx="420624" cy="420624"/>
          </a:xfrm>
          <a:prstGeom prst="rect">
            <a:avLst/>
          </a:prstGeom>
        </p:spPr>
      </p:pic>
      <p:sp>
        <p:nvSpPr>
          <p:cNvPr id="10" name="Text 4"/>
          <p:cNvSpPr txBox="1"/>
          <p:nvPr/>
        </p:nvSpPr>
        <p:spPr>
          <a:xfrm>
            <a:off x="1143000" y="5806440"/>
            <a:ext cx="7315200" cy="640080"/>
          </a:xfrm>
          <a:prstGeom prst="rect">
            <a:avLst/>
          </a:prstGeom>
          <a:noFill/>
          <a:ln/>
        </p:spPr>
        <p:txBody>
          <a:bodyPr wrap="square" lIns="0" tIns="0" rIns="0" bIns="0" rtlCol="0" anchor="ctr"/>
          <a:lstStyle/>
          <a:p>
            <a:pPr indent="0" marL="0">
              <a:buNone/>
            </a:pPr>
            <a:r>
              <a:rPr lang="en-US" sz="1600" b="1" dirty="0">
                <a:solidFill>
                  <a:srgbClr val="F0D68A"/>
                </a:solidFill>
                <a:latin typeface="Calibri" pitchFamily="34" charset="0"/>
                <a:ea typeface="Calibri" pitchFamily="34" charset="-122"/>
                <a:cs typeface="Calibri" pitchFamily="34" charset="-120"/>
              </a:rPr>
              <a:t>Homework: an AR menu (place + swap prefab) in your prototype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big.jpeg">    </p:cNvPr>
          <p:cNvPicPr>
            <a:picLocks noChangeAspect="1"/>
          </p:cNvPicPr>
          <p:nvPr/>
        </p:nvPicPr>
        <p:blipFill>
          <a:blip r:embed="rId1"/>
          <a:stretch>
            <a:fillRect/>
          </a:stretch>
        </p:blipFill>
        <p:spPr>
          <a:xfrm>
            <a:off x="0" y="9144"/>
            <a:ext cx="3392424" cy="841248"/>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9912096" y="0"/>
            <a:ext cx="2276856" cy="1371600"/>
          </a:xfrm>
          <a:prstGeom prst="rect">
            <a:avLst/>
          </a:prstGeom>
        </p:spPr>
      </p:pic>
      <p:sp>
        <p:nvSpPr>
          <p:cNvPr id="4" name="Text 0"/>
          <p:cNvSpPr txBox="1"/>
          <p:nvPr/>
        </p:nvSpPr>
        <p:spPr>
          <a:xfrm>
            <a:off x="3200400" y="731520"/>
            <a:ext cx="5788152" cy="822960"/>
          </a:xfrm>
          <a:prstGeom prst="rect">
            <a:avLst/>
          </a:prstGeom>
          <a:noFill/>
          <a:ln/>
        </p:spPr>
        <p:txBody>
          <a:bodyPr wrap="square" lIns="0" tIns="0" rIns="0" bIns="0" rtlCol="0" anchor="ctr"/>
          <a:lstStyle/>
          <a:p>
            <a:pPr algn="ctr" indent="0" marL="0">
              <a:buNone/>
            </a:pPr>
            <a:r>
              <a:rPr lang="en-US" sz="4000" dirty="0">
                <a:solidFill>
                  <a:srgbClr val="000000"/>
                </a:solidFill>
                <a:latin typeface="Calibri Light" pitchFamily="34" charset="0"/>
                <a:ea typeface="Calibri Light" pitchFamily="34" charset="-122"/>
                <a:cs typeface="Calibri Light" pitchFamily="34" charset="-120"/>
              </a:rPr>
              <a:t>Agenda</a:t>
            </a:r>
            <a:endParaRPr lang="en-US" sz="4000" dirty="0"/>
          </a:p>
        </p:txBody>
      </p:sp>
      <p:pic>
        <p:nvPicPr>
          <p:cNvPr id="5" name="Image 2" descr="preencoded.png">    </p:cNvPr>
          <p:cNvPicPr>
            <a:picLocks noChangeAspect="1"/>
          </p:cNvPicPr>
          <p:nvPr/>
        </p:nvPicPr>
        <p:blipFill>
          <a:blip r:embed="rId3"/>
          <a:stretch>
            <a:fillRect/>
          </a:stretch>
        </p:blipFill>
        <p:spPr>
          <a:xfrm>
            <a:off x="2118208" y="2103120"/>
            <a:ext cx="1005840" cy="1005840"/>
          </a:xfrm>
          <a:prstGeom prst="rect">
            <a:avLst/>
          </a:prstGeom>
        </p:spPr>
      </p:pic>
      <p:sp>
        <p:nvSpPr>
          <p:cNvPr id="6" name="Text 1"/>
          <p:cNvSpPr txBox="1"/>
          <p:nvPr/>
        </p:nvSpPr>
        <p:spPr>
          <a:xfrm>
            <a:off x="115808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The AR menu app</a:t>
            </a:r>
            <a:endParaRPr lang="en-US" sz="2000" dirty="0"/>
          </a:p>
        </p:txBody>
      </p:sp>
      <p:sp>
        <p:nvSpPr>
          <p:cNvPr id="7" name="Text 2"/>
          <p:cNvSpPr txBox="1"/>
          <p:nvPr/>
        </p:nvSpPr>
        <p:spPr>
          <a:xfrm>
            <a:off x="115808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Food data, ARPlacePrefab, SwapPrefab</a:t>
            </a:r>
            <a:endParaRPr lang="en-US" sz="1300" dirty="0"/>
          </a:p>
        </p:txBody>
      </p:sp>
      <p:pic>
        <p:nvPicPr>
          <p:cNvPr id="8" name="Image 3" descr="preencoded.png">    </p:cNvPr>
          <p:cNvPicPr>
            <a:picLocks noChangeAspect="1"/>
          </p:cNvPicPr>
          <p:nvPr/>
        </p:nvPicPr>
        <p:blipFill>
          <a:blip r:embed="rId4"/>
          <a:stretch>
            <a:fillRect/>
          </a:stretch>
        </p:blipFill>
        <p:spPr>
          <a:xfrm>
            <a:off x="5592928" y="2103120"/>
            <a:ext cx="1005840" cy="1005840"/>
          </a:xfrm>
          <a:prstGeom prst="rect">
            <a:avLst/>
          </a:prstGeom>
        </p:spPr>
      </p:pic>
      <p:sp>
        <p:nvSpPr>
          <p:cNvPr id="9" name="Text 3"/>
          <p:cNvSpPr txBox="1"/>
          <p:nvPr/>
        </p:nvSpPr>
        <p:spPr>
          <a:xfrm>
            <a:off x="463280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UI + On Click</a:t>
            </a:r>
            <a:endParaRPr lang="en-US" sz="2000" dirty="0"/>
          </a:p>
        </p:txBody>
      </p:sp>
      <p:sp>
        <p:nvSpPr>
          <p:cNvPr id="10" name="Text 4"/>
          <p:cNvSpPr txBox="1"/>
          <p:nvPr/>
        </p:nvSpPr>
        <p:spPr>
          <a:xfrm>
            <a:off x="463280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Buttons that change what gets placed</a:t>
            </a:r>
            <a:endParaRPr lang="en-US" sz="1300" dirty="0"/>
          </a:p>
        </p:txBody>
      </p:sp>
      <p:pic>
        <p:nvPicPr>
          <p:cNvPr id="11" name="Image 4" descr="preencoded.png">    </p:cNvPr>
          <p:cNvPicPr>
            <a:picLocks noChangeAspect="1"/>
          </p:cNvPicPr>
          <p:nvPr/>
        </p:nvPicPr>
        <p:blipFill>
          <a:blip r:embed="rId5"/>
          <a:stretch>
            <a:fillRect/>
          </a:stretch>
        </p:blipFill>
        <p:spPr>
          <a:xfrm>
            <a:off x="9067648" y="2103120"/>
            <a:ext cx="1005840" cy="1005840"/>
          </a:xfrm>
          <a:prstGeom prst="rect">
            <a:avLst/>
          </a:prstGeom>
        </p:spPr>
      </p:pic>
      <p:sp>
        <p:nvSpPr>
          <p:cNvPr id="12" name="Text 5"/>
          <p:cNvSpPr txBox="1"/>
          <p:nvPr/>
        </p:nvSpPr>
        <p:spPr>
          <a:xfrm>
            <a:off x="810752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Same pattern, WaterWorks</a:t>
            </a:r>
            <a:endParaRPr lang="en-US" sz="2000" dirty="0"/>
          </a:p>
        </p:txBody>
      </p:sp>
      <p:sp>
        <p:nvSpPr>
          <p:cNvPr id="13" name="Text 6"/>
          <p:cNvSpPr txBox="1"/>
          <p:nvPr/>
        </p:nvSpPr>
        <p:spPr>
          <a:xfrm>
            <a:off x="810752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Palette → spawn, shelf → place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Today</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By the end of class you can…</a:t>
            </a:r>
            <a:endParaRPr lang="en-US" sz="1350" dirty="0"/>
          </a:p>
        </p:txBody>
      </p:sp>
      <p:sp>
        <p:nvSpPr>
          <p:cNvPr id="7" name="Shape 3"/>
          <p:cNvSpPr/>
          <p:nvPr/>
        </p:nvSpPr>
        <p:spPr>
          <a:xfrm>
            <a:off x="457200" y="1920240"/>
            <a:ext cx="6766560" cy="4206240"/>
          </a:xfrm>
          <a:prstGeom prst="roundRect">
            <a:avLst>
              <a:gd name="adj" fmla="val 1739"/>
            </a:avLst>
          </a:prstGeom>
          <a:solidFill>
            <a:srgbClr val="F4F7FA"/>
          </a:solidFill>
          <a:ln w="9525">
            <a:solidFill>
              <a:srgbClr val="D8E1E8"/>
            </a:solidFill>
            <a:prstDash val="solid"/>
          </a:ln>
        </p:spPr>
      </p:sp>
      <p:sp>
        <p:nvSpPr>
          <p:cNvPr id="8" name="Shape 4"/>
          <p:cNvSpPr/>
          <p:nvPr/>
        </p:nvSpPr>
        <p:spPr>
          <a:xfrm>
            <a:off x="685800" y="2331720"/>
            <a:ext cx="457200" cy="457200"/>
          </a:xfrm>
          <a:prstGeom prst="ellipse">
            <a:avLst/>
          </a:prstGeom>
          <a:solidFill>
            <a:srgbClr val="0E2841"/>
          </a:solidFill>
          <a:ln w="12700">
            <a:solidFill>
              <a:srgbClr val="0E2841"/>
            </a:solidFill>
            <a:prstDash val="solid"/>
          </a:ln>
        </p:spPr>
      </p:sp>
      <p:sp>
        <p:nvSpPr>
          <p:cNvPr id="9" name="Text 5"/>
          <p:cNvSpPr txBox="1"/>
          <p:nvPr/>
        </p:nvSpPr>
        <p:spPr>
          <a:xfrm>
            <a:off x="685800" y="23317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325880" y="21031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Build the Ch. 6 menu app: data, place, swap</a:t>
            </a:r>
            <a:endParaRPr lang="en-US" sz="1500" dirty="0"/>
          </a:p>
        </p:txBody>
      </p:sp>
      <p:sp>
        <p:nvSpPr>
          <p:cNvPr id="11" name="Shape 7"/>
          <p:cNvSpPr/>
          <p:nvPr/>
        </p:nvSpPr>
        <p:spPr>
          <a:xfrm>
            <a:off x="685800" y="3246120"/>
            <a:ext cx="457200" cy="457200"/>
          </a:xfrm>
          <a:prstGeom prst="ellipse">
            <a:avLst/>
          </a:prstGeom>
          <a:solidFill>
            <a:srgbClr val="0E2841"/>
          </a:solidFill>
          <a:ln w="12700">
            <a:solidFill>
              <a:srgbClr val="0E2841"/>
            </a:solidFill>
            <a:prstDash val="solid"/>
          </a:ln>
        </p:spPr>
      </p:sp>
      <p:sp>
        <p:nvSpPr>
          <p:cNvPr id="12" name="Text 8"/>
          <p:cNvSpPr txBox="1"/>
          <p:nvPr/>
        </p:nvSpPr>
        <p:spPr>
          <a:xfrm>
            <a:off x="685800" y="32461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1325880" y="30175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Raycast from a touch against detected planes</a:t>
            </a:r>
            <a:endParaRPr lang="en-US" sz="1500" dirty="0"/>
          </a:p>
        </p:txBody>
      </p:sp>
      <p:sp>
        <p:nvSpPr>
          <p:cNvPr id="14" name="Shape 10"/>
          <p:cNvSpPr/>
          <p:nvPr/>
        </p:nvSpPr>
        <p:spPr>
          <a:xfrm>
            <a:off x="685800" y="4160520"/>
            <a:ext cx="457200" cy="457200"/>
          </a:xfrm>
          <a:prstGeom prst="ellipse">
            <a:avLst/>
          </a:prstGeom>
          <a:solidFill>
            <a:srgbClr val="0E2841"/>
          </a:solidFill>
          <a:ln w="12700">
            <a:solidFill>
              <a:srgbClr val="0E2841"/>
            </a:solidFill>
            <a:prstDash val="solid"/>
          </a:ln>
        </p:spPr>
      </p:sp>
      <p:sp>
        <p:nvSpPr>
          <p:cNvPr id="15" name="Text 11"/>
          <p:cNvSpPr txBox="1"/>
          <p:nvPr/>
        </p:nvSpPr>
        <p:spPr>
          <a:xfrm>
            <a:off x="685800" y="41605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1325880" y="39319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Wire UI Buttons to methods without code (On Click)</a:t>
            </a:r>
            <a:endParaRPr lang="en-US" sz="1500" dirty="0"/>
          </a:p>
        </p:txBody>
      </p:sp>
      <p:sp>
        <p:nvSpPr>
          <p:cNvPr id="17" name="Shape 13"/>
          <p:cNvSpPr/>
          <p:nvPr/>
        </p:nvSpPr>
        <p:spPr>
          <a:xfrm>
            <a:off x="7452360" y="1920240"/>
            <a:ext cx="4251960" cy="4206240"/>
          </a:xfrm>
          <a:prstGeom prst="roundRect">
            <a:avLst>
              <a:gd name="adj" fmla="val 1739"/>
            </a:avLst>
          </a:prstGeom>
          <a:solidFill>
            <a:srgbClr val="0E2841"/>
          </a:solidFill>
          <a:ln w="12700">
            <a:solidFill>
              <a:srgbClr val="0E2841"/>
            </a:solidFill>
            <a:prstDash val="solid"/>
          </a:ln>
        </p:spPr>
      </p:sp>
      <p:sp>
        <p:nvSpPr>
          <p:cNvPr id="18" name="Text 14"/>
          <p:cNvSpPr txBox="1"/>
          <p:nvPr/>
        </p:nvSpPr>
        <p:spPr>
          <a:xfrm>
            <a:off x="7680960" y="2103120"/>
            <a:ext cx="379476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Tonight's plan</a:t>
            </a:r>
            <a:endParaRPr lang="en-US" sz="1500" dirty="0"/>
          </a:p>
        </p:txBody>
      </p:sp>
      <p:sp>
        <p:nvSpPr>
          <p:cNvPr id="19" name="Text 15"/>
          <p:cNvSpPr txBox="1"/>
          <p:nvPr/>
        </p:nvSpPr>
        <p:spPr>
          <a:xfrm>
            <a:off x="7680960" y="2606040"/>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0–10</a:t>
            </a:r>
            <a:endParaRPr lang="en-US" sz="1300" dirty="0"/>
          </a:p>
        </p:txBody>
      </p:sp>
      <p:sp>
        <p:nvSpPr>
          <p:cNvPr id="20" name="Text 16"/>
          <p:cNvSpPr txBox="1"/>
          <p:nvPr/>
        </p:nvSpPr>
        <p:spPr>
          <a:xfrm>
            <a:off x="8778240" y="2606040"/>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Review</a:t>
            </a:r>
            <a:endParaRPr lang="en-US" sz="1300" dirty="0"/>
          </a:p>
        </p:txBody>
      </p:sp>
      <p:sp>
        <p:nvSpPr>
          <p:cNvPr id="21" name="Text 17"/>
          <p:cNvSpPr txBox="1"/>
          <p:nvPr/>
        </p:nvSpPr>
        <p:spPr>
          <a:xfrm>
            <a:off x="7680960" y="3172968"/>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10–40</a:t>
            </a:r>
            <a:endParaRPr lang="en-US" sz="1300" dirty="0"/>
          </a:p>
        </p:txBody>
      </p:sp>
      <p:sp>
        <p:nvSpPr>
          <p:cNvPr id="22" name="Text 18"/>
          <p:cNvSpPr txBox="1"/>
          <p:nvPr/>
        </p:nvSpPr>
        <p:spPr>
          <a:xfrm>
            <a:off x="8778240" y="3172968"/>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AR menu: Food, ARPlacePrefab, SwapPrefab</a:t>
            </a:r>
            <a:endParaRPr lang="en-US" sz="1300" dirty="0"/>
          </a:p>
        </p:txBody>
      </p:sp>
      <p:sp>
        <p:nvSpPr>
          <p:cNvPr id="23" name="Text 19"/>
          <p:cNvSpPr txBox="1"/>
          <p:nvPr/>
        </p:nvSpPr>
        <p:spPr>
          <a:xfrm>
            <a:off x="7680960" y="3739896"/>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40–50</a:t>
            </a:r>
            <a:endParaRPr lang="en-US" sz="1300" dirty="0"/>
          </a:p>
        </p:txBody>
      </p:sp>
      <p:sp>
        <p:nvSpPr>
          <p:cNvPr id="24" name="Text 20"/>
          <p:cNvSpPr txBox="1"/>
          <p:nvPr/>
        </p:nvSpPr>
        <p:spPr>
          <a:xfrm>
            <a:off x="8778240" y="3739896"/>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Lab briefing</a:t>
            </a:r>
            <a:endParaRPr lang="en-US" sz="1300" dirty="0"/>
          </a:p>
        </p:txBody>
      </p:sp>
      <p:sp>
        <p:nvSpPr>
          <p:cNvPr id="25" name="Text 21"/>
          <p:cNvSpPr txBox="1"/>
          <p:nvPr/>
        </p:nvSpPr>
        <p:spPr>
          <a:xfrm>
            <a:off x="7680960" y="4306824"/>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50–130</a:t>
            </a:r>
            <a:endParaRPr lang="en-US" sz="1300" dirty="0"/>
          </a:p>
        </p:txBody>
      </p:sp>
      <p:sp>
        <p:nvSpPr>
          <p:cNvPr id="26" name="Text 22"/>
          <p:cNvSpPr txBox="1"/>
          <p:nvPr/>
        </p:nvSpPr>
        <p:spPr>
          <a:xfrm>
            <a:off x="8778240" y="4306824"/>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Lab: place + swap in your AR prototype</a:t>
            </a:r>
            <a:endParaRPr lang="en-US" sz="1300" dirty="0"/>
          </a:p>
        </p:txBody>
      </p:sp>
      <p:sp>
        <p:nvSpPr>
          <p:cNvPr id="27" name="Text 23"/>
          <p:cNvSpPr txBox="1"/>
          <p:nvPr/>
        </p:nvSpPr>
        <p:spPr>
          <a:xfrm>
            <a:off x="7680960" y="4873752"/>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130–145</a:t>
            </a:r>
            <a:endParaRPr lang="en-US" sz="1300" dirty="0"/>
          </a:p>
        </p:txBody>
      </p:sp>
      <p:sp>
        <p:nvSpPr>
          <p:cNvPr id="28" name="Text 24"/>
          <p:cNvSpPr txBox="1"/>
          <p:nvPr/>
        </p:nvSpPr>
        <p:spPr>
          <a:xfrm>
            <a:off x="8778240" y="4873752"/>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Share-out</a:t>
            </a:r>
            <a:endParaRPr lang="en-US" sz="1300" dirty="0"/>
          </a:p>
        </p:txBody>
      </p:sp>
      <p:sp>
        <p:nvSpPr>
          <p:cNvPr id="29" name="Text 25"/>
          <p:cNvSpPr txBox="1"/>
          <p:nvPr/>
        </p:nvSpPr>
        <p:spPr>
          <a:xfrm>
            <a:off x="7680960" y="5440680"/>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145–150</a:t>
            </a:r>
            <a:endParaRPr lang="en-US" sz="1300" dirty="0"/>
          </a:p>
        </p:txBody>
      </p:sp>
      <p:sp>
        <p:nvSpPr>
          <p:cNvPr id="30" name="Text 26"/>
          <p:cNvSpPr txBox="1"/>
          <p:nvPr/>
        </p:nvSpPr>
        <p:spPr>
          <a:xfrm>
            <a:off x="8778240" y="5440680"/>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Exit ticket</a:t>
            </a:r>
            <a:endParaRPr lang="en-US" sz="1300" dirty="0"/>
          </a:p>
        </p:txBody>
      </p:sp>
      <p:sp>
        <p:nvSpPr>
          <p:cNvPr id="31" name="Text 27"/>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10 — Building Interactive AR Experiences (Ch. 6)</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The Ch. 6 app in three scripts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Pick a dish from a menu, tap a table, see it at real size; tap another dish to swap it.</a:t>
            </a:r>
            <a:endParaRPr lang="en-US" sz="1350" dirty="0"/>
          </a:p>
        </p:txBody>
      </p:sp>
      <p:sp>
        <p:nvSpPr>
          <p:cNvPr id="7" name="Shape 3"/>
          <p:cNvSpPr/>
          <p:nvPr/>
        </p:nvSpPr>
        <p:spPr>
          <a:xfrm>
            <a:off x="457200" y="1920240"/>
            <a:ext cx="3596640" cy="4206240"/>
          </a:xfrm>
          <a:prstGeom prst="roundRect">
            <a:avLst>
              <a:gd name="adj" fmla="val 2034"/>
            </a:avLst>
          </a:prstGeom>
          <a:solidFill>
            <a:srgbClr val="F4F7FA"/>
          </a:solidFill>
          <a:ln w="9525">
            <a:solidFill>
              <a:srgbClr val="D8E1E8"/>
            </a:solidFill>
            <a:prstDash val="solid"/>
          </a:ln>
        </p:spPr>
      </p:sp>
      <p:pic>
        <p:nvPicPr>
          <p:cNvPr id="8" name="Image 2" descr="preencoded.png">    </p:cNvPr>
          <p:cNvPicPr>
            <a:picLocks noChangeAspect="1"/>
          </p:cNvPicPr>
          <p:nvPr/>
        </p:nvPicPr>
        <p:blipFill>
          <a:blip r:embed="rId3"/>
          <a:stretch>
            <a:fillRect/>
          </a:stretch>
        </p:blipFill>
        <p:spPr>
          <a:xfrm>
            <a:off x="640080" y="2103120"/>
            <a:ext cx="329184" cy="329184"/>
          </a:xfrm>
          <a:prstGeom prst="rect">
            <a:avLst/>
          </a:prstGeom>
        </p:spPr>
      </p:pic>
      <p:sp>
        <p:nvSpPr>
          <p:cNvPr id="9" name="Text 4"/>
          <p:cNvSpPr txBox="1"/>
          <p:nvPr/>
        </p:nvSpPr>
        <p:spPr>
          <a:xfrm>
            <a:off x="1097280" y="2103120"/>
            <a:ext cx="27736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Food (data)</a:t>
            </a:r>
            <a:endParaRPr lang="en-US" sz="1450" dirty="0"/>
          </a:p>
        </p:txBody>
      </p:sp>
      <p:sp>
        <p:nvSpPr>
          <p:cNvPr id="10" name="Text 5"/>
          <p:cNvSpPr txBox="1"/>
          <p:nvPr/>
        </p:nvSpPr>
        <p:spPr>
          <a:xfrm>
            <a:off x="640080" y="2560320"/>
            <a:ext cx="3230880" cy="338328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rgbClr val="13202B"/>
                </a:solidFill>
                <a:latin typeface="Calibri" pitchFamily="34" charset="0"/>
                <a:ea typeface="Calibri" pitchFamily="34" charset="-122"/>
                <a:cs typeface="Calibri" pitchFamily="34" charset="-120"/>
              </a:rPr>
              <a:t>Name, price, prefab reference</a:t>
            </a:r>
            <a:endParaRPr lang="en-US" sz="1450" dirty="0"/>
          </a:p>
          <a:p>
            <a:pPr marL="177800" indent="-177800">
              <a:spcAft>
                <a:spcPts val="500"/>
              </a:spcAft>
              <a:buSzPct val="100000"/>
              <a:buChar char="•"/>
            </a:pPr>
            <a:r>
              <a:rPr lang="en-US" sz="1450" dirty="0">
                <a:solidFill>
                  <a:srgbClr val="13202B"/>
                </a:solidFill>
                <a:latin typeface="Calibri" pitchFamily="34" charset="0"/>
                <a:ea typeface="Calibri" pitchFamily="34" charset="-122"/>
                <a:cs typeface="Calibri" pitchFamily="34" charset="-120"/>
              </a:rPr>
              <a:t>A ScriptableObject or a simple class</a:t>
            </a:r>
            <a:endParaRPr lang="en-US" sz="1450" dirty="0"/>
          </a:p>
          <a:p>
            <a:pPr marL="177800" indent="-177800">
              <a:spcAft>
                <a:spcPts val="500"/>
              </a:spcAft>
              <a:buSzPct val="100000"/>
              <a:buChar char="•"/>
            </a:pPr>
            <a:r>
              <a:rPr lang="en-US" sz="1450" dirty="0">
                <a:solidFill>
                  <a:srgbClr val="13202B"/>
                </a:solidFill>
                <a:latin typeface="Calibri" pitchFamily="34" charset="0"/>
                <a:ea typeface="Calibri" pitchFamily="34" charset="-122"/>
                <a:cs typeface="Calibri" pitchFamily="34" charset="-120"/>
              </a:rPr>
              <a:t>The menu is a list of these</a:t>
            </a:r>
            <a:endParaRPr lang="en-US" sz="1450" dirty="0"/>
          </a:p>
        </p:txBody>
      </p:sp>
      <p:sp>
        <p:nvSpPr>
          <p:cNvPr id="11" name="Shape 6"/>
          <p:cNvSpPr/>
          <p:nvPr/>
        </p:nvSpPr>
        <p:spPr>
          <a:xfrm>
            <a:off x="4282440" y="1920240"/>
            <a:ext cx="3596640" cy="4206240"/>
          </a:xfrm>
          <a:prstGeom prst="roundRect">
            <a:avLst>
              <a:gd name="adj" fmla="val 2034"/>
            </a:avLst>
          </a:prstGeom>
          <a:solidFill>
            <a:srgbClr val="F4F7FA"/>
          </a:solidFill>
          <a:ln w="9525">
            <a:solidFill>
              <a:srgbClr val="D8E1E8"/>
            </a:solidFill>
            <a:prstDash val="solid"/>
          </a:ln>
        </p:spPr>
      </p:sp>
      <p:pic>
        <p:nvPicPr>
          <p:cNvPr id="12" name="Image 3" descr="preencoded.png">    </p:cNvPr>
          <p:cNvPicPr>
            <a:picLocks noChangeAspect="1"/>
          </p:cNvPicPr>
          <p:nvPr/>
        </p:nvPicPr>
        <p:blipFill>
          <a:blip r:embed="rId4"/>
          <a:stretch>
            <a:fillRect/>
          </a:stretch>
        </p:blipFill>
        <p:spPr>
          <a:xfrm>
            <a:off x="4465320" y="2103120"/>
            <a:ext cx="329184" cy="329184"/>
          </a:xfrm>
          <a:prstGeom prst="rect">
            <a:avLst/>
          </a:prstGeom>
        </p:spPr>
      </p:pic>
      <p:sp>
        <p:nvSpPr>
          <p:cNvPr id="13" name="Text 7"/>
          <p:cNvSpPr txBox="1"/>
          <p:nvPr/>
        </p:nvSpPr>
        <p:spPr>
          <a:xfrm>
            <a:off x="4922520" y="2103120"/>
            <a:ext cx="27736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ARPlacePrefab</a:t>
            </a:r>
            <a:endParaRPr lang="en-US" sz="1450" dirty="0"/>
          </a:p>
        </p:txBody>
      </p:sp>
      <p:sp>
        <p:nvSpPr>
          <p:cNvPr id="14" name="Text 8"/>
          <p:cNvSpPr txBox="1"/>
          <p:nvPr/>
        </p:nvSpPr>
        <p:spPr>
          <a:xfrm>
            <a:off x="4465320" y="2560320"/>
            <a:ext cx="3230880" cy="338328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rgbClr val="13202B"/>
                </a:solidFill>
                <a:latin typeface="Calibri" pitchFamily="34" charset="0"/>
                <a:ea typeface="Calibri" pitchFamily="34" charset="-122"/>
                <a:cs typeface="Calibri" pitchFamily="34" charset="-120"/>
              </a:rPr>
              <a:t>Tap → raycast against detected planes</a:t>
            </a:r>
            <a:endParaRPr lang="en-US" sz="1450" dirty="0"/>
          </a:p>
          <a:p>
            <a:pPr marL="177800" indent="-177800">
              <a:spcAft>
                <a:spcPts val="500"/>
              </a:spcAft>
              <a:buSzPct val="100000"/>
              <a:buChar char="•"/>
            </a:pPr>
            <a:r>
              <a:rPr lang="en-US" sz="1450" dirty="0">
                <a:solidFill>
                  <a:srgbClr val="13202B"/>
                </a:solidFill>
                <a:latin typeface="Calibri" pitchFamily="34" charset="0"/>
                <a:ea typeface="Calibri" pitchFamily="34" charset="-122"/>
                <a:cs typeface="Calibri" pitchFamily="34" charset="-120"/>
              </a:rPr>
              <a:t>First tap: Instantiate the selected prefab at the hit pose</a:t>
            </a:r>
            <a:endParaRPr lang="en-US" sz="1450" dirty="0"/>
          </a:p>
          <a:p>
            <a:pPr marL="177800" indent="-177800">
              <a:spcAft>
                <a:spcPts val="500"/>
              </a:spcAft>
              <a:buSzPct val="100000"/>
              <a:buChar char="•"/>
            </a:pPr>
            <a:r>
              <a:rPr lang="en-US" sz="1450" dirty="0">
                <a:solidFill>
                  <a:srgbClr val="13202B"/>
                </a:solidFill>
                <a:latin typeface="Calibri" pitchFamily="34" charset="0"/>
                <a:ea typeface="Calibri" pitchFamily="34" charset="-122"/>
                <a:cs typeface="Calibri" pitchFamily="34" charset="-120"/>
              </a:rPr>
              <a:t>Later taps: move it</a:t>
            </a:r>
            <a:endParaRPr lang="en-US" sz="1450" dirty="0"/>
          </a:p>
        </p:txBody>
      </p:sp>
      <p:sp>
        <p:nvSpPr>
          <p:cNvPr id="15" name="Shape 9"/>
          <p:cNvSpPr/>
          <p:nvPr/>
        </p:nvSpPr>
        <p:spPr>
          <a:xfrm>
            <a:off x="8107680" y="1920240"/>
            <a:ext cx="3596640" cy="4206240"/>
          </a:xfrm>
          <a:prstGeom prst="roundRect">
            <a:avLst>
              <a:gd name="adj" fmla="val 2034"/>
            </a:avLst>
          </a:prstGeom>
          <a:solidFill>
            <a:srgbClr val="F4F7FA"/>
          </a:solidFill>
          <a:ln w="9525">
            <a:solidFill>
              <a:srgbClr val="D8E1E8"/>
            </a:solidFill>
            <a:prstDash val="solid"/>
          </a:ln>
        </p:spPr>
      </p:sp>
      <p:pic>
        <p:nvPicPr>
          <p:cNvPr id="16" name="Image 4" descr="preencoded.png">    </p:cNvPr>
          <p:cNvPicPr>
            <a:picLocks noChangeAspect="1"/>
          </p:cNvPicPr>
          <p:nvPr/>
        </p:nvPicPr>
        <p:blipFill>
          <a:blip r:embed="rId5"/>
          <a:stretch>
            <a:fillRect/>
          </a:stretch>
        </p:blipFill>
        <p:spPr>
          <a:xfrm>
            <a:off x="8290560" y="2103120"/>
            <a:ext cx="329184" cy="329184"/>
          </a:xfrm>
          <a:prstGeom prst="rect">
            <a:avLst/>
          </a:prstGeom>
        </p:spPr>
      </p:pic>
      <p:sp>
        <p:nvSpPr>
          <p:cNvPr id="17" name="Text 10"/>
          <p:cNvSpPr txBox="1"/>
          <p:nvPr/>
        </p:nvSpPr>
        <p:spPr>
          <a:xfrm>
            <a:off x="8747760" y="2103120"/>
            <a:ext cx="27736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SwapPrefab</a:t>
            </a:r>
            <a:endParaRPr lang="en-US" sz="1450" dirty="0"/>
          </a:p>
        </p:txBody>
      </p:sp>
      <p:sp>
        <p:nvSpPr>
          <p:cNvPr id="18" name="Text 11"/>
          <p:cNvSpPr txBox="1"/>
          <p:nvPr/>
        </p:nvSpPr>
        <p:spPr>
          <a:xfrm>
            <a:off x="8290560" y="2560320"/>
            <a:ext cx="3230880" cy="338328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rgbClr val="13202B"/>
                </a:solidFill>
                <a:latin typeface="Calibri" pitchFamily="34" charset="0"/>
                <a:ea typeface="Calibri" pitchFamily="34" charset="-122"/>
                <a:cs typeface="Calibri" pitchFamily="34" charset="-120"/>
              </a:rPr>
              <a:t>Menu button changes the selected Food</a:t>
            </a:r>
            <a:endParaRPr lang="en-US" sz="1450" dirty="0"/>
          </a:p>
          <a:p>
            <a:pPr marL="177800" indent="-177800">
              <a:spcAft>
                <a:spcPts val="500"/>
              </a:spcAft>
              <a:buSzPct val="100000"/>
              <a:buChar char="•"/>
            </a:pPr>
            <a:r>
              <a:rPr lang="en-US" sz="1450" dirty="0">
                <a:solidFill>
                  <a:srgbClr val="13202B"/>
                </a:solidFill>
                <a:latin typeface="Calibri" pitchFamily="34" charset="0"/>
                <a:ea typeface="Calibri" pitchFamily="34" charset="-122"/>
                <a:cs typeface="Calibri" pitchFamily="34" charset="-120"/>
              </a:rPr>
              <a:t>Destroy the placed object, Instantiate the new prefab at the same pose</a:t>
            </a:r>
            <a:endParaRPr lang="en-US" sz="1450" dirty="0"/>
          </a:p>
        </p:txBody>
      </p:sp>
      <p:sp>
        <p:nvSpPr>
          <p:cNvPr id="19" name="Text 12"/>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10 — Building Interactive AR Experiences (Ch. 6)</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ARPlacePrefab: tap to place on a plane</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ARRaycastManager does the "which real surface did I tap?" work.</a:t>
            </a:r>
            <a:endParaRPr lang="en-US" sz="1350" dirty="0"/>
          </a:p>
        </p:txBody>
      </p:sp>
      <p:sp>
        <p:nvSpPr>
          <p:cNvPr id="7" name="Shape 3"/>
          <p:cNvSpPr/>
          <p:nvPr/>
        </p:nvSpPr>
        <p:spPr>
          <a:xfrm>
            <a:off x="457200" y="1920240"/>
            <a:ext cx="6675120" cy="4206240"/>
          </a:xfrm>
          <a:prstGeom prst="roundRect">
            <a:avLst>
              <a:gd name="adj" fmla="val 1739"/>
            </a:avLst>
          </a:prstGeom>
          <a:solidFill>
            <a:srgbClr val="0B1620"/>
          </a:solidFill>
          <a:ln w="9525">
            <a:solidFill>
              <a:srgbClr val="0B1620"/>
            </a:solidFill>
            <a:prstDash val="solid"/>
          </a:ln>
        </p:spPr>
      </p:sp>
      <p:sp>
        <p:nvSpPr>
          <p:cNvPr id="8" name="Text 4"/>
          <p:cNvSpPr txBox="1"/>
          <p:nvPr/>
        </p:nvSpPr>
        <p:spPr>
          <a:xfrm>
            <a:off x="621792" y="2048256"/>
            <a:ext cx="6345936" cy="3950208"/>
          </a:xfrm>
          <a:prstGeom prst="rect">
            <a:avLst/>
          </a:prstGeom>
          <a:noFill/>
          <a:ln/>
        </p:spPr>
        <p:txBody>
          <a:bodyPr wrap="square" lIns="0" tIns="0" rIns="0" bIns="0" rtlCol="0" anchor="t"/>
          <a:lstStyle/>
          <a:p>
            <a:pPr indent="0" marL="0">
              <a:buNone/>
            </a:pPr>
            <a:r>
              <a:rPr lang="en-US" sz="1050" dirty="0">
                <a:solidFill>
                  <a:srgbClr val="D6E4EC"/>
                </a:solidFill>
                <a:latin typeface="Consolas" pitchFamily="34" charset="0"/>
                <a:ea typeface="Consolas" pitchFamily="34" charset="-122"/>
                <a:cs typeface="Consolas" pitchFamily="34" charset="-120"/>
              </a:rPr>
              <a:t>[RequireComponent(typeof(ARRaycastManager))]</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public class ARPlacePrefab : MonoBehaviour</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public GameObject prefab;          // set by the menu</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GameObject placed;</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ARRaycastManager raycaster;</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static readonly List&lt;ARRaycastHit&gt; hits = new();</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void Awake() =&gt; raycaster = GetComponent&lt;ARRaycastManager&gt;();</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void Update()</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if (Input.touchCount == 0) return;</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Touch touch = Input.GetTouch(0);</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if (touch.phase != TouchPhase.Began) return;</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if (!raycaster.Raycast(touch.position, hits,</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TrackableType.PlaneWithinPolygon)) return;</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Pose pose = hits[0].pose;</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if (placed == null)</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placed = Instantiate(prefab, pose.position, pose.rotation);</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else</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placed.transform.SetPositionAndRotation(pose.position, pose.rotation);</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D6E4EC"/>
                </a:solidFill>
                <a:latin typeface="Consolas" pitchFamily="34" charset="0"/>
                <a:ea typeface="Consolas" pitchFamily="34" charset="-122"/>
                <a:cs typeface="Consolas" pitchFamily="34" charset="-120"/>
              </a:rPr>
              <a:t>}</a:t>
            </a:r>
            <a:endParaRPr lang="en-US" sz="1050" dirty="0"/>
          </a:p>
        </p:txBody>
      </p:sp>
      <p:sp>
        <p:nvSpPr>
          <p:cNvPr id="9" name="Shape 5"/>
          <p:cNvSpPr/>
          <p:nvPr/>
        </p:nvSpPr>
        <p:spPr>
          <a:xfrm>
            <a:off x="7360920" y="1920240"/>
            <a:ext cx="4343400" cy="1988820"/>
          </a:xfrm>
          <a:prstGeom prst="roundRect">
            <a:avLst>
              <a:gd name="adj" fmla="val 3678"/>
            </a:avLst>
          </a:prstGeom>
          <a:solidFill>
            <a:srgbClr val="F4F7FA"/>
          </a:solidFill>
          <a:ln w="9525">
            <a:solidFill>
              <a:srgbClr val="D8E1E8"/>
            </a:solidFill>
            <a:prstDash val="solid"/>
          </a:ln>
        </p:spPr>
      </p:sp>
      <p:pic>
        <p:nvPicPr>
          <p:cNvPr id="10" name="Image 2" descr="preencoded.png">    </p:cNvPr>
          <p:cNvPicPr>
            <a:picLocks noChangeAspect="1"/>
          </p:cNvPicPr>
          <p:nvPr/>
        </p:nvPicPr>
        <p:blipFill>
          <a:blip r:embed="rId3"/>
          <a:stretch>
            <a:fillRect/>
          </a:stretch>
        </p:blipFill>
        <p:spPr>
          <a:xfrm>
            <a:off x="7543800" y="2103120"/>
            <a:ext cx="329184" cy="329184"/>
          </a:xfrm>
          <a:prstGeom prst="rect">
            <a:avLst/>
          </a:prstGeom>
        </p:spPr>
      </p:pic>
      <p:sp>
        <p:nvSpPr>
          <p:cNvPr id="11" name="Text 6"/>
          <p:cNvSpPr txBox="1"/>
          <p:nvPr/>
        </p:nvSpPr>
        <p:spPr>
          <a:xfrm>
            <a:off x="8001000" y="2103120"/>
            <a:ext cx="352044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PlaneWithinPolygon</a:t>
            </a:r>
            <a:endParaRPr lang="en-US" sz="1450" dirty="0"/>
          </a:p>
        </p:txBody>
      </p:sp>
      <p:sp>
        <p:nvSpPr>
          <p:cNvPr id="12" name="Text 7"/>
          <p:cNvSpPr txBox="1"/>
          <p:nvPr/>
        </p:nvSpPr>
        <p:spPr>
          <a:xfrm>
            <a:off x="7543800" y="2560320"/>
            <a:ext cx="397764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Only hits inside a detected plane’s outline</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Not just its infinite extension</a:t>
            </a:r>
            <a:endParaRPr lang="en-US" sz="1250" dirty="0"/>
          </a:p>
        </p:txBody>
      </p:sp>
      <p:sp>
        <p:nvSpPr>
          <p:cNvPr id="13" name="Shape 8"/>
          <p:cNvSpPr/>
          <p:nvPr/>
        </p:nvSpPr>
        <p:spPr>
          <a:xfrm>
            <a:off x="7360920" y="4137660"/>
            <a:ext cx="4343400" cy="1988820"/>
          </a:xfrm>
          <a:prstGeom prst="roundRect">
            <a:avLst>
              <a:gd name="adj" fmla="val 3678"/>
            </a:avLst>
          </a:prstGeom>
          <a:solidFill>
            <a:srgbClr val="0E2841"/>
          </a:solidFill>
          <a:ln w="9525">
            <a:solidFill>
              <a:srgbClr val="0E2841"/>
            </a:solidFill>
            <a:prstDash val="solid"/>
          </a:ln>
        </p:spPr>
      </p:sp>
      <p:pic>
        <p:nvPicPr>
          <p:cNvPr id="14" name="Image 3" descr="preencoded.png">    </p:cNvPr>
          <p:cNvPicPr>
            <a:picLocks noChangeAspect="1"/>
          </p:cNvPicPr>
          <p:nvPr/>
        </p:nvPicPr>
        <p:blipFill>
          <a:blip r:embed="rId4"/>
          <a:stretch>
            <a:fillRect/>
          </a:stretch>
        </p:blipFill>
        <p:spPr>
          <a:xfrm>
            <a:off x="7543800" y="4320540"/>
            <a:ext cx="329184" cy="329184"/>
          </a:xfrm>
          <a:prstGeom prst="rect">
            <a:avLst/>
          </a:prstGeom>
        </p:spPr>
      </p:pic>
      <p:sp>
        <p:nvSpPr>
          <p:cNvPr id="15" name="Text 9"/>
          <p:cNvSpPr txBox="1"/>
          <p:nvPr/>
        </p:nvSpPr>
        <p:spPr>
          <a:xfrm>
            <a:off x="8001000" y="4320540"/>
            <a:ext cx="352044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Don’t place through the UI</a:t>
            </a:r>
            <a:endParaRPr lang="en-US" sz="1450" dirty="0"/>
          </a:p>
        </p:txBody>
      </p:sp>
      <p:sp>
        <p:nvSpPr>
          <p:cNvPr id="16" name="Text 10"/>
          <p:cNvSpPr txBox="1"/>
          <p:nvPr/>
        </p:nvSpPr>
        <p:spPr>
          <a:xfrm>
            <a:off x="7543800" y="4777740"/>
            <a:ext cx="397764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Check EventSystem.current.IsPointerOverGameObject(touch.fingerId) first</a:t>
            </a:r>
            <a:endParaRPr lang="en-US" sz="1250" dirty="0"/>
          </a:p>
        </p:txBody>
      </p:sp>
      <p:sp>
        <p:nvSpPr>
          <p:cNvPr id="17" name="Text 1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10 — Building Interactive AR Experiences (Ch. 6)</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SwapPrefab: the menu buttons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Each dish button calls Swap with its prefab: remember the pose, replace the object.</a:t>
            </a:r>
            <a:endParaRPr lang="en-US" sz="1350" dirty="0"/>
          </a:p>
        </p:txBody>
      </p:sp>
      <p:sp>
        <p:nvSpPr>
          <p:cNvPr id="7" name="Shape 3"/>
          <p:cNvSpPr/>
          <p:nvPr/>
        </p:nvSpPr>
        <p:spPr>
          <a:xfrm>
            <a:off x="457200" y="1920240"/>
            <a:ext cx="6675120" cy="4206240"/>
          </a:xfrm>
          <a:prstGeom prst="roundRect">
            <a:avLst>
              <a:gd name="adj" fmla="val 1739"/>
            </a:avLst>
          </a:prstGeom>
          <a:solidFill>
            <a:srgbClr val="0B1620"/>
          </a:solidFill>
          <a:ln w="9525">
            <a:solidFill>
              <a:srgbClr val="0B1620"/>
            </a:solidFill>
            <a:prstDash val="solid"/>
          </a:ln>
        </p:spPr>
      </p:sp>
      <p:sp>
        <p:nvSpPr>
          <p:cNvPr id="8" name="Text 4"/>
          <p:cNvSpPr txBox="1"/>
          <p:nvPr/>
        </p:nvSpPr>
        <p:spPr>
          <a:xfrm>
            <a:off x="621792" y="2048256"/>
            <a:ext cx="6345936" cy="3950208"/>
          </a:xfrm>
          <a:prstGeom prst="rect">
            <a:avLst/>
          </a:prstGeom>
          <a:noFill/>
          <a:ln/>
        </p:spPr>
        <p:txBody>
          <a:bodyPr wrap="square" lIns="0" tIns="0" rIns="0" bIns="0" rtlCol="0" anchor="t"/>
          <a:lstStyle/>
          <a:p>
            <a:pPr indent="0" marL="0">
              <a:buNone/>
            </a:pPr>
            <a:r>
              <a:rPr lang="en-US" sz="1200" dirty="0">
                <a:solidFill>
                  <a:srgbClr val="6EE7A8"/>
                </a:solidFill>
                <a:latin typeface="Consolas" pitchFamily="34" charset="0"/>
                <a:ea typeface="Consolas" pitchFamily="34" charset="-122"/>
                <a:cs typeface="Consolas" pitchFamily="34" charset="-120"/>
              </a:rPr>
              <a:t>// in ARPlacePrefab</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public void Swap(GameObject next)      // UI Button -&gt; On Click</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prefab = next;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if (placed == null) return;        // nothing placed yet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var pose = new Pose(placed.transform.position,</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placed.transform.rotation);</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Destroy(placed);</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placed = Instantiate(prefab, pose.position, pose.rotation);</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a:t>
            </a:r>
            <a:endParaRPr lang="en-US" sz="1200" dirty="0"/>
          </a:p>
        </p:txBody>
      </p:sp>
      <p:sp>
        <p:nvSpPr>
          <p:cNvPr id="9" name="Shape 5"/>
          <p:cNvSpPr/>
          <p:nvPr/>
        </p:nvSpPr>
        <p:spPr>
          <a:xfrm>
            <a:off x="7360920" y="1920240"/>
            <a:ext cx="4343400" cy="1988820"/>
          </a:xfrm>
          <a:prstGeom prst="roundRect">
            <a:avLst>
              <a:gd name="adj" fmla="val 3678"/>
            </a:avLst>
          </a:prstGeom>
          <a:solidFill>
            <a:srgbClr val="F4F7FA"/>
          </a:solidFill>
          <a:ln w="9525">
            <a:solidFill>
              <a:srgbClr val="D8E1E8"/>
            </a:solidFill>
            <a:prstDash val="solid"/>
          </a:ln>
        </p:spPr>
      </p:sp>
      <p:pic>
        <p:nvPicPr>
          <p:cNvPr id="10" name="Image 2" descr="preencoded.png">    </p:cNvPr>
          <p:cNvPicPr>
            <a:picLocks noChangeAspect="1"/>
          </p:cNvPicPr>
          <p:nvPr/>
        </p:nvPicPr>
        <p:blipFill>
          <a:blip r:embed="rId3"/>
          <a:stretch>
            <a:fillRect/>
          </a:stretch>
        </p:blipFill>
        <p:spPr>
          <a:xfrm>
            <a:off x="7543800" y="2103120"/>
            <a:ext cx="329184" cy="329184"/>
          </a:xfrm>
          <a:prstGeom prst="rect">
            <a:avLst/>
          </a:prstGeom>
        </p:spPr>
      </p:pic>
      <p:sp>
        <p:nvSpPr>
          <p:cNvPr id="11" name="Text 6"/>
          <p:cNvSpPr txBox="1"/>
          <p:nvPr/>
        </p:nvSpPr>
        <p:spPr>
          <a:xfrm>
            <a:off x="8001000" y="2103120"/>
            <a:ext cx="352044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Wire it up (no code)</a:t>
            </a:r>
            <a:endParaRPr lang="en-US" sz="1450" dirty="0"/>
          </a:p>
        </p:txBody>
      </p:sp>
      <p:sp>
        <p:nvSpPr>
          <p:cNvPr id="12" name="Text 7"/>
          <p:cNvSpPr txBox="1"/>
          <p:nvPr/>
        </p:nvSpPr>
        <p:spPr>
          <a:xfrm>
            <a:off x="7543800" y="2560320"/>
            <a:ext cx="397764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Button → On Click (+)</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Drag in the XR Origin</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Pick ARPlacePrefab.Swap</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Drag the dish prefab into the argument</a:t>
            </a:r>
            <a:endParaRPr lang="en-US" sz="1250" dirty="0"/>
          </a:p>
        </p:txBody>
      </p:sp>
      <p:sp>
        <p:nvSpPr>
          <p:cNvPr id="13" name="Shape 8"/>
          <p:cNvSpPr/>
          <p:nvPr/>
        </p:nvSpPr>
        <p:spPr>
          <a:xfrm>
            <a:off x="7360920" y="4137660"/>
            <a:ext cx="4343400" cy="1988820"/>
          </a:xfrm>
          <a:prstGeom prst="roundRect">
            <a:avLst>
              <a:gd name="adj" fmla="val 3678"/>
            </a:avLst>
          </a:prstGeom>
          <a:solidFill>
            <a:srgbClr val="0E2841"/>
          </a:solidFill>
          <a:ln w="9525">
            <a:solidFill>
              <a:srgbClr val="0E2841"/>
            </a:solidFill>
            <a:prstDash val="solid"/>
          </a:ln>
        </p:spPr>
      </p:sp>
      <p:pic>
        <p:nvPicPr>
          <p:cNvPr id="14" name="Image 3" descr="preencoded.png">    </p:cNvPr>
          <p:cNvPicPr>
            <a:picLocks noChangeAspect="1"/>
          </p:cNvPicPr>
          <p:nvPr/>
        </p:nvPicPr>
        <p:blipFill>
          <a:blip r:embed="rId4"/>
          <a:stretch>
            <a:fillRect/>
          </a:stretch>
        </p:blipFill>
        <p:spPr>
          <a:xfrm>
            <a:off x="7543800" y="4320540"/>
            <a:ext cx="329184" cy="329184"/>
          </a:xfrm>
          <a:prstGeom prst="rect">
            <a:avLst/>
          </a:prstGeom>
        </p:spPr>
      </p:pic>
      <p:sp>
        <p:nvSpPr>
          <p:cNvPr id="15" name="Text 9"/>
          <p:cNvSpPr txBox="1"/>
          <p:nvPr/>
        </p:nvSpPr>
        <p:spPr>
          <a:xfrm>
            <a:off x="8001000" y="4320540"/>
            <a:ext cx="352044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With Food data</a:t>
            </a:r>
            <a:endParaRPr lang="en-US" sz="1450" dirty="0"/>
          </a:p>
        </p:txBody>
      </p:sp>
      <p:sp>
        <p:nvSpPr>
          <p:cNvPr id="16" name="Text 10"/>
          <p:cNvSpPr txBox="1"/>
          <p:nvPr/>
        </p:nvSpPr>
        <p:spPr>
          <a:xfrm>
            <a:off x="7543800" y="4777740"/>
            <a:ext cx="397764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Button label = food.name + food.price</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Argument = food.prefab</a:t>
            </a:r>
            <a:endParaRPr lang="en-US" sz="1250" dirty="0"/>
          </a:p>
        </p:txBody>
      </p:sp>
      <p:sp>
        <p:nvSpPr>
          <p:cNvPr id="17" name="Text 1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10 — Building Interactive AR Experiences (Ch. 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The same "menu → place → swap" pattern in WaterWorks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Menu = palette/shelf, placement = spawn at a pose, swap = delete + spawn at the same pose.</a:t>
            </a:r>
            <a:endParaRPr lang="en-US" sz="1350" dirty="0"/>
          </a:p>
        </p:txBody>
      </p:sp>
      <p:pic>
        <p:nvPicPr>
          <p:cNvPr id="7" name="Image 2" descr="C:\Users\Jeremy Callinan\AppData\Local\Temp\claude\c--GitHub-CIST1423-Fall2026-Examples\62e170c0-4055-4e17-811f-6bb67e40bfc7\scratchpad\deck\img\ww_desktop.jpg">    </p:cNvPr>
          <p:cNvPicPr>
            <a:picLocks noChangeAspect="1"/>
          </p:cNvPicPr>
          <p:nvPr/>
        </p:nvPicPr>
        <p:blipFill>
          <a:blip r:embed="rId3"/>
          <a:stretch>
            <a:fillRect/>
          </a:stretch>
        </p:blipFill>
        <p:spPr>
          <a:xfrm>
            <a:off x="519862" y="1920240"/>
            <a:ext cx="5361076" cy="3017520"/>
          </a:xfrm>
          <a:prstGeom prst="rect">
            <a:avLst/>
          </a:prstGeom>
        </p:spPr>
      </p:pic>
      <p:sp>
        <p:nvSpPr>
          <p:cNvPr id="8" name="Text 3"/>
          <p:cNvSpPr txBox="1"/>
          <p:nvPr/>
        </p:nvSpPr>
        <p:spPr>
          <a:xfrm>
            <a:off x="457200" y="5029200"/>
            <a:ext cx="548640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Desktop palette: each button spawns a part type near the view centre</a:t>
            </a:r>
            <a:endParaRPr lang="en-US" sz="1200" dirty="0"/>
          </a:p>
        </p:txBody>
      </p:sp>
      <p:pic>
        <p:nvPicPr>
          <p:cNvPr id="9" name="Image 3" descr="C:\Users\Jeremy Callinan\AppData\Local\Temp\claude\c--GitHub-CIST1423-Fall2026-Examples\62e170c0-4055-4e17-811f-6bb67e40bfc7\scratchpad\deck\img\ww_shelf.jpg">    </p:cNvPr>
          <p:cNvPicPr>
            <a:picLocks noChangeAspect="1"/>
          </p:cNvPicPr>
          <p:nvPr/>
        </p:nvPicPr>
        <p:blipFill>
          <a:blip r:embed="rId4"/>
          <a:stretch>
            <a:fillRect/>
          </a:stretch>
        </p:blipFill>
        <p:spPr>
          <a:xfrm>
            <a:off x="7132320" y="1920240"/>
            <a:ext cx="3657600" cy="3017520"/>
          </a:xfrm>
          <a:prstGeom prst="rect">
            <a:avLst/>
          </a:prstGeom>
        </p:spPr>
      </p:pic>
      <p:sp>
        <p:nvSpPr>
          <p:cNvPr id="10" name="Text 4"/>
          <p:cNvSpPr txBox="1"/>
          <p:nvPr/>
        </p:nvSpPr>
        <p:spPr>
          <a:xfrm>
            <a:off x="6217920" y="5029200"/>
            <a:ext cx="548640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In the headset: the shelf is the menu, reaching in is the "tap"</a:t>
            </a:r>
            <a:endParaRPr lang="en-US" sz="1200" dirty="0"/>
          </a:p>
        </p:txBody>
      </p:sp>
      <p:sp>
        <p:nvSpPr>
          <p:cNvPr id="11" name="Shape 5"/>
          <p:cNvSpPr/>
          <p:nvPr/>
        </p:nvSpPr>
        <p:spPr>
          <a:xfrm>
            <a:off x="457200" y="5532120"/>
            <a:ext cx="11247120" cy="548640"/>
          </a:xfrm>
          <a:prstGeom prst="roundRect">
            <a:avLst>
              <a:gd name="adj" fmla="val 13333"/>
            </a:avLst>
          </a:prstGeom>
          <a:solidFill>
            <a:srgbClr val="F4F7FA"/>
          </a:solidFill>
          <a:ln w="9525">
            <a:solidFill>
              <a:srgbClr val="D8E1E8"/>
            </a:solidFill>
            <a:prstDash val="solid"/>
          </a:ln>
        </p:spPr>
      </p:sp>
      <p:sp>
        <p:nvSpPr>
          <p:cNvPr id="12" name="Text 6"/>
          <p:cNvSpPr txBox="1"/>
          <p:nvPr/>
        </p:nvSpPr>
        <p:spPr>
          <a:xfrm>
            <a:off x="457200" y="5532120"/>
            <a:ext cx="11247120" cy="548640"/>
          </a:xfrm>
          <a:prstGeom prst="rect">
            <a:avLst/>
          </a:prstGeom>
          <a:noFill/>
          <a:ln/>
        </p:spPr>
        <p:txBody>
          <a:bodyPr wrap="square" lIns="0" tIns="0" rIns="0" bIns="0" rtlCol="0" anchor="ctr"/>
          <a:lstStyle/>
          <a:p>
            <a:pPr algn="ctr" indent="0" marL="0">
              <a:buNone/>
            </a:pPr>
            <a:r>
              <a:rPr lang="en-US" sz="1250" dirty="0">
                <a:solidFill>
                  <a:srgbClr val="5B6B76"/>
                </a:solidFill>
                <a:latin typeface="Calibri" pitchFamily="34" charset="0"/>
                <a:ea typeface="Calibri" pitchFamily="34" charset="-122"/>
                <a:cs typeface="Calibri" pitchFamily="34" charset="-120"/>
              </a:rPr>
              <a:t>Exercise: add a "swap" to WaterWorks: select a pipe and turn it into a gate valve at the same pose.</a:t>
            </a:r>
            <a:endParaRPr lang="en-US" sz="1250" dirty="0"/>
          </a:p>
        </p:txBody>
      </p:sp>
      <p:sp>
        <p:nvSpPr>
          <p:cNvPr id="13" name="Text 7"/>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10 — Building Interactive AR Experiences (Ch. 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Check your understanding</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Answer with a partner first, then we'll compare.</a:t>
            </a:r>
            <a:endParaRPr lang="en-US" sz="1350" dirty="0"/>
          </a:p>
        </p:txBody>
      </p:sp>
      <p:sp>
        <p:nvSpPr>
          <p:cNvPr id="7" name="Shape 3"/>
          <p:cNvSpPr/>
          <p:nvPr/>
        </p:nvSpPr>
        <p:spPr>
          <a:xfrm>
            <a:off x="457200" y="1920240"/>
            <a:ext cx="3596640" cy="4206240"/>
          </a:xfrm>
          <a:prstGeom prst="roundRect">
            <a:avLst>
              <a:gd name="adj" fmla="val 2034"/>
            </a:avLst>
          </a:prstGeom>
          <a:solidFill>
            <a:srgbClr val="F4F7FA"/>
          </a:solidFill>
          <a:ln w="9525">
            <a:solidFill>
              <a:srgbClr val="D8E1E8"/>
            </a:solidFill>
            <a:prstDash val="solid"/>
          </a:ln>
        </p:spPr>
      </p:sp>
      <p:sp>
        <p:nvSpPr>
          <p:cNvPr id="8" name="Text 4"/>
          <p:cNvSpPr txBox="1"/>
          <p:nvPr/>
        </p:nvSpPr>
        <p:spPr>
          <a:xfrm>
            <a:off x="685800" y="210312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Q1</a:t>
            </a:r>
            <a:endParaRPr lang="en-US" sz="2400" dirty="0"/>
          </a:p>
        </p:txBody>
      </p:sp>
      <p:sp>
        <p:nvSpPr>
          <p:cNvPr id="9" name="Text 5"/>
          <p:cNvSpPr txBox="1"/>
          <p:nvPr/>
        </p:nvSpPr>
        <p:spPr>
          <a:xfrm>
            <a:off x="685800" y="2606040"/>
            <a:ext cx="3139440" cy="333756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What does TrackableType.PlaneWithinPolygon filter for?</a:t>
            </a:r>
            <a:endParaRPr lang="en-US" sz="1600" dirty="0"/>
          </a:p>
        </p:txBody>
      </p:sp>
      <p:sp>
        <p:nvSpPr>
          <p:cNvPr id="10" name="Shape 6"/>
          <p:cNvSpPr/>
          <p:nvPr/>
        </p:nvSpPr>
        <p:spPr>
          <a:xfrm>
            <a:off x="4282440" y="1920240"/>
            <a:ext cx="3596640" cy="4206240"/>
          </a:xfrm>
          <a:prstGeom prst="roundRect">
            <a:avLst>
              <a:gd name="adj" fmla="val 2034"/>
            </a:avLst>
          </a:prstGeom>
          <a:solidFill>
            <a:srgbClr val="F4F7FA"/>
          </a:solidFill>
          <a:ln w="9525">
            <a:solidFill>
              <a:srgbClr val="D8E1E8"/>
            </a:solidFill>
            <a:prstDash val="solid"/>
          </a:ln>
        </p:spPr>
      </p:sp>
      <p:sp>
        <p:nvSpPr>
          <p:cNvPr id="11" name="Text 7"/>
          <p:cNvSpPr txBox="1"/>
          <p:nvPr/>
        </p:nvSpPr>
        <p:spPr>
          <a:xfrm>
            <a:off x="4511040" y="210312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Q2</a:t>
            </a:r>
            <a:endParaRPr lang="en-US" sz="2400" dirty="0"/>
          </a:p>
        </p:txBody>
      </p:sp>
      <p:sp>
        <p:nvSpPr>
          <p:cNvPr id="12" name="Text 8"/>
          <p:cNvSpPr txBox="1"/>
          <p:nvPr/>
        </p:nvSpPr>
        <p:spPr>
          <a:xfrm>
            <a:off x="4511040" y="2606040"/>
            <a:ext cx="3139440" cy="333756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How does Swap keep the object in the same place?</a:t>
            </a:r>
            <a:endParaRPr lang="en-US" sz="1600" dirty="0"/>
          </a:p>
        </p:txBody>
      </p:sp>
      <p:sp>
        <p:nvSpPr>
          <p:cNvPr id="13" name="Shape 9"/>
          <p:cNvSpPr/>
          <p:nvPr/>
        </p:nvSpPr>
        <p:spPr>
          <a:xfrm>
            <a:off x="8107680" y="1920240"/>
            <a:ext cx="3596640" cy="4206240"/>
          </a:xfrm>
          <a:prstGeom prst="roundRect">
            <a:avLst>
              <a:gd name="adj" fmla="val 2034"/>
            </a:avLst>
          </a:prstGeom>
          <a:solidFill>
            <a:srgbClr val="F4F7FA"/>
          </a:solidFill>
          <a:ln w="9525">
            <a:solidFill>
              <a:srgbClr val="D8E1E8"/>
            </a:solidFill>
            <a:prstDash val="solid"/>
          </a:ln>
        </p:spPr>
      </p:sp>
      <p:sp>
        <p:nvSpPr>
          <p:cNvPr id="14" name="Text 10"/>
          <p:cNvSpPr txBox="1"/>
          <p:nvPr/>
        </p:nvSpPr>
        <p:spPr>
          <a:xfrm>
            <a:off x="8336280" y="210312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Q3</a:t>
            </a:r>
            <a:endParaRPr lang="en-US" sz="2400" dirty="0"/>
          </a:p>
        </p:txBody>
      </p:sp>
      <p:sp>
        <p:nvSpPr>
          <p:cNvPr id="15" name="Text 11"/>
          <p:cNvSpPr txBox="1"/>
          <p:nvPr/>
        </p:nvSpPr>
        <p:spPr>
          <a:xfrm>
            <a:off x="8336280" y="2606040"/>
            <a:ext cx="3139440" cy="333756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Why check IsPointerOverGameObject before raycasting?</a:t>
            </a:r>
            <a:endParaRPr lang="en-US" sz="1600" dirty="0"/>
          </a:p>
        </p:txBody>
      </p:sp>
      <p:sp>
        <p:nvSpPr>
          <p:cNvPr id="16" name="Text 12"/>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 10 — Building Interactive AR Experiences (Ch. 6)</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C10"/>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56032"/>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457200" y="1097280"/>
            <a:ext cx="9601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Next steps: homework + planning</a:t>
            </a:r>
            <a:endParaRPr lang="en-US" sz="3600" dirty="0"/>
          </a:p>
        </p:txBody>
      </p:sp>
      <p:sp>
        <p:nvSpPr>
          <p:cNvPr id="5" name="Text 1"/>
          <p:cNvSpPr txBox="1"/>
          <p:nvPr/>
        </p:nvSpPr>
        <p:spPr>
          <a:xfrm>
            <a:off x="548640" y="2103120"/>
            <a:ext cx="7863840" cy="384048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Implement an AR menu interaction (place + swap prefab) in your AR prototype, or a swap in your WebXR fork</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Submit via GitHub with a Markdown reflection</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Next week: Ch. 7, sound and visual effects (Exam 3)</a:t>
            </a:r>
            <a:endParaRPr lang="en-US" sz="1600" dirty="0"/>
          </a:p>
        </p:txBody>
      </p:sp>
      <p:pic>
        <p:nvPicPr>
          <p:cNvPr id="6" name="Image 2" descr="C:\Users\Jeremy Callinan\AppData\Local\Temp\claude\c--GitHub-CIST1423-Fall2026-Examples\62e170c0-4055-4e17-811f-6bb67e40bfc7\scratchpad\deck\img\alumni_badge.jpg">    </p:cNvPr>
          <p:cNvPicPr>
            <a:picLocks noChangeAspect="1"/>
          </p:cNvPicPr>
          <p:nvPr/>
        </p:nvPicPr>
        <p:blipFill>
          <a:blip r:embed="rId3"/>
          <a:stretch>
            <a:fillRect/>
          </a:stretch>
        </p:blipFill>
        <p:spPr>
          <a:xfrm>
            <a:off x="8778240" y="4846320"/>
            <a:ext cx="2926080" cy="1691640"/>
          </a:xfrm>
          <a:prstGeom prst="rect">
            <a:avLst/>
          </a:prstGeom>
        </p:spPr>
      </p:pic>
      <p:sp>
        <p:nvSpPr>
          <p:cNvPr id="7" name="Text 2"/>
          <p:cNvSpPr txBox="1"/>
          <p:nvPr/>
        </p:nvSpPr>
        <p:spPr>
          <a:xfrm>
            <a:off x="320040" y="6528816"/>
            <a:ext cx="8229600" cy="274320"/>
          </a:xfrm>
          <a:prstGeom prst="rect">
            <a:avLst/>
          </a:prstGeom>
          <a:noFill/>
          <a:ln/>
        </p:spPr>
        <p:txBody>
          <a:bodyPr wrap="square" lIns="0" tIns="0" rIns="0" bIns="0" rtlCol="0" anchor="ctr"/>
          <a:lstStyle/>
          <a:p>
            <a:pPr indent="0" marL="0">
              <a:buNone/>
            </a:pPr>
            <a:r>
              <a:rPr lang="en-US" sz="1050" dirty="0">
                <a:solidFill>
                  <a:srgbClr val="9AA7B1"/>
                </a:solidFill>
                <a:latin typeface="Calibri" pitchFamily="34" charset="0"/>
                <a:ea typeface="Calibri" pitchFamily="34" charset="-122"/>
                <a:cs typeface="Calibri" pitchFamily="34" charset="-120"/>
              </a:rPr>
              <a:t>CIST 1423 — Week 10 — Building Interactive AR Experiences (Ch. 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Interactive AR: a menu that places and swaps objects in the real world</dc:title>
  <dc:subject>PptxGenJS Presentation</dc:subject>
  <dc:creator>PptxGenJS</dc:creator>
  <cp:lastModifiedBy>PptxGenJS</cp:lastModifiedBy>
  <cp:revision>1</cp:revision>
  <dcterms:created xsi:type="dcterms:W3CDTF">2026-09-28T00:20:10Z</dcterms:created>
  <dcterms:modified xsi:type="dcterms:W3CDTF">2026-09-28T00:20:10Z</dcterms:modified>
</cp:coreProperties>
</file>