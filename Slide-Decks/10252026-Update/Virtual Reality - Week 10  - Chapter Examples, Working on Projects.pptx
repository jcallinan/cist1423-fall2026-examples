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67" r:id="rId3"/>
    <p:sldId id="269" r:id="rId4"/>
    <p:sldId id="258" r:id="rId5"/>
    <p:sldId id="259" r:id="rId6"/>
    <p:sldId id="260" r:id="rId7"/>
    <p:sldId id="261" r:id="rId8"/>
    <p:sldId id="262" r:id="rId9"/>
    <p:sldId id="263" r:id="rId10"/>
    <p:sldId id="271" r:id="rId11"/>
    <p:sldId id="265" r:id="rId12"/>
    <p:sldId id="272" r:id="rId13"/>
    <p:sldId id="273" r:id="rId14"/>
    <p:sldId id="268" r:id="rId15"/>
    <p:sldId id="274" r:id="rId16"/>
    <p:sldId id="275" r:id="rId17"/>
    <p:sldId id="276" r:id="rId18"/>
    <p:sldId id="277" r:id="rId19"/>
    <p:sldId id="278" r:id="rId20"/>
    <p:sldId id="270" r:id="rId21"/>
    <p:sldId id="264" r:id="rId22"/>
    <p:sldId id="26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2" dt="2026-10-25T21:11:37.807"/>
    <p1510:client id="{C125F252-A5DA-A89D-661F-A0EF3C0A887C}" v="101" dt="2026-10-25T21:51:26.3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9648EC8D-19F9-449E-89EC-5B489E167C8E}" type="datetimeFigureOut">
              <a:t>10/25/2026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4536B1E-69AD-4B40-BA23-A32FB2BC250C}" type="slidenum">
              <a:t>‹#›</a:t>
            </a:fld>
            <a:endParaRPr lang="en-US"/>
          </a:p>
        </p:txBody>
      </p:sp>
    </p:spTree>
    <p:extLst>
      <p:ext uri="{BB962C8B-B14F-4D97-AF65-F5344CB8AC3E}">
        <p14:creationId xmlns:p14="http://schemas.microsoft.com/office/powerpoint/2010/main" val="562578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Syllabus Week 6. Next week (normally AR II) is WebXR building instead, so this week carries the core AR concepts.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recommends XR Interaction Toolkit 2.5.1. Newer toolkit versions rename some prefabs and sample paths, so if a path in the book doesn't match your project, search the Project window for the prefab name instead of following the folder path. Our example folders were numbered by course week, which is why Chapter 5 lives in Week-09.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has two halves. The first half builds every interaction with the Animator and UnityEvents, no code. The second half explains when code becomes necessary and writes a small C# script.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Magenta means the material's shader doesn't exist in your render pipeline. The VR template doesn't include URP by default, so install it first. The Render Pipeline Converter batches the fix, but still spot-check each material afterward. The canvas scale of 0.001 matters: a canvas is measured in pixels, and at scale 1 a 500-pixel canvas is 500 meters wide in VR.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“Last” versions matter when more than one interactor can touch the same object: two hands, or a hand plus a gaze ray. First Hover Entered fires once when the first interactor arrives; Last Hover Exited fires once when the final one leaves. We use exactly that pair again in Chapter 8 for the gaze cubes.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steps: create an Animations folder; select the taxi; Window › Animation › Animation; Create clip RotateCar; keyframe rotation; tick Loop Time on the clip. Adding the clip creates an Animator Controller. Open it, create an empty state called Idle, set it as default, make transitions both ways, add the two trigger parameters, and set each transition's condition. Finally, on the push button, add the taxi to Select Entered and Select Exited and choose Animator.SetTrigger with the trigger name typed in. Hold the button and the taxi spins; let go and it stops.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cross transitions between ScaleCar and ShrinkCar? Without them the car can only grow or shrink once from Idle, then it is stuck. With them, the user can bounce back and forth as often as they like. This is the same pattern you'd use for a door: Open and Closed states with triggers both ways.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not either/or. Most real projects use both: the Animator holds hand-made clips like a walk cycle, and C# decides which one plays and when. The bus slider coming up is the “real-time input” case: the scale depends on where the user drags the slider at that instant, so no keyframe can know it in advance.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XRGrab example subscribes with onSelectEntered and onSelectExited. Those older event names are deprecated in the XR Interaction Toolkit; the current names are selectEntered and selectExited, which is what's on the slide (written with lambdas to fit). The idea is identical: subscribe in OnEnable, and good practice is to unsubscribe in OnDisable. Naming rules for classes: start with a capital letter, no spaces, special characters or underscores, and no reserved words like class, int or void.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fields show up in the Inspector, which is how the script gets its references without a Find call. The book polls the slider every frame in Update; that's fine for one slider but wasteful at scale. The onValueChanged event version is a nice extension for students who finish early. Test the whole CarExhibition scene with the simulator or on the Vive: teleport to the taxi, the police car and the bus.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builds on the AR Foundation setup from Chapter 4. Everything here runs on an ARCore Android phone or an ARKit iPhone; you can also test parts in the Editor with the XR Simulation environment from Chapter 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key design advice: don't force AR into an app. Ask what the real world adds. For your projects, if you're doing AR, be able to say in one sentence why the camera view makes the experience better than a 2D screen would.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new scene ARFoodMenu, delete Main Camera, add XR › AR Session Origin and XR › AR Session. On the Session Origin, add AR Plane Manager, set its Plane Prefab to ARPlane and Detection Mode to Horizontal, then add AR Raycast Manager with no prefab, since we only need the hit math. The main script lives on the Session Origin because that's where real-world alignment lives.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photogrammetry option: it's the same workflow we used for the Panther statue scan. For food it's harder, because uniform colors and textures give the software little to match. The Resources folder is special in Unity: anything inside it can be loaded by name at runtime, which is why the material must be named exactly GridMaterial and live in a folder called Resources. We'll use Resources again in Chapter 8 for Photon.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most mobile AR apps, so it's worth slowing down. The ray always starts at the center of the screen, so the user aims by moving the phone, not by tapping a spot. Raycast fills a list of hits sorted by distance; hits[0] is the nearest plane. The pose gives both position and rotation, so the dish sits flat on the table. PlaceObject destroys the previous dish before instantiating the new one, so there's only ever one dish on the table. The Place First Meal button calls PlaceObjectIfNeeded, which also hides the InfoPanel.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Serializable is what lets an array of plain C# objects show up as editable rows in the Inspector, which is how we type in French Fries, Tofu and Kashipan with their nutrition info without a database. The modulo trick is worth teaching on its own: with three foods, index 2 plus 1 is 3, and 3 mod 3 is 0, so the menu loops. The info text uses TextMeshPro rich-text tags like b and color for formatting.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mistakes in the book so much as two years of package updates. Check the README in Week-10-Interactive-AR for the exact Unity and AR Foundation versions the example was built with. If the managers look different in your project, the concepts are unchanged: something tracks the session, something maps device space to Unity space, something finds planes, and something raycasts against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CIST 1422 · Game Design and Programming</a:t>
            </a:r>
            <a:endParaRPr lang="en-US" sz="1000" dirty="0"/>
          </a:p>
        </p:txBody>
      </p:sp>
      <p:sp>
        <p:nvSpPr>
          <p:cNvPr id="3" name="Text 1"/>
          <p:cNvSpPr>
            <a:spLocks noGrp="1"/>
          </p:cNvSpPr>
          <p:nvPr>
            <p:ph type="title" idx="101" hasCustomPrompt="1"/>
          </p:nvPr>
        </p:nvSpPr>
        <p:spPr>
          <a:xfrm>
            <a:off x="548640" y="320040"/>
            <a:ext cx="11064240" cy="82296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32212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04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003594"/>
                </a:solidFill>
                <a:latin typeface="Carlito" pitchFamily="34" charset="0"/>
                <a:ea typeface="Carlito" pitchFamily="34" charset="-122"/>
                <a:cs typeface="Carlito"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36341"/>
            <a:ext cx="10566400" cy="4208859"/>
          </a:xfrm>
          <a:prstGeom prst="rect">
            <a:avLst/>
          </a:prstGeom>
          <a:noFill/>
          <a:ln/>
        </p:spPr>
        <p:txBody>
          <a:bodyPr wrap="square" lIns="0" tIns="0" rIns="0" bIns="0" rtlCol="0" anchor="t"/>
          <a:lstStyle>
            <a:lvl1pPr marL="0" indent="0" algn="l">
              <a:lnSpc>
                <a:spcPct val="140000"/>
              </a:lnSpc>
              <a:buNone/>
              <a:defRPr lang="en-US" sz="1600" dirty="0">
                <a:solidFill>
                  <a:srgbClr val="003594"/>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528739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github.com/jcallinan/CIST1423-Fall2026-Examples" TargetMode="Externa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1.jpeg"/><Relationship Id="rId2" Type="http://schemas.openxmlformats.org/officeDocument/2006/relationships/image" Target="../media/image17.jpeg"/><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9.pn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github.com/jcallinan/CIST1423-Fall2026-Examples/tree/master/Week-08-WebXR-WaterWorks"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20.jpg"/><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9.png"/><Relationship Id="rId7" Type="http://schemas.openxmlformats.org/officeDocument/2006/relationships/hyperlink" Target="https://github.com/jcallinan/CIST1423-Fall2026-Examples"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github.com/users/jcallinan/projects/2/views/2" TargetMode="External"/><Relationship Id="rId5" Type="http://schemas.openxmlformats.org/officeDocument/2006/relationships/hyperlink" Target="https://canvas.pitt.edu/courses/381238/assignments/2244240?module_item_id=7074251" TargetMode="Externa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icPr>
            <a:picLocks noChangeAspect="1"/>
          </p:cNvPicPr>
          <p:nvPr/>
        </p:nvPicPr>
        <p:blipFill>
          <a:blip r:embed="rId3"/>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icPr>
            <a:picLocks noChangeAspect="1"/>
          </p:cNvPicPr>
          <p:nvPr/>
        </p:nvPicPr>
        <p:blipFill>
          <a:blip r:embed="rId4"/>
          <a:stretch>
            <a:fillRect/>
          </a:stretch>
        </p:blipFill>
        <p:spPr>
          <a:xfrm>
            <a:off x="9912096" y="0"/>
            <a:ext cx="2276856" cy="1371600"/>
          </a:xfrm>
          <a:prstGeom prst="rect">
            <a:avLst/>
          </a:prstGeom>
        </p:spPr>
      </p:pic>
      <p:sp>
        <p:nvSpPr>
          <p:cNvPr id="4" name="Text 0"/>
          <p:cNvSpPr txBox="1"/>
          <p:nvPr/>
        </p:nvSpPr>
        <p:spPr>
          <a:xfrm>
            <a:off x="548640" y="1371600"/>
            <a:ext cx="6400800" cy="2194560"/>
          </a:xfrm>
          <a:prstGeom prst="rect">
            <a:avLst/>
          </a:prstGeom>
          <a:noFill/>
          <a:ln/>
        </p:spPr>
        <p:txBody>
          <a:bodyPr wrap="square" lIns="0" tIns="0" rIns="0" bIns="0" rtlCol="0" anchor="ctr"/>
          <a:lstStyle/>
          <a:p>
            <a:pPr marL="0" indent="0">
              <a:buNone/>
            </a:pPr>
            <a:r>
              <a:rPr lang="en-US" sz="7200" dirty="0">
                <a:solidFill>
                  <a:srgbClr val="000000"/>
                </a:solidFill>
                <a:latin typeface="Calibri Light" pitchFamily="34" charset="0"/>
                <a:ea typeface="Calibri Light" pitchFamily="34" charset="-122"/>
                <a:cs typeface="Calibri Light" pitchFamily="34" charset="-120"/>
              </a:rPr>
              <a:t>Virtual Reality</a:t>
            </a:r>
            <a:endParaRPr lang="en-US" sz="7200" dirty="0"/>
          </a:p>
        </p:txBody>
      </p:sp>
      <p:sp>
        <p:nvSpPr>
          <p:cNvPr id="6" name="Text 1"/>
          <p:cNvSpPr txBox="1"/>
          <p:nvPr/>
        </p:nvSpPr>
        <p:spPr>
          <a:xfrm>
            <a:off x="548640" y="3568748"/>
            <a:ext cx="6458309" cy="1594161"/>
          </a:xfrm>
          <a:prstGeom prst="rect">
            <a:avLst/>
          </a:prstGeom>
          <a:noFill/>
          <a:ln/>
        </p:spPr>
        <p:txBody>
          <a:bodyPr wrap="square" lIns="0" tIns="0" rIns="0" bIns="0" rtlCol="0" anchor="t"/>
          <a:lstStyle/>
          <a:p>
            <a:r>
              <a:rPr lang="en-US" sz="3200" dirty="0">
                <a:solidFill>
                  <a:srgbClr val="0E2841"/>
                </a:solidFill>
                <a:ea typeface="+mn-lt"/>
                <a:cs typeface="+mn-lt"/>
              </a:rPr>
              <a:t>Week </a:t>
            </a:r>
            <a:r>
              <a:rPr lang="en-US" sz="3200">
                <a:solidFill>
                  <a:srgbClr val="242424"/>
                </a:solidFill>
                <a:highlight>
                  <a:srgbClr val="FFFFFF"/>
                </a:highlight>
                <a:latin typeface="Calibri"/>
                <a:ea typeface="+mn-lt"/>
                <a:cs typeface="Calibri"/>
              </a:rPr>
              <a:t>10  - Chapter Examples, </a:t>
            </a:r>
            <a:br>
              <a:rPr lang="en-US" sz="3200" dirty="0">
                <a:solidFill>
                  <a:srgbClr val="242424"/>
                </a:solidFill>
                <a:highlight>
                  <a:srgbClr val="FFFFFF"/>
                </a:highlight>
                <a:latin typeface="Calibri"/>
                <a:ea typeface="+mn-lt"/>
                <a:cs typeface="Calibri"/>
              </a:rPr>
            </a:br>
            <a:r>
              <a:rPr lang="en-US" sz="3200">
                <a:solidFill>
                  <a:srgbClr val="242424"/>
                </a:solidFill>
                <a:highlight>
                  <a:srgbClr val="FFFFFF"/>
                </a:highlight>
                <a:latin typeface="Calibri"/>
                <a:ea typeface="+mn-lt"/>
                <a:cs typeface="Calibri"/>
              </a:rPr>
              <a:t>Working on Projects</a:t>
            </a:r>
            <a:endParaRPr lang="en-US" sz="3200">
              <a:latin typeface="Calibri"/>
              <a:ea typeface="Calibri"/>
              <a:cs typeface="Calibri"/>
            </a:endParaRPr>
          </a:p>
        </p:txBody>
      </p:sp>
      <p:sp>
        <p:nvSpPr>
          <p:cNvPr id="7" name="Text 2"/>
          <p:cNvSpPr txBox="1"/>
          <p:nvPr/>
        </p:nvSpPr>
        <p:spPr>
          <a:xfrm>
            <a:off x="2656069" y="5771931"/>
            <a:ext cx="9217152" cy="914400"/>
          </a:xfrm>
          <a:prstGeom prst="rect">
            <a:avLst/>
          </a:prstGeom>
          <a:noFill/>
          <a:ln/>
        </p:spPr>
        <p:txBody>
          <a:bodyPr wrap="square" lIns="0" tIns="0" rIns="0" bIns="0" rtlCol="0" anchor="ctr"/>
          <a:lstStyle/>
          <a:p>
            <a:pPr marL="0" indent="0" algn="r">
              <a:buNone/>
            </a:pPr>
            <a:r>
              <a:rPr lang="en-US" sz="2000" dirty="0">
                <a:solidFill>
                  <a:srgbClr val="4472C4"/>
                </a:solidFill>
                <a:latin typeface="Calibri" pitchFamily="34" charset="0"/>
                <a:ea typeface="Calibri" pitchFamily="34" charset="-122"/>
                <a:cs typeface="Calibri" pitchFamily="34" charset="-120"/>
              </a:rPr>
              <a:t>Wednesdays at 6:00pm</a:t>
            </a:r>
            <a:endParaRPr lang="en-US" sz="2000" dirty="0"/>
          </a:p>
          <a:p>
            <a:pPr marL="0" indent="0" algn="r">
              <a:buNone/>
            </a:pPr>
            <a:r>
              <a:rPr lang="en-US" sz="1600" dirty="0">
                <a:solidFill>
                  <a:srgbClr val="000000"/>
                </a:solidFill>
                <a:latin typeface="Calibri" pitchFamily="34" charset="0"/>
                <a:ea typeface="Calibri" pitchFamily="34" charset="-122"/>
                <a:cs typeface="Calibri" pitchFamily="34" charset="-120"/>
              </a:rPr>
              <a:t>CIST 1423 - 2010   VIRTUAL REALITY PROGRAMMING AND TECHNOLOGY</a:t>
            </a:r>
            <a:endParaRPr lang="en-US" sz="2000" dirty="0"/>
          </a:p>
        </p:txBody>
      </p:sp>
      <p:pic>
        <p:nvPicPr>
          <p:cNvPr id="9" name="Picture 8" descr="A screenshot of a project plan&#10;&#10;AI-generated content may be incorrect.">
            <a:extLst>
              <a:ext uri="{FF2B5EF4-FFF2-40B4-BE49-F238E27FC236}">
                <a16:creationId xmlns:a16="http://schemas.microsoft.com/office/drawing/2014/main" id="{65F44860-0B98-8D13-F6DF-19B232F572EF}"/>
              </a:ext>
            </a:extLst>
          </p:cNvPr>
          <p:cNvPicPr>
            <a:picLocks noChangeAspect="1"/>
          </p:cNvPicPr>
          <p:nvPr/>
        </p:nvPicPr>
        <p:blipFill>
          <a:blip r:embed="rId5"/>
          <a:stretch>
            <a:fillRect/>
          </a:stretch>
        </p:blipFill>
        <p:spPr>
          <a:xfrm>
            <a:off x="6944777" y="1512893"/>
            <a:ext cx="3842392" cy="1553559"/>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C45B1FB-313D-358E-30FC-DFBADBA5E1F9}"/>
              </a:ext>
            </a:extLst>
          </p:cNvPr>
          <p:cNvPicPr>
            <a:picLocks noChangeAspect="1"/>
          </p:cNvPicPr>
          <p:nvPr/>
        </p:nvPicPr>
        <p:blipFill>
          <a:blip r:embed="rId6"/>
          <a:stretch>
            <a:fillRect/>
          </a:stretch>
        </p:blipFill>
        <p:spPr>
          <a:xfrm>
            <a:off x="8309556" y="2194871"/>
            <a:ext cx="3433853" cy="2260840"/>
          </a:xfrm>
          <a:prstGeom prst="rect">
            <a:avLst/>
          </a:prstGeom>
        </p:spPr>
      </p:pic>
      <p:pic>
        <p:nvPicPr>
          <p:cNvPr id="5" name="Picture 4" descr="Week 9 interactive VR example scene: a table with a red cube, a blue sphere and a floating instruction panel">
            <a:extLst>
              <a:ext uri="{FF2B5EF4-FFF2-40B4-BE49-F238E27FC236}">
                <a16:creationId xmlns:a16="http://schemas.microsoft.com/office/drawing/2014/main" id="{25995D9F-A04A-16CE-029C-A2B3CC3A204C}"/>
              </a:ext>
            </a:extLst>
          </p:cNvPr>
          <p:cNvPicPr>
            <a:picLocks noChangeAspect="1"/>
          </p:cNvPicPr>
          <p:nvPr/>
        </p:nvPicPr>
        <p:blipFill>
          <a:blip r:embed="rId7"/>
          <a:stretch>
            <a:fillRect/>
          </a:stretch>
        </p:blipFill>
        <p:spPr>
          <a:xfrm>
            <a:off x="7241407" y="3976303"/>
            <a:ext cx="2141046" cy="11826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Jeremy Callinan\AppData\Local\Temp\claude\c--GitHub-CIST1423-Fall2026-Examples\62e170c0-4055-4e17-811f-6bb67e40bfc7\scratchpad\deck\img\pitt_big.jpeg">
            <a:extLst>
              <a:ext uri="{FF2B5EF4-FFF2-40B4-BE49-F238E27FC236}">
                <a16:creationId xmlns:a16="http://schemas.microsoft.com/office/drawing/2014/main" id="{BE97E21C-26B2-4549-753B-CE9FA64CFE36}"/>
              </a:ext>
            </a:extLst>
          </p:cNvPr>
          <p:cNvPicPr>
            <a:picLocks noChangeAspect="1"/>
          </p:cNvPicPr>
          <p:nvPr/>
        </p:nvPicPr>
        <p:blipFill>
          <a:blip r:embed="rId2"/>
          <a:stretch>
            <a:fillRect/>
          </a:stretch>
        </p:blipFill>
        <p:spPr>
          <a:xfrm>
            <a:off x="0" y="9144"/>
            <a:ext cx="3392424" cy="841248"/>
          </a:xfrm>
          <a:prstGeom prst="rect">
            <a:avLst/>
          </a:prstGeom>
        </p:spPr>
      </p:pic>
      <p:pic>
        <p:nvPicPr>
          <p:cNvPr id="5" name="Image 1" descr="C:\Users\Jeremy Callinan\AppData\Local\Temp\claude\c--GitHub-CIST1423-Fall2026-Examples\62e170c0-4055-4e17-811f-6bb67e40bfc7\scratchpad\deck\img\vr_badge.jpeg">
            <a:extLst>
              <a:ext uri="{FF2B5EF4-FFF2-40B4-BE49-F238E27FC236}">
                <a16:creationId xmlns:a16="http://schemas.microsoft.com/office/drawing/2014/main" id="{7D0E21EC-0318-144C-B2A7-2CEE1D17C2F1}"/>
              </a:ext>
            </a:extLst>
          </p:cNvPr>
          <p:cNvPicPr>
            <a:picLocks noChangeAspect="1"/>
          </p:cNvPicPr>
          <p:nvPr/>
        </p:nvPicPr>
        <p:blipFill>
          <a:blip r:embed="rId3"/>
          <a:stretch>
            <a:fillRect/>
          </a:stretch>
        </p:blipFill>
        <p:spPr>
          <a:xfrm>
            <a:off x="9912096" y="0"/>
            <a:ext cx="2276856" cy="1371600"/>
          </a:xfrm>
          <a:prstGeom prst="rect">
            <a:avLst/>
          </a:prstGeom>
        </p:spPr>
      </p:pic>
      <p:sp>
        <p:nvSpPr>
          <p:cNvPr id="6" name="TextBox 5">
            <a:extLst>
              <a:ext uri="{FF2B5EF4-FFF2-40B4-BE49-F238E27FC236}">
                <a16:creationId xmlns:a16="http://schemas.microsoft.com/office/drawing/2014/main" id="{08FAB7F1-ECD4-A7CA-7B31-528498290A6B}"/>
              </a:ext>
            </a:extLst>
          </p:cNvPr>
          <p:cNvSpPr txBox="1"/>
          <p:nvPr/>
        </p:nvSpPr>
        <p:spPr>
          <a:xfrm>
            <a:off x="429490" y="1177636"/>
            <a:ext cx="893618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a:ea typeface="Calibri"/>
                <a:cs typeface="Calibri"/>
              </a:rPr>
              <a:t>Agenda</a:t>
            </a:r>
          </a:p>
        </p:txBody>
      </p:sp>
      <p:sp>
        <p:nvSpPr>
          <p:cNvPr id="7" name="TextBox 6">
            <a:extLst>
              <a:ext uri="{FF2B5EF4-FFF2-40B4-BE49-F238E27FC236}">
                <a16:creationId xmlns:a16="http://schemas.microsoft.com/office/drawing/2014/main" id="{183173EA-9F8B-E308-3543-F0CB2E09291E}"/>
              </a:ext>
            </a:extLst>
          </p:cNvPr>
          <p:cNvSpPr txBox="1"/>
          <p:nvPr/>
        </p:nvSpPr>
        <p:spPr>
          <a:xfrm>
            <a:off x="428576" y="2013091"/>
            <a:ext cx="7698349"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2800" b="1">
                <a:ea typeface="Calibri"/>
                <a:cs typeface="Calibri"/>
              </a:rPr>
              <a:t>Review example projects for chapters 5 and 6</a:t>
            </a:r>
            <a:endParaRPr lang="en-US" sz="2800" b="1" dirty="0">
              <a:ea typeface="Calibri"/>
              <a:cs typeface="Calibri"/>
            </a:endParaRPr>
          </a:p>
          <a:p>
            <a:pPr marL="914400" lvl="1" indent="-457200">
              <a:buFont typeface="Arial"/>
              <a:buChar char="•"/>
            </a:pPr>
            <a:r>
              <a:rPr lang="en-US" sz="2800" b="1">
                <a:ea typeface="Calibri"/>
                <a:cs typeface="Calibri"/>
              </a:rPr>
              <a:t>Chapter 5: </a:t>
            </a:r>
            <a:r>
              <a:rPr lang="en-US" sz="2800" b="1">
                <a:solidFill>
                  <a:srgbClr val="1C2433"/>
                </a:solidFill>
                <a:ea typeface="+mn-lt"/>
                <a:cs typeface="+mn-lt"/>
              </a:rPr>
              <a:t>Interactive VR</a:t>
            </a:r>
            <a:r>
              <a:rPr lang="en-US" sz="2800">
                <a:solidFill>
                  <a:srgbClr val="1C2433"/>
                </a:solidFill>
                <a:ea typeface="+mn-lt"/>
                <a:cs typeface="+mn-lt"/>
              </a:rPr>
              <a:t>: Animator triggers first, then C#</a:t>
            </a:r>
            <a:endParaRPr lang="en-US" sz="2800">
              <a:ea typeface="+mn-lt"/>
              <a:cs typeface="+mn-lt"/>
            </a:endParaRPr>
          </a:p>
          <a:p>
            <a:pPr marL="914400" lvl="1" indent="-457200">
              <a:buFont typeface="Arial"/>
              <a:buChar char="•"/>
            </a:pPr>
            <a:r>
              <a:rPr lang="en-US" sz="2800" b="1">
                <a:solidFill>
                  <a:srgbClr val="1C2433"/>
                </a:solidFill>
                <a:ea typeface="+mn-lt"/>
                <a:cs typeface="+mn-lt"/>
              </a:rPr>
              <a:t>Chapter 6: Interactive AR</a:t>
            </a:r>
            <a:r>
              <a:rPr lang="en-US" sz="2800">
                <a:solidFill>
                  <a:srgbClr val="1C2433"/>
                </a:solidFill>
                <a:ea typeface="+mn-lt"/>
                <a:cs typeface="+mn-lt"/>
              </a:rPr>
              <a:t>: the AR food menu app</a:t>
            </a:r>
            <a:endParaRPr lang="en-US" sz="2800">
              <a:ea typeface="+mn-lt"/>
              <a:cs typeface="+mn-lt"/>
            </a:endParaRPr>
          </a:p>
          <a:p>
            <a:pPr marL="514350" indent="-514350">
              <a:buAutoNum type="arabicPeriod"/>
            </a:pPr>
            <a:r>
              <a:rPr lang="en-US" sz="2800" b="1">
                <a:ea typeface="Calibri"/>
                <a:cs typeface="Calibri"/>
              </a:rPr>
              <a:t>Lab</a:t>
            </a:r>
            <a:r>
              <a:rPr lang="en-US" sz="2800" b="1" dirty="0">
                <a:ea typeface="Calibri"/>
                <a:cs typeface="Calibri"/>
              </a:rPr>
              <a:t> Setup</a:t>
            </a:r>
          </a:p>
          <a:p>
            <a:pPr marL="514350" indent="-514350">
              <a:buAutoNum type="arabicPeriod"/>
            </a:pPr>
            <a:r>
              <a:rPr lang="en-US" sz="2800" b="1">
                <a:ea typeface="Calibri"/>
                <a:cs typeface="Calibri"/>
              </a:rPr>
              <a:t>Work on your project ideas</a:t>
            </a:r>
            <a:endParaRPr lang="en-US" sz="2800" b="1" dirty="0">
              <a:ea typeface="Calibri"/>
              <a:cs typeface="Calibri"/>
            </a:endParaRPr>
          </a:p>
          <a:p>
            <a:pPr marL="514350" indent="-514350">
              <a:buAutoNum type="arabicPeriod"/>
            </a:pPr>
            <a:endParaRPr lang="en-US" sz="2800" b="1" dirty="0">
              <a:ea typeface="Calibri"/>
              <a:cs typeface="Calibri"/>
            </a:endParaRPr>
          </a:p>
        </p:txBody>
      </p:sp>
      <p:pic>
        <p:nvPicPr>
          <p:cNvPr id="2" name="Picture 1">
            <a:extLst>
              <a:ext uri="{FF2B5EF4-FFF2-40B4-BE49-F238E27FC236}">
                <a16:creationId xmlns:a16="http://schemas.microsoft.com/office/drawing/2014/main" id="{133F0A44-4579-681C-4D12-AB07CC4490D6}"/>
              </a:ext>
            </a:extLst>
          </p:cNvPr>
          <p:cNvPicPr>
            <a:picLocks noChangeAspect="1"/>
          </p:cNvPicPr>
          <p:nvPr/>
        </p:nvPicPr>
        <p:blipFill>
          <a:blip r:embed="rId4"/>
          <a:stretch>
            <a:fillRect/>
          </a:stretch>
        </p:blipFill>
        <p:spPr>
          <a:xfrm>
            <a:off x="9558427" y="5123645"/>
            <a:ext cx="2131498" cy="1244394"/>
          </a:xfrm>
          <a:prstGeom prst="rect">
            <a:avLst/>
          </a:prstGeom>
        </p:spPr>
      </p:pic>
      <p:pic>
        <p:nvPicPr>
          <p:cNvPr id="8" name="Picture 7" descr="A screenshot of a project plan&#10;&#10;AI-generated content may be incorrect.">
            <a:extLst>
              <a:ext uri="{FF2B5EF4-FFF2-40B4-BE49-F238E27FC236}">
                <a16:creationId xmlns:a16="http://schemas.microsoft.com/office/drawing/2014/main" id="{E64B8877-6731-BE95-194C-BECFC17513D2}"/>
              </a:ext>
            </a:extLst>
          </p:cNvPr>
          <p:cNvPicPr>
            <a:picLocks noChangeAspect="1"/>
          </p:cNvPicPr>
          <p:nvPr/>
        </p:nvPicPr>
        <p:blipFill>
          <a:blip r:embed="rId5"/>
          <a:stretch>
            <a:fillRect/>
          </a:stretch>
        </p:blipFill>
        <p:spPr>
          <a:xfrm>
            <a:off x="9553042" y="3705972"/>
            <a:ext cx="2468136" cy="1239148"/>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9E857A0-F368-9804-9384-1C793C32029E}"/>
              </a:ext>
            </a:extLst>
          </p:cNvPr>
          <p:cNvPicPr>
            <a:picLocks noChangeAspect="1"/>
          </p:cNvPicPr>
          <p:nvPr/>
        </p:nvPicPr>
        <p:blipFill>
          <a:blip r:embed="rId6"/>
          <a:stretch>
            <a:fillRect/>
          </a:stretch>
        </p:blipFill>
        <p:spPr>
          <a:xfrm>
            <a:off x="9327589" y="1718395"/>
            <a:ext cx="2686050" cy="1114425"/>
          </a:xfrm>
          <a:prstGeom prst="rect">
            <a:avLst/>
          </a:prstGeom>
        </p:spPr>
      </p:pic>
    </p:spTree>
    <p:extLst>
      <p:ext uri="{BB962C8B-B14F-4D97-AF65-F5344CB8AC3E}">
        <p14:creationId xmlns:p14="http://schemas.microsoft.com/office/powerpoint/2010/main" val="3831298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CD2CE-AF02-5096-B82B-925F61152208}"/>
            </a:ext>
          </a:extLst>
        </p:cNvPr>
        <p:cNvGrpSpPr/>
        <p:nvPr/>
      </p:nvGrpSpPr>
      <p:grpSpPr>
        <a:xfrm>
          <a:off x="0" y="0"/>
          <a:ext cx="0" cy="0"/>
          <a:chOff x="0" y="0"/>
          <a:chExt cx="0" cy="0"/>
        </a:xfrm>
      </p:grpSpPr>
      <p:pic>
        <p:nvPicPr>
          <p:cNvPr id="5" name="Image 0">
            <a:extLst>
              <a:ext uri="{FF2B5EF4-FFF2-40B4-BE49-F238E27FC236}">
                <a16:creationId xmlns:a16="http://schemas.microsoft.com/office/drawing/2014/main" id="{23426D1E-4644-663D-1F80-3FC611CD934B}"/>
              </a:ext>
            </a:extLst>
          </p:cNvPr>
          <p:cNvPicPr>
            <a:picLocks noChangeAspect="1"/>
          </p:cNvPicPr>
          <p:nvPr/>
        </p:nvPicPr>
        <p:blipFill>
          <a:blip r:embed="rId2"/>
          <a:stretch>
            <a:fillRect/>
          </a:stretch>
        </p:blipFill>
        <p:spPr>
          <a:xfrm>
            <a:off x="320040" y="237744"/>
            <a:ext cx="1371600" cy="329184"/>
          </a:xfrm>
          <a:prstGeom prst="rect">
            <a:avLst/>
          </a:prstGeom>
        </p:spPr>
      </p:pic>
      <p:pic>
        <p:nvPicPr>
          <p:cNvPr id="6" name="Image 1">
            <a:extLst>
              <a:ext uri="{FF2B5EF4-FFF2-40B4-BE49-F238E27FC236}">
                <a16:creationId xmlns:a16="http://schemas.microsoft.com/office/drawing/2014/main" id="{7561DC45-D5B0-4E6C-B9DB-0A7AE05DADD4}"/>
              </a:ext>
            </a:extLst>
          </p:cNvPr>
          <p:cNvPicPr>
            <a:picLocks noChangeAspect="1"/>
          </p:cNvPicPr>
          <p:nvPr/>
        </p:nvPicPr>
        <p:blipFill>
          <a:blip r:embed="rId3"/>
          <a:stretch>
            <a:fillRect/>
          </a:stretch>
        </p:blipFill>
        <p:spPr>
          <a:xfrm>
            <a:off x="10561320" y="201168"/>
            <a:ext cx="1234440" cy="795528"/>
          </a:xfrm>
          <a:prstGeom prst="rect">
            <a:avLst/>
          </a:prstGeom>
        </p:spPr>
      </p:pic>
      <p:sp>
        <p:nvSpPr>
          <p:cNvPr id="7" name="Text 0">
            <a:extLst>
              <a:ext uri="{FF2B5EF4-FFF2-40B4-BE49-F238E27FC236}">
                <a16:creationId xmlns:a16="http://schemas.microsoft.com/office/drawing/2014/main" id="{82F840C3-BB13-6515-016D-0844C3C86871}"/>
              </a:ext>
            </a:extLst>
          </p:cNvPr>
          <p:cNvSpPr txBox="1"/>
          <p:nvPr/>
        </p:nvSpPr>
        <p:spPr>
          <a:xfrm>
            <a:off x="363761" y="1396284"/>
            <a:ext cx="10058400" cy="6583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500" b="1">
                <a:solidFill>
                  <a:srgbClr val="0E2841"/>
                </a:solidFill>
                <a:latin typeface="Cambria"/>
                <a:ea typeface="Cambria"/>
              </a:rPr>
              <a:t>Chapters 5-9 Examples</a:t>
            </a:r>
            <a:endParaRPr lang="en-US"/>
          </a:p>
        </p:txBody>
      </p:sp>
      <p:sp>
        <p:nvSpPr>
          <p:cNvPr id="8" name="Shape 1">
            <a:extLst>
              <a:ext uri="{FF2B5EF4-FFF2-40B4-BE49-F238E27FC236}">
                <a16:creationId xmlns:a16="http://schemas.microsoft.com/office/drawing/2014/main" id="{F8F60B9A-A423-B4C3-4B4C-E0C85D94D24A}"/>
              </a:ext>
            </a:extLst>
          </p:cNvPr>
          <p:cNvSpPr/>
          <p:nvPr/>
        </p:nvSpPr>
        <p:spPr>
          <a:xfrm>
            <a:off x="363761" y="2072940"/>
            <a:ext cx="9875520" cy="0"/>
          </a:xfrm>
          <a:prstGeom prst="line">
            <a:avLst/>
          </a:prstGeom>
          <a:noFill/>
          <a:ln w="9525">
            <a:solidFill>
              <a:srgbClr val="E97132"/>
            </a:solidFill>
            <a:prstDash val="solid"/>
          </a:ln>
        </p:spPr>
        <p:txBody>
          <a:bodyPr/>
          <a:lstStyle/>
          <a:p>
            <a:endParaRPr lang="en-US"/>
          </a:p>
        </p:txBody>
      </p:sp>
      <p:pic>
        <p:nvPicPr>
          <p:cNvPr id="9" name="Image 0">
            <a:extLst>
              <a:ext uri="{FF2B5EF4-FFF2-40B4-BE49-F238E27FC236}">
                <a16:creationId xmlns:a16="http://schemas.microsoft.com/office/drawing/2014/main" id="{25D59496-1194-17EB-6BC0-85CC40D8813B}"/>
              </a:ext>
            </a:extLst>
          </p:cNvPr>
          <p:cNvPicPr>
            <a:picLocks noChangeAspect="1"/>
          </p:cNvPicPr>
          <p:nvPr/>
        </p:nvPicPr>
        <p:blipFill>
          <a:blip r:embed="rId4"/>
          <a:stretch>
            <a:fillRect/>
          </a:stretch>
        </p:blipFill>
        <p:spPr>
          <a:xfrm>
            <a:off x="0" y="2899"/>
            <a:ext cx="3055146" cy="772543"/>
          </a:xfrm>
          <a:prstGeom prst="rect">
            <a:avLst/>
          </a:prstGeom>
        </p:spPr>
      </p:pic>
      <p:sp>
        <p:nvSpPr>
          <p:cNvPr id="2" name="TextBox 1">
            <a:extLst>
              <a:ext uri="{FF2B5EF4-FFF2-40B4-BE49-F238E27FC236}">
                <a16:creationId xmlns:a16="http://schemas.microsoft.com/office/drawing/2014/main" id="{3A09F199-E81C-C4F7-2F5B-50A5F07FD26F}"/>
              </a:ext>
            </a:extLst>
          </p:cNvPr>
          <p:cNvSpPr txBox="1"/>
          <p:nvPr/>
        </p:nvSpPr>
        <p:spPr>
          <a:xfrm>
            <a:off x="323930" y="2222328"/>
            <a:ext cx="73245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hlinkClick r:id="rId5"/>
              </a:rPr>
              <a:t>https://github.com/jcallinan/CIST1423-Fall2026-Examples</a:t>
            </a:r>
            <a:r>
              <a:rPr lang="en-US" dirty="0">
                <a:ea typeface="Calibri"/>
                <a:cs typeface="Calibri"/>
              </a:rPr>
              <a:t> </a:t>
            </a:r>
            <a:endParaRPr lang="en-US" dirty="0"/>
          </a:p>
        </p:txBody>
      </p:sp>
      <p:pic>
        <p:nvPicPr>
          <p:cNvPr id="3" name="Picture 2">
            <a:extLst>
              <a:ext uri="{FF2B5EF4-FFF2-40B4-BE49-F238E27FC236}">
                <a16:creationId xmlns:a16="http://schemas.microsoft.com/office/drawing/2014/main" id="{85ACEAA8-0D3E-0246-F3A9-2F5061DA0AD5}"/>
              </a:ext>
            </a:extLst>
          </p:cNvPr>
          <p:cNvPicPr>
            <a:picLocks noChangeAspect="1"/>
          </p:cNvPicPr>
          <p:nvPr/>
        </p:nvPicPr>
        <p:blipFill>
          <a:blip r:embed="rId6"/>
          <a:stretch>
            <a:fillRect/>
          </a:stretch>
        </p:blipFill>
        <p:spPr>
          <a:xfrm>
            <a:off x="358535" y="2781928"/>
            <a:ext cx="7765571" cy="2645614"/>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B426A8EB-F00E-9A53-BEE6-82B45F1A4B0F}"/>
              </a:ext>
            </a:extLst>
          </p:cNvPr>
          <p:cNvPicPr>
            <a:picLocks noChangeAspect="1"/>
          </p:cNvPicPr>
          <p:nvPr/>
        </p:nvPicPr>
        <p:blipFill>
          <a:blip r:embed="rId7"/>
          <a:stretch>
            <a:fillRect/>
          </a:stretch>
        </p:blipFill>
        <p:spPr>
          <a:xfrm>
            <a:off x="8340036" y="3434391"/>
            <a:ext cx="3433853" cy="2260840"/>
          </a:xfrm>
          <a:prstGeom prst="rect">
            <a:avLst/>
          </a:prstGeom>
        </p:spPr>
      </p:pic>
      <p:sp>
        <p:nvSpPr>
          <p:cNvPr id="10" name="TextBox 9">
            <a:extLst>
              <a:ext uri="{FF2B5EF4-FFF2-40B4-BE49-F238E27FC236}">
                <a16:creationId xmlns:a16="http://schemas.microsoft.com/office/drawing/2014/main" id="{EE4E4C3F-69C0-850F-D410-A5F1DA207417}"/>
              </a:ext>
            </a:extLst>
          </p:cNvPr>
          <p:cNvSpPr txBox="1"/>
          <p:nvPr/>
        </p:nvSpPr>
        <p:spPr>
          <a:xfrm>
            <a:off x="8345616" y="2584990"/>
            <a:ext cx="32501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Each example has a README.md </a:t>
            </a:r>
            <a:r>
              <a:rPr lang="en-US">
                <a:ea typeface="Calibri"/>
                <a:cs typeface="Calibri"/>
              </a:rPr>
              <a:t>that explains how to use it.</a:t>
            </a:r>
            <a:endParaRPr lang="en-US"/>
          </a:p>
        </p:txBody>
      </p:sp>
    </p:spTree>
    <p:extLst>
      <p:ext uri="{BB962C8B-B14F-4D97-AF65-F5344CB8AC3E}">
        <p14:creationId xmlns:p14="http://schemas.microsoft.com/office/powerpoint/2010/main" val="243317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THE MAP FOR TONIGHT</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Five chapters, five projects, one skill each</a:t>
            </a:r>
            <a:endParaRPr lang="en-US" sz="2800" dirty="0"/>
          </a:p>
        </p:txBody>
      </p:sp>
      <p:graphicFrame>
        <p:nvGraphicFramePr>
          <p:cNvPr id="6" name="Table 0"/>
          <p:cNvGraphicFramePr>
            <a:graphicFrameLocks noGrp="1"/>
          </p:cNvGraphicFramePr>
          <p:nvPr/>
        </p:nvGraphicFramePr>
        <p:xfrm>
          <a:off x="825500" y="1772841"/>
          <a:ext cx="10553700" cy="2155626"/>
        </p:xfrm>
        <a:graphic>
          <a:graphicData uri="http://schemas.openxmlformats.org/drawingml/2006/table">
            <a:tbl>
              <a:tblPr/>
              <a:tblGrid>
                <a:gridCol w="949833">
                  <a:extLst>
                    <a:ext uri="{9D8B030D-6E8A-4147-A177-3AD203B41FA5}">
                      <a16:colId xmlns:a16="http://schemas.microsoft.com/office/drawing/2014/main" val="20000"/>
                    </a:ext>
                  </a:extLst>
                </a:gridCol>
                <a:gridCol w="2849499">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Ch.</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What the book builds</a:t>
                      </a:r>
                      <a:endParaRPr lang="en-US" sz="1300" dirty="0">
                        <a:latin typeface="Carlito" charset="0"/>
                        <a:ea typeface="Carlito" charset="0"/>
                        <a:cs typeface="Carlito" charset="0"/>
                      </a:endParaRPr>
                    </a:p>
                  </a:txBody>
                  <a:tcPr marL="57785" marR="57785" marT="57785" marB="57785">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The skill it teaches</a:t>
                      </a:r>
                      <a:endParaRPr lang="en-US" sz="1300" dirty="0">
                        <a:latin typeface="Carlito" charset="0"/>
                        <a:ea typeface="Carlito" charset="0"/>
                        <a:cs typeface="Carlito" charset="0"/>
                      </a:endParaRPr>
                    </a:p>
                  </a:txBody>
                  <a:tcPr marL="57785" marR="57785" marT="57785" marB="57785">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Example folder</a:t>
                      </a:r>
                      <a:endParaRPr lang="en-US" sz="1300" dirty="0">
                        <a:latin typeface="Carlito" charset="0"/>
                        <a:ea typeface="Carlito" charset="0"/>
                        <a:cs typeface="Carlito" charset="0"/>
                      </a:endParaRPr>
                    </a:p>
                  </a:txBody>
                  <a:tcPr marL="57785" marR="57785" marT="57785" marB="57785">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5</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VR car exhibition</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Button events, Animator triggers, C# lifecycle</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Week-09-Interactive-VR</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6</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AR food menu</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Plane raycasts, tap to place, pinch to scale</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Week-10-Interactive-AR</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7</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VR drum kit with fog</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AudioSource, triggers, velocity, particles</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Week-11-Sound-and-VFX</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8</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Hands, gaze cubes, shared room</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XR Hands, gaze interactor, Photon PUN 2</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Week-12-Advanced-XR</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9</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No project: a field guide</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Budgets, profiling, planning, UX, toolkits</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Week-13-XR-Best-Practices</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2"/>
          <p:cNvSpPr/>
          <p:nvPr/>
        </p:nvSpPr>
        <p:spPr>
          <a:xfrm>
            <a:off x="812800" y="4157067"/>
            <a:ext cx="10566400" cy="802481"/>
          </a:xfrm>
          <a:prstGeom prst="roundRect">
            <a:avLst>
              <a:gd name="adj" fmla="val 9496"/>
            </a:avLst>
          </a:prstGeom>
          <a:solidFill>
            <a:srgbClr val="EEF1F5"/>
          </a:solidFill>
          <a:ln/>
        </p:spPr>
        <p:txBody>
          <a:bodyPr wrap="square" lIns="231682" tIns="130082" rIns="0" bIns="104682" rtlCol="0" anchor="t">
            <a:normAutofit/>
          </a:bodyPr>
          <a:lstStyle/>
          <a:p>
            <a:pPr marL="0" indent="0" algn="l">
              <a:lnSpc>
                <a:spcPts val="1960"/>
              </a:lnSpc>
              <a:buNone/>
            </a:pPr>
            <a:r>
              <a:rPr lang="en-US" sz="1400" dirty="0">
                <a:solidFill>
                  <a:srgbClr val="33415A"/>
                </a:solidFill>
                <a:latin typeface="Carlito" pitchFamily="34" charset="0"/>
                <a:ea typeface="Carlito" pitchFamily="34" charset="-122"/>
                <a:cs typeface="Carlito" pitchFamily="34" charset="-120"/>
              </a:rPr>
              <a:t>Every project starts the same way: </a:t>
            </a:r>
            <a:r>
              <a:rPr lang="en-US" sz="1400" b="1" dirty="0">
                <a:solidFill>
                  <a:srgbClr val="33415A"/>
                </a:solidFill>
                <a:latin typeface="Carlito" pitchFamily="34" charset="0"/>
                <a:ea typeface="Carlito" pitchFamily="34" charset="-122"/>
                <a:cs typeface="Carlito" pitchFamily="34" charset="-120"/>
              </a:rPr>
              <a:t>XR Interaction Setup</a:t>
            </a:r>
            <a:r>
              <a:rPr lang="en-US" sz="1400" dirty="0">
                <a:solidFill>
                  <a:srgbClr val="33415A"/>
                </a:solidFill>
                <a:latin typeface="Carlito" pitchFamily="34" charset="0"/>
                <a:ea typeface="Carlito" pitchFamily="34" charset="-122"/>
                <a:cs typeface="Carlito" pitchFamily="34" charset="-120"/>
              </a:rPr>
              <a:t> prefab at (0,0,0), Main Camera deleted, OpenXR enabled with your headset’s interaction profile.</a:t>
            </a:r>
            <a:endParaRPr lang="en-US" sz="1400" dirty="0"/>
          </a:p>
        </p:txBody>
      </p:sp>
      <p:sp>
        <p:nvSpPr>
          <p:cNvPr id="8" name="Shape 3"/>
          <p:cNvSpPr/>
          <p:nvPr/>
        </p:nvSpPr>
        <p:spPr>
          <a:xfrm>
            <a:off x="812800" y="4157067"/>
            <a:ext cx="10566400" cy="802481"/>
          </a:xfrm>
          <a:custGeom>
            <a:avLst/>
            <a:gdLst/>
            <a:ahLst/>
            <a:cxnLst/>
            <a:rect l="l" t="t" r="r" b="b"/>
            <a:pathLst>
              <a:path w="10566400" h="802481">
                <a:moveTo>
                  <a:pt x="76200" y="802481"/>
                </a:moveTo>
                <a:lnTo>
                  <a:pt x="76200" y="802481"/>
                </a:lnTo>
                <a:arcTo wR="76200" hR="76200" stAng="5400000" swAng="5400000"/>
                <a:lnTo>
                  <a:pt x="0" y="76200"/>
                </a:lnTo>
                <a:arcTo wR="76200" hR="76200" stAng="10800000" swAng="5400000"/>
                <a:lnTo>
                  <a:pt x="76200" y="0"/>
                </a:lnTo>
                <a:arcTo wR="25400" hR="76200" stAng="16200000" swAng="-5400000"/>
                <a:lnTo>
                  <a:pt x="50800" y="726281"/>
                </a:lnTo>
                <a:arcTo wR="25400" hR="76200" stAng="10800000" swAng="-5400000"/>
                <a:close/>
              </a:path>
            </a:pathLst>
          </a:custGeom>
          <a:solidFill>
            <a:srgbClr val="E8752A"/>
          </a:solidFill>
          <a:ln/>
        </p:spPr>
      </p:sp>
      <p:sp>
        <p:nvSpPr>
          <p:cNvPr id="9" name="Text 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Overview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3594"/>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54" b="54"/>
          <a:stretch/>
        </p:blipFill>
        <p:spPr>
          <a:xfrm>
            <a:off x="10795000" y="0"/>
            <a:ext cx="1397000" cy="895350"/>
          </a:xfrm>
          <a:prstGeom prst="rect">
            <a:avLst/>
          </a:prstGeom>
        </p:spPr>
      </p:pic>
      <p:sp>
        <p:nvSpPr>
          <p:cNvPr id="3" name="Text 0"/>
          <p:cNvSpPr/>
          <p:nvPr/>
        </p:nvSpPr>
        <p:spPr>
          <a:xfrm>
            <a:off x="812800" y="188724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B81C"/>
                </a:solidFill>
                <a:latin typeface="Carlito" pitchFamily="18" charset="0"/>
                <a:ea typeface="Carlito" pitchFamily="18" charset="-122"/>
                <a:cs typeface="Carlito" pitchFamily="18" charset="-120"/>
              </a:rPr>
              <a:t>05</a:t>
            </a:r>
            <a:endParaRPr lang="en-US" sz="10000" dirty="0"/>
          </a:p>
        </p:txBody>
      </p:sp>
      <p:sp>
        <p:nvSpPr>
          <p:cNvPr id="4" name="Text 1"/>
          <p:cNvSpPr>
            <a:spLocks noGrp="1"/>
          </p:cNvSpPr>
          <p:nvPr>
            <p:ph type="title"/>
          </p:nvPr>
        </p:nvSpPr>
        <p:spPr>
          <a:xfrm>
            <a:off x="812800" y="3335040"/>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4F1EA"/>
                </a:solidFill>
                <a:latin typeface="Carlito" pitchFamily="18" charset="0"/>
                <a:ea typeface="Carlito" pitchFamily="18" charset="-122"/>
                <a:cs typeface="Carlito" pitchFamily="18" charset="-120"/>
              </a:rPr>
              <a:t>Building Interactive VR Experiences</a:t>
            </a:r>
            <a:endParaRPr lang="en-US" sz="4400" dirty="0"/>
          </a:p>
        </p:txBody>
      </p:sp>
      <p:sp>
        <p:nvSpPr>
          <p:cNvPr id="5" name="Text 2"/>
          <p:cNvSpPr/>
          <p:nvPr/>
        </p:nvSpPr>
        <p:spPr>
          <a:xfrm>
            <a:off x="812800" y="4127500"/>
            <a:ext cx="915670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E"/>
                </a:solidFill>
                <a:latin typeface="Carlito" pitchFamily="34" charset="0"/>
                <a:ea typeface="Carlito" pitchFamily="34" charset="-122"/>
                <a:cs typeface="Carlito" pitchFamily="34" charset="-120"/>
              </a:rPr>
              <a:t>A virtual car exhibition: a spinning taxi, a growing police car and a bus you scale with a slider. No code first, then C#.</a:t>
            </a:r>
            <a:endParaRPr lang="en-US" sz="1800" dirty="0"/>
          </a:p>
        </p:txBody>
      </p:sp>
      <p:sp>
        <p:nvSpPr>
          <p:cNvPr id="6"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E"/>
                </a:solidFill>
                <a:latin typeface="Carlito" pitchFamily="34" charset="0"/>
                <a:ea typeface="Carlito" pitchFamily="34" charset="-122"/>
                <a:cs typeface="Carlito" pitchFamily="34" charset="-120"/>
              </a:rPr>
              <a:t>Book pages 99–124 · Example: Week-09-Interactive-VR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SET THE STAGE</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Build the car exhibition scene</a:t>
            </a:r>
            <a:endParaRPr lang="en-US" sz="2800" dirty="0"/>
          </a:p>
        </p:txBody>
      </p:sp>
      <p:sp>
        <p:nvSpPr>
          <p:cNvPr id="6" name="Text 2"/>
          <p:cNvSpPr/>
          <p:nvPr/>
        </p:nvSpPr>
        <p:spPr>
          <a:xfrm>
            <a:off x="812800" y="1734741"/>
            <a:ext cx="5991098" cy="256778"/>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1</a:t>
            </a:r>
            <a:r>
              <a:rPr lang="en-US" sz="1350" dirty="0">
                <a:solidFill>
                  <a:srgbClr val="1C2433"/>
                </a:solidFill>
                <a:latin typeface="Carlito" pitchFamily="34" charset="0"/>
                <a:ea typeface="Carlito" pitchFamily="34" charset="-122"/>
                <a:cs typeface="Carlito" pitchFamily="34" charset="-120"/>
              </a:rPr>
              <a:t>  New scene </a:t>
            </a:r>
            <a:r>
              <a:rPr lang="en-US" sz="1350" b="1" dirty="0">
                <a:solidFill>
                  <a:srgbClr val="1C2433"/>
                </a:solidFill>
                <a:latin typeface="Carlito" pitchFamily="34" charset="0"/>
                <a:ea typeface="Carlito" pitchFamily="34" charset="-122"/>
                <a:cs typeface="Carlito" pitchFamily="34" charset="-120"/>
              </a:rPr>
              <a:t>CarExhibition</a:t>
            </a:r>
            <a:r>
              <a:rPr lang="en-US" sz="1350" dirty="0">
                <a:solidFill>
                  <a:srgbClr val="1C2433"/>
                </a:solidFill>
                <a:latin typeface="Carlito" pitchFamily="34" charset="0"/>
                <a:ea typeface="Carlito" pitchFamily="34" charset="-122"/>
                <a:cs typeface="Carlito" pitchFamily="34" charset="-120"/>
              </a:rPr>
              <a:t>; delete Main Camera.</a:t>
            </a:r>
            <a:endParaRPr lang="en-US" sz="1350" dirty="0"/>
          </a:p>
        </p:txBody>
      </p:sp>
      <p:sp>
        <p:nvSpPr>
          <p:cNvPr id="7" name="Text 3"/>
          <p:cNvSpPr/>
          <p:nvPr/>
        </p:nvSpPr>
        <p:spPr>
          <a:xfrm>
            <a:off x="812800" y="2055019"/>
            <a:ext cx="5991098" cy="256778"/>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2</a:t>
            </a:r>
            <a:r>
              <a:rPr lang="en-US" sz="1350" dirty="0">
                <a:solidFill>
                  <a:srgbClr val="1C2433"/>
                </a:solidFill>
                <a:latin typeface="Carlito" pitchFamily="34" charset="0"/>
                <a:ea typeface="Carlito" pitchFamily="34" charset="-122"/>
                <a:cs typeface="Carlito" pitchFamily="34" charset="-120"/>
              </a:rPr>
              <a:t>  Ground: a Cube at the origin, scale </a:t>
            </a:r>
            <a:r>
              <a:rPr lang="en-US" sz="1350" b="1" dirty="0">
                <a:solidFill>
                  <a:srgbClr val="1C2433"/>
                </a:solidFill>
                <a:latin typeface="Carlito" pitchFamily="34" charset="0"/>
                <a:ea typeface="Carlito" pitchFamily="34" charset="-122"/>
                <a:cs typeface="Carlito" pitchFamily="34" charset="-120"/>
              </a:rPr>
              <a:t>(20, 0.1, 20)</a:t>
            </a:r>
            <a:r>
              <a:rPr lang="en-US" sz="1350" dirty="0">
                <a:solidFill>
                  <a:srgbClr val="1C2433"/>
                </a:solidFill>
                <a:latin typeface="Carlito" pitchFamily="34" charset="0"/>
                <a:ea typeface="Carlito" pitchFamily="34" charset="-122"/>
                <a:cs typeface="Carlito" pitchFamily="34" charset="-120"/>
              </a:rPr>
              <a:t>.</a:t>
            </a:r>
            <a:endParaRPr lang="en-US" sz="1350" dirty="0"/>
          </a:p>
        </p:txBody>
      </p:sp>
      <p:sp>
        <p:nvSpPr>
          <p:cNvPr id="8" name="Text 4"/>
          <p:cNvSpPr/>
          <p:nvPr/>
        </p:nvSpPr>
        <p:spPr>
          <a:xfrm>
            <a:off x="812800" y="2375297"/>
            <a:ext cx="5991098" cy="256778"/>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3</a:t>
            </a:r>
            <a:r>
              <a:rPr lang="en-US" sz="1350" dirty="0">
                <a:solidFill>
                  <a:srgbClr val="1C2433"/>
                </a:solidFill>
                <a:latin typeface="Carlito" pitchFamily="34" charset="0"/>
                <a:ea typeface="Carlito" pitchFamily="34" charset="-122"/>
                <a:cs typeface="Carlito" pitchFamily="34" charset="-120"/>
              </a:rPr>
              <a:t>  Import </a:t>
            </a:r>
            <a:r>
              <a:rPr lang="en-US" sz="1350" i="1" dirty="0">
                <a:solidFill>
                  <a:srgbClr val="1C2433"/>
                </a:solidFill>
                <a:latin typeface="Carlito" pitchFamily="34" charset="0"/>
                <a:ea typeface="Carlito" pitchFamily="34" charset="-122"/>
                <a:cs typeface="Carlito" pitchFamily="34" charset="-120"/>
              </a:rPr>
              <a:t>Simple Cars Pack</a:t>
            </a:r>
            <a:r>
              <a:rPr lang="en-US" sz="1350" dirty="0">
                <a:solidFill>
                  <a:srgbClr val="1C2433"/>
                </a:solidFill>
                <a:latin typeface="Carlito" pitchFamily="34" charset="0"/>
                <a:ea typeface="Carlito" pitchFamily="34" charset="-122"/>
                <a:cs typeface="Carlito" pitchFamily="34" charset="-120"/>
              </a:rPr>
              <a:t>. Taxi at (-6, 0, 0) scale 2; Police_car at (6, 0, 0).</a:t>
            </a:r>
            <a:endParaRPr lang="en-US" sz="1350" dirty="0"/>
          </a:p>
        </p:txBody>
      </p:sp>
      <p:sp>
        <p:nvSpPr>
          <p:cNvPr id="9" name="Text 5"/>
          <p:cNvSpPr/>
          <p:nvPr/>
        </p:nvSpPr>
        <p:spPr>
          <a:xfrm>
            <a:off x="812800" y="2695575"/>
            <a:ext cx="5991098" cy="488156"/>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4</a:t>
            </a:r>
            <a:r>
              <a:rPr lang="en-US" sz="1350" dirty="0">
                <a:solidFill>
                  <a:srgbClr val="1C2433"/>
                </a:solidFill>
                <a:latin typeface="Carlito" pitchFamily="34" charset="0"/>
                <a:ea typeface="Carlito" pitchFamily="34" charset="-122"/>
                <a:cs typeface="Carlito" pitchFamily="34" charset="-120"/>
              </a:rPr>
              <a:t>  Magenta cars? Install URP, set materials to </a:t>
            </a:r>
            <a:r>
              <a:rPr lang="en-US" sz="1350" b="1" dirty="0">
                <a:solidFill>
                  <a:srgbClr val="1C2433"/>
                </a:solidFill>
                <a:latin typeface="Carlito" pitchFamily="34" charset="0"/>
                <a:ea typeface="Carlito" pitchFamily="34" charset="-122"/>
                <a:cs typeface="Carlito" pitchFamily="34" charset="-120"/>
              </a:rPr>
              <a:t>URP/Lit</a:t>
            </a:r>
            <a:r>
              <a:rPr lang="en-US" sz="1350" dirty="0">
                <a:solidFill>
                  <a:srgbClr val="1C2433"/>
                </a:solidFill>
                <a:latin typeface="Carlito" pitchFamily="34" charset="0"/>
                <a:ea typeface="Carlito" pitchFamily="34" charset="-122"/>
                <a:cs typeface="Carlito" pitchFamily="34" charset="-120"/>
              </a:rPr>
              <a:t>, or run Window › Rendering › </a:t>
            </a:r>
            <a:r>
              <a:rPr lang="en-US" sz="1350" b="1" dirty="0">
                <a:solidFill>
                  <a:srgbClr val="1C2433"/>
                </a:solidFill>
                <a:latin typeface="Carlito" pitchFamily="34" charset="0"/>
                <a:ea typeface="Carlito" pitchFamily="34" charset="-122"/>
                <a:cs typeface="Carlito" pitchFamily="34" charset="-120"/>
              </a:rPr>
              <a:t>Render Pipeline Converter</a:t>
            </a:r>
            <a:r>
              <a:rPr lang="en-US" sz="1350" dirty="0">
                <a:solidFill>
                  <a:srgbClr val="1C2433"/>
                </a:solidFill>
                <a:latin typeface="Carlito" pitchFamily="34" charset="0"/>
                <a:ea typeface="Carlito" pitchFamily="34" charset="-122"/>
                <a:cs typeface="Carlito" pitchFamily="34" charset="-120"/>
              </a:rPr>
              <a:t>.</a:t>
            </a:r>
            <a:endParaRPr lang="en-US" sz="1350" dirty="0"/>
          </a:p>
        </p:txBody>
      </p:sp>
      <p:sp>
        <p:nvSpPr>
          <p:cNvPr id="10" name="Text 6"/>
          <p:cNvSpPr/>
          <p:nvPr/>
        </p:nvSpPr>
        <p:spPr>
          <a:xfrm>
            <a:off x="812800" y="3247231"/>
            <a:ext cx="5991098" cy="256778"/>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5</a:t>
            </a:r>
            <a:r>
              <a:rPr lang="en-US" sz="1350" dirty="0">
                <a:solidFill>
                  <a:srgbClr val="1C2433"/>
                </a:solidFill>
                <a:latin typeface="Carlito" pitchFamily="34" charset="0"/>
                <a:ea typeface="Carlito" pitchFamily="34" charset="-122"/>
                <a:cs typeface="Carlito" pitchFamily="34" charset="-120"/>
              </a:rPr>
              <a:t>  Drop in </a:t>
            </a:r>
            <a:r>
              <a:rPr lang="en-US" sz="1350" b="1" dirty="0">
                <a:solidFill>
                  <a:srgbClr val="1C2433"/>
                </a:solidFill>
                <a:latin typeface="Carlito" pitchFamily="34" charset="0"/>
                <a:ea typeface="Carlito" pitchFamily="34" charset="-122"/>
                <a:cs typeface="Carlito" pitchFamily="34" charset="-120"/>
              </a:rPr>
              <a:t>XR Interaction Setup</a:t>
            </a:r>
            <a:r>
              <a:rPr lang="en-US" sz="1350" dirty="0">
                <a:solidFill>
                  <a:srgbClr val="1C2433"/>
                </a:solidFill>
                <a:latin typeface="Carlito" pitchFamily="34" charset="0"/>
                <a:ea typeface="Carlito" pitchFamily="34" charset="-122"/>
                <a:cs typeface="Carlito" pitchFamily="34" charset="-120"/>
              </a:rPr>
              <a:t> at (0, 0, 0).</a:t>
            </a:r>
            <a:endParaRPr lang="en-US" sz="1350" dirty="0"/>
          </a:p>
        </p:txBody>
      </p:sp>
      <p:sp>
        <p:nvSpPr>
          <p:cNvPr id="11" name="Text 7"/>
          <p:cNvSpPr/>
          <p:nvPr/>
        </p:nvSpPr>
        <p:spPr>
          <a:xfrm>
            <a:off x="812800" y="3567509"/>
            <a:ext cx="5991098" cy="256778"/>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6</a:t>
            </a:r>
            <a:r>
              <a:rPr lang="en-US" sz="1350" dirty="0">
                <a:solidFill>
                  <a:srgbClr val="1C2433"/>
                </a:solidFill>
                <a:latin typeface="Carlito" pitchFamily="34" charset="0"/>
                <a:ea typeface="Carlito" pitchFamily="34" charset="-122"/>
                <a:cs typeface="Carlito" pitchFamily="34" charset="-120"/>
              </a:rPr>
              <a:t>  Two Snapping Teleport Anchors at (±2, 0, 0), scale (2, 1, 2).</a:t>
            </a:r>
            <a:endParaRPr lang="en-US" sz="1350" dirty="0"/>
          </a:p>
        </p:txBody>
      </p:sp>
      <p:sp>
        <p:nvSpPr>
          <p:cNvPr id="12" name="Text 8"/>
          <p:cNvSpPr/>
          <p:nvPr/>
        </p:nvSpPr>
        <p:spPr>
          <a:xfrm>
            <a:off x="812800" y="3887787"/>
            <a:ext cx="5991098" cy="488156"/>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003594"/>
                </a:solidFill>
                <a:latin typeface="Carlito" pitchFamily="34" charset="0"/>
                <a:ea typeface="Carlito" pitchFamily="34" charset="-122"/>
                <a:cs typeface="Carlito" pitchFamily="34" charset="-120"/>
              </a:rPr>
              <a:t>7</a:t>
            </a:r>
            <a:r>
              <a:rPr lang="en-US" sz="1350" dirty="0">
                <a:solidFill>
                  <a:srgbClr val="1C2433"/>
                </a:solidFill>
                <a:latin typeface="Carlito" pitchFamily="34" charset="0"/>
                <a:ea typeface="Carlito" pitchFamily="34" charset="-122"/>
                <a:cs typeface="Carlito" pitchFamily="34" charset="-120"/>
              </a:rPr>
              <a:t>  Taxi: a push button on a cylinder pedestal. Police car: an XR UI Canvas, World Space, scale 0.001, two TextButtons.</a:t>
            </a:r>
            <a:endParaRPr lang="en-US" sz="1350" dirty="0"/>
          </a:p>
        </p:txBody>
      </p:sp>
      <p:sp>
        <p:nvSpPr>
          <p:cNvPr id="13" name="Shape 9"/>
          <p:cNvSpPr/>
          <p:nvPr/>
        </p:nvSpPr>
        <p:spPr>
          <a:xfrm>
            <a:off x="6934200" y="1734741"/>
            <a:ext cx="4445000" cy="3194943"/>
          </a:xfrm>
          <a:prstGeom prst="roundRect">
            <a:avLst>
              <a:gd name="adj" fmla="val 3180"/>
            </a:avLst>
          </a:prstGeom>
          <a:solidFill>
            <a:srgbClr val="33415A"/>
          </a:solidFill>
          <a:ln/>
        </p:spPr>
      </p:sp>
      <p:sp>
        <p:nvSpPr>
          <p:cNvPr id="14" name="Text 10"/>
          <p:cNvSpPr/>
          <p:nvPr/>
        </p:nvSpPr>
        <p:spPr>
          <a:xfrm>
            <a:off x="7188200" y="1963341"/>
            <a:ext cx="40551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B81C"/>
                </a:solidFill>
                <a:latin typeface="Carlito" pitchFamily="34" charset="0"/>
                <a:ea typeface="Carlito" pitchFamily="34" charset="-122"/>
                <a:cs typeface="Carlito" pitchFamily="34" charset="-120"/>
              </a:rPr>
              <a:t>Three ways to teleport</a:t>
            </a:r>
            <a:endParaRPr lang="en-US" sz="1600" dirty="0"/>
          </a:p>
        </p:txBody>
      </p:sp>
      <p:sp>
        <p:nvSpPr>
          <p:cNvPr id="15" name="Text 11"/>
          <p:cNvSpPr/>
          <p:nvPr/>
        </p:nvSpPr>
        <p:spPr>
          <a:xfrm>
            <a:off x="7188200" y="2334121"/>
            <a:ext cx="40551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4F1EA"/>
                </a:solidFill>
                <a:latin typeface="Carlito" pitchFamily="34" charset="0"/>
                <a:ea typeface="Carlito" pitchFamily="34" charset="-122"/>
                <a:cs typeface="Carlito" pitchFamily="34" charset="-120"/>
              </a:rPr>
              <a:t>Teleport Anchor</a:t>
            </a:r>
            <a:endParaRPr lang="en-US" sz="1350" dirty="0"/>
          </a:p>
        </p:txBody>
      </p:sp>
      <p:sp>
        <p:nvSpPr>
          <p:cNvPr id="16" name="Text 12"/>
          <p:cNvSpPr/>
          <p:nvPr/>
        </p:nvSpPr>
        <p:spPr>
          <a:xfrm>
            <a:off x="7188200" y="2612231"/>
            <a:ext cx="405511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6EE"/>
                </a:solidFill>
                <a:latin typeface="Carlito" pitchFamily="34" charset="0"/>
                <a:ea typeface="Carlito" pitchFamily="34" charset="-122"/>
                <a:cs typeface="Carlito" pitchFamily="34" charset="-120"/>
              </a:rPr>
              <a:t>A fixed spot. The ray glides over it.</a:t>
            </a:r>
            <a:endParaRPr lang="en-US" sz="1200" dirty="0"/>
          </a:p>
        </p:txBody>
      </p:sp>
      <p:sp>
        <p:nvSpPr>
          <p:cNvPr id="17" name="Text 13"/>
          <p:cNvSpPr/>
          <p:nvPr/>
        </p:nvSpPr>
        <p:spPr>
          <a:xfrm>
            <a:off x="7188200" y="2944912"/>
            <a:ext cx="40551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4F1EA"/>
                </a:solidFill>
                <a:latin typeface="Carlito" pitchFamily="34" charset="0"/>
                <a:ea typeface="Carlito" pitchFamily="34" charset="-122"/>
                <a:cs typeface="Carlito" pitchFamily="34" charset="-120"/>
              </a:rPr>
              <a:t>Snapping Teleport Anchor</a:t>
            </a:r>
            <a:endParaRPr lang="en-US" sz="1350" dirty="0"/>
          </a:p>
        </p:txBody>
      </p:sp>
      <p:sp>
        <p:nvSpPr>
          <p:cNvPr id="18" name="Text 14"/>
          <p:cNvSpPr/>
          <p:nvPr/>
        </p:nvSpPr>
        <p:spPr>
          <a:xfrm>
            <a:off x="7188200" y="3223022"/>
            <a:ext cx="405511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6EE"/>
                </a:solidFill>
                <a:latin typeface="Carlito" pitchFamily="34" charset="0"/>
                <a:ea typeface="Carlito" pitchFamily="34" charset="-122"/>
                <a:cs typeface="Carlito" pitchFamily="34" charset="-120"/>
              </a:rPr>
              <a:t>A fixed spot. The ray snaps to it. Used here.</a:t>
            </a:r>
            <a:endParaRPr lang="en-US" sz="1200" dirty="0"/>
          </a:p>
        </p:txBody>
      </p:sp>
      <p:sp>
        <p:nvSpPr>
          <p:cNvPr id="19" name="Text 15"/>
          <p:cNvSpPr/>
          <p:nvPr/>
        </p:nvSpPr>
        <p:spPr>
          <a:xfrm>
            <a:off x="7188200" y="3555702"/>
            <a:ext cx="40551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4F1EA"/>
                </a:solidFill>
                <a:latin typeface="Carlito" pitchFamily="34" charset="0"/>
                <a:ea typeface="Carlito" pitchFamily="34" charset="-122"/>
                <a:cs typeface="Carlito" pitchFamily="34" charset="-120"/>
              </a:rPr>
              <a:t>Teleportation Area</a:t>
            </a:r>
            <a:endParaRPr lang="en-US" sz="1350" dirty="0"/>
          </a:p>
        </p:txBody>
      </p:sp>
      <p:sp>
        <p:nvSpPr>
          <p:cNvPr id="20" name="Text 16"/>
          <p:cNvSpPr/>
          <p:nvPr/>
        </p:nvSpPr>
        <p:spPr>
          <a:xfrm>
            <a:off x="7188200" y="3833812"/>
            <a:ext cx="405511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6EE"/>
                </a:solidFill>
                <a:latin typeface="Carlito" pitchFamily="34" charset="0"/>
                <a:ea typeface="Carlito" pitchFamily="34" charset="-122"/>
                <a:cs typeface="Carlito" pitchFamily="34" charset="-120"/>
              </a:rPr>
              <a:t>Land anywhere inside the zone.</a:t>
            </a:r>
            <a:endParaRPr lang="en-US" sz="1200" dirty="0"/>
          </a:p>
        </p:txBody>
      </p:sp>
      <p:sp>
        <p:nvSpPr>
          <p:cNvPr id="21" name="Shape 17"/>
          <p:cNvSpPr/>
          <p:nvPr/>
        </p:nvSpPr>
        <p:spPr>
          <a:xfrm>
            <a:off x="7188200" y="4169668"/>
            <a:ext cx="3937000" cy="0"/>
          </a:xfrm>
          <a:prstGeom prst="line">
            <a:avLst/>
          </a:prstGeom>
          <a:noFill/>
          <a:ln w="6350">
            <a:solidFill>
              <a:srgbClr val="5A6A85"/>
            </a:solidFill>
            <a:prstDash val="solid"/>
          </a:ln>
        </p:spPr>
      </p:sp>
      <p:sp>
        <p:nvSpPr>
          <p:cNvPr id="22" name="Text 18"/>
          <p:cNvSpPr/>
          <p:nvPr/>
        </p:nvSpPr>
        <p:spPr>
          <a:xfrm>
            <a:off x="7188200" y="4274443"/>
            <a:ext cx="40551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Carlito" pitchFamily="34" charset="0"/>
                <a:ea typeface="Carlito" pitchFamily="34" charset="-122"/>
                <a:cs typeface="Carlito" pitchFamily="34" charset="-120"/>
              </a:rPr>
              <a:t>Teleport-only movement is the simplest guard against motion sickness for new VR users.</a:t>
            </a:r>
            <a:endParaRPr lang="en-US" sz="1200" dirty="0"/>
          </a:p>
        </p:txBody>
      </p:sp>
      <p:sp>
        <p:nvSpPr>
          <p:cNvPr id="23"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100–106)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THE PUPPET STRINGS</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Interactable events you can hook without code</a:t>
            </a:r>
            <a:endParaRPr lang="en-US" sz="2800" dirty="0"/>
          </a:p>
        </p:txBody>
      </p:sp>
      <p:sp>
        <p:nvSpPr>
          <p:cNvPr id="6" name="Shape 2"/>
          <p:cNvSpPr/>
          <p:nvPr/>
        </p:nvSpPr>
        <p:spPr>
          <a:xfrm>
            <a:off x="812800" y="1734741"/>
            <a:ext cx="3403600" cy="2981424"/>
          </a:xfrm>
          <a:prstGeom prst="roundRect">
            <a:avLst>
              <a:gd name="adj" fmla="val 3408"/>
            </a:avLst>
          </a:prstGeom>
          <a:solidFill>
            <a:srgbClr val="EEF1F5"/>
          </a:solidFill>
          <a:ln/>
        </p:spPr>
      </p:sp>
      <p:sp>
        <p:nvSpPr>
          <p:cNvPr id="7" name="Shape 3"/>
          <p:cNvSpPr/>
          <p:nvPr/>
        </p:nvSpPr>
        <p:spPr>
          <a:xfrm>
            <a:off x="812800" y="1734741"/>
            <a:ext cx="3403600" cy="2981424"/>
          </a:xfrm>
          <a:custGeom>
            <a:avLst/>
            <a:gdLst/>
            <a:ahLst/>
            <a:cxnLst/>
            <a:rect l="l" t="t" r="r" b="b"/>
            <a:pathLst>
              <a:path w="3403600" h="2981424">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003594"/>
          </a:solidFill>
          <a:ln/>
        </p:spPr>
      </p:sp>
      <p:sp>
        <p:nvSpPr>
          <p:cNvPr id="8" name="Text 4"/>
          <p:cNvSpPr/>
          <p:nvPr/>
        </p:nvSpPr>
        <p:spPr>
          <a:xfrm>
            <a:off x="1016000" y="19887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3594"/>
                </a:solidFill>
                <a:latin typeface="Carlito" pitchFamily="34" charset="0"/>
                <a:ea typeface="Carlito" pitchFamily="34" charset="-122"/>
                <a:cs typeface="Carlito" pitchFamily="34" charset="-120"/>
              </a:rPr>
              <a:t>Hover</a:t>
            </a:r>
            <a:endParaRPr lang="en-US" sz="1700" dirty="0"/>
          </a:p>
        </p:txBody>
      </p:sp>
      <p:sp>
        <p:nvSpPr>
          <p:cNvPr id="9" name="Text 5"/>
          <p:cNvSpPr/>
          <p:nvPr/>
        </p:nvSpPr>
        <p:spPr>
          <a:xfrm>
            <a:off x="1016000" y="234940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You point at it</a:t>
            </a:r>
            <a:endParaRPr lang="en-US" sz="1200" dirty="0"/>
          </a:p>
        </p:txBody>
      </p:sp>
      <p:sp>
        <p:nvSpPr>
          <p:cNvPr id="10" name="Text 6"/>
          <p:cNvSpPr/>
          <p:nvPr/>
        </p:nvSpPr>
        <p:spPr>
          <a:xfrm>
            <a:off x="1016000" y="2664321"/>
            <a:ext cx="3087116" cy="187404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First Hover Entered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first pointer arrives</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Hover Entered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every time</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Hover Exited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pointer leaves</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Last Hover Exited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no one is pointing</a:t>
            </a:r>
            <a:endParaRPr lang="en-US" sz="1300" dirty="0"/>
          </a:p>
        </p:txBody>
      </p:sp>
      <p:sp>
        <p:nvSpPr>
          <p:cNvPr id="11" name="Shape 7"/>
          <p:cNvSpPr/>
          <p:nvPr/>
        </p:nvSpPr>
        <p:spPr>
          <a:xfrm>
            <a:off x="4394200" y="1734741"/>
            <a:ext cx="3403600" cy="2981424"/>
          </a:xfrm>
          <a:prstGeom prst="roundRect">
            <a:avLst>
              <a:gd name="adj" fmla="val 3408"/>
            </a:avLst>
          </a:prstGeom>
          <a:solidFill>
            <a:srgbClr val="EEF1F5"/>
          </a:solidFill>
          <a:ln/>
        </p:spPr>
      </p:sp>
      <p:sp>
        <p:nvSpPr>
          <p:cNvPr id="12" name="Shape 8"/>
          <p:cNvSpPr/>
          <p:nvPr/>
        </p:nvSpPr>
        <p:spPr>
          <a:xfrm>
            <a:off x="4394200" y="1734741"/>
            <a:ext cx="3403600" cy="2981424"/>
          </a:xfrm>
          <a:custGeom>
            <a:avLst/>
            <a:gdLst/>
            <a:ahLst/>
            <a:cxnLst/>
            <a:rect l="l" t="t" r="r" b="b"/>
            <a:pathLst>
              <a:path w="3403600" h="2981424">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E8752A"/>
          </a:solidFill>
          <a:ln/>
        </p:spPr>
      </p:sp>
      <p:sp>
        <p:nvSpPr>
          <p:cNvPr id="13" name="Text 9"/>
          <p:cNvSpPr/>
          <p:nvPr/>
        </p:nvSpPr>
        <p:spPr>
          <a:xfrm>
            <a:off x="4597400" y="19887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3594"/>
                </a:solidFill>
                <a:latin typeface="Carlito" pitchFamily="34" charset="0"/>
                <a:ea typeface="Carlito" pitchFamily="34" charset="-122"/>
                <a:cs typeface="Carlito" pitchFamily="34" charset="-120"/>
              </a:rPr>
              <a:t>Select</a:t>
            </a:r>
            <a:endParaRPr lang="en-US" sz="1700" dirty="0"/>
          </a:p>
        </p:txBody>
      </p:sp>
      <p:sp>
        <p:nvSpPr>
          <p:cNvPr id="14" name="Text 10"/>
          <p:cNvSpPr/>
          <p:nvPr/>
        </p:nvSpPr>
        <p:spPr>
          <a:xfrm>
            <a:off x="4597400" y="234940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You press or grab it</a:t>
            </a:r>
            <a:endParaRPr lang="en-US" sz="1200" dirty="0"/>
          </a:p>
        </p:txBody>
      </p:sp>
      <p:sp>
        <p:nvSpPr>
          <p:cNvPr id="15" name="Text 11"/>
          <p:cNvSpPr/>
          <p:nvPr/>
        </p:nvSpPr>
        <p:spPr>
          <a:xfrm>
            <a:off x="4597400" y="2664321"/>
            <a:ext cx="3087116" cy="187404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First Select Entered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first press</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Select Entered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every press</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Select Exited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release</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Last Select Exited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last hand lets go</a:t>
            </a:r>
            <a:endParaRPr lang="en-US" sz="1300" dirty="0"/>
          </a:p>
        </p:txBody>
      </p:sp>
      <p:sp>
        <p:nvSpPr>
          <p:cNvPr id="16" name="Shape 12"/>
          <p:cNvSpPr/>
          <p:nvPr/>
        </p:nvSpPr>
        <p:spPr>
          <a:xfrm>
            <a:off x="7975600" y="1734741"/>
            <a:ext cx="3403600" cy="2981424"/>
          </a:xfrm>
          <a:prstGeom prst="roundRect">
            <a:avLst>
              <a:gd name="adj" fmla="val 3408"/>
            </a:avLst>
          </a:prstGeom>
          <a:solidFill>
            <a:srgbClr val="EEF1F5"/>
          </a:solidFill>
          <a:ln/>
        </p:spPr>
      </p:sp>
      <p:sp>
        <p:nvSpPr>
          <p:cNvPr id="17" name="Shape 13"/>
          <p:cNvSpPr/>
          <p:nvPr/>
        </p:nvSpPr>
        <p:spPr>
          <a:xfrm>
            <a:off x="7975600" y="1734741"/>
            <a:ext cx="3403600" cy="2981424"/>
          </a:xfrm>
          <a:custGeom>
            <a:avLst/>
            <a:gdLst/>
            <a:ahLst/>
            <a:cxnLst/>
            <a:rect l="l" t="t" r="r" b="b"/>
            <a:pathLst>
              <a:path w="3403600" h="2981424">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FFB81C"/>
          </a:solidFill>
          <a:ln/>
        </p:spPr>
      </p:sp>
      <p:sp>
        <p:nvSpPr>
          <p:cNvPr id="18" name="Text 14"/>
          <p:cNvSpPr/>
          <p:nvPr/>
        </p:nvSpPr>
        <p:spPr>
          <a:xfrm>
            <a:off x="8178800" y="19887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3594"/>
                </a:solidFill>
                <a:latin typeface="Carlito" pitchFamily="34" charset="0"/>
                <a:ea typeface="Carlito" pitchFamily="34" charset="-122"/>
                <a:cs typeface="Carlito" pitchFamily="34" charset="-120"/>
              </a:rPr>
              <a:t>Activate</a:t>
            </a:r>
            <a:endParaRPr lang="en-US" sz="1700" dirty="0"/>
          </a:p>
        </p:txBody>
      </p:sp>
      <p:sp>
        <p:nvSpPr>
          <p:cNvPr id="19" name="Text 15"/>
          <p:cNvSpPr/>
          <p:nvPr/>
        </p:nvSpPr>
        <p:spPr>
          <a:xfrm>
            <a:off x="8178800" y="234940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You use it while holding</a:t>
            </a:r>
            <a:endParaRPr lang="en-US" sz="1200" dirty="0"/>
          </a:p>
        </p:txBody>
      </p:sp>
      <p:sp>
        <p:nvSpPr>
          <p:cNvPr id="20" name="Text 16"/>
          <p:cNvSpPr/>
          <p:nvPr/>
        </p:nvSpPr>
        <p:spPr>
          <a:xfrm>
            <a:off x="8178800" y="2664321"/>
            <a:ext cx="3087116" cy="118080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Activated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trigger pulled on a held object: start the engine</a:t>
            </a:r>
            <a:endParaRPr lang="en-US" sz="1300" dirty="0"/>
          </a:p>
          <a:p>
            <a:pPr marL="0" indent="0" algn="l">
              <a:lnSpc>
                <a:spcPts val="1820"/>
              </a:lnSpc>
              <a:buNone/>
            </a:pPr>
            <a:r>
              <a:rPr lang="en-US" sz="1300" b="1" dirty="0">
                <a:solidFill>
                  <a:srgbClr val="1C2433"/>
                </a:solidFill>
                <a:latin typeface="Carlito" pitchFamily="34" charset="0"/>
                <a:ea typeface="Carlito" pitchFamily="34" charset="-122"/>
                <a:cs typeface="Carlito" pitchFamily="34" charset="-120"/>
              </a:rPr>
              <a:t>Deactivated</a:t>
            </a:r>
            <a:endParaRPr lang="en-US" sz="1300" dirty="0"/>
          </a:p>
          <a:p>
            <a:pPr marL="0" indent="0" algn="l">
              <a:lnSpc>
                <a:spcPts val="1820"/>
              </a:lnSpc>
              <a:buNone/>
            </a:pPr>
            <a:r>
              <a:rPr lang="en-US" sz="1300" dirty="0">
                <a:solidFill>
                  <a:srgbClr val="1C2433"/>
                </a:solidFill>
                <a:latin typeface="Carlito" pitchFamily="34" charset="0"/>
                <a:ea typeface="Carlito" pitchFamily="34" charset="-122"/>
                <a:cs typeface="Carlito" pitchFamily="34" charset="-120"/>
              </a:rPr>
              <a:t>trigger released: engine winds down</a:t>
            </a:r>
            <a:endParaRPr lang="en-US" sz="1300" dirty="0"/>
          </a:p>
        </p:txBody>
      </p:sp>
      <p:sp>
        <p:nvSpPr>
          <p:cNvPr id="21" name="Text 17"/>
          <p:cNvSpPr/>
          <p:nvPr/>
        </p:nvSpPr>
        <p:spPr>
          <a:xfrm>
            <a:off x="812800" y="4919365"/>
            <a:ext cx="10566400" cy="528241"/>
          </a:xfrm>
          <a:prstGeom prst="roundRect">
            <a:avLst>
              <a:gd name="adj" fmla="val 14425"/>
            </a:avLst>
          </a:prstGeom>
          <a:solidFill>
            <a:srgbClr val="EEF1F5"/>
          </a:solidFill>
          <a:ln/>
        </p:spPr>
        <p:txBody>
          <a:bodyPr wrap="square" lIns="231682" tIns="117382" rIns="0" bIns="91982" rtlCol="0" anchor="t">
            <a:normAutofit/>
          </a:bodyPr>
          <a:lstStyle/>
          <a:p>
            <a:pPr marL="0" indent="0" algn="l">
              <a:lnSpc>
                <a:spcPts val="1960"/>
              </a:lnSpc>
              <a:buNone/>
            </a:pPr>
            <a:r>
              <a:rPr lang="en-US" sz="1400" dirty="0">
                <a:solidFill>
                  <a:srgbClr val="33415A"/>
                </a:solidFill>
                <a:latin typeface="Carlito" pitchFamily="34" charset="0"/>
                <a:ea typeface="Carlito" pitchFamily="34" charset="-122"/>
                <a:cs typeface="Carlito" pitchFamily="34" charset="-120"/>
              </a:rPr>
              <a:t>Find them on </a:t>
            </a:r>
            <a:r>
              <a:rPr lang="en-US" sz="1400" b="1" dirty="0">
                <a:solidFill>
                  <a:srgbClr val="33415A"/>
                </a:solidFill>
                <a:latin typeface="Carlito" pitchFamily="34" charset="0"/>
                <a:ea typeface="Carlito" pitchFamily="34" charset="-122"/>
                <a:cs typeface="Carlito" pitchFamily="34" charset="-120"/>
              </a:rPr>
              <a:t>XR Simple Interactable</a:t>
            </a:r>
            <a:r>
              <a:rPr lang="en-US" sz="1400" dirty="0">
                <a:solidFill>
                  <a:srgbClr val="33415A"/>
                </a:solidFill>
                <a:latin typeface="Carlito" pitchFamily="34" charset="0"/>
                <a:ea typeface="Carlito" pitchFamily="34" charset="-122"/>
                <a:cs typeface="Carlito" pitchFamily="34" charset="-120"/>
              </a:rPr>
              <a:t> (and the push button) under </a:t>
            </a:r>
            <a:r>
              <a:rPr lang="en-US" sz="1400" i="1" dirty="0">
                <a:solidFill>
                  <a:srgbClr val="33415A"/>
                </a:solidFill>
                <a:latin typeface="Carlito" pitchFamily="34" charset="0"/>
                <a:ea typeface="Carlito" pitchFamily="34" charset="-122"/>
                <a:cs typeface="Carlito" pitchFamily="34" charset="-120"/>
              </a:rPr>
              <a:t>Interactable Events</a:t>
            </a:r>
            <a:r>
              <a:rPr lang="en-US" sz="1400" dirty="0">
                <a:solidFill>
                  <a:srgbClr val="33415A"/>
                </a:solidFill>
                <a:latin typeface="Carlito" pitchFamily="34" charset="0"/>
                <a:ea typeface="Carlito" pitchFamily="34" charset="-122"/>
                <a:cs typeface="Carlito" pitchFamily="34" charset="-120"/>
              </a:rPr>
              <a:t>. Click +, drag a target in, pick a function.</a:t>
            </a:r>
            <a:endParaRPr lang="en-US" sz="1400" dirty="0"/>
          </a:p>
        </p:txBody>
      </p:sp>
      <p:sp>
        <p:nvSpPr>
          <p:cNvPr id="22" name="Shape 18"/>
          <p:cNvSpPr/>
          <p:nvPr/>
        </p:nvSpPr>
        <p:spPr>
          <a:xfrm>
            <a:off x="812800" y="4919365"/>
            <a:ext cx="10566400" cy="528241"/>
          </a:xfrm>
          <a:custGeom>
            <a:avLst/>
            <a:gdLst/>
            <a:ahLst/>
            <a:cxnLst/>
            <a:rect l="l" t="t" r="r" b="b"/>
            <a:pathLst>
              <a:path w="10566400" h="528241">
                <a:moveTo>
                  <a:pt x="76200" y="528241"/>
                </a:moveTo>
                <a:lnTo>
                  <a:pt x="76200" y="528241"/>
                </a:lnTo>
                <a:arcTo wR="76200" hR="76200" stAng="5400000" swAng="5400000"/>
                <a:lnTo>
                  <a:pt x="0" y="76200"/>
                </a:lnTo>
                <a:arcTo wR="76200" hR="76200" stAng="10800000" swAng="5400000"/>
                <a:lnTo>
                  <a:pt x="76200" y="0"/>
                </a:lnTo>
                <a:arcTo wR="25400" hR="76200" stAng="16200000" swAng="-5400000"/>
                <a:lnTo>
                  <a:pt x="50800" y="452041"/>
                </a:lnTo>
                <a:arcTo wR="25400" hR="76200" stAng="10800000" swAng="-5400000"/>
                <a:close/>
              </a:path>
            </a:pathLst>
          </a:custGeom>
          <a:solidFill>
            <a:srgbClr val="E8752A"/>
          </a:solidFill>
          <a:ln/>
        </p:spPr>
      </p:sp>
      <p:sp>
        <p:nvSpPr>
          <p:cNvPr id="23"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106–107)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NO CODE: THE SPINNING TAXI</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Clips hold the motion; the Animator decides when</a:t>
            </a:r>
            <a:endParaRPr lang="en-US" sz="2800" dirty="0"/>
          </a:p>
        </p:txBody>
      </p:sp>
      <p:sp>
        <p:nvSpPr>
          <p:cNvPr id="6" name="Shape 2"/>
          <p:cNvSpPr/>
          <p:nvPr/>
        </p:nvSpPr>
        <p:spPr>
          <a:xfrm>
            <a:off x="812800" y="1722041"/>
            <a:ext cx="5194300" cy="1066800"/>
          </a:xfrm>
          <a:prstGeom prst="roundRect">
            <a:avLst>
              <a:gd name="adj" fmla="val 8333"/>
            </a:avLst>
          </a:prstGeom>
          <a:solidFill>
            <a:srgbClr val="EEF1F5"/>
          </a:solidFill>
          <a:ln/>
        </p:spPr>
      </p:sp>
      <p:sp>
        <p:nvSpPr>
          <p:cNvPr id="7" name="Text 3"/>
          <p:cNvSpPr/>
          <p:nvPr/>
        </p:nvSpPr>
        <p:spPr>
          <a:xfrm>
            <a:off x="1003300" y="1887141"/>
            <a:ext cx="49576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Animation clip</a:t>
            </a:r>
            <a:endParaRPr lang="en-US" sz="1500" dirty="0"/>
          </a:p>
        </p:txBody>
      </p:sp>
      <p:sp>
        <p:nvSpPr>
          <p:cNvPr id="8" name="Text 4"/>
          <p:cNvSpPr/>
          <p:nvPr/>
        </p:nvSpPr>
        <p:spPr>
          <a:xfrm>
            <a:off x="1003300" y="2179241"/>
            <a:ext cx="4957699"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C2433"/>
                </a:solidFill>
                <a:latin typeface="Carlito" pitchFamily="34" charset="0"/>
                <a:ea typeface="Carlito" pitchFamily="34" charset="-122"/>
                <a:cs typeface="Carlito" pitchFamily="34" charset="-120"/>
              </a:rPr>
              <a:t>Keyframes over time. </a:t>
            </a:r>
            <a:r>
              <a:rPr lang="en-US" sz="1250" b="1" dirty="0">
                <a:solidFill>
                  <a:srgbClr val="1C2433"/>
                </a:solidFill>
                <a:latin typeface="Carlito" pitchFamily="34" charset="0"/>
                <a:ea typeface="Carlito" pitchFamily="34" charset="-122"/>
                <a:cs typeface="Carlito" pitchFamily="34" charset="-120"/>
              </a:rPr>
              <a:t>RotateCar</a:t>
            </a:r>
            <a:r>
              <a:rPr lang="en-US" sz="1250" dirty="0">
                <a:solidFill>
                  <a:srgbClr val="1C2433"/>
                </a:solidFill>
                <a:latin typeface="Carlito" pitchFamily="34" charset="0"/>
                <a:ea typeface="Carlito" pitchFamily="34" charset="-122"/>
                <a:cs typeface="Carlito" pitchFamily="34" charset="-120"/>
              </a:rPr>
              <a:t>: Rotation.y 0 at 0:00 → 355 at 0:10, </a:t>
            </a:r>
            <a:r>
              <a:rPr lang="en-US" sz="1250" b="1" dirty="0">
                <a:solidFill>
                  <a:srgbClr val="1C2433"/>
                </a:solidFill>
                <a:latin typeface="Carlito" pitchFamily="34" charset="0"/>
                <a:ea typeface="Carlito" pitchFamily="34" charset="-122"/>
                <a:cs typeface="Carlito" pitchFamily="34" charset="-120"/>
              </a:rPr>
              <a:t>Loop Time</a:t>
            </a:r>
            <a:r>
              <a:rPr lang="en-US" sz="1250" dirty="0">
                <a:solidFill>
                  <a:srgbClr val="1C2433"/>
                </a:solidFill>
                <a:latin typeface="Carlito" pitchFamily="34" charset="0"/>
                <a:ea typeface="Carlito" pitchFamily="34" charset="-122"/>
                <a:cs typeface="Carlito" pitchFamily="34" charset="-120"/>
              </a:rPr>
              <a:t> on. 355, not 360, so the loop doesn’t stutter.</a:t>
            </a:r>
            <a:endParaRPr lang="en-US" sz="1250" dirty="0"/>
          </a:p>
        </p:txBody>
      </p:sp>
      <p:sp>
        <p:nvSpPr>
          <p:cNvPr id="9" name="Shape 5"/>
          <p:cNvSpPr/>
          <p:nvPr/>
        </p:nvSpPr>
        <p:spPr>
          <a:xfrm>
            <a:off x="6184900" y="1722041"/>
            <a:ext cx="5194300" cy="1066800"/>
          </a:xfrm>
          <a:prstGeom prst="roundRect">
            <a:avLst>
              <a:gd name="adj" fmla="val 8333"/>
            </a:avLst>
          </a:prstGeom>
          <a:solidFill>
            <a:srgbClr val="EEF1F5"/>
          </a:solidFill>
          <a:ln/>
        </p:spPr>
      </p:sp>
      <p:sp>
        <p:nvSpPr>
          <p:cNvPr id="10" name="Text 6"/>
          <p:cNvSpPr/>
          <p:nvPr/>
        </p:nvSpPr>
        <p:spPr>
          <a:xfrm>
            <a:off x="6375400" y="1887141"/>
            <a:ext cx="49576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Animator Controller</a:t>
            </a:r>
            <a:endParaRPr lang="en-US" sz="1500" dirty="0"/>
          </a:p>
        </p:txBody>
      </p:sp>
      <p:sp>
        <p:nvSpPr>
          <p:cNvPr id="11" name="Text 7"/>
          <p:cNvSpPr/>
          <p:nvPr/>
        </p:nvSpPr>
        <p:spPr>
          <a:xfrm>
            <a:off x="6375400" y="2179241"/>
            <a:ext cx="4957699"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C2433"/>
                </a:solidFill>
                <a:latin typeface="Carlito" pitchFamily="34" charset="0"/>
                <a:ea typeface="Carlito" pitchFamily="34" charset="-122"/>
                <a:cs typeface="Carlito" pitchFamily="34" charset="-120"/>
              </a:rPr>
              <a:t>A state machine of clips. Transitions fire on </a:t>
            </a:r>
            <a:r>
              <a:rPr lang="en-US" sz="1250" b="1" dirty="0">
                <a:solidFill>
                  <a:srgbClr val="1C2433"/>
                </a:solidFill>
                <a:latin typeface="Carlito" pitchFamily="34" charset="0"/>
                <a:ea typeface="Carlito" pitchFamily="34" charset="-122"/>
                <a:cs typeface="Carlito" pitchFamily="34" charset="-120"/>
              </a:rPr>
              <a:t>parameters</a:t>
            </a:r>
            <a:r>
              <a:rPr lang="en-US" sz="1250" dirty="0">
                <a:solidFill>
                  <a:srgbClr val="1C2433"/>
                </a:solidFill>
                <a:latin typeface="Carlito" pitchFamily="34" charset="0"/>
                <a:ea typeface="Carlito" pitchFamily="34" charset="-122"/>
                <a:cs typeface="Carlito" pitchFamily="34" charset="-120"/>
              </a:rPr>
              <a:t>: here two Triggers, </a:t>
            </a:r>
            <a:r>
              <a:rPr lang="en-US" sz="1250" b="1" dirty="0">
                <a:solidFill>
                  <a:srgbClr val="1C2433"/>
                </a:solidFill>
                <a:latin typeface="Carlito" pitchFamily="34" charset="0"/>
                <a:ea typeface="Carlito" pitchFamily="34" charset="-122"/>
                <a:cs typeface="Carlito" pitchFamily="34" charset="-120"/>
              </a:rPr>
              <a:t>Rotate</a:t>
            </a:r>
            <a:r>
              <a:rPr lang="en-US" sz="1250" dirty="0">
                <a:solidFill>
                  <a:srgbClr val="1C2433"/>
                </a:solidFill>
                <a:latin typeface="Carlito" pitchFamily="34" charset="0"/>
                <a:ea typeface="Carlito" pitchFamily="34" charset="-122"/>
                <a:cs typeface="Carlito" pitchFamily="34" charset="-120"/>
              </a:rPr>
              <a:t> and </a:t>
            </a:r>
            <a:r>
              <a:rPr lang="en-US" sz="1250" b="1" dirty="0">
                <a:solidFill>
                  <a:srgbClr val="1C2433"/>
                </a:solidFill>
                <a:latin typeface="Carlito" pitchFamily="34" charset="0"/>
                <a:ea typeface="Carlito" pitchFamily="34" charset="-122"/>
                <a:cs typeface="Carlito" pitchFamily="34" charset="-120"/>
              </a:rPr>
              <a:t>StopRotation</a:t>
            </a:r>
            <a:r>
              <a:rPr lang="en-US" sz="1250" dirty="0">
                <a:solidFill>
                  <a:srgbClr val="1C2433"/>
                </a:solidFill>
                <a:latin typeface="Carlito" pitchFamily="34" charset="0"/>
                <a:ea typeface="Carlito" pitchFamily="34" charset="-122"/>
                <a:cs typeface="Carlito" pitchFamily="34" charset="-120"/>
              </a:rPr>
              <a:t>.</a:t>
            </a:r>
            <a:endParaRPr lang="en-US" sz="1250" dirty="0"/>
          </a:p>
        </p:txBody>
      </p:sp>
      <p:sp>
        <p:nvSpPr>
          <p:cNvPr id="12" name="Shape 8"/>
          <p:cNvSpPr/>
          <p:nvPr/>
        </p:nvSpPr>
        <p:spPr>
          <a:xfrm>
            <a:off x="812800" y="2979341"/>
            <a:ext cx="10566400" cy="1587500"/>
          </a:xfrm>
          <a:prstGeom prst="roundRect">
            <a:avLst>
              <a:gd name="adj" fmla="val 6400"/>
            </a:avLst>
          </a:prstGeom>
          <a:solidFill>
            <a:srgbClr val="33415A"/>
          </a:solidFill>
          <a:ln/>
        </p:spPr>
      </p:sp>
      <p:sp>
        <p:nvSpPr>
          <p:cNvPr id="13" name="Text 9"/>
          <p:cNvSpPr/>
          <p:nvPr/>
        </p:nvSpPr>
        <p:spPr>
          <a:xfrm>
            <a:off x="1193800" y="3519091"/>
            <a:ext cx="1905000" cy="506710"/>
          </a:xfrm>
          <a:custGeom>
            <a:avLst/>
            <a:gdLst/>
            <a:ahLst/>
            <a:cxnLst/>
            <a:rect l="l" t="t" r="r" b="b"/>
            <a:pathLst>
              <a:path w="1905000" h="506710">
                <a:moveTo>
                  <a:pt x="253355" y="0"/>
                </a:moveTo>
                <a:lnTo>
                  <a:pt x="1651645" y="0"/>
                </a:lnTo>
                <a:arcTo wR="253355" hR="253355" stAng="16200000" swAng="5400000"/>
                <a:lnTo>
                  <a:pt x="1905000" y="253355"/>
                </a:lnTo>
                <a:arcTo wR="253355" hR="253355" stAng="0" swAng="5400000"/>
                <a:lnTo>
                  <a:pt x="253355" y="506710"/>
                </a:lnTo>
                <a:arcTo wR="253355" hR="253355" stAng="5400000" swAng="5400000"/>
                <a:lnTo>
                  <a:pt x="0" y="253355"/>
                </a:lnTo>
                <a:arcTo wR="253355" hR="253355" stAng="10800000" swAng="5400000"/>
                <a:close/>
              </a:path>
            </a:pathLst>
          </a:custGeom>
          <a:solidFill>
            <a:srgbClr val="F4F1EA"/>
          </a:solidFill>
          <a:ln/>
        </p:spPr>
        <p:txBody>
          <a:bodyPr wrap="square" lIns="0" tIns="0" rIns="0" bIns="0" rtlCol="0" anchor="t">
            <a:normAutofit/>
          </a:bodyPr>
          <a:lstStyle/>
          <a:p>
            <a:pPr marL="0" indent="0" algn="ctr">
              <a:lnSpc>
                <a:spcPts val="3990"/>
              </a:lnSpc>
              <a:buNone/>
            </a:pPr>
            <a:r>
              <a:rPr lang="en-US" sz="1400" b="1" dirty="0">
                <a:solidFill>
                  <a:srgbClr val="1C2433"/>
                </a:solidFill>
                <a:latin typeface="Carlito" pitchFamily="34" charset="0"/>
                <a:ea typeface="Carlito" pitchFamily="34" charset="-122"/>
                <a:cs typeface="Carlito" pitchFamily="34" charset="-120"/>
              </a:rPr>
              <a:t>Idle (default)</a:t>
            </a:r>
            <a:endParaRPr lang="en-US" sz="1400" dirty="0"/>
          </a:p>
        </p:txBody>
      </p:sp>
      <p:sp>
        <p:nvSpPr>
          <p:cNvPr id="14" name="Text 10"/>
          <p:cNvSpPr/>
          <p:nvPr/>
        </p:nvSpPr>
        <p:spPr>
          <a:xfrm>
            <a:off x="5257800" y="3519091"/>
            <a:ext cx="1905000" cy="506710"/>
          </a:xfrm>
          <a:custGeom>
            <a:avLst/>
            <a:gdLst/>
            <a:ahLst/>
            <a:cxnLst/>
            <a:rect l="l" t="t" r="r" b="b"/>
            <a:pathLst>
              <a:path w="1905000" h="506710">
                <a:moveTo>
                  <a:pt x="253355" y="0"/>
                </a:moveTo>
                <a:lnTo>
                  <a:pt x="1651645" y="0"/>
                </a:lnTo>
                <a:arcTo wR="253355" hR="253355" stAng="16200000" swAng="5400000"/>
                <a:lnTo>
                  <a:pt x="1905000" y="253355"/>
                </a:lnTo>
                <a:arcTo wR="253355" hR="253355" stAng="0" swAng="5400000"/>
                <a:lnTo>
                  <a:pt x="253355" y="506710"/>
                </a:lnTo>
                <a:arcTo wR="253355" hR="253355" stAng="5400000" swAng="5400000"/>
                <a:lnTo>
                  <a:pt x="0" y="253355"/>
                </a:lnTo>
                <a:arcTo wR="253355" hR="253355" stAng="10800000" swAng="5400000"/>
                <a:close/>
              </a:path>
            </a:pathLst>
          </a:custGeom>
          <a:solidFill>
            <a:srgbClr val="FFB81C"/>
          </a:solidFill>
          <a:ln/>
        </p:spPr>
        <p:txBody>
          <a:bodyPr wrap="square" lIns="0" tIns="0" rIns="0" bIns="0" rtlCol="0" anchor="t">
            <a:normAutofit/>
          </a:bodyPr>
          <a:lstStyle/>
          <a:p>
            <a:pPr marL="0" indent="0" algn="ctr">
              <a:lnSpc>
                <a:spcPts val="3990"/>
              </a:lnSpc>
              <a:buNone/>
            </a:pPr>
            <a:r>
              <a:rPr lang="en-US" sz="1400" b="1" dirty="0">
                <a:solidFill>
                  <a:srgbClr val="1C2433"/>
                </a:solidFill>
                <a:latin typeface="Carlito" pitchFamily="34" charset="0"/>
                <a:ea typeface="Carlito" pitchFamily="34" charset="-122"/>
                <a:cs typeface="Carlito" pitchFamily="34" charset="-120"/>
              </a:rPr>
              <a:t>RotateCar</a:t>
            </a:r>
            <a:endParaRPr lang="en-US" sz="1400" dirty="0"/>
          </a:p>
        </p:txBody>
      </p:sp>
      <p:pic>
        <p:nvPicPr>
          <p:cNvPr id="15" name="Image 2" descr="connector"/>
          <p:cNvPicPr>
            <a:picLocks noChangeAspect="1"/>
          </p:cNvPicPr>
          <p:nvPr/>
        </p:nvPicPr>
        <p:blipFill>
          <a:blip r:embed="rId5"/>
          <a:srcRect/>
          <a:stretch/>
        </p:blipFill>
        <p:spPr>
          <a:xfrm>
            <a:off x="3048000" y="3595291"/>
            <a:ext cx="2260600" cy="101600"/>
          </a:xfrm>
          <a:prstGeom prst="rect">
            <a:avLst/>
          </a:prstGeom>
        </p:spPr>
      </p:pic>
      <p:pic>
        <p:nvPicPr>
          <p:cNvPr id="16" name="Image 3" descr="connector"/>
          <p:cNvPicPr>
            <a:picLocks noChangeAspect="1"/>
          </p:cNvPicPr>
          <p:nvPr/>
        </p:nvPicPr>
        <p:blipFill>
          <a:blip r:embed="rId6"/>
          <a:srcRect/>
          <a:stretch/>
        </p:blipFill>
        <p:spPr>
          <a:xfrm>
            <a:off x="3048000" y="3849291"/>
            <a:ext cx="2260600" cy="101600"/>
          </a:xfrm>
          <a:prstGeom prst="rect">
            <a:avLst/>
          </a:prstGeom>
        </p:spPr>
      </p:pic>
      <p:sp>
        <p:nvSpPr>
          <p:cNvPr id="17" name="Text 11"/>
          <p:cNvSpPr/>
          <p:nvPr/>
        </p:nvSpPr>
        <p:spPr>
          <a:xfrm>
            <a:off x="3197225" y="3169841"/>
            <a:ext cx="19621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4F1EA"/>
                </a:solidFill>
                <a:latin typeface="Carlito" pitchFamily="34" charset="0"/>
                <a:ea typeface="Carlito" pitchFamily="34" charset="-122"/>
                <a:cs typeface="Carlito" pitchFamily="34" charset="-120"/>
              </a:rPr>
              <a:t>trigger: Rotate</a:t>
            </a:r>
            <a:endParaRPr lang="en-US" sz="1200" dirty="0"/>
          </a:p>
        </p:txBody>
      </p:sp>
      <p:sp>
        <p:nvSpPr>
          <p:cNvPr id="18" name="Text 12"/>
          <p:cNvSpPr/>
          <p:nvPr/>
        </p:nvSpPr>
        <p:spPr>
          <a:xfrm>
            <a:off x="3197225" y="3995341"/>
            <a:ext cx="19621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4F1EA"/>
                </a:solidFill>
                <a:latin typeface="Carlito" pitchFamily="34" charset="0"/>
                <a:ea typeface="Carlito" pitchFamily="34" charset="-122"/>
                <a:cs typeface="Carlito" pitchFamily="34" charset="-120"/>
              </a:rPr>
              <a:t>trigger: StopRotation</a:t>
            </a:r>
            <a:endParaRPr lang="en-US" sz="1200" dirty="0"/>
          </a:p>
        </p:txBody>
      </p:sp>
      <p:sp>
        <p:nvSpPr>
          <p:cNvPr id="19" name="Text 13"/>
          <p:cNvSpPr/>
          <p:nvPr/>
        </p:nvSpPr>
        <p:spPr>
          <a:xfrm>
            <a:off x="7670800" y="3233341"/>
            <a:ext cx="3531870"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E"/>
                </a:solidFill>
                <a:latin typeface="Carlito" pitchFamily="34" charset="0"/>
                <a:ea typeface="Carlito" pitchFamily="34" charset="-122"/>
                <a:cs typeface="Carlito" pitchFamily="34" charset="-120"/>
              </a:rPr>
              <a:t>Push button events:</a:t>
            </a:r>
            <a:endParaRPr lang="en-US" sz="1200" dirty="0"/>
          </a:p>
          <a:p>
            <a:pPr marL="0" indent="0" algn="l">
              <a:lnSpc>
                <a:spcPts val="1740"/>
              </a:lnSpc>
              <a:buNone/>
            </a:pPr>
            <a:r>
              <a:rPr lang="en-US" sz="1200" b="1" dirty="0">
                <a:solidFill>
                  <a:srgbClr val="F4F1EA"/>
                </a:solidFill>
                <a:latin typeface="Carlito" pitchFamily="34" charset="0"/>
                <a:ea typeface="Carlito" pitchFamily="34" charset="-122"/>
                <a:cs typeface="Carlito" pitchFamily="34" charset="-120"/>
              </a:rPr>
              <a:t>Select Entered</a:t>
            </a:r>
            <a:r>
              <a:rPr lang="en-US" sz="1200" dirty="0">
                <a:solidFill>
                  <a:srgbClr val="C9D6EE"/>
                </a:solidFill>
                <a:latin typeface="Carlito" pitchFamily="34" charset="0"/>
                <a:ea typeface="Carlito" pitchFamily="34" charset="-122"/>
                <a:cs typeface="Carlito" pitchFamily="34" charset="-120"/>
              </a:rPr>
              <a:t> → Animator.SetTrigger("Rotate")</a:t>
            </a:r>
            <a:endParaRPr lang="en-US" sz="1200" dirty="0"/>
          </a:p>
          <a:p>
            <a:pPr marL="0" indent="0" algn="l">
              <a:lnSpc>
                <a:spcPts val="1740"/>
              </a:lnSpc>
              <a:buNone/>
            </a:pPr>
            <a:r>
              <a:rPr lang="en-US" sz="1200" b="1" dirty="0">
                <a:solidFill>
                  <a:srgbClr val="F4F1EA"/>
                </a:solidFill>
                <a:latin typeface="Carlito" pitchFamily="34" charset="0"/>
                <a:ea typeface="Carlito" pitchFamily="34" charset="-122"/>
                <a:cs typeface="Carlito" pitchFamily="34" charset="-120"/>
              </a:rPr>
              <a:t>Select Exited</a:t>
            </a:r>
            <a:r>
              <a:rPr lang="en-US" sz="1200" dirty="0">
                <a:solidFill>
                  <a:srgbClr val="C9D6EE"/>
                </a:solidFill>
                <a:latin typeface="Carlito" pitchFamily="34" charset="0"/>
                <a:ea typeface="Carlito" pitchFamily="34" charset="-122"/>
                <a:cs typeface="Carlito" pitchFamily="34" charset="-120"/>
              </a:rPr>
              <a:t> → Animator.SetTrigger("StopRotation")</a:t>
            </a:r>
            <a:endParaRPr lang="en-US" sz="1200" dirty="0"/>
          </a:p>
        </p:txBody>
      </p:sp>
      <p:sp>
        <p:nvSpPr>
          <p:cNvPr id="20" name="Text 14"/>
          <p:cNvSpPr/>
          <p:nvPr/>
        </p:nvSpPr>
        <p:spPr>
          <a:xfrm>
            <a:off x="812800" y="475734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Carlito" pitchFamily="34" charset="0"/>
                <a:ea typeface="Carlito" pitchFamily="34" charset="-122"/>
                <a:cs typeface="Carlito" pitchFamily="34" charset="-120"/>
              </a:rPr>
              <a:t>Set </a:t>
            </a:r>
            <a:r>
              <a:rPr lang="en-US" sz="1300" b="1" dirty="0">
                <a:solidFill>
                  <a:srgbClr val="4A5568"/>
                </a:solidFill>
                <a:latin typeface="Carlito" pitchFamily="34" charset="0"/>
                <a:ea typeface="Carlito" pitchFamily="34" charset="-122"/>
                <a:cs typeface="Carlito" pitchFamily="34" charset="-120"/>
              </a:rPr>
              <a:t>Idle</a:t>
            </a:r>
            <a:r>
              <a:rPr lang="en-US" sz="1300" dirty="0">
                <a:solidFill>
                  <a:srgbClr val="4A5568"/>
                </a:solidFill>
                <a:latin typeface="Carlito" pitchFamily="34" charset="0"/>
                <a:ea typeface="Carlito" pitchFamily="34" charset="-122"/>
                <a:cs typeface="Carlito" pitchFamily="34" charset="-120"/>
              </a:rPr>
              <a:t> as Layer Default State, or the taxi spins the moment the scene loads.</a:t>
            </a:r>
            <a:endParaRPr lang="en-US" sz="1300" dirty="0"/>
          </a:p>
        </p:txBody>
      </p:sp>
      <p:sp>
        <p:nvSpPr>
          <p:cNvPr id="21" name="Text 1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107–111)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NO CODE: THE POLICE CAR</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Two UI buttons drive a three-state Animator</a:t>
            </a:r>
            <a:endParaRPr lang="en-US" sz="2800" dirty="0"/>
          </a:p>
        </p:txBody>
      </p:sp>
      <p:sp>
        <p:nvSpPr>
          <p:cNvPr id="6" name="Shape 2"/>
          <p:cNvSpPr/>
          <p:nvPr/>
        </p:nvSpPr>
        <p:spPr>
          <a:xfrm>
            <a:off x="812800" y="1722041"/>
            <a:ext cx="3556000" cy="791170"/>
          </a:xfrm>
          <a:prstGeom prst="roundRect">
            <a:avLst>
              <a:gd name="adj" fmla="val 11237"/>
            </a:avLst>
          </a:prstGeom>
          <a:solidFill>
            <a:srgbClr val="EEF1F5"/>
          </a:solidFill>
          <a:ln/>
        </p:spPr>
      </p:sp>
      <p:sp>
        <p:nvSpPr>
          <p:cNvPr id="7" name="Text 3"/>
          <p:cNvSpPr/>
          <p:nvPr/>
        </p:nvSpPr>
        <p:spPr>
          <a:xfrm>
            <a:off x="990600" y="1874441"/>
            <a:ext cx="32964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ScaleCar</a:t>
            </a:r>
            <a:endParaRPr lang="en-US" sz="1400" dirty="0"/>
          </a:p>
        </p:txBody>
      </p:sp>
      <p:sp>
        <p:nvSpPr>
          <p:cNvPr id="8" name="Text 4"/>
          <p:cNvSpPr/>
          <p:nvPr/>
        </p:nvSpPr>
        <p:spPr>
          <a:xfrm>
            <a:off x="990600" y="2138561"/>
            <a:ext cx="3296412"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C2433"/>
                </a:solidFill>
                <a:latin typeface="Carlito" pitchFamily="34" charset="0"/>
                <a:ea typeface="Carlito" pitchFamily="34" charset="-122"/>
                <a:cs typeface="Carlito" pitchFamily="34" charset="-120"/>
              </a:rPr>
              <a:t>Scale 0 at 0:00 → 3 at 1:00</a:t>
            </a:r>
            <a:endParaRPr lang="en-US" sz="1250" dirty="0"/>
          </a:p>
        </p:txBody>
      </p:sp>
      <p:sp>
        <p:nvSpPr>
          <p:cNvPr id="9" name="Shape 5"/>
          <p:cNvSpPr/>
          <p:nvPr/>
        </p:nvSpPr>
        <p:spPr>
          <a:xfrm>
            <a:off x="812800" y="2614811"/>
            <a:ext cx="3556000" cy="791170"/>
          </a:xfrm>
          <a:prstGeom prst="roundRect">
            <a:avLst>
              <a:gd name="adj" fmla="val 11237"/>
            </a:avLst>
          </a:prstGeom>
          <a:solidFill>
            <a:srgbClr val="EEF1F5"/>
          </a:solidFill>
          <a:ln/>
        </p:spPr>
      </p:sp>
      <p:sp>
        <p:nvSpPr>
          <p:cNvPr id="10" name="Text 6"/>
          <p:cNvSpPr/>
          <p:nvPr/>
        </p:nvSpPr>
        <p:spPr>
          <a:xfrm>
            <a:off x="990600" y="2767211"/>
            <a:ext cx="32964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ShrinkCar</a:t>
            </a:r>
            <a:endParaRPr lang="en-US" sz="1400" dirty="0"/>
          </a:p>
        </p:txBody>
      </p:sp>
      <p:sp>
        <p:nvSpPr>
          <p:cNvPr id="11" name="Text 7"/>
          <p:cNvSpPr/>
          <p:nvPr/>
        </p:nvSpPr>
        <p:spPr>
          <a:xfrm>
            <a:off x="990600" y="3031331"/>
            <a:ext cx="3296412"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1C2433"/>
                </a:solidFill>
                <a:latin typeface="Carlito" pitchFamily="34" charset="0"/>
                <a:ea typeface="Carlito" pitchFamily="34" charset="-122"/>
                <a:cs typeface="Carlito" pitchFamily="34" charset="-120"/>
              </a:rPr>
              <a:t>Scale 3 at 0:00 → 0 at 1:00</a:t>
            </a:r>
            <a:endParaRPr lang="en-US" sz="1250" dirty="0"/>
          </a:p>
        </p:txBody>
      </p:sp>
      <p:sp>
        <p:nvSpPr>
          <p:cNvPr id="12" name="Text 8"/>
          <p:cNvSpPr/>
          <p:nvPr/>
        </p:nvSpPr>
        <p:spPr>
          <a:xfrm>
            <a:off x="812800" y="3507581"/>
            <a:ext cx="366268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33415A"/>
                </a:solidFill>
                <a:latin typeface="Carlito" pitchFamily="34" charset="0"/>
                <a:ea typeface="Carlito" pitchFamily="34" charset="-122"/>
                <a:cs typeface="Carlito" pitchFamily="34" charset="-120"/>
              </a:rPr>
              <a:t>Uncheck </a:t>
            </a:r>
            <a:r>
              <a:rPr lang="en-US" sz="1250" b="1" dirty="0">
                <a:solidFill>
                  <a:srgbClr val="33415A"/>
                </a:solidFill>
                <a:latin typeface="Carlito" pitchFamily="34" charset="0"/>
                <a:ea typeface="Carlito" pitchFamily="34" charset="-122"/>
                <a:cs typeface="Carlito" pitchFamily="34" charset="-120"/>
              </a:rPr>
              <a:t>Loop Time</a:t>
            </a:r>
            <a:r>
              <a:rPr lang="en-US" sz="1250" dirty="0">
                <a:solidFill>
                  <a:srgbClr val="33415A"/>
                </a:solidFill>
                <a:latin typeface="Carlito" pitchFamily="34" charset="0"/>
                <a:ea typeface="Carlito" pitchFamily="34" charset="-122"/>
                <a:cs typeface="Carlito" pitchFamily="34" charset="-120"/>
              </a:rPr>
              <a:t> on both: each plays once, then holds.</a:t>
            </a:r>
            <a:endParaRPr lang="en-US" sz="1250" dirty="0"/>
          </a:p>
        </p:txBody>
      </p:sp>
      <p:sp>
        <p:nvSpPr>
          <p:cNvPr id="13" name="Text 9"/>
          <p:cNvSpPr/>
          <p:nvPr/>
        </p:nvSpPr>
        <p:spPr>
          <a:xfrm>
            <a:off x="812800" y="4053681"/>
            <a:ext cx="366268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33415A"/>
                </a:solidFill>
                <a:latin typeface="Carlito" pitchFamily="34" charset="0"/>
                <a:ea typeface="Carlito" pitchFamily="34" charset="-122"/>
                <a:cs typeface="Carlito" pitchFamily="34" charset="-120"/>
              </a:rPr>
              <a:t>Canvas: </a:t>
            </a:r>
            <a:r>
              <a:rPr lang="en-US" sz="1250" b="1" dirty="0">
                <a:solidFill>
                  <a:srgbClr val="33415A"/>
                </a:solidFill>
                <a:latin typeface="Carlito" pitchFamily="34" charset="0"/>
                <a:ea typeface="Carlito" pitchFamily="34" charset="-122"/>
                <a:cs typeface="Carlito" pitchFamily="34" charset="-120"/>
              </a:rPr>
              <a:t>Vertical Layout Group</a:t>
            </a:r>
            <a:r>
              <a:rPr lang="en-US" sz="1250" dirty="0">
                <a:solidFill>
                  <a:srgbClr val="33415A"/>
                </a:solidFill>
                <a:latin typeface="Carlito" pitchFamily="34" charset="0"/>
                <a:ea typeface="Carlito" pitchFamily="34" charset="-122"/>
                <a:cs typeface="Carlito" pitchFamily="34" charset="-120"/>
              </a:rPr>
              <a:t>, spacing 5, Middle Center, Child Force Expand, so the two buttons stack themselves.</a:t>
            </a:r>
            <a:endParaRPr lang="en-US" sz="1250" dirty="0"/>
          </a:p>
        </p:txBody>
      </p:sp>
      <p:sp>
        <p:nvSpPr>
          <p:cNvPr id="14" name="Shape 10"/>
          <p:cNvSpPr/>
          <p:nvPr/>
        </p:nvSpPr>
        <p:spPr>
          <a:xfrm>
            <a:off x="4622800" y="1722041"/>
            <a:ext cx="6756400" cy="3175000"/>
          </a:xfrm>
          <a:prstGeom prst="roundRect">
            <a:avLst>
              <a:gd name="adj" fmla="val 3200"/>
            </a:avLst>
          </a:prstGeom>
          <a:solidFill>
            <a:srgbClr val="33415A"/>
          </a:solidFill>
          <a:ln/>
        </p:spPr>
      </p:sp>
      <p:sp>
        <p:nvSpPr>
          <p:cNvPr id="15" name="Text 11"/>
          <p:cNvSpPr/>
          <p:nvPr/>
        </p:nvSpPr>
        <p:spPr>
          <a:xfrm>
            <a:off x="4876800" y="3055541"/>
            <a:ext cx="1524000" cy="506710"/>
          </a:xfrm>
          <a:custGeom>
            <a:avLst/>
            <a:gdLst/>
            <a:ahLst/>
            <a:cxnLst/>
            <a:rect l="l" t="t" r="r" b="b"/>
            <a:pathLst>
              <a:path w="1524000" h="506710">
                <a:moveTo>
                  <a:pt x="253355" y="0"/>
                </a:moveTo>
                <a:lnTo>
                  <a:pt x="1270645" y="0"/>
                </a:lnTo>
                <a:arcTo wR="253355" hR="253355" stAng="16200000" swAng="5400000"/>
                <a:lnTo>
                  <a:pt x="1524000" y="253355"/>
                </a:lnTo>
                <a:arcTo wR="253355" hR="253355" stAng="0" swAng="5400000"/>
                <a:lnTo>
                  <a:pt x="253355" y="506710"/>
                </a:lnTo>
                <a:arcTo wR="253355" hR="253355" stAng="5400000" swAng="5400000"/>
                <a:lnTo>
                  <a:pt x="0" y="253355"/>
                </a:lnTo>
                <a:arcTo wR="253355" hR="253355" stAng="10800000" swAng="5400000"/>
                <a:close/>
              </a:path>
            </a:pathLst>
          </a:custGeom>
          <a:solidFill>
            <a:srgbClr val="F4F1EA"/>
          </a:solidFill>
          <a:ln/>
        </p:spPr>
        <p:txBody>
          <a:bodyPr wrap="square" lIns="0" tIns="0" rIns="0" bIns="0" rtlCol="0" anchor="t">
            <a:normAutofit/>
          </a:bodyPr>
          <a:lstStyle/>
          <a:p>
            <a:pPr marL="0" indent="0" algn="ctr">
              <a:lnSpc>
                <a:spcPts val="3990"/>
              </a:lnSpc>
              <a:buNone/>
            </a:pPr>
            <a:r>
              <a:rPr lang="en-US" sz="1400" b="1" dirty="0">
                <a:solidFill>
                  <a:srgbClr val="1C2433"/>
                </a:solidFill>
                <a:latin typeface="Carlito" pitchFamily="34" charset="0"/>
                <a:ea typeface="Carlito" pitchFamily="34" charset="-122"/>
                <a:cs typeface="Carlito" pitchFamily="34" charset="-120"/>
              </a:rPr>
              <a:t>Idle</a:t>
            </a:r>
            <a:endParaRPr lang="en-US" sz="1400" dirty="0"/>
          </a:p>
        </p:txBody>
      </p:sp>
      <p:sp>
        <p:nvSpPr>
          <p:cNvPr id="16" name="Text 12"/>
          <p:cNvSpPr/>
          <p:nvPr/>
        </p:nvSpPr>
        <p:spPr>
          <a:xfrm>
            <a:off x="8686800" y="2103041"/>
            <a:ext cx="1905000" cy="506710"/>
          </a:xfrm>
          <a:custGeom>
            <a:avLst/>
            <a:gdLst/>
            <a:ahLst/>
            <a:cxnLst/>
            <a:rect l="l" t="t" r="r" b="b"/>
            <a:pathLst>
              <a:path w="1905000" h="506710">
                <a:moveTo>
                  <a:pt x="253355" y="0"/>
                </a:moveTo>
                <a:lnTo>
                  <a:pt x="1651645" y="0"/>
                </a:lnTo>
                <a:arcTo wR="253355" hR="253355" stAng="16200000" swAng="5400000"/>
                <a:lnTo>
                  <a:pt x="1905000" y="253355"/>
                </a:lnTo>
                <a:arcTo wR="253355" hR="253355" stAng="0" swAng="5400000"/>
                <a:lnTo>
                  <a:pt x="253355" y="506710"/>
                </a:lnTo>
                <a:arcTo wR="253355" hR="253355" stAng="5400000" swAng="5400000"/>
                <a:lnTo>
                  <a:pt x="0" y="253355"/>
                </a:lnTo>
                <a:arcTo wR="253355" hR="253355" stAng="10800000" swAng="5400000"/>
                <a:close/>
              </a:path>
            </a:pathLst>
          </a:custGeom>
          <a:solidFill>
            <a:srgbClr val="FFB81C"/>
          </a:solidFill>
          <a:ln/>
        </p:spPr>
        <p:txBody>
          <a:bodyPr wrap="square" lIns="0" tIns="0" rIns="0" bIns="0" rtlCol="0" anchor="t">
            <a:normAutofit/>
          </a:bodyPr>
          <a:lstStyle/>
          <a:p>
            <a:pPr marL="0" indent="0" algn="ctr">
              <a:lnSpc>
                <a:spcPts val="3990"/>
              </a:lnSpc>
              <a:buNone/>
            </a:pPr>
            <a:r>
              <a:rPr lang="en-US" sz="1400" b="1" dirty="0">
                <a:solidFill>
                  <a:srgbClr val="1C2433"/>
                </a:solidFill>
                <a:latin typeface="Carlito" pitchFamily="34" charset="0"/>
                <a:ea typeface="Carlito" pitchFamily="34" charset="-122"/>
                <a:cs typeface="Carlito" pitchFamily="34" charset="-120"/>
              </a:rPr>
              <a:t>ScaleCar</a:t>
            </a:r>
            <a:endParaRPr lang="en-US" sz="1400" dirty="0"/>
          </a:p>
        </p:txBody>
      </p:sp>
      <p:sp>
        <p:nvSpPr>
          <p:cNvPr id="17" name="Text 13"/>
          <p:cNvSpPr/>
          <p:nvPr/>
        </p:nvSpPr>
        <p:spPr>
          <a:xfrm>
            <a:off x="8686800" y="4008041"/>
            <a:ext cx="1905000" cy="506710"/>
          </a:xfrm>
          <a:custGeom>
            <a:avLst/>
            <a:gdLst/>
            <a:ahLst/>
            <a:cxnLst/>
            <a:rect l="l" t="t" r="r" b="b"/>
            <a:pathLst>
              <a:path w="1905000" h="506710">
                <a:moveTo>
                  <a:pt x="253355" y="0"/>
                </a:moveTo>
                <a:lnTo>
                  <a:pt x="1651645" y="0"/>
                </a:lnTo>
                <a:arcTo wR="253355" hR="253355" stAng="16200000" swAng="5400000"/>
                <a:lnTo>
                  <a:pt x="1905000" y="253355"/>
                </a:lnTo>
                <a:arcTo wR="253355" hR="253355" stAng="0" swAng="5400000"/>
                <a:lnTo>
                  <a:pt x="253355" y="506710"/>
                </a:lnTo>
                <a:arcTo wR="253355" hR="253355" stAng="5400000" swAng="5400000"/>
                <a:lnTo>
                  <a:pt x="0" y="253355"/>
                </a:lnTo>
                <a:arcTo wR="253355" hR="253355" stAng="10800000" swAng="5400000"/>
                <a:close/>
              </a:path>
            </a:pathLst>
          </a:custGeom>
          <a:solidFill>
            <a:srgbClr val="E8752A"/>
          </a:solidFill>
          <a:ln/>
        </p:spPr>
        <p:txBody>
          <a:bodyPr wrap="square" lIns="0" tIns="0" rIns="0" bIns="0" rtlCol="0" anchor="t">
            <a:normAutofit/>
          </a:bodyPr>
          <a:lstStyle/>
          <a:p>
            <a:pPr marL="0" indent="0" algn="ctr">
              <a:lnSpc>
                <a:spcPts val="3990"/>
              </a:lnSpc>
              <a:buNone/>
            </a:pPr>
            <a:r>
              <a:rPr lang="en-US" sz="1400" b="1" dirty="0">
                <a:solidFill>
                  <a:srgbClr val="1C2433"/>
                </a:solidFill>
                <a:latin typeface="Carlito" pitchFamily="34" charset="0"/>
                <a:ea typeface="Carlito" pitchFamily="34" charset="-122"/>
                <a:cs typeface="Carlito" pitchFamily="34" charset="-120"/>
              </a:rPr>
              <a:t>ShrinkCar</a:t>
            </a:r>
            <a:endParaRPr lang="en-US" sz="1400" dirty="0"/>
          </a:p>
        </p:txBody>
      </p:sp>
      <p:pic>
        <p:nvPicPr>
          <p:cNvPr id="18" name="Image 2" descr="connector"/>
          <p:cNvPicPr>
            <a:picLocks noChangeAspect="1"/>
          </p:cNvPicPr>
          <p:nvPr/>
        </p:nvPicPr>
        <p:blipFill>
          <a:blip r:embed="rId5"/>
          <a:srcRect/>
          <a:stretch/>
        </p:blipFill>
        <p:spPr>
          <a:xfrm>
            <a:off x="6350000" y="2369741"/>
            <a:ext cx="2387600" cy="863600"/>
          </a:xfrm>
          <a:prstGeom prst="rect">
            <a:avLst/>
          </a:prstGeom>
        </p:spPr>
      </p:pic>
      <p:pic>
        <p:nvPicPr>
          <p:cNvPr id="19" name="Image 3" descr="connector"/>
          <p:cNvPicPr>
            <a:picLocks noChangeAspect="1"/>
          </p:cNvPicPr>
          <p:nvPr/>
        </p:nvPicPr>
        <p:blipFill>
          <a:blip r:embed="rId6"/>
          <a:srcRect/>
          <a:stretch/>
        </p:blipFill>
        <p:spPr>
          <a:xfrm>
            <a:off x="6350000" y="3385741"/>
            <a:ext cx="2387600" cy="863600"/>
          </a:xfrm>
          <a:prstGeom prst="rect">
            <a:avLst/>
          </a:prstGeom>
        </p:spPr>
      </p:pic>
      <p:pic>
        <p:nvPicPr>
          <p:cNvPr id="20" name="Image 4" descr="connector"/>
          <p:cNvPicPr>
            <a:picLocks noChangeAspect="1"/>
          </p:cNvPicPr>
          <p:nvPr/>
        </p:nvPicPr>
        <p:blipFill>
          <a:blip r:embed="rId7"/>
          <a:srcRect/>
          <a:stretch/>
        </p:blipFill>
        <p:spPr>
          <a:xfrm>
            <a:off x="9398000" y="2560241"/>
            <a:ext cx="101600" cy="1498600"/>
          </a:xfrm>
          <a:prstGeom prst="rect">
            <a:avLst/>
          </a:prstGeom>
        </p:spPr>
      </p:pic>
      <p:pic>
        <p:nvPicPr>
          <p:cNvPr id="21" name="Image 5" descr="connector"/>
          <p:cNvPicPr>
            <a:picLocks noChangeAspect="1"/>
          </p:cNvPicPr>
          <p:nvPr/>
        </p:nvPicPr>
        <p:blipFill>
          <a:blip r:embed="rId8"/>
          <a:srcRect/>
          <a:stretch/>
        </p:blipFill>
        <p:spPr>
          <a:xfrm>
            <a:off x="9842500" y="2560241"/>
            <a:ext cx="101600" cy="1498600"/>
          </a:xfrm>
          <a:prstGeom prst="rect">
            <a:avLst/>
          </a:prstGeom>
        </p:spPr>
      </p:pic>
      <p:sp>
        <p:nvSpPr>
          <p:cNvPr id="22" name="Text 14"/>
          <p:cNvSpPr/>
          <p:nvPr/>
        </p:nvSpPr>
        <p:spPr>
          <a:xfrm>
            <a:off x="6527800" y="2388791"/>
            <a:ext cx="1447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Carlito" pitchFamily="34" charset="0"/>
                <a:ea typeface="Carlito" pitchFamily="34" charset="-122"/>
                <a:cs typeface="Carlito" pitchFamily="34" charset="-120"/>
              </a:rPr>
              <a:t>ScaleBig</a:t>
            </a:r>
            <a:endParaRPr lang="en-US" sz="1200" dirty="0"/>
          </a:p>
        </p:txBody>
      </p:sp>
      <p:sp>
        <p:nvSpPr>
          <p:cNvPr id="23" name="Text 15"/>
          <p:cNvSpPr/>
          <p:nvPr/>
        </p:nvSpPr>
        <p:spPr>
          <a:xfrm>
            <a:off x="6527800" y="4008041"/>
            <a:ext cx="1447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Carlito" pitchFamily="34" charset="0"/>
                <a:ea typeface="Carlito" pitchFamily="34" charset="-122"/>
                <a:cs typeface="Carlito" pitchFamily="34" charset="-120"/>
              </a:rPr>
              <a:t>ScaleSmall</a:t>
            </a:r>
            <a:endParaRPr lang="en-US" sz="1200" dirty="0"/>
          </a:p>
        </p:txBody>
      </p:sp>
      <p:sp>
        <p:nvSpPr>
          <p:cNvPr id="24" name="Text 16"/>
          <p:cNvSpPr/>
          <p:nvPr/>
        </p:nvSpPr>
        <p:spPr>
          <a:xfrm>
            <a:off x="8128000" y="3182541"/>
            <a:ext cx="1193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4F1EA"/>
                </a:solidFill>
                <a:latin typeface="Carlito" pitchFamily="34" charset="0"/>
                <a:ea typeface="Carlito" pitchFamily="34" charset="-122"/>
                <a:cs typeface="Carlito" pitchFamily="34" charset="-120"/>
              </a:rPr>
              <a:t>ScaleBig</a:t>
            </a:r>
            <a:endParaRPr lang="en-US" sz="1200" dirty="0"/>
          </a:p>
        </p:txBody>
      </p:sp>
      <p:sp>
        <p:nvSpPr>
          <p:cNvPr id="25" name="Text 17"/>
          <p:cNvSpPr/>
          <p:nvPr/>
        </p:nvSpPr>
        <p:spPr>
          <a:xfrm>
            <a:off x="10020300" y="3182541"/>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Carlito" pitchFamily="34" charset="0"/>
                <a:ea typeface="Carlito" pitchFamily="34" charset="-122"/>
                <a:cs typeface="Carlito" pitchFamily="34" charset="-120"/>
              </a:rPr>
              <a:t>ScaleSmall</a:t>
            </a:r>
            <a:endParaRPr lang="en-US" sz="1200" dirty="0"/>
          </a:p>
        </p:txBody>
      </p:sp>
      <p:sp>
        <p:nvSpPr>
          <p:cNvPr id="26" name="Text 18"/>
          <p:cNvSpPr/>
          <p:nvPr/>
        </p:nvSpPr>
        <p:spPr>
          <a:xfrm>
            <a:off x="812800" y="508754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Carlito" pitchFamily="34" charset="0"/>
                <a:ea typeface="Carlito" pitchFamily="34" charset="-122"/>
                <a:cs typeface="Carlito" pitchFamily="34" charset="-120"/>
              </a:rPr>
              <a:t>Each button’s </a:t>
            </a:r>
            <a:r>
              <a:rPr lang="en-US" sz="1300" b="1" dirty="0">
                <a:solidFill>
                  <a:srgbClr val="4A5568"/>
                </a:solidFill>
                <a:latin typeface="Carlito" pitchFamily="34" charset="0"/>
                <a:ea typeface="Carlito" pitchFamily="34" charset="-122"/>
                <a:cs typeface="Carlito" pitchFamily="34" charset="-120"/>
              </a:rPr>
              <a:t>On Click ()</a:t>
            </a:r>
            <a:r>
              <a:rPr lang="en-US" sz="1300" dirty="0">
                <a:solidFill>
                  <a:srgbClr val="4A5568"/>
                </a:solidFill>
                <a:latin typeface="Carlito" pitchFamily="34" charset="0"/>
                <a:ea typeface="Carlito" pitchFamily="34" charset="-122"/>
                <a:cs typeface="Carlito" pitchFamily="34" charset="-120"/>
              </a:rPr>
              <a:t> → police car → Animator.SetTrigger("ScaleBig") or ("ScaleSmall").</a:t>
            </a:r>
            <a:endParaRPr lang="en-US" sz="1300" dirty="0"/>
          </a:p>
        </p:txBody>
      </p:sp>
      <p:sp>
        <p:nvSpPr>
          <p:cNvPr id="27"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112–114)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ANIMATOR OR C#?</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Reach for C# when the motion depends on the moment</a:t>
            </a:r>
            <a:endParaRPr lang="en-US" sz="2800" dirty="0"/>
          </a:p>
        </p:txBody>
      </p:sp>
      <p:graphicFrame>
        <p:nvGraphicFramePr>
          <p:cNvPr id="6" name="Table 0"/>
          <p:cNvGraphicFramePr>
            <a:graphicFrameLocks noGrp="1"/>
          </p:cNvGraphicFramePr>
          <p:nvPr/>
        </p:nvGraphicFramePr>
        <p:xfrm>
          <a:off x="825500" y="1747441"/>
          <a:ext cx="10553700" cy="1899246"/>
        </p:xfrm>
        <a:graphic>
          <a:graphicData uri="http://schemas.openxmlformats.org/drawingml/2006/table">
            <a:tbl>
              <a:tblPr/>
              <a:tblGrid>
                <a:gridCol w="2321814">
                  <a:extLst>
                    <a:ext uri="{9D8B030D-6E8A-4147-A177-3AD203B41FA5}">
                      <a16:colId xmlns:a16="http://schemas.microsoft.com/office/drawing/2014/main" val="20000"/>
                    </a:ext>
                  </a:extLst>
                </a:gridCol>
                <a:gridCol w="411594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Step</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Animator only</a:t>
                      </a:r>
                      <a:endParaRPr lang="en-US" sz="1300" dirty="0">
                        <a:latin typeface="Carlito" charset="0"/>
                        <a:ea typeface="Carlito" charset="0"/>
                        <a:cs typeface="Carlito" charset="0"/>
                      </a:endParaRPr>
                    </a:p>
                  </a:txBody>
                  <a:tcPr marL="57785" marR="57785" marT="57785" marB="57785">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820"/>
                        </a:lnSpc>
                        <a:buNone/>
                      </a:pPr>
                      <a:r>
                        <a:rPr lang="en-US" sz="1300" b="1" dirty="0">
                          <a:solidFill>
                            <a:srgbClr val="FAFAF7"/>
                          </a:solidFill>
                          <a:latin typeface="Carlito" pitchFamily="34" charset="0"/>
                          <a:ea typeface="Carlito" pitchFamily="34" charset="-122"/>
                          <a:cs typeface="Carlito" pitchFamily="34" charset="-120"/>
                        </a:rPr>
                        <a:t>With C#</a:t>
                      </a:r>
                      <a:endParaRPr lang="en-US" sz="1300" dirty="0">
                        <a:latin typeface="Carlito" charset="0"/>
                        <a:ea typeface="Carlito" charset="0"/>
                        <a:cs typeface="Carlito" charset="0"/>
                      </a:endParaRPr>
                    </a:p>
                  </a:txBody>
                  <a:tcPr marL="57785" marR="57785" marT="57785" marB="57785">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Start event</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The events you’re given: button press, UI click</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Anything: combos, collisions, zones, health, network messages, AI decisions</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Animation</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Keyframes made ahead of time</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Play/pause/speed keyframed clips, or set Transform values directly</a:t>
                      </a:r>
                      <a:endParaRPr lang="en-US" sz="1300" dirty="0">
                        <a:latin typeface="Carlito" charset="0"/>
                        <a:ea typeface="Carlito" charset="0"/>
                        <a:cs typeface="Carlito"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State control</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Parameters inside the controller</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820"/>
                        </a:lnSpc>
                        <a:buNone/>
                      </a:pPr>
                      <a:r>
                        <a:rPr lang="en-US" sz="1300" dirty="0">
                          <a:solidFill>
                            <a:srgbClr val="1C2433"/>
                          </a:solidFill>
                          <a:latin typeface="Carlito" pitchFamily="34" charset="0"/>
                          <a:ea typeface="Carlito" pitchFamily="34" charset="-122"/>
                          <a:cs typeface="Carlito" pitchFamily="34" charset="-120"/>
                        </a:rPr>
                        <a:t>Any game state: score, inventory, player position</a:t>
                      </a:r>
                      <a:endParaRPr lang="en-US" sz="1300" dirty="0">
                        <a:latin typeface="Carlito" charset="0"/>
                        <a:ea typeface="Carlito" charset="0"/>
                        <a:cs typeface="Carlito" charset="0"/>
                      </a:endParaRPr>
                    </a:p>
                  </a:txBody>
                  <a:tcPr marL="57785" marR="57785" marT="57785" marB="57785">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2"/>
          <p:cNvSpPr/>
          <p:nvPr/>
        </p:nvSpPr>
        <p:spPr>
          <a:xfrm>
            <a:off x="812800" y="3849886"/>
            <a:ext cx="2546350" cy="766961"/>
          </a:xfrm>
          <a:prstGeom prst="roundRect">
            <a:avLst>
              <a:gd name="adj" fmla="val 11591"/>
            </a:avLst>
          </a:prstGeom>
          <a:solidFill>
            <a:srgbClr val="33415A"/>
          </a:solidFill>
          <a:ln/>
        </p:spPr>
      </p:sp>
      <p:sp>
        <p:nvSpPr>
          <p:cNvPr id="8" name="Text 3"/>
          <p:cNvSpPr/>
          <p:nvPr/>
        </p:nvSpPr>
        <p:spPr>
          <a:xfrm>
            <a:off x="965200" y="4002286"/>
            <a:ext cx="2308796"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B81C"/>
                </a:solidFill>
                <a:latin typeface="Carlito" pitchFamily="34" charset="0"/>
                <a:ea typeface="Carlito" pitchFamily="34" charset="-122"/>
                <a:cs typeface="Carlito" pitchFamily="34" charset="-120"/>
              </a:rPr>
              <a:t>Real-time input</a:t>
            </a:r>
            <a:endParaRPr lang="en-US" sz="1350" dirty="0"/>
          </a:p>
        </p:txBody>
      </p:sp>
      <p:sp>
        <p:nvSpPr>
          <p:cNvPr id="9" name="Text 4"/>
          <p:cNvSpPr/>
          <p:nvPr/>
        </p:nvSpPr>
        <p:spPr>
          <a:xfrm>
            <a:off x="965200" y="4258766"/>
            <a:ext cx="2308796"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Flight stick moves the ailerons</a:t>
            </a:r>
            <a:endParaRPr lang="en-US" sz="1200" dirty="0"/>
          </a:p>
        </p:txBody>
      </p:sp>
      <p:sp>
        <p:nvSpPr>
          <p:cNvPr id="10" name="Shape 5"/>
          <p:cNvSpPr/>
          <p:nvPr/>
        </p:nvSpPr>
        <p:spPr>
          <a:xfrm>
            <a:off x="3486150" y="3849886"/>
            <a:ext cx="2546350" cy="766961"/>
          </a:xfrm>
          <a:prstGeom prst="roundRect">
            <a:avLst>
              <a:gd name="adj" fmla="val 11591"/>
            </a:avLst>
          </a:prstGeom>
          <a:solidFill>
            <a:srgbClr val="33415A"/>
          </a:solidFill>
          <a:ln/>
        </p:spPr>
      </p:sp>
      <p:sp>
        <p:nvSpPr>
          <p:cNvPr id="11" name="Text 6"/>
          <p:cNvSpPr/>
          <p:nvPr/>
        </p:nvSpPr>
        <p:spPr>
          <a:xfrm>
            <a:off x="3638550" y="4002286"/>
            <a:ext cx="2308796"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B81C"/>
                </a:solidFill>
                <a:latin typeface="Carlito" pitchFamily="34" charset="0"/>
                <a:ea typeface="Carlito" pitchFamily="34" charset="-122"/>
                <a:cs typeface="Carlito" pitchFamily="34" charset="-120"/>
              </a:rPr>
              <a:t>Physics</a:t>
            </a:r>
            <a:endParaRPr lang="en-US" sz="1350" dirty="0"/>
          </a:p>
        </p:txBody>
      </p:sp>
      <p:sp>
        <p:nvSpPr>
          <p:cNvPr id="12" name="Text 7"/>
          <p:cNvSpPr/>
          <p:nvPr/>
        </p:nvSpPr>
        <p:spPr>
          <a:xfrm>
            <a:off x="3638550" y="4258766"/>
            <a:ext cx="2308796"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Pool balls follow forces, not paths</a:t>
            </a:r>
            <a:endParaRPr lang="en-US" sz="1200" dirty="0"/>
          </a:p>
        </p:txBody>
      </p:sp>
      <p:sp>
        <p:nvSpPr>
          <p:cNvPr id="13" name="Shape 8"/>
          <p:cNvSpPr/>
          <p:nvPr/>
        </p:nvSpPr>
        <p:spPr>
          <a:xfrm>
            <a:off x="6159500" y="3849886"/>
            <a:ext cx="2546350" cy="766961"/>
          </a:xfrm>
          <a:prstGeom prst="roundRect">
            <a:avLst>
              <a:gd name="adj" fmla="val 11591"/>
            </a:avLst>
          </a:prstGeom>
          <a:solidFill>
            <a:srgbClr val="33415A"/>
          </a:solidFill>
          <a:ln/>
        </p:spPr>
      </p:sp>
      <p:sp>
        <p:nvSpPr>
          <p:cNvPr id="14" name="Text 9"/>
          <p:cNvSpPr/>
          <p:nvPr/>
        </p:nvSpPr>
        <p:spPr>
          <a:xfrm>
            <a:off x="6311900" y="4002286"/>
            <a:ext cx="2308796"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B81C"/>
                </a:solidFill>
                <a:latin typeface="Carlito" pitchFamily="34" charset="0"/>
                <a:ea typeface="Carlito" pitchFamily="34" charset="-122"/>
                <a:cs typeface="Carlito" pitchFamily="34" charset="-120"/>
              </a:rPr>
              <a:t>Procedural</a:t>
            </a:r>
            <a:endParaRPr lang="en-US" sz="1350" dirty="0"/>
          </a:p>
        </p:txBody>
      </p:sp>
      <p:sp>
        <p:nvSpPr>
          <p:cNvPr id="15" name="Text 10"/>
          <p:cNvSpPr/>
          <p:nvPr/>
        </p:nvSpPr>
        <p:spPr>
          <a:xfrm>
            <a:off x="6311900" y="4258766"/>
            <a:ext cx="2308796"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Dungeon generated at runtime</a:t>
            </a:r>
            <a:endParaRPr lang="en-US" sz="1200" dirty="0"/>
          </a:p>
        </p:txBody>
      </p:sp>
      <p:sp>
        <p:nvSpPr>
          <p:cNvPr id="16" name="Shape 11"/>
          <p:cNvSpPr/>
          <p:nvPr/>
        </p:nvSpPr>
        <p:spPr>
          <a:xfrm>
            <a:off x="8832850" y="3849886"/>
            <a:ext cx="2546350" cy="766961"/>
          </a:xfrm>
          <a:prstGeom prst="roundRect">
            <a:avLst>
              <a:gd name="adj" fmla="val 11591"/>
            </a:avLst>
          </a:prstGeom>
          <a:solidFill>
            <a:srgbClr val="33415A"/>
          </a:solidFill>
          <a:ln/>
        </p:spPr>
      </p:sp>
      <p:sp>
        <p:nvSpPr>
          <p:cNvPr id="17" name="Text 12"/>
          <p:cNvSpPr/>
          <p:nvPr/>
        </p:nvSpPr>
        <p:spPr>
          <a:xfrm>
            <a:off x="8985250" y="4002286"/>
            <a:ext cx="2308796"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B81C"/>
                </a:solidFill>
                <a:latin typeface="Carlito" pitchFamily="34" charset="0"/>
                <a:ea typeface="Carlito" pitchFamily="34" charset="-122"/>
                <a:cs typeface="Carlito" pitchFamily="34" charset="-120"/>
              </a:rPr>
              <a:t>AI behavior</a:t>
            </a:r>
            <a:endParaRPr lang="en-US" sz="1350" dirty="0"/>
          </a:p>
        </p:txBody>
      </p:sp>
      <p:sp>
        <p:nvSpPr>
          <p:cNvPr id="18" name="Text 13"/>
          <p:cNvSpPr/>
          <p:nvPr/>
        </p:nvSpPr>
        <p:spPr>
          <a:xfrm>
            <a:off x="8985250" y="4258766"/>
            <a:ext cx="2308796"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Enemy picks idle, walk or attack</a:t>
            </a:r>
            <a:endParaRPr lang="en-US" sz="1200" dirty="0"/>
          </a:p>
        </p:txBody>
      </p:sp>
      <p:sp>
        <p:nvSpPr>
          <p:cNvPr id="19"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114–116)</a:t>
            </a:r>
            <a:endParaRPr lang="en-US" sz="1200" dirty="0"/>
          </a:p>
        </p:txBody>
      </p:sp>
    </p:spTree>
    <p:extLst>
      <p:ext uri="{BB962C8B-B14F-4D97-AF65-F5344CB8AC3E}">
        <p14:creationId xmlns:p14="http://schemas.microsoft.com/office/powerpoint/2010/main" val="373213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C# IN UNITY</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Unity calls your methods; you fill them in</a:t>
            </a:r>
            <a:endParaRPr lang="en-US" sz="2800" dirty="0"/>
          </a:p>
        </p:txBody>
      </p:sp>
      <p:sp>
        <p:nvSpPr>
          <p:cNvPr id="6" name="Shape 2"/>
          <p:cNvSpPr/>
          <p:nvPr/>
        </p:nvSpPr>
        <p:spPr>
          <a:xfrm>
            <a:off x="812800" y="1722041"/>
            <a:ext cx="1761034" cy="939602"/>
          </a:xfrm>
          <a:custGeom>
            <a:avLst/>
            <a:gdLst/>
            <a:ahLst/>
            <a:cxnLst/>
            <a:rect l="l" t="t" r="r" b="b"/>
            <a:pathLst>
              <a:path w="1761034" h="939602">
                <a:moveTo>
                  <a:pt x="88900" y="0"/>
                </a:moveTo>
                <a:lnTo>
                  <a:pt x="1761034" y="0"/>
                </a:lnTo>
                <a:lnTo>
                  <a:pt x="1761034" y="939602"/>
                </a:lnTo>
                <a:lnTo>
                  <a:pt x="88900" y="939602"/>
                </a:lnTo>
                <a:arcTo wR="88900" hR="88900" stAng="5400000" swAng="5400000"/>
                <a:lnTo>
                  <a:pt x="0" y="88900"/>
                </a:lnTo>
                <a:arcTo wR="88900" hR="88900" stAng="10800000" swAng="5400000"/>
                <a:close/>
              </a:path>
            </a:pathLst>
          </a:custGeom>
          <a:solidFill>
            <a:srgbClr val="003594"/>
          </a:solidFill>
          <a:ln/>
        </p:spPr>
      </p:sp>
      <p:sp>
        <p:nvSpPr>
          <p:cNvPr id="7" name="Text 3"/>
          <p:cNvSpPr/>
          <p:nvPr/>
        </p:nvSpPr>
        <p:spPr>
          <a:xfrm>
            <a:off x="939800" y="1861741"/>
            <a:ext cx="1557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JetBrains Mono" pitchFamily="49" charset="0"/>
                <a:ea typeface="JetBrains Mono" pitchFamily="49" charset="-122"/>
                <a:cs typeface="JetBrains Mono" pitchFamily="49" charset="-120"/>
              </a:rPr>
              <a:t>Awake()</a:t>
            </a:r>
            <a:endParaRPr lang="en-US" sz="1200" dirty="0"/>
          </a:p>
        </p:txBody>
      </p:sp>
      <p:sp>
        <p:nvSpPr>
          <p:cNvPr id="8" name="Text 4"/>
          <p:cNvSpPr/>
          <p:nvPr/>
        </p:nvSpPr>
        <p:spPr>
          <a:xfrm>
            <a:off x="939800" y="2125861"/>
            <a:ext cx="1557834"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9F2"/>
                </a:solidFill>
                <a:latin typeface="Carlito" pitchFamily="34" charset="0"/>
                <a:ea typeface="Carlito" pitchFamily="34" charset="-122"/>
                <a:cs typeface="Carlito" pitchFamily="34" charset="-120"/>
              </a:rPr>
              <a:t>Script loads. Set references.</a:t>
            </a:r>
            <a:endParaRPr lang="en-US" sz="1200" dirty="0"/>
          </a:p>
        </p:txBody>
      </p:sp>
      <p:sp>
        <p:nvSpPr>
          <p:cNvPr id="9" name="Shape 5"/>
          <p:cNvSpPr/>
          <p:nvPr/>
        </p:nvSpPr>
        <p:spPr>
          <a:xfrm>
            <a:off x="2573834" y="1722041"/>
            <a:ext cx="1761133" cy="939602"/>
          </a:xfrm>
          <a:prstGeom prst="rect">
            <a:avLst/>
          </a:prstGeom>
          <a:solidFill>
            <a:srgbClr val="1D4BA8"/>
          </a:solidFill>
          <a:ln/>
        </p:spPr>
      </p:sp>
      <p:sp>
        <p:nvSpPr>
          <p:cNvPr id="10" name="Text 6"/>
          <p:cNvSpPr/>
          <p:nvPr/>
        </p:nvSpPr>
        <p:spPr>
          <a:xfrm>
            <a:off x="2700834" y="1861741"/>
            <a:ext cx="1557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JetBrains Mono" pitchFamily="49" charset="0"/>
                <a:ea typeface="JetBrains Mono" pitchFamily="49" charset="-122"/>
                <a:cs typeface="JetBrains Mono" pitchFamily="49" charset="-120"/>
              </a:rPr>
              <a:t>OnEnable()</a:t>
            </a:r>
            <a:endParaRPr lang="en-US" sz="1200" dirty="0"/>
          </a:p>
        </p:txBody>
      </p:sp>
      <p:sp>
        <p:nvSpPr>
          <p:cNvPr id="11" name="Text 7"/>
          <p:cNvSpPr/>
          <p:nvPr/>
        </p:nvSpPr>
        <p:spPr>
          <a:xfrm>
            <a:off x="2700834" y="2125861"/>
            <a:ext cx="1557933"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9F2"/>
                </a:solidFill>
                <a:latin typeface="Carlito" pitchFamily="34" charset="0"/>
                <a:ea typeface="Carlito" pitchFamily="34" charset="-122"/>
                <a:cs typeface="Carlito" pitchFamily="34" charset="-120"/>
              </a:rPr>
              <a:t>Object becomes active. Subscribe.</a:t>
            </a:r>
            <a:endParaRPr lang="en-US" sz="1200" dirty="0"/>
          </a:p>
        </p:txBody>
      </p:sp>
      <p:sp>
        <p:nvSpPr>
          <p:cNvPr id="12" name="Shape 8"/>
          <p:cNvSpPr/>
          <p:nvPr/>
        </p:nvSpPr>
        <p:spPr>
          <a:xfrm>
            <a:off x="4334966" y="1722041"/>
            <a:ext cx="1761034" cy="939602"/>
          </a:xfrm>
          <a:prstGeom prst="rect">
            <a:avLst/>
          </a:prstGeom>
          <a:solidFill>
            <a:srgbClr val="003594"/>
          </a:solidFill>
          <a:ln/>
        </p:spPr>
      </p:sp>
      <p:sp>
        <p:nvSpPr>
          <p:cNvPr id="13" name="Text 9"/>
          <p:cNvSpPr/>
          <p:nvPr/>
        </p:nvSpPr>
        <p:spPr>
          <a:xfrm>
            <a:off x="4461966" y="1861741"/>
            <a:ext cx="1557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JetBrains Mono" pitchFamily="49" charset="0"/>
                <a:ea typeface="JetBrains Mono" pitchFamily="49" charset="-122"/>
                <a:cs typeface="JetBrains Mono" pitchFamily="49" charset="-120"/>
              </a:rPr>
              <a:t>Start()</a:t>
            </a:r>
            <a:endParaRPr lang="en-US" sz="1200" dirty="0"/>
          </a:p>
        </p:txBody>
      </p:sp>
      <p:sp>
        <p:nvSpPr>
          <p:cNvPr id="14" name="Text 10"/>
          <p:cNvSpPr/>
          <p:nvPr/>
        </p:nvSpPr>
        <p:spPr>
          <a:xfrm>
            <a:off x="4461966" y="2125861"/>
            <a:ext cx="1557834"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9F2"/>
                </a:solidFill>
                <a:latin typeface="Carlito" pitchFamily="34" charset="0"/>
                <a:ea typeface="Carlito" pitchFamily="34" charset="-122"/>
                <a:cs typeface="Carlito" pitchFamily="34" charset="-120"/>
              </a:rPr>
              <a:t>Before first frame, if enabled.</a:t>
            </a:r>
            <a:endParaRPr lang="en-US" sz="1200" dirty="0"/>
          </a:p>
        </p:txBody>
      </p:sp>
      <p:sp>
        <p:nvSpPr>
          <p:cNvPr id="15" name="Shape 11"/>
          <p:cNvSpPr/>
          <p:nvPr/>
        </p:nvSpPr>
        <p:spPr>
          <a:xfrm>
            <a:off x="6096000" y="1722041"/>
            <a:ext cx="1761133" cy="939602"/>
          </a:xfrm>
          <a:prstGeom prst="rect">
            <a:avLst/>
          </a:prstGeom>
          <a:solidFill>
            <a:srgbClr val="1D4BA8"/>
          </a:solidFill>
          <a:ln/>
        </p:spPr>
      </p:sp>
      <p:sp>
        <p:nvSpPr>
          <p:cNvPr id="16" name="Text 12"/>
          <p:cNvSpPr/>
          <p:nvPr/>
        </p:nvSpPr>
        <p:spPr>
          <a:xfrm>
            <a:off x="6223000" y="1861741"/>
            <a:ext cx="1557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JetBrains Mono" pitchFamily="49" charset="0"/>
                <a:ea typeface="JetBrains Mono" pitchFamily="49" charset="-122"/>
                <a:cs typeface="JetBrains Mono" pitchFamily="49" charset="-120"/>
              </a:rPr>
              <a:t>FixedUpdate()</a:t>
            </a:r>
            <a:endParaRPr lang="en-US" sz="1200" dirty="0"/>
          </a:p>
        </p:txBody>
      </p:sp>
      <p:sp>
        <p:nvSpPr>
          <p:cNvPr id="17" name="Text 13"/>
          <p:cNvSpPr/>
          <p:nvPr/>
        </p:nvSpPr>
        <p:spPr>
          <a:xfrm>
            <a:off x="6223000" y="2125861"/>
            <a:ext cx="1557933"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9F2"/>
                </a:solidFill>
                <a:latin typeface="Carlito" pitchFamily="34" charset="0"/>
                <a:ea typeface="Carlito" pitchFamily="34" charset="-122"/>
                <a:cs typeface="Carlito" pitchFamily="34" charset="-120"/>
              </a:rPr>
              <a:t>Fixed rate. Physics.</a:t>
            </a:r>
            <a:endParaRPr lang="en-US" sz="1200" dirty="0"/>
          </a:p>
        </p:txBody>
      </p:sp>
      <p:sp>
        <p:nvSpPr>
          <p:cNvPr id="18" name="Shape 14"/>
          <p:cNvSpPr/>
          <p:nvPr/>
        </p:nvSpPr>
        <p:spPr>
          <a:xfrm>
            <a:off x="7857133" y="1722041"/>
            <a:ext cx="1761034" cy="939602"/>
          </a:xfrm>
          <a:prstGeom prst="rect">
            <a:avLst/>
          </a:prstGeom>
          <a:solidFill>
            <a:srgbClr val="003594"/>
          </a:solidFill>
          <a:ln/>
        </p:spPr>
      </p:sp>
      <p:sp>
        <p:nvSpPr>
          <p:cNvPr id="19" name="Text 15"/>
          <p:cNvSpPr/>
          <p:nvPr/>
        </p:nvSpPr>
        <p:spPr>
          <a:xfrm>
            <a:off x="7984133" y="1861741"/>
            <a:ext cx="1557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JetBrains Mono" pitchFamily="49" charset="0"/>
                <a:ea typeface="JetBrains Mono" pitchFamily="49" charset="-122"/>
                <a:cs typeface="JetBrains Mono" pitchFamily="49" charset="-120"/>
              </a:rPr>
              <a:t>Update()</a:t>
            </a:r>
            <a:endParaRPr lang="en-US" sz="1200" dirty="0"/>
          </a:p>
        </p:txBody>
      </p:sp>
      <p:sp>
        <p:nvSpPr>
          <p:cNvPr id="20" name="Text 16"/>
          <p:cNvSpPr/>
          <p:nvPr/>
        </p:nvSpPr>
        <p:spPr>
          <a:xfrm>
            <a:off x="7984133" y="2125861"/>
            <a:ext cx="1557834"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9F2"/>
                </a:solidFill>
                <a:latin typeface="Carlito" pitchFamily="34" charset="0"/>
                <a:ea typeface="Carlito" pitchFamily="34" charset="-122"/>
                <a:cs typeface="Carlito" pitchFamily="34" charset="-120"/>
              </a:rPr>
              <a:t>Every frame. Input, movement.</a:t>
            </a:r>
            <a:endParaRPr lang="en-US" sz="1200" dirty="0"/>
          </a:p>
        </p:txBody>
      </p:sp>
      <p:sp>
        <p:nvSpPr>
          <p:cNvPr id="21" name="Shape 17"/>
          <p:cNvSpPr/>
          <p:nvPr/>
        </p:nvSpPr>
        <p:spPr>
          <a:xfrm>
            <a:off x="9618166" y="1722041"/>
            <a:ext cx="1761034" cy="939602"/>
          </a:xfrm>
          <a:custGeom>
            <a:avLst/>
            <a:gdLst/>
            <a:ahLst/>
            <a:cxnLst/>
            <a:rect l="l" t="t" r="r" b="b"/>
            <a:pathLst>
              <a:path w="1761034" h="939602">
                <a:moveTo>
                  <a:pt x="0" y="0"/>
                </a:moveTo>
                <a:lnTo>
                  <a:pt x="1672134" y="0"/>
                </a:lnTo>
                <a:arcTo wR="88900" hR="88900" stAng="16200000" swAng="5400000"/>
                <a:lnTo>
                  <a:pt x="1761034" y="850702"/>
                </a:lnTo>
                <a:arcTo wR="88900" hR="88900" stAng="0" swAng="5400000"/>
                <a:lnTo>
                  <a:pt x="0" y="939602"/>
                </a:lnTo>
                <a:lnTo>
                  <a:pt x="0" y="0"/>
                </a:lnTo>
                <a:close/>
              </a:path>
            </a:pathLst>
          </a:custGeom>
          <a:solidFill>
            <a:srgbClr val="1D4BA8"/>
          </a:solidFill>
          <a:ln/>
        </p:spPr>
      </p:sp>
      <p:sp>
        <p:nvSpPr>
          <p:cNvPr id="22" name="Text 18"/>
          <p:cNvSpPr/>
          <p:nvPr/>
        </p:nvSpPr>
        <p:spPr>
          <a:xfrm>
            <a:off x="9745166" y="1861741"/>
            <a:ext cx="15578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JetBrains Mono" pitchFamily="49" charset="0"/>
                <a:ea typeface="JetBrains Mono" pitchFamily="49" charset="-122"/>
                <a:cs typeface="JetBrains Mono" pitchFamily="49" charset="-120"/>
              </a:rPr>
              <a:t>LateUpdate()</a:t>
            </a:r>
            <a:endParaRPr lang="en-US" sz="1200" dirty="0"/>
          </a:p>
        </p:txBody>
      </p:sp>
      <p:sp>
        <p:nvSpPr>
          <p:cNvPr id="23" name="Text 19"/>
          <p:cNvSpPr/>
          <p:nvPr/>
        </p:nvSpPr>
        <p:spPr>
          <a:xfrm>
            <a:off x="9745166" y="2125861"/>
            <a:ext cx="1557834"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9F2"/>
                </a:solidFill>
                <a:latin typeface="Carlito" pitchFamily="34" charset="0"/>
                <a:ea typeface="Carlito" pitchFamily="34" charset="-122"/>
                <a:cs typeface="Carlito" pitchFamily="34" charset="-120"/>
              </a:rPr>
              <a:t>After all Updates. Cameras.</a:t>
            </a:r>
            <a:endParaRPr lang="en-US" sz="1200" dirty="0"/>
          </a:p>
        </p:txBody>
      </p:sp>
      <p:sp>
        <p:nvSpPr>
          <p:cNvPr id="24" name="Text 20"/>
          <p:cNvSpPr/>
          <p:nvPr/>
        </p:nvSpPr>
        <p:spPr>
          <a:xfrm>
            <a:off x="812800" y="2852142"/>
            <a:ext cx="53239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XR Interaction Toolkit adds</a:t>
            </a:r>
            <a:endParaRPr lang="en-US" sz="1500" dirty="0"/>
          </a:p>
        </p:txBody>
      </p:sp>
      <p:sp>
        <p:nvSpPr>
          <p:cNvPr id="25" name="Text 21"/>
          <p:cNvSpPr/>
          <p:nvPr/>
        </p:nvSpPr>
        <p:spPr>
          <a:xfrm>
            <a:off x="812800" y="3169642"/>
            <a:ext cx="5323967" cy="739775"/>
          </a:xfrm>
          <a:prstGeom prst="rect">
            <a:avLst/>
          </a:prstGeom>
          <a:noFill/>
          <a:ln/>
        </p:spPr>
        <p:txBody>
          <a:bodyPr wrap="square" lIns="0" tIns="0" rIns="0" bIns="0" rtlCol="0" anchor="t">
            <a:normAutofit/>
          </a:bodyPr>
          <a:lstStyle/>
          <a:p>
            <a:pPr marL="0" indent="0" algn="l">
              <a:lnSpc>
                <a:spcPts val="1875"/>
              </a:lnSpc>
              <a:buNone/>
            </a:pPr>
            <a:r>
              <a:rPr lang="en-US" sz="1250" b="1" dirty="0">
                <a:solidFill>
                  <a:srgbClr val="1C2433"/>
                </a:solidFill>
                <a:latin typeface="Carlito" pitchFamily="34" charset="0"/>
                <a:ea typeface="Carlito" pitchFamily="34" charset="-122"/>
                <a:cs typeface="Carlito" pitchFamily="34" charset="-120"/>
              </a:rPr>
              <a:t>Hover</a:t>
            </a:r>
            <a:r>
              <a:rPr lang="en-US" sz="1250" dirty="0">
                <a:solidFill>
                  <a:srgbClr val="1C2433"/>
                </a:solidFill>
                <a:latin typeface="Carlito" pitchFamily="34" charset="0"/>
                <a:ea typeface="Carlito" pitchFamily="34" charset="-122"/>
                <a:cs typeface="Carlito" pitchFamily="34" charset="-120"/>
              </a:rPr>
              <a:t> Entered / Exited: pointing at it</a:t>
            </a:r>
            <a:endParaRPr lang="en-US" sz="1250" dirty="0"/>
          </a:p>
          <a:p>
            <a:pPr marL="0" indent="0" algn="l">
              <a:lnSpc>
                <a:spcPts val="1875"/>
              </a:lnSpc>
              <a:buNone/>
            </a:pPr>
            <a:r>
              <a:rPr lang="en-US" sz="1250" b="1" dirty="0">
                <a:solidFill>
                  <a:srgbClr val="1C2433"/>
                </a:solidFill>
                <a:latin typeface="Carlito" pitchFamily="34" charset="0"/>
                <a:ea typeface="Carlito" pitchFamily="34" charset="-122"/>
                <a:cs typeface="Carlito" pitchFamily="34" charset="-120"/>
              </a:rPr>
              <a:t>Select</a:t>
            </a:r>
            <a:r>
              <a:rPr lang="en-US" sz="1250" dirty="0">
                <a:solidFill>
                  <a:srgbClr val="1C2433"/>
                </a:solidFill>
                <a:latin typeface="Carlito" pitchFamily="34" charset="0"/>
                <a:ea typeface="Carlito" pitchFamily="34" charset="-122"/>
                <a:cs typeface="Carlito" pitchFamily="34" charset="-120"/>
              </a:rPr>
              <a:t> Entered / Exited: grabbing or pressing</a:t>
            </a:r>
            <a:endParaRPr lang="en-US" sz="1250" dirty="0"/>
          </a:p>
          <a:p>
            <a:pPr marL="0" indent="0" algn="l">
              <a:lnSpc>
                <a:spcPts val="1875"/>
              </a:lnSpc>
              <a:buNone/>
            </a:pPr>
            <a:r>
              <a:rPr lang="en-US" sz="1250" b="1" dirty="0">
                <a:solidFill>
                  <a:srgbClr val="1C2433"/>
                </a:solidFill>
                <a:latin typeface="Carlito" pitchFamily="34" charset="0"/>
                <a:ea typeface="Carlito" pitchFamily="34" charset="-122"/>
                <a:cs typeface="Carlito" pitchFamily="34" charset="-120"/>
              </a:rPr>
              <a:t>Activate</a:t>
            </a:r>
            <a:r>
              <a:rPr lang="en-US" sz="1250" dirty="0">
                <a:solidFill>
                  <a:srgbClr val="1C2433"/>
                </a:solidFill>
                <a:latin typeface="Carlito" pitchFamily="34" charset="0"/>
                <a:ea typeface="Carlito" pitchFamily="34" charset="-122"/>
                <a:cs typeface="Carlito" pitchFamily="34" charset="-120"/>
              </a:rPr>
              <a:t> / </a:t>
            </a:r>
            <a:r>
              <a:rPr lang="en-US" sz="1250" b="1" dirty="0">
                <a:solidFill>
                  <a:srgbClr val="1C2433"/>
                </a:solidFill>
                <a:latin typeface="Carlito" pitchFamily="34" charset="0"/>
                <a:ea typeface="Carlito" pitchFamily="34" charset="-122"/>
                <a:cs typeface="Carlito" pitchFamily="34" charset="-120"/>
              </a:rPr>
              <a:t>Deactivate</a:t>
            </a:r>
            <a:r>
              <a:rPr lang="en-US" sz="1250" dirty="0">
                <a:solidFill>
                  <a:srgbClr val="1C2433"/>
                </a:solidFill>
                <a:latin typeface="Carlito" pitchFamily="34" charset="0"/>
                <a:ea typeface="Carlito" pitchFamily="34" charset="-122"/>
                <a:cs typeface="Carlito" pitchFamily="34" charset="-120"/>
              </a:rPr>
              <a:t>: trigger while holding</a:t>
            </a:r>
            <a:endParaRPr lang="en-US" sz="1250" dirty="0"/>
          </a:p>
        </p:txBody>
      </p:sp>
      <p:sp>
        <p:nvSpPr>
          <p:cNvPr id="26" name="Text 22"/>
          <p:cNvSpPr/>
          <p:nvPr/>
        </p:nvSpPr>
        <p:spPr>
          <a:xfrm>
            <a:off x="812800" y="3972917"/>
            <a:ext cx="53239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Variables hold data. Functions are recipes. Classes are blueprints; every script is a class that inherits </a:t>
            </a:r>
            <a:r>
              <a:rPr lang="en-US" sz="1200" b="1" dirty="0">
                <a:solidFill>
                  <a:srgbClr val="4A5568"/>
                </a:solidFill>
                <a:latin typeface="Carlito" pitchFamily="34" charset="0"/>
                <a:ea typeface="Carlito" pitchFamily="34" charset="-122"/>
                <a:cs typeface="Carlito" pitchFamily="34" charset="-120"/>
              </a:rPr>
              <a:t>MonoBehaviour</a:t>
            </a:r>
            <a:r>
              <a:rPr lang="en-US" sz="1200" dirty="0">
                <a:solidFill>
                  <a:srgbClr val="4A5568"/>
                </a:solidFill>
                <a:latin typeface="Carlito" pitchFamily="34" charset="0"/>
                <a:ea typeface="Carlito" pitchFamily="34" charset="-122"/>
                <a:cs typeface="Carlito" pitchFamily="34" charset="-120"/>
              </a:rPr>
              <a:t>. Class names are PascalCase.</a:t>
            </a:r>
            <a:endParaRPr lang="en-US" sz="1200" dirty="0"/>
          </a:p>
        </p:txBody>
      </p:sp>
      <p:sp>
        <p:nvSpPr>
          <p:cNvPr id="27" name="Text 23"/>
          <p:cNvSpPr/>
          <p:nvPr/>
        </p:nvSpPr>
        <p:spPr>
          <a:xfrm>
            <a:off x="6210300" y="2852142"/>
            <a:ext cx="5168900" cy="2539802"/>
          </a:xfrm>
          <a:prstGeom prst="roundRect">
            <a:avLst>
              <a:gd name="adj" fmla="val 3500"/>
            </a:avLst>
          </a:prstGeom>
          <a:solidFill>
            <a:srgbClr val="14191F"/>
          </a:solidFill>
          <a:ln/>
        </p:spPr>
        <p:txBody>
          <a:bodyPr wrap="none" lIns="164462" tIns="139062" rIns="20825" bIns="113662" rtlCol="0" anchor="t">
            <a:normAutofit/>
          </a:bodyPr>
          <a:lstStyle/>
          <a:p>
            <a:pPr marL="0" indent="0" algn="l">
              <a:lnSpc>
                <a:spcPts val="1740"/>
              </a:lnSpc>
              <a:buNone/>
            </a:pPr>
            <a:r>
              <a:rPr lang="en-US" sz="1200" dirty="0">
                <a:solidFill>
                  <a:srgbClr val="7FB4FF"/>
                </a:solidFill>
                <a:latin typeface="JetBrains Mono" pitchFamily="49" charset="0"/>
                <a:ea typeface="JetBrains Mono" pitchFamily="49" charset="-122"/>
                <a:cs typeface="JetBrains Mono" pitchFamily="49" charset="-120"/>
              </a:rPr>
              <a:t>public class</a:t>
            </a:r>
            <a:r>
              <a:rPr lang="en-US" sz="1200" dirty="0">
                <a:solidFill>
                  <a:srgbClr val="D6E2EE"/>
                </a:solidFill>
                <a:latin typeface="JetBrains Mono" pitchFamily="49" charset="0"/>
                <a:ea typeface="JetBrains Mono" pitchFamily="49" charset="-122"/>
                <a:cs typeface="JetBrains Mono" pitchFamily="49" charset="-120"/>
              </a:rPr>
              <a:t> XRGrab : MonoBehaviour {</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public</a:t>
            </a:r>
            <a:r>
              <a:rPr lang="en-US" sz="1200" dirty="0">
                <a:solidFill>
                  <a:srgbClr val="D6E2EE"/>
                </a:solidFill>
                <a:latin typeface="JetBrains Mono" pitchFamily="49" charset="0"/>
                <a:ea typeface="JetBrains Mono" pitchFamily="49" charset="-122"/>
                <a:cs typeface="JetBrains Mono" pitchFamily="49" charset="-120"/>
              </a:rPr>
              <a:t> XRGrabInteractable grab;</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bool</a:t>
            </a:r>
            <a:r>
              <a:rPr lang="en-US" sz="1200" dirty="0">
                <a:solidFill>
                  <a:srgbClr val="D6E2EE"/>
                </a:solidFill>
                <a:latin typeface="JetBrains Mono" pitchFamily="49" charset="0"/>
                <a:ea typeface="JetBrains Mono" pitchFamily="49" charset="-122"/>
                <a:cs typeface="JetBrains Mono" pitchFamily="49" charset="-120"/>
              </a:rPr>
              <a:t> isGrabbed;</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void</a:t>
            </a:r>
            <a:r>
              <a:rPr lang="en-US" sz="1200" dirty="0">
                <a:solidFill>
                  <a:srgbClr val="D6E2EE"/>
                </a:solidFill>
                <a:latin typeface="JetBrains Mono" pitchFamily="49" charset="0"/>
                <a:ea typeface="JetBrains Mono" pitchFamily="49" charset="-122"/>
                <a:cs typeface="JetBrains Mono" pitchFamily="49" charset="-120"/>
              </a:rPr>
              <a:t> OnEnable() {</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grab.selectEntered.AddListener(</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_ =&gt; isGrabbed = </a:t>
            </a:r>
            <a:r>
              <a:rPr lang="en-US" sz="1200" dirty="0">
                <a:solidFill>
                  <a:srgbClr val="FFB81C"/>
                </a:solidFill>
                <a:latin typeface="JetBrains Mono" pitchFamily="49" charset="0"/>
                <a:ea typeface="JetBrains Mono" pitchFamily="49" charset="-122"/>
                <a:cs typeface="JetBrains Mono" pitchFamily="49" charset="-120"/>
              </a:rPr>
              <a:t>true</a:t>
            </a: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grab.selectExited.AddListener(</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_ =&gt; isGrabbed = </a:t>
            </a:r>
            <a:r>
              <a:rPr lang="en-US" sz="1200" dirty="0">
                <a:solidFill>
                  <a:srgbClr val="FFB81C"/>
                </a:solidFill>
                <a:latin typeface="JetBrains Mono" pitchFamily="49" charset="0"/>
                <a:ea typeface="JetBrains Mono" pitchFamily="49" charset="-122"/>
                <a:cs typeface="JetBrains Mono" pitchFamily="49" charset="-120"/>
              </a:rPr>
              <a:t>false</a:t>
            </a: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p:txBody>
      </p:sp>
      <p:sp>
        <p:nvSpPr>
          <p:cNvPr id="28" name="Text 2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116–120)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5 · WITH C#: THE BUS SLIDER</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BusScaler binds a slider’s value to the bus’s scale</a:t>
            </a:r>
            <a:endParaRPr lang="en-US" sz="2800" dirty="0"/>
          </a:p>
        </p:txBody>
      </p:sp>
      <p:sp>
        <p:nvSpPr>
          <p:cNvPr id="6" name="Text 2"/>
          <p:cNvSpPr/>
          <p:nvPr/>
        </p:nvSpPr>
        <p:spPr>
          <a:xfrm>
            <a:off x="812800" y="1722041"/>
            <a:ext cx="5461000" cy="3555405"/>
          </a:xfrm>
          <a:prstGeom prst="roundRect">
            <a:avLst>
              <a:gd name="adj" fmla="val 2500"/>
            </a:avLst>
          </a:prstGeom>
          <a:solidFill>
            <a:srgbClr val="14191F"/>
          </a:solidFill>
          <a:ln/>
        </p:spPr>
        <p:txBody>
          <a:bodyPr wrap="none" lIns="177162" tIns="151762" rIns="25524" bIns="126362" rtlCol="0" anchor="t">
            <a:normAutofit/>
          </a:bodyPr>
          <a:lstStyle/>
          <a:p>
            <a:pPr marL="0" indent="0" algn="l">
              <a:lnSpc>
                <a:spcPts val="1680"/>
              </a:lnSpc>
              <a:buNone/>
            </a:pPr>
            <a:r>
              <a:rPr lang="en-US" sz="1200" dirty="0">
                <a:solidFill>
                  <a:srgbClr val="7FB4FF"/>
                </a:solidFill>
                <a:latin typeface="JetBrains Mono" pitchFamily="49" charset="0"/>
                <a:ea typeface="JetBrains Mono" pitchFamily="49" charset="-122"/>
                <a:cs typeface="JetBrains Mono" pitchFamily="49" charset="-120"/>
              </a:rPr>
              <a:t>using</a:t>
            </a:r>
            <a:r>
              <a:rPr lang="en-US" sz="1200" dirty="0">
                <a:solidFill>
                  <a:srgbClr val="D6E2EE"/>
                </a:solidFill>
                <a:latin typeface="JetBrains Mono" pitchFamily="49" charset="0"/>
                <a:ea typeface="JetBrains Mono" pitchFamily="49" charset="-122"/>
                <a:cs typeface="JetBrains Mono" pitchFamily="49" charset="-120"/>
              </a:rPr>
              <a:t> UnityEngine;</a:t>
            </a:r>
            <a:endParaRPr lang="en-US" sz="1200" dirty="0"/>
          </a:p>
          <a:p>
            <a:pPr marL="0" indent="0" algn="l">
              <a:lnSpc>
                <a:spcPts val="1680"/>
              </a:lnSpc>
              <a:buNone/>
            </a:pPr>
            <a:r>
              <a:rPr lang="en-US" sz="1200" dirty="0">
                <a:solidFill>
                  <a:srgbClr val="7FB4FF"/>
                </a:solidFill>
                <a:latin typeface="JetBrains Mono" pitchFamily="49" charset="0"/>
                <a:ea typeface="JetBrains Mono" pitchFamily="49" charset="-122"/>
                <a:cs typeface="JetBrains Mono" pitchFamily="49" charset="-120"/>
              </a:rPr>
              <a:t>using</a:t>
            </a:r>
            <a:r>
              <a:rPr lang="en-US" sz="1200" dirty="0">
                <a:solidFill>
                  <a:srgbClr val="D6E2EE"/>
                </a:solidFill>
                <a:latin typeface="JetBrains Mono" pitchFamily="49" charset="0"/>
                <a:ea typeface="JetBrains Mono" pitchFamily="49" charset="-122"/>
                <a:cs typeface="JetBrains Mono" pitchFamily="49" charset="-120"/>
              </a:rPr>
              <a:t> UnityEngine.UI;</a:t>
            </a:r>
            <a:endParaRPr lang="en-US" sz="1200" dirty="0"/>
          </a:p>
          <a:p>
            <a:pPr marL="0" indent="0" algn="l">
              <a:lnSpc>
                <a:spcPts val="1680"/>
              </a:lnSpc>
              <a:buNone/>
            </a:pPr>
            <a:r>
              <a:rPr lang="en-US" sz="1200" dirty="0">
                <a:solidFill>
                  <a:srgbClr val="7FB4FF"/>
                </a:solidFill>
                <a:latin typeface="JetBrains Mono" pitchFamily="49" charset="0"/>
                <a:ea typeface="JetBrains Mono" pitchFamily="49" charset="-122"/>
                <a:cs typeface="JetBrains Mono" pitchFamily="49" charset="-120"/>
              </a:rPr>
              <a:t>public class</a:t>
            </a:r>
            <a:r>
              <a:rPr lang="en-US" sz="1200" dirty="0">
                <a:solidFill>
                  <a:srgbClr val="D6E2EE"/>
                </a:solidFill>
                <a:latin typeface="JetBrains Mono" pitchFamily="49" charset="0"/>
                <a:ea typeface="JetBrains Mono" pitchFamily="49" charset="-122"/>
                <a:cs typeface="JetBrains Mono" pitchFamily="49" charset="-120"/>
              </a:rPr>
              <a:t> BusScaler : MonoBehaviour</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public</a:t>
            </a:r>
            <a:r>
              <a:rPr lang="en-US" sz="1200" dirty="0">
                <a:solidFill>
                  <a:srgbClr val="D6E2EE"/>
                </a:solidFill>
                <a:latin typeface="JetBrains Mono" pitchFamily="49" charset="0"/>
                <a:ea typeface="JetBrains Mono" pitchFamily="49" charset="-122"/>
                <a:cs typeface="JetBrains Mono" pitchFamily="49" charset="-120"/>
              </a:rPr>
              <a:t> GameObject bus;</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public</a:t>
            </a:r>
            <a:r>
              <a:rPr lang="en-US" sz="1200" dirty="0">
                <a:solidFill>
                  <a:srgbClr val="D6E2EE"/>
                </a:solidFill>
                <a:latin typeface="JetBrains Mono" pitchFamily="49" charset="0"/>
                <a:ea typeface="JetBrains Mono" pitchFamily="49" charset="-122"/>
                <a:cs typeface="JetBrains Mono" pitchFamily="49" charset="-120"/>
              </a:rPr>
              <a:t> Slider slider;  </a:t>
            </a:r>
            <a:r>
              <a:rPr lang="en-US" sz="1200" dirty="0">
                <a:solidFill>
                  <a:srgbClr val="8A97A8"/>
                </a:solidFill>
                <a:latin typeface="JetBrains Mono" pitchFamily="49" charset="0"/>
                <a:ea typeface="JetBrains Mono" pitchFamily="49" charset="-122"/>
                <a:cs typeface="JetBrains Mono" pitchFamily="49" charset="-120"/>
              </a:rPr>
              <a:t>// Min 0, Max 5</a:t>
            </a:r>
            <a:endParaRPr lang="en-US" sz="1200" dirty="0"/>
          </a:p>
          <a:p>
            <a:pPr marL="0" indent="0" algn="l">
              <a:lnSpc>
                <a:spcPts val="1680"/>
              </a:lnSpc>
              <a:buNone/>
            </a:pP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private void</a:t>
            </a:r>
            <a:r>
              <a:rPr lang="en-US" sz="1200" dirty="0">
                <a:solidFill>
                  <a:srgbClr val="D6E2EE"/>
                </a:solidFill>
                <a:latin typeface="JetBrains Mono" pitchFamily="49" charset="0"/>
                <a:ea typeface="JetBrains Mono" pitchFamily="49" charset="-122"/>
                <a:cs typeface="JetBrains Mono" pitchFamily="49" charset="-120"/>
              </a:rPr>
              <a:t> Awake() {</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bus.transform.localScale = Vector3.one;</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private void</a:t>
            </a:r>
            <a:r>
              <a:rPr lang="en-US" sz="1200" dirty="0">
                <a:solidFill>
                  <a:srgbClr val="D6E2EE"/>
                </a:solidFill>
                <a:latin typeface="JetBrains Mono" pitchFamily="49" charset="0"/>
                <a:ea typeface="JetBrains Mono" pitchFamily="49" charset="-122"/>
                <a:cs typeface="JetBrains Mono" pitchFamily="49" charset="-120"/>
              </a:rPr>
              <a:t> Update() {</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float</a:t>
            </a:r>
            <a:r>
              <a:rPr lang="en-US" sz="1200" dirty="0">
                <a:solidFill>
                  <a:srgbClr val="D6E2EE"/>
                </a:solidFill>
                <a:latin typeface="JetBrains Mono" pitchFamily="49" charset="0"/>
                <a:ea typeface="JetBrains Mono" pitchFamily="49" charset="-122"/>
                <a:cs typeface="JetBrains Mono" pitchFamily="49" charset="-120"/>
              </a:rPr>
              <a:t> s = slider.value;</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bus.transform.localScale = </a:t>
            </a:r>
            <a:r>
              <a:rPr lang="en-US" sz="1200" dirty="0">
                <a:solidFill>
                  <a:srgbClr val="7FB4FF"/>
                </a:solidFill>
                <a:latin typeface="JetBrains Mono" pitchFamily="49" charset="0"/>
                <a:ea typeface="JetBrains Mono" pitchFamily="49" charset="-122"/>
                <a:cs typeface="JetBrains Mono" pitchFamily="49" charset="-120"/>
              </a:rPr>
              <a:t>new</a:t>
            </a:r>
            <a:r>
              <a:rPr lang="en-US" sz="1200" dirty="0">
                <a:solidFill>
                  <a:srgbClr val="D6E2EE"/>
                </a:solidFill>
                <a:latin typeface="JetBrains Mono" pitchFamily="49" charset="0"/>
                <a:ea typeface="JetBrains Mono" pitchFamily="49" charset="-122"/>
                <a:cs typeface="JetBrains Mono" pitchFamily="49" charset="-120"/>
              </a:rPr>
              <a:t> Vector3(s, s, s);</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p:txBody>
      </p:sp>
      <p:sp>
        <p:nvSpPr>
          <p:cNvPr id="7" name="Text 3"/>
          <p:cNvSpPr/>
          <p:nvPr/>
        </p:nvSpPr>
        <p:spPr>
          <a:xfrm>
            <a:off x="6527800" y="1722041"/>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Wire it up</a:t>
            </a:r>
            <a:endParaRPr lang="en-US" sz="1500" dirty="0"/>
          </a:p>
        </p:txBody>
      </p:sp>
      <p:sp>
        <p:nvSpPr>
          <p:cNvPr id="8" name="Text 4"/>
          <p:cNvSpPr/>
          <p:nvPr/>
        </p:nvSpPr>
        <p:spPr>
          <a:xfrm>
            <a:off x="6527800" y="2052241"/>
            <a:ext cx="4996942"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C2433"/>
                </a:solidFill>
                <a:latin typeface="Carlito" pitchFamily="34" charset="0"/>
                <a:ea typeface="Carlito" pitchFamily="34" charset="-122"/>
                <a:cs typeface="Carlito" pitchFamily="34" charset="-120"/>
              </a:rPr>
              <a:t>1</a:t>
            </a:r>
            <a:r>
              <a:rPr lang="en-US" sz="1250" dirty="0">
                <a:solidFill>
                  <a:srgbClr val="1C2433"/>
                </a:solidFill>
                <a:latin typeface="Carlito" pitchFamily="34" charset="0"/>
                <a:ea typeface="Carlito" pitchFamily="34" charset="-122"/>
                <a:cs typeface="Carlito" pitchFamily="34" charset="-120"/>
              </a:rPr>
              <a:t>  Bus_2 at (0, 0, -6), rotated -90° on Y.</a:t>
            </a:r>
            <a:endParaRPr lang="en-US" sz="1250" dirty="0"/>
          </a:p>
        </p:txBody>
      </p:sp>
      <p:sp>
        <p:nvSpPr>
          <p:cNvPr id="9" name="Text 5"/>
          <p:cNvSpPr/>
          <p:nvPr/>
        </p:nvSpPr>
        <p:spPr>
          <a:xfrm>
            <a:off x="6527800" y="2376091"/>
            <a:ext cx="4996942" cy="46990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C2433"/>
                </a:solidFill>
                <a:latin typeface="Carlito" pitchFamily="34" charset="0"/>
                <a:ea typeface="Carlito" pitchFamily="34" charset="-122"/>
                <a:cs typeface="Carlito" pitchFamily="34" charset="-120"/>
              </a:rPr>
              <a:t>2</a:t>
            </a:r>
            <a:r>
              <a:rPr lang="en-US" sz="1250" dirty="0">
                <a:solidFill>
                  <a:srgbClr val="1C2433"/>
                </a:solidFill>
                <a:latin typeface="Carlito" pitchFamily="34" charset="0"/>
                <a:ea typeface="Carlito" pitchFamily="34" charset="-122"/>
                <a:cs typeface="Carlito" pitchFamily="34" charset="-120"/>
              </a:rPr>
              <a:t>  </a:t>
            </a:r>
            <a:r>
              <a:rPr lang="en-US" sz="1250" i="1" dirty="0">
                <a:solidFill>
                  <a:srgbClr val="1C2433"/>
                </a:solidFill>
                <a:latin typeface="Carlito" pitchFamily="34" charset="0"/>
                <a:ea typeface="Carlito" pitchFamily="34" charset="-122"/>
                <a:cs typeface="Carlito" pitchFamily="34" charset="-120"/>
              </a:rPr>
              <a:t>Bus Scale Canvas</a:t>
            </a:r>
            <a:r>
              <a:rPr lang="en-US" sz="1250" dirty="0">
                <a:solidFill>
                  <a:srgbClr val="1C2433"/>
                </a:solidFill>
                <a:latin typeface="Carlito" pitchFamily="34" charset="0"/>
                <a:ea typeface="Carlito" pitchFamily="34" charset="-122"/>
                <a:cs typeface="Carlito" pitchFamily="34" charset="-120"/>
              </a:rPr>
              <a:t>: XR UI Canvas, World Space, scale 0.01, at (0, 1.5, -5), rotated 180°.</a:t>
            </a:r>
            <a:endParaRPr lang="en-US" sz="1250" dirty="0"/>
          </a:p>
        </p:txBody>
      </p:sp>
      <p:sp>
        <p:nvSpPr>
          <p:cNvPr id="10" name="Text 6"/>
          <p:cNvSpPr/>
          <p:nvPr/>
        </p:nvSpPr>
        <p:spPr>
          <a:xfrm>
            <a:off x="6527800" y="2922191"/>
            <a:ext cx="4996942"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C2433"/>
                </a:solidFill>
                <a:latin typeface="Carlito" pitchFamily="34" charset="0"/>
                <a:ea typeface="Carlito" pitchFamily="34" charset="-122"/>
                <a:cs typeface="Carlito" pitchFamily="34" charset="-120"/>
              </a:rPr>
              <a:t>3</a:t>
            </a:r>
            <a:r>
              <a:rPr lang="en-US" sz="1250" dirty="0">
                <a:solidFill>
                  <a:srgbClr val="1C2433"/>
                </a:solidFill>
                <a:latin typeface="Carlito" pitchFamily="34" charset="0"/>
                <a:ea typeface="Carlito" pitchFamily="34" charset="-122"/>
                <a:cs typeface="Carlito" pitchFamily="34" charset="-120"/>
              </a:rPr>
              <a:t>  Add UI › Slider (0 to 5) and a TMP label.</a:t>
            </a:r>
            <a:endParaRPr lang="en-US" sz="1250" dirty="0"/>
          </a:p>
        </p:txBody>
      </p:sp>
      <p:sp>
        <p:nvSpPr>
          <p:cNvPr id="11" name="Text 7"/>
          <p:cNvSpPr/>
          <p:nvPr/>
        </p:nvSpPr>
        <p:spPr>
          <a:xfrm>
            <a:off x="6527800" y="3246041"/>
            <a:ext cx="4996942"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C2433"/>
                </a:solidFill>
                <a:latin typeface="Carlito" pitchFamily="34" charset="0"/>
                <a:ea typeface="Carlito" pitchFamily="34" charset="-122"/>
                <a:cs typeface="Carlito" pitchFamily="34" charset="-120"/>
              </a:rPr>
              <a:t>4</a:t>
            </a:r>
            <a:r>
              <a:rPr lang="en-US" sz="1250" dirty="0">
                <a:solidFill>
                  <a:srgbClr val="1C2433"/>
                </a:solidFill>
                <a:latin typeface="Carlito" pitchFamily="34" charset="0"/>
                <a:ea typeface="Carlito" pitchFamily="34" charset="-122"/>
                <a:cs typeface="Carlito" pitchFamily="34" charset="-120"/>
              </a:rPr>
              <a:t>  Empty </a:t>
            </a:r>
            <a:r>
              <a:rPr lang="en-US" sz="1250" i="1" dirty="0">
                <a:solidFill>
                  <a:srgbClr val="1C2433"/>
                </a:solidFill>
                <a:latin typeface="Carlito" pitchFamily="34" charset="0"/>
                <a:ea typeface="Carlito" pitchFamily="34" charset="-122"/>
                <a:cs typeface="Carlito" pitchFamily="34" charset="-120"/>
              </a:rPr>
              <a:t>Bus Scaler Controller</a:t>
            </a:r>
            <a:r>
              <a:rPr lang="en-US" sz="1250" dirty="0">
                <a:solidFill>
                  <a:srgbClr val="1C2433"/>
                </a:solidFill>
                <a:latin typeface="Carlito" pitchFamily="34" charset="0"/>
                <a:ea typeface="Carlito" pitchFamily="34" charset="-122"/>
                <a:cs typeface="Carlito" pitchFamily="34" charset="-120"/>
              </a:rPr>
              <a:t> + script; drag bus and slider into the fields.</a:t>
            </a:r>
            <a:endParaRPr lang="en-US" sz="1250" dirty="0"/>
          </a:p>
        </p:txBody>
      </p:sp>
      <p:sp>
        <p:nvSpPr>
          <p:cNvPr id="12" name="Text 8"/>
          <p:cNvSpPr/>
          <p:nvPr/>
        </p:nvSpPr>
        <p:spPr>
          <a:xfrm>
            <a:off x="6527800" y="3569891"/>
            <a:ext cx="4996942"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C2433"/>
                </a:solidFill>
                <a:latin typeface="Carlito" pitchFamily="34" charset="0"/>
                <a:ea typeface="Carlito" pitchFamily="34" charset="-122"/>
                <a:cs typeface="Carlito" pitchFamily="34" charset="-120"/>
              </a:rPr>
              <a:t>5</a:t>
            </a:r>
            <a:r>
              <a:rPr lang="en-US" sz="1250" dirty="0">
                <a:solidFill>
                  <a:srgbClr val="1C2433"/>
                </a:solidFill>
                <a:latin typeface="Carlito" pitchFamily="34" charset="0"/>
                <a:ea typeface="Carlito" pitchFamily="34" charset="-122"/>
                <a:cs typeface="Carlito" pitchFamily="34" charset="-120"/>
              </a:rPr>
              <a:t>  Third teleport anchor at (0, 0, -2.5).</a:t>
            </a:r>
            <a:endParaRPr lang="en-US" sz="1250" dirty="0"/>
          </a:p>
        </p:txBody>
      </p:sp>
      <p:sp>
        <p:nvSpPr>
          <p:cNvPr id="13" name="Text 9"/>
          <p:cNvSpPr/>
          <p:nvPr/>
        </p:nvSpPr>
        <p:spPr>
          <a:xfrm>
            <a:off x="6527800" y="3893741"/>
            <a:ext cx="4851400" cy="655241"/>
          </a:xfrm>
          <a:prstGeom prst="roundRect">
            <a:avLst>
              <a:gd name="adj" fmla="val 11629"/>
            </a:avLst>
          </a:prstGeom>
          <a:solidFill>
            <a:srgbClr val="EEF1F5"/>
          </a:solidFill>
          <a:ln/>
        </p:spPr>
        <p:txBody>
          <a:bodyPr wrap="square" lIns="155482" tIns="91982" rIns="0" bIns="66582" rtlCol="0" anchor="t">
            <a:normAutofit/>
          </a:bodyPr>
          <a:lstStyle/>
          <a:p>
            <a:pPr marL="0" indent="0" algn="l">
              <a:lnSpc>
                <a:spcPts val="1680"/>
              </a:lnSpc>
              <a:buNone/>
            </a:pPr>
            <a:r>
              <a:rPr lang="en-US" sz="1200" dirty="0">
                <a:solidFill>
                  <a:srgbClr val="33415A"/>
                </a:solidFill>
                <a:latin typeface="Carlito" pitchFamily="34" charset="0"/>
                <a:ea typeface="Carlito" pitchFamily="34" charset="-122"/>
                <a:cs typeface="Carlito" pitchFamily="34" charset="-120"/>
              </a:rPr>
              <a:t>Try next: replace Update() with </a:t>
            </a:r>
            <a:r>
              <a:rPr lang="en-US" sz="1200" b="1" dirty="0">
                <a:solidFill>
                  <a:srgbClr val="33415A"/>
                </a:solidFill>
                <a:latin typeface="Carlito" pitchFamily="34" charset="0"/>
                <a:ea typeface="Carlito" pitchFamily="34" charset="-122"/>
                <a:cs typeface="Carlito" pitchFamily="34" charset="-120"/>
              </a:rPr>
              <a:t>slider.onValueChanged</a:t>
            </a:r>
            <a:r>
              <a:rPr lang="en-US" sz="1200" dirty="0">
                <a:solidFill>
                  <a:srgbClr val="33415A"/>
                </a:solidFill>
                <a:latin typeface="Carlito" pitchFamily="34" charset="0"/>
                <a:ea typeface="Carlito" pitchFamily="34" charset="-122"/>
                <a:cs typeface="Carlito" pitchFamily="34" charset="-120"/>
              </a:rPr>
              <a:t> so the script only runs when the value changes.</a:t>
            </a:r>
            <a:endParaRPr lang="en-US" sz="1200" dirty="0"/>
          </a:p>
        </p:txBody>
      </p:sp>
      <p:sp>
        <p:nvSpPr>
          <p:cNvPr id="14" name="Shape 10"/>
          <p:cNvSpPr/>
          <p:nvPr/>
        </p:nvSpPr>
        <p:spPr>
          <a:xfrm>
            <a:off x="6527800" y="3893741"/>
            <a:ext cx="4851400" cy="655241"/>
          </a:xfrm>
          <a:custGeom>
            <a:avLst/>
            <a:gdLst/>
            <a:ahLst/>
            <a:cxnLst/>
            <a:rect l="l" t="t" r="r" b="b"/>
            <a:pathLst>
              <a:path w="4851400" h="655241">
                <a:moveTo>
                  <a:pt x="76200" y="655241"/>
                </a:moveTo>
                <a:lnTo>
                  <a:pt x="76200" y="655241"/>
                </a:lnTo>
                <a:arcTo wR="76200" hR="76200" stAng="5400000" swAng="5400000"/>
                <a:lnTo>
                  <a:pt x="0" y="76200"/>
                </a:lnTo>
                <a:arcTo wR="76200" hR="76200" stAng="10800000" swAng="5400000"/>
                <a:lnTo>
                  <a:pt x="76200" y="0"/>
                </a:lnTo>
                <a:arcTo wR="38100" hR="76200" stAng="16200000" swAng="-5400000"/>
                <a:lnTo>
                  <a:pt x="38100" y="579041"/>
                </a:lnTo>
                <a:arcTo wR="38100" hR="76200" stAng="10800000" swAng="-5400000"/>
                <a:close/>
              </a:path>
            </a:pathLst>
          </a:custGeom>
          <a:solidFill>
            <a:srgbClr val="E8752A"/>
          </a:solidFill>
          <a:ln/>
        </p:spPr>
      </p:sp>
      <p:sp>
        <p:nvSpPr>
          <p:cNvPr id="15" name="Text 1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5 — Building Interactive VR Experiences (pp. 120–124)</a:t>
            </a:r>
            <a:endParaRPr lang="en-US" sz="1200" dirty="0"/>
          </a:p>
        </p:txBody>
      </p:sp>
    </p:spTree>
    <p:extLst>
      <p:ext uri="{BB962C8B-B14F-4D97-AF65-F5344CB8AC3E}">
        <p14:creationId xmlns:p14="http://schemas.microsoft.com/office/powerpoint/2010/main" val="3969131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03594"/>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54" b="54"/>
          <a:stretch/>
        </p:blipFill>
        <p:spPr>
          <a:xfrm>
            <a:off x="10795000" y="0"/>
            <a:ext cx="1397000" cy="895350"/>
          </a:xfrm>
          <a:prstGeom prst="rect">
            <a:avLst/>
          </a:prstGeom>
        </p:spPr>
      </p:pic>
      <p:sp>
        <p:nvSpPr>
          <p:cNvPr id="3" name="Text 0"/>
          <p:cNvSpPr/>
          <p:nvPr/>
        </p:nvSpPr>
        <p:spPr>
          <a:xfrm>
            <a:off x="812800" y="188724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B81C"/>
                </a:solidFill>
                <a:latin typeface="Carlito" pitchFamily="18" charset="0"/>
                <a:ea typeface="Carlito" pitchFamily="18" charset="-122"/>
                <a:cs typeface="Carlito" pitchFamily="18" charset="-120"/>
              </a:rPr>
              <a:t>06</a:t>
            </a:r>
            <a:endParaRPr lang="en-US" sz="10000" dirty="0"/>
          </a:p>
        </p:txBody>
      </p:sp>
      <p:sp>
        <p:nvSpPr>
          <p:cNvPr id="4" name="Text 1"/>
          <p:cNvSpPr>
            <a:spLocks noGrp="1"/>
          </p:cNvSpPr>
          <p:nvPr>
            <p:ph type="title"/>
          </p:nvPr>
        </p:nvSpPr>
        <p:spPr>
          <a:xfrm>
            <a:off x="812800" y="3335040"/>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4F1EA"/>
                </a:solidFill>
                <a:latin typeface="Carlito" pitchFamily="18" charset="0"/>
                <a:ea typeface="Carlito" pitchFamily="18" charset="-122"/>
                <a:cs typeface="Carlito" pitchFamily="18" charset="-120"/>
              </a:rPr>
              <a:t>Building Interactive AR Experiences</a:t>
            </a:r>
            <a:endParaRPr lang="en-US" sz="4400" dirty="0"/>
          </a:p>
        </p:txBody>
      </p:sp>
      <p:sp>
        <p:nvSpPr>
          <p:cNvPr id="5" name="Text 2"/>
          <p:cNvSpPr/>
          <p:nvPr/>
        </p:nvSpPr>
        <p:spPr>
          <a:xfrm>
            <a:off x="812800" y="4127500"/>
            <a:ext cx="915670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E"/>
                </a:solidFill>
                <a:latin typeface="Carlito" pitchFamily="34" charset="0"/>
                <a:ea typeface="Carlito" pitchFamily="34" charset="-122"/>
                <a:cs typeface="Carlito" pitchFamily="34" charset="-120"/>
              </a:rPr>
              <a:t>An AR restaurant menu: find the table, place a dish at real size, pinch to scale, swipe through the menu with its nutrition facts.</a:t>
            </a:r>
            <a:endParaRPr lang="en-US" sz="1800" dirty="0"/>
          </a:p>
        </p:txBody>
      </p:sp>
      <p:sp>
        <p:nvSpPr>
          <p:cNvPr id="6"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E"/>
                </a:solidFill>
                <a:latin typeface="Carlito" pitchFamily="34" charset="0"/>
                <a:ea typeface="Carlito" pitchFamily="34" charset="-122"/>
                <a:cs typeface="Carlito" pitchFamily="34" charset="-120"/>
              </a:rPr>
              <a:t>Book pages 125–151 · Example: Week-10-Interactive-AR</a:t>
            </a:r>
            <a:endParaRPr lang="en-US" sz="1200" dirty="0"/>
          </a:p>
        </p:txBody>
      </p:sp>
    </p:spTree>
    <p:extLst>
      <p:ext uri="{BB962C8B-B14F-4D97-AF65-F5344CB8AC3E}">
        <p14:creationId xmlns:p14="http://schemas.microsoft.com/office/powerpoint/2010/main" val="3677122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6 · DESIGN PATTERNS</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Successful AR apps share one simple pattern</a:t>
            </a:r>
            <a:endParaRPr lang="en-US" sz="2800" dirty="0"/>
          </a:p>
        </p:txBody>
      </p:sp>
      <p:sp>
        <p:nvSpPr>
          <p:cNvPr id="6" name="Shape 2"/>
          <p:cNvSpPr/>
          <p:nvPr/>
        </p:nvSpPr>
        <p:spPr>
          <a:xfrm>
            <a:off x="812800" y="1734741"/>
            <a:ext cx="2536825" cy="1018381"/>
          </a:xfrm>
          <a:prstGeom prst="roundRect">
            <a:avLst>
              <a:gd name="adj" fmla="val 8730"/>
            </a:avLst>
          </a:prstGeom>
          <a:solidFill>
            <a:srgbClr val="EEF1F5"/>
          </a:solidFill>
          <a:ln/>
        </p:spPr>
      </p:sp>
      <p:sp>
        <p:nvSpPr>
          <p:cNvPr id="7" name="Text 3"/>
          <p:cNvSpPr/>
          <p:nvPr/>
        </p:nvSpPr>
        <p:spPr>
          <a:xfrm>
            <a:off x="977900" y="1899841"/>
            <a:ext cx="227282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Gaming</a:t>
            </a:r>
            <a:endParaRPr lang="en-US" sz="1400" dirty="0"/>
          </a:p>
        </p:txBody>
      </p:sp>
      <p:sp>
        <p:nvSpPr>
          <p:cNvPr id="8" name="Text 4"/>
          <p:cNvSpPr/>
          <p:nvPr/>
        </p:nvSpPr>
        <p:spPr>
          <a:xfrm>
            <a:off x="977900" y="2176661"/>
            <a:ext cx="22728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Pokémon Go. Creatures in your world; GPS + touch.</a:t>
            </a:r>
            <a:endParaRPr lang="en-US" sz="1200" dirty="0"/>
          </a:p>
        </p:txBody>
      </p:sp>
      <p:sp>
        <p:nvSpPr>
          <p:cNvPr id="9" name="Shape 5"/>
          <p:cNvSpPr/>
          <p:nvPr/>
        </p:nvSpPr>
        <p:spPr>
          <a:xfrm>
            <a:off x="3489325" y="1734741"/>
            <a:ext cx="2536825" cy="1018381"/>
          </a:xfrm>
          <a:prstGeom prst="roundRect">
            <a:avLst>
              <a:gd name="adj" fmla="val 8730"/>
            </a:avLst>
          </a:prstGeom>
          <a:solidFill>
            <a:srgbClr val="EEF1F5"/>
          </a:solidFill>
          <a:ln/>
        </p:spPr>
      </p:sp>
      <p:sp>
        <p:nvSpPr>
          <p:cNvPr id="10" name="Text 6"/>
          <p:cNvSpPr/>
          <p:nvPr/>
        </p:nvSpPr>
        <p:spPr>
          <a:xfrm>
            <a:off x="3654425" y="1899841"/>
            <a:ext cx="227282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Navigation</a:t>
            </a:r>
            <a:endParaRPr lang="en-US" sz="1400" dirty="0"/>
          </a:p>
        </p:txBody>
      </p:sp>
      <p:sp>
        <p:nvSpPr>
          <p:cNvPr id="11" name="Text 7"/>
          <p:cNvSpPr/>
          <p:nvPr/>
        </p:nvSpPr>
        <p:spPr>
          <a:xfrm>
            <a:off x="3654425" y="2176661"/>
            <a:ext cx="22728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Google Maps Live View. Arrows over the street; GPS + orientation.</a:t>
            </a:r>
            <a:endParaRPr lang="en-US" sz="1200" dirty="0"/>
          </a:p>
        </p:txBody>
      </p:sp>
      <p:sp>
        <p:nvSpPr>
          <p:cNvPr id="12" name="Shape 8"/>
          <p:cNvSpPr/>
          <p:nvPr/>
        </p:nvSpPr>
        <p:spPr>
          <a:xfrm>
            <a:off x="6165850" y="1734741"/>
            <a:ext cx="2536825" cy="1018381"/>
          </a:xfrm>
          <a:prstGeom prst="roundRect">
            <a:avLst>
              <a:gd name="adj" fmla="val 8730"/>
            </a:avLst>
          </a:prstGeom>
          <a:solidFill>
            <a:srgbClr val="EEF1F5"/>
          </a:solidFill>
          <a:ln/>
        </p:spPr>
      </p:sp>
      <p:sp>
        <p:nvSpPr>
          <p:cNvPr id="13" name="Text 9"/>
          <p:cNvSpPr/>
          <p:nvPr/>
        </p:nvSpPr>
        <p:spPr>
          <a:xfrm>
            <a:off x="6330950" y="1899841"/>
            <a:ext cx="227282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Shopping</a:t>
            </a:r>
            <a:endParaRPr lang="en-US" sz="1400" dirty="0"/>
          </a:p>
        </p:txBody>
      </p:sp>
      <p:sp>
        <p:nvSpPr>
          <p:cNvPr id="14" name="Text 10"/>
          <p:cNvSpPr/>
          <p:nvPr/>
        </p:nvSpPr>
        <p:spPr>
          <a:xfrm>
            <a:off x="6330950" y="2176661"/>
            <a:ext cx="22728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IKEA Place. Furniture on your floor at true scale.</a:t>
            </a:r>
            <a:endParaRPr lang="en-US" sz="1200" dirty="0"/>
          </a:p>
        </p:txBody>
      </p:sp>
      <p:sp>
        <p:nvSpPr>
          <p:cNvPr id="15" name="Shape 11"/>
          <p:cNvSpPr/>
          <p:nvPr/>
        </p:nvSpPr>
        <p:spPr>
          <a:xfrm>
            <a:off x="8842375" y="1734741"/>
            <a:ext cx="2536825" cy="1018381"/>
          </a:xfrm>
          <a:prstGeom prst="roundRect">
            <a:avLst>
              <a:gd name="adj" fmla="val 8730"/>
            </a:avLst>
          </a:prstGeom>
          <a:solidFill>
            <a:srgbClr val="EEF1F5"/>
          </a:solidFill>
          <a:ln/>
        </p:spPr>
      </p:sp>
      <p:sp>
        <p:nvSpPr>
          <p:cNvPr id="16" name="Text 12"/>
          <p:cNvSpPr/>
          <p:nvPr/>
        </p:nvSpPr>
        <p:spPr>
          <a:xfrm>
            <a:off x="9007475" y="1899841"/>
            <a:ext cx="227282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Education</a:t>
            </a:r>
            <a:endParaRPr lang="en-US" sz="1400" dirty="0"/>
          </a:p>
        </p:txBody>
      </p:sp>
      <p:sp>
        <p:nvSpPr>
          <p:cNvPr id="17" name="Text 13"/>
          <p:cNvSpPr/>
          <p:nvPr/>
        </p:nvSpPr>
        <p:spPr>
          <a:xfrm>
            <a:off x="9007475" y="2176661"/>
            <a:ext cx="22728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Star Walk 2. Image targets anchor 3D models.</a:t>
            </a:r>
            <a:endParaRPr lang="en-US" sz="1200" dirty="0"/>
          </a:p>
        </p:txBody>
      </p:sp>
      <p:sp>
        <p:nvSpPr>
          <p:cNvPr id="18" name="Text 14"/>
          <p:cNvSpPr/>
          <p:nvPr/>
        </p:nvSpPr>
        <p:spPr>
          <a:xfrm>
            <a:off x="812800" y="2956322"/>
            <a:ext cx="10566400" cy="647700"/>
          </a:xfrm>
          <a:prstGeom prst="roundRect">
            <a:avLst>
              <a:gd name="adj" fmla="val 15686"/>
            </a:avLst>
          </a:prstGeom>
          <a:solidFill>
            <a:srgbClr val="003594"/>
          </a:solidFill>
          <a:ln/>
        </p:spPr>
        <p:txBody>
          <a:bodyPr wrap="square" lIns="224242" tIns="148042" rIns="224242" bIns="148042" rtlCol="0" anchor="ctr">
            <a:normAutofit/>
          </a:bodyPr>
          <a:lstStyle/>
          <a:p>
            <a:pPr marL="0" indent="0" algn="l">
              <a:lnSpc>
                <a:spcPts val="2100"/>
              </a:lnSpc>
              <a:buNone/>
            </a:pPr>
            <a:r>
              <a:rPr lang="en-US" sz="1500" dirty="0">
                <a:solidFill>
                  <a:srgbClr val="F4F1EA"/>
                </a:solidFill>
                <a:latin typeface="Carlito" pitchFamily="34" charset="0"/>
                <a:ea typeface="Carlito" pitchFamily="34" charset="-122"/>
                <a:cs typeface="Carlito" pitchFamily="34" charset="-120"/>
              </a:rPr>
              <a:t>Camera feed + device pose (+ GPS) → </a:t>
            </a:r>
            <a:r>
              <a:rPr lang="en-US" sz="1500" b="1" dirty="0">
                <a:solidFill>
                  <a:srgbClr val="FFB81C"/>
                </a:solidFill>
                <a:latin typeface="Carlito" pitchFamily="34" charset="0"/>
                <a:ea typeface="Carlito" pitchFamily="34" charset="-122"/>
                <a:cs typeface="Carlito" pitchFamily="34" charset="-120"/>
              </a:rPr>
              <a:t>place a 3D model in the real world</a:t>
            </a:r>
            <a:r>
              <a:rPr lang="en-US" sz="1500" dirty="0">
                <a:solidFill>
                  <a:srgbClr val="F4F1EA"/>
                </a:solidFill>
                <a:latin typeface="Carlito" pitchFamily="34" charset="0"/>
                <a:ea typeface="Carlito" pitchFamily="34" charset="-122"/>
                <a:cs typeface="Carlito" pitchFamily="34" charset="-120"/>
              </a:rPr>
              <a:t> → touch or walk around to inspect it.</a:t>
            </a:r>
            <a:endParaRPr lang="en-US" sz="1500" dirty="0"/>
          </a:p>
        </p:txBody>
      </p:sp>
      <p:sp>
        <p:nvSpPr>
          <p:cNvPr id="19" name="Shape 15"/>
          <p:cNvSpPr/>
          <p:nvPr/>
        </p:nvSpPr>
        <p:spPr>
          <a:xfrm>
            <a:off x="838200" y="3807222"/>
            <a:ext cx="0" cy="580330"/>
          </a:xfrm>
          <a:prstGeom prst="line">
            <a:avLst/>
          </a:prstGeom>
          <a:noFill/>
          <a:ln w="50800">
            <a:solidFill>
              <a:srgbClr val="B5541A"/>
            </a:solidFill>
            <a:prstDash val="solid"/>
          </a:ln>
        </p:spPr>
      </p:sp>
      <p:sp>
        <p:nvSpPr>
          <p:cNvPr id="20" name="Text 16"/>
          <p:cNvSpPr/>
          <p:nvPr/>
        </p:nvSpPr>
        <p:spPr>
          <a:xfrm>
            <a:off x="1016000" y="3845322"/>
            <a:ext cx="51408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ADDS NOTHING</a:t>
            </a:r>
            <a:endParaRPr lang="en-US" sz="1200" dirty="0"/>
          </a:p>
        </p:txBody>
      </p:sp>
      <p:sp>
        <p:nvSpPr>
          <p:cNvPr id="21" name="Text 17"/>
          <p:cNvSpPr/>
          <p:nvPr/>
        </p:nvSpPr>
        <p:spPr>
          <a:xfrm>
            <a:off x="1016000" y="4109442"/>
            <a:ext cx="5140833"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C2433"/>
                </a:solidFill>
                <a:latin typeface="Carlito" pitchFamily="34" charset="0"/>
                <a:ea typeface="Carlito" pitchFamily="34" charset="-122"/>
                <a:cs typeface="Carlito" pitchFamily="34" charset="-120"/>
              </a:rPr>
              <a:t>A flat menu floating over the table. Paper does that.</a:t>
            </a:r>
            <a:endParaRPr lang="en-US" sz="1350" dirty="0"/>
          </a:p>
        </p:txBody>
      </p:sp>
      <p:sp>
        <p:nvSpPr>
          <p:cNvPr id="22" name="Shape 18"/>
          <p:cNvSpPr/>
          <p:nvPr/>
        </p:nvSpPr>
        <p:spPr>
          <a:xfrm>
            <a:off x="6210300" y="3807222"/>
            <a:ext cx="0" cy="580330"/>
          </a:xfrm>
          <a:prstGeom prst="line">
            <a:avLst/>
          </a:prstGeom>
          <a:noFill/>
          <a:ln w="50800">
            <a:solidFill>
              <a:srgbClr val="003594"/>
            </a:solidFill>
            <a:prstDash val="solid"/>
          </a:ln>
        </p:spPr>
      </p:sp>
      <p:sp>
        <p:nvSpPr>
          <p:cNvPr id="23" name="Text 19"/>
          <p:cNvSpPr/>
          <p:nvPr/>
        </p:nvSpPr>
        <p:spPr>
          <a:xfrm>
            <a:off x="6388100" y="3845322"/>
            <a:ext cx="51408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3594"/>
                </a:solidFill>
                <a:latin typeface="Carlito" pitchFamily="34" charset="0"/>
                <a:ea typeface="Carlito" pitchFamily="34" charset="-122"/>
                <a:cs typeface="Carlito" pitchFamily="34" charset="-120"/>
              </a:rPr>
              <a:t>ADDS VALUE</a:t>
            </a:r>
            <a:endParaRPr lang="en-US" sz="1200" dirty="0"/>
          </a:p>
        </p:txBody>
      </p:sp>
      <p:sp>
        <p:nvSpPr>
          <p:cNvPr id="24" name="Text 20"/>
          <p:cNvSpPr/>
          <p:nvPr/>
        </p:nvSpPr>
        <p:spPr>
          <a:xfrm>
            <a:off x="6388100" y="4109442"/>
            <a:ext cx="5140833"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C2433"/>
                </a:solidFill>
                <a:latin typeface="Carlito" pitchFamily="34" charset="0"/>
                <a:ea typeface="Carlito" pitchFamily="34" charset="-122"/>
                <a:cs typeface="Carlito" pitchFamily="34" charset="-120"/>
              </a:rPr>
              <a:t>Each dish at real serving size on your table. You see what you’ll get.</a:t>
            </a:r>
            <a:endParaRPr lang="en-US" sz="1350" dirty="0"/>
          </a:p>
        </p:txBody>
      </p:sp>
      <p:sp>
        <p:nvSpPr>
          <p:cNvPr id="25" name="Text 2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6 — Building Interactive AR Experiences (pp. 126–127)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6 · THE PIECES</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The ARFoodMenu scene, from hierarchy to scripts</a:t>
            </a:r>
            <a:endParaRPr lang="en-US" sz="2800" dirty="0"/>
          </a:p>
        </p:txBody>
      </p:sp>
      <p:sp>
        <p:nvSpPr>
          <p:cNvPr id="6" name="Text 2"/>
          <p:cNvSpPr/>
          <p:nvPr/>
        </p:nvSpPr>
        <p:spPr>
          <a:xfrm>
            <a:off x="812800" y="1722041"/>
            <a:ext cx="5207000" cy="3327400"/>
          </a:xfrm>
          <a:prstGeom prst="roundRect">
            <a:avLst>
              <a:gd name="adj" fmla="val 2672"/>
            </a:avLst>
          </a:prstGeom>
          <a:solidFill>
            <a:srgbClr val="14191F"/>
          </a:solidFill>
          <a:ln/>
        </p:spPr>
        <p:txBody>
          <a:bodyPr wrap="none" lIns="177162" tIns="151762" rIns="33144" bIns="126362" rtlCol="0" anchor="t">
            <a:normAutofit/>
          </a:bodyPr>
          <a:lstStyle/>
          <a:p>
            <a:pPr marL="0" indent="0" algn="l">
              <a:lnSpc>
                <a:spcPts val="1800"/>
              </a:lnSpc>
              <a:buNone/>
            </a:pPr>
            <a:r>
              <a:rPr lang="en-US" sz="1200" dirty="0">
                <a:solidFill>
                  <a:srgbClr val="FFB81C"/>
                </a:solidFill>
                <a:latin typeface="JetBrains Mono" pitchFamily="49" charset="0"/>
                <a:ea typeface="JetBrains Mono" pitchFamily="49" charset="-122"/>
                <a:cs typeface="JetBrains Mono" pitchFamily="49" charset="-120"/>
              </a:rPr>
              <a:t>ARFoodMenu</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AR Session</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AR Session Origin  </a:t>
            </a:r>
            <a:r>
              <a:rPr lang="en-US" sz="1200" dirty="0">
                <a:solidFill>
                  <a:srgbClr val="8FD3A8"/>
                </a:solidFill>
                <a:latin typeface="JetBrains Mono" pitchFamily="49" charset="0"/>
                <a:ea typeface="JetBrains Mono" pitchFamily="49" charset="-122"/>
                <a:cs typeface="JetBrains Mono" pitchFamily="49" charset="-120"/>
              </a:rPr>
              <a:t>+ ARPlacePrefab</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8A97A8"/>
                </a:solidFill>
                <a:latin typeface="JetBrains Mono" pitchFamily="49" charset="0"/>
                <a:ea typeface="JetBrains Mono" pitchFamily="49" charset="-122"/>
                <a:cs typeface="JetBrains Mono" pitchFamily="49" charset="-120"/>
              </a:rPr>
              <a:t>AR Plane Mgr (Horizontal), AR Raycast Mgr</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AR Camera</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Canvas  </a:t>
            </a:r>
            <a:r>
              <a:rPr lang="en-US" sz="1200" dirty="0">
                <a:solidFill>
                  <a:srgbClr val="8A97A8"/>
                </a:solidFill>
                <a:latin typeface="JetBrains Mono" pitchFamily="49" charset="0"/>
                <a:ea typeface="JetBrains Mono" pitchFamily="49" charset="-122"/>
                <a:cs typeface="JetBrains Mono" pitchFamily="49" charset="-120"/>
              </a:rPr>
              <a:t>follows the camera</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ButtonNext ( -&gt; )</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ButtonPrevious ( &lt;- )</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InfoPanel</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InstructionText</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 PlaceFirstMealButton</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FoodInfoCanvas › FoodInfoText</a:t>
            </a:r>
            <a:endParaRPr lang="en-US" sz="1200" dirty="0"/>
          </a:p>
          <a:p>
            <a:pPr marL="0" indent="0" algn="l">
              <a:lnSpc>
                <a:spcPts val="1800"/>
              </a:lnSpc>
              <a:buNone/>
            </a:pPr>
            <a:r>
              <a:rPr lang="en-US" sz="1200" dirty="0">
                <a:solidFill>
                  <a:srgbClr val="D6E2EE"/>
                </a:solidFill>
                <a:latin typeface="JetBrains Mono" pitchFamily="49" charset="0"/>
                <a:ea typeface="JetBrains Mono" pitchFamily="49" charset="-122"/>
                <a:cs typeface="JetBrains Mono" pitchFamily="49" charset="-120"/>
              </a:rPr>
              <a:t>└ PrefabManager  </a:t>
            </a:r>
            <a:r>
              <a:rPr lang="en-US" sz="1200" dirty="0">
                <a:solidFill>
                  <a:srgbClr val="8FD3A8"/>
                </a:solidFill>
                <a:latin typeface="JetBrains Mono" pitchFamily="49" charset="0"/>
                <a:ea typeface="JetBrains Mono" pitchFamily="49" charset="-122"/>
                <a:cs typeface="JetBrains Mono" pitchFamily="49" charset="-120"/>
              </a:rPr>
              <a:t>+ SwapPrefab</a:t>
            </a:r>
            <a:endParaRPr lang="en-US" sz="1200" dirty="0"/>
          </a:p>
        </p:txBody>
      </p:sp>
      <p:sp>
        <p:nvSpPr>
          <p:cNvPr id="7" name="Text 3"/>
          <p:cNvSpPr/>
          <p:nvPr/>
        </p:nvSpPr>
        <p:spPr>
          <a:xfrm>
            <a:off x="6273800" y="1722041"/>
            <a:ext cx="525856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3594"/>
                </a:solidFill>
                <a:latin typeface="Carlito" pitchFamily="34" charset="0"/>
                <a:ea typeface="Carlito" pitchFamily="34" charset="-122"/>
                <a:cs typeface="Carlito" pitchFamily="34" charset="-120"/>
              </a:rPr>
              <a:t>AR Session + Session Origin</a:t>
            </a:r>
            <a:endParaRPr lang="en-US" sz="1300" dirty="0"/>
          </a:p>
        </p:txBody>
      </p:sp>
      <p:sp>
        <p:nvSpPr>
          <p:cNvPr id="8" name="Text 4"/>
          <p:cNvSpPr/>
          <p:nvPr/>
        </p:nvSpPr>
        <p:spPr>
          <a:xfrm>
            <a:off x="6273800" y="1978521"/>
            <a:ext cx="525856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The stage: tracking lifecycle, and the bridge from device space to Unity space.</a:t>
            </a:r>
            <a:endParaRPr lang="en-US" sz="1200" dirty="0"/>
          </a:p>
        </p:txBody>
      </p:sp>
      <p:sp>
        <p:nvSpPr>
          <p:cNvPr id="9" name="Text 5"/>
          <p:cNvSpPr/>
          <p:nvPr/>
        </p:nvSpPr>
        <p:spPr>
          <a:xfrm>
            <a:off x="6273800" y="2273102"/>
            <a:ext cx="525856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3594"/>
                </a:solidFill>
                <a:latin typeface="Carlito" pitchFamily="34" charset="0"/>
                <a:ea typeface="Carlito" pitchFamily="34" charset="-122"/>
                <a:cs typeface="Carlito" pitchFamily="34" charset="-120"/>
              </a:rPr>
              <a:t>Plane Manager</a:t>
            </a:r>
            <a:endParaRPr lang="en-US" sz="1300" dirty="0"/>
          </a:p>
        </p:txBody>
      </p:sp>
      <p:sp>
        <p:nvSpPr>
          <p:cNvPr id="10" name="Text 6"/>
          <p:cNvSpPr/>
          <p:nvPr/>
        </p:nvSpPr>
        <p:spPr>
          <a:xfrm>
            <a:off x="6273800" y="2529582"/>
            <a:ext cx="525856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Finds real surfaces. Horizontal only: we want tables.</a:t>
            </a:r>
            <a:endParaRPr lang="en-US" sz="1200" dirty="0"/>
          </a:p>
        </p:txBody>
      </p:sp>
      <p:sp>
        <p:nvSpPr>
          <p:cNvPr id="11" name="Text 7"/>
          <p:cNvSpPr/>
          <p:nvPr/>
        </p:nvSpPr>
        <p:spPr>
          <a:xfrm>
            <a:off x="6273800" y="2824163"/>
            <a:ext cx="525856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3594"/>
                </a:solidFill>
                <a:latin typeface="Carlito" pitchFamily="34" charset="0"/>
                <a:ea typeface="Carlito" pitchFamily="34" charset="-122"/>
                <a:cs typeface="Carlito" pitchFamily="34" charset="-120"/>
              </a:rPr>
              <a:t>Raycast Manager</a:t>
            </a:r>
            <a:endParaRPr lang="en-US" sz="1300" dirty="0"/>
          </a:p>
        </p:txBody>
      </p:sp>
      <p:sp>
        <p:nvSpPr>
          <p:cNvPr id="12" name="Text 8"/>
          <p:cNvSpPr/>
          <p:nvPr/>
        </p:nvSpPr>
        <p:spPr>
          <a:xfrm>
            <a:off x="6273800" y="3080643"/>
            <a:ext cx="525856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Shoots rays at those planes to find where a dish can sit.</a:t>
            </a:r>
            <a:endParaRPr lang="en-US" sz="1200" dirty="0"/>
          </a:p>
        </p:txBody>
      </p:sp>
      <p:sp>
        <p:nvSpPr>
          <p:cNvPr id="13" name="Text 9"/>
          <p:cNvSpPr/>
          <p:nvPr/>
        </p:nvSpPr>
        <p:spPr>
          <a:xfrm>
            <a:off x="6273800" y="3375223"/>
            <a:ext cx="525856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3594"/>
                </a:solidFill>
                <a:latin typeface="Carlito" pitchFamily="34" charset="0"/>
                <a:ea typeface="Carlito" pitchFamily="34" charset="-122"/>
                <a:cs typeface="Carlito" pitchFamily="34" charset="-120"/>
              </a:rPr>
              <a:t>Three scripts</a:t>
            </a:r>
            <a:endParaRPr lang="en-US" sz="1300" dirty="0"/>
          </a:p>
        </p:txBody>
      </p:sp>
      <p:sp>
        <p:nvSpPr>
          <p:cNvPr id="14" name="Text 10"/>
          <p:cNvSpPr/>
          <p:nvPr/>
        </p:nvSpPr>
        <p:spPr>
          <a:xfrm>
            <a:off x="6273800" y="3631704"/>
            <a:ext cx="5918200"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C2433"/>
                </a:solidFill>
                <a:latin typeface="Carlito" pitchFamily="34" charset="0"/>
                <a:ea typeface="Carlito" pitchFamily="34" charset="-122"/>
                <a:cs typeface="Carlito" pitchFamily="34" charset="-120"/>
              </a:rPr>
              <a:t>Food</a:t>
            </a:r>
            <a:r>
              <a:rPr lang="en-US" sz="1200" dirty="0">
                <a:solidFill>
                  <a:srgbClr val="1C2433"/>
                </a:solidFill>
                <a:latin typeface="Carlito" pitchFamily="34" charset="0"/>
                <a:ea typeface="Carlito" pitchFamily="34" charset="-122"/>
                <a:cs typeface="Carlito" pitchFamily="34" charset="-120"/>
              </a:rPr>
              <a:t> holds data, </a:t>
            </a:r>
            <a:r>
              <a:rPr lang="en-US" sz="1200" b="1" dirty="0">
                <a:solidFill>
                  <a:srgbClr val="1C2433"/>
                </a:solidFill>
                <a:latin typeface="Carlito" pitchFamily="34" charset="0"/>
                <a:ea typeface="Carlito" pitchFamily="34" charset="-122"/>
                <a:cs typeface="Carlito" pitchFamily="34" charset="-120"/>
              </a:rPr>
              <a:t>ARPlacePrefab</a:t>
            </a:r>
            <a:r>
              <a:rPr lang="en-US" sz="1200" dirty="0">
                <a:solidFill>
                  <a:srgbClr val="1C2433"/>
                </a:solidFill>
                <a:latin typeface="Carlito" pitchFamily="34" charset="0"/>
                <a:ea typeface="Carlito" pitchFamily="34" charset="-122"/>
                <a:cs typeface="Carlito" pitchFamily="34" charset="-120"/>
              </a:rPr>
              <a:t> places and scales, </a:t>
            </a:r>
            <a:r>
              <a:rPr lang="en-US" sz="1200" b="1" dirty="0">
                <a:solidFill>
                  <a:srgbClr val="1C2433"/>
                </a:solidFill>
                <a:latin typeface="Carlito" pitchFamily="34" charset="0"/>
                <a:ea typeface="Carlito" pitchFamily="34" charset="-122"/>
                <a:cs typeface="Carlito" pitchFamily="34" charset="-120"/>
              </a:rPr>
              <a:t>SwapPrefab</a:t>
            </a:r>
            <a:r>
              <a:rPr lang="en-US" sz="1200" dirty="0">
                <a:solidFill>
                  <a:srgbClr val="1C2433"/>
                </a:solidFill>
                <a:latin typeface="Carlito" pitchFamily="34" charset="0"/>
                <a:ea typeface="Carlito" pitchFamily="34" charset="-122"/>
                <a:cs typeface="Carlito" pitchFamily="34" charset="-120"/>
              </a:rPr>
              <a:t> cycles the menu.</a:t>
            </a:r>
            <a:endParaRPr lang="en-US" sz="1200" dirty="0"/>
          </a:p>
        </p:txBody>
      </p:sp>
      <p:sp>
        <p:nvSpPr>
          <p:cNvPr id="15" name="Text 1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6 — Building Interactive AR Experiences (pp. 128–129)</a:t>
            </a:r>
            <a:endParaRPr lang="en-US" sz="1200" dirty="0"/>
          </a:p>
        </p:txBody>
      </p:sp>
    </p:spTree>
    <p:extLst>
      <p:ext uri="{BB962C8B-B14F-4D97-AF65-F5344CB8AC3E}">
        <p14:creationId xmlns:p14="http://schemas.microsoft.com/office/powerpoint/2010/main" val="378589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6 · CONTENT AND UI</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Get the food models, then build two kinds of UI</a:t>
            </a:r>
            <a:endParaRPr lang="en-US" sz="2800" dirty="0"/>
          </a:p>
        </p:txBody>
      </p:sp>
      <p:sp>
        <p:nvSpPr>
          <p:cNvPr id="6" name="Shape 2"/>
          <p:cNvSpPr/>
          <p:nvPr/>
        </p:nvSpPr>
        <p:spPr>
          <a:xfrm>
            <a:off x="812800" y="1722041"/>
            <a:ext cx="3412034" cy="2493963"/>
          </a:xfrm>
          <a:prstGeom prst="roundRect">
            <a:avLst>
              <a:gd name="adj" fmla="val 4074"/>
            </a:avLst>
          </a:prstGeom>
          <a:solidFill>
            <a:srgbClr val="EEF1F5"/>
          </a:solidFill>
          <a:ln/>
        </p:spPr>
      </p:sp>
      <p:sp>
        <p:nvSpPr>
          <p:cNvPr id="7" name="Text 3"/>
          <p:cNvSpPr/>
          <p:nvPr/>
        </p:nvSpPr>
        <p:spPr>
          <a:xfrm>
            <a:off x="1003300" y="1912541"/>
            <a:ext cx="31219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Food models</a:t>
            </a:r>
            <a:endParaRPr lang="en-US" sz="1500" dirty="0"/>
          </a:p>
        </p:txBody>
      </p:sp>
      <p:sp>
        <p:nvSpPr>
          <p:cNvPr id="8" name="Text 4"/>
          <p:cNvSpPr/>
          <p:nvPr/>
        </p:nvSpPr>
        <p:spPr>
          <a:xfrm>
            <a:off x="1003300" y="2230041"/>
            <a:ext cx="3121965" cy="130532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C2433"/>
                </a:solidFill>
                <a:latin typeface="Carlito" pitchFamily="34" charset="0"/>
                <a:ea typeface="Carlito" pitchFamily="34" charset="-122"/>
                <a:cs typeface="Carlito" pitchFamily="34" charset="-120"/>
              </a:rPr>
              <a:t>Model it</a:t>
            </a:r>
            <a:r>
              <a:rPr lang="en-US" sz="1200" dirty="0">
                <a:solidFill>
                  <a:srgbClr val="1C2433"/>
                </a:solidFill>
                <a:latin typeface="Carlito" pitchFamily="34" charset="0"/>
                <a:ea typeface="Carlito" pitchFamily="34" charset="-122"/>
                <a:cs typeface="Carlito" pitchFamily="34" charset="-120"/>
              </a:rPr>
              <a:t>: Blender, Maya, 3ds Max</a:t>
            </a:r>
            <a:endParaRPr lang="en-US" sz="1200" dirty="0"/>
          </a:p>
          <a:p>
            <a:pPr marL="0" indent="0" algn="l">
              <a:lnSpc>
                <a:spcPts val="1680"/>
              </a:lnSpc>
              <a:buNone/>
            </a:pPr>
            <a:r>
              <a:rPr lang="en-US" sz="1200" b="1" dirty="0">
                <a:solidFill>
                  <a:srgbClr val="1C2433"/>
                </a:solidFill>
                <a:latin typeface="Carlito" pitchFamily="34" charset="0"/>
                <a:ea typeface="Carlito" pitchFamily="34" charset="-122"/>
                <a:cs typeface="Carlito" pitchFamily="34" charset="-120"/>
              </a:rPr>
              <a:t>Scan it</a:t>
            </a:r>
            <a:r>
              <a:rPr lang="en-US" sz="1200" dirty="0">
                <a:solidFill>
                  <a:srgbClr val="1C2433"/>
                </a:solidFill>
                <a:latin typeface="Carlito" pitchFamily="34" charset="0"/>
                <a:ea typeface="Carlito" pitchFamily="34" charset="-122"/>
                <a:cs typeface="Carlito" pitchFamily="34" charset="-120"/>
              </a:rPr>
              <a:t>: photogrammetry (Luma, RealityCapture, Meshroom, Metashape)</a:t>
            </a:r>
            <a:endParaRPr lang="en-US" sz="1200" dirty="0"/>
          </a:p>
          <a:p>
            <a:pPr marL="0" indent="0" algn="l">
              <a:lnSpc>
                <a:spcPts val="1680"/>
              </a:lnSpc>
              <a:buNone/>
            </a:pPr>
            <a:r>
              <a:rPr lang="en-US" sz="1200" b="1" dirty="0">
                <a:solidFill>
                  <a:srgbClr val="1C2433"/>
                </a:solidFill>
                <a:latin typeface="Carlito" pitchFamily="34" charset="0"/>
                <a:ea typeface="Carlito" pitchFamily="34" charset="-122"/>
                <a:cs typeface="Carlito" pitchFamily="34" charset="-120"/>
              </a:rPr>
              <a:t>Download it</a:t>
            </a:r>
            <a:r>
              <a:rPr lang="en-US" sz="1200" dirty="0">
                <a:solidFill>
                  <a:srgbClr val="1C2433"/>
                </a:solidFill>
                <a:latin typeface="Carlito" pitchFamily="34" charset="0"/>
                <a:ea typeface="Carlito" pitchFamily="34" charset="-122"/>
                <a:cs typeface="Carlito" pitchFamily="34" charset="-120"/>
              </a:rPr>
              <a:t>: Asset Store, Sketchfab, TurboSquid; check the license</a:t>
            </a:r>
            <a:endParaRPr lang="en-US" sz="1200" dirty="0"/>
          </a:p>
          <a:p>
            <a:pPr marL="0" indent="0" algn="l">
              <a:lnSpc>
                <a:spcPts val="1680"/>
              </a:lnSpc>
              <a:buNone/>
            </a:pPr>
            <a:r>
              <a:rPr lang="en-US" sz="1200" b="1" dirty="0">
                <a:solidFill>
                  <a:srgbClr val="1C2433"/>
                </a:solidFill>
                <a:latin typeface="Carlito" pitchFamily="34" charset="0"/>
                <a:ea typeface="Carlito" pitchFamily="34" charset="-122"/>
                <a:cs typeface="Carlito" pitchFamily="34" charset="-120"/>
              </a:rPr>
              <a:t>Hire it</a:t>
            </a:r>
            <a:r>
              <a:rPr lang="en-US" sz="1200" dirty="0">
                <a:solidFill>
                  <a:srgbClr val="1C2433"/>
                </a:solidFill>
                <a:latin typeface="Carlito" pitchFamily="34" charset="0"/>
                <a:ea typeface="Carlito" pitchFamily="34" charset="-122"/>
                <a:cs typeface="Carlito" pitchFamily="34" charset="-120"/>
              </a:rPr>
              <a:t>: a 3D artist</a:t>
            </a:r>
            <a:endParaRPr lang="en-US" sz="1200" dirty="0"/>
          </a:p>
        </p:txBody>
      </p:sp>
      <p:sp>
        <p:nvSpPr>
          <p:cNvPr id="9" name="Text 5"/>
          <p:cNvSpPr/>
          <p:nvPr/>
        </p:nvSpPr>
        <p:spPr>
          <a:xfrm>
            <a:off x="1003300" y="3598863"/>
            <a:ext cx="312196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Book uses free packs: French Fries, Tofu, Kashipan.</a:t>
            </a:r>
            <a:endParaRPr lang="en-US" sz="1200" dirty="0"/>
          </a:p>
        </p:txBody>
      </p:sp>
      <p:sp>
        <p:nvSpPr>
          <p:cNvPr id="10" name="Shape 6"/>
          <p:cNvSpPr/>
          <p:nvPr/>
        </p:nvSpPr>
        <p:spPr>
          <a:xfrm>
            <a:off x="4389934" y="1722041"/>
            <a:ext cx="3412034" cy="2493963"/>
          </a:xfrm>
          <a:prstGeom prst="roundRect">
            <a:avLst>
              <a:gd name="adj" fmla="val 4074"/>
            </a:avLst>
          </a:prstGeom>
          <a:solidFill>
            <a:srgbClr val="EEF1F5"/>
          </a:solidFill>
          <a:ln/>
        </p:spPr>
      </p:sp>
      <p:sp>
        <p:nvSpPr>
          <p:cNvPr id="11" name="Shape 7"/>
          <p:cNvSpPr/>
          <p:nvPr/>
        </p:nvSpPr>
        <p:spPr>
          <a:xfrm>
            <a:off x="4389934" y="1722041"/>
            <a:ext cx="3412034" cy="2493963"/>
          </a:xfrm>
          <a:custGeom>
            <a:avLst/>
            <a:gdLst/>
            <a:ahLst/>
            <a:cxnLst/>
            <a:rect l="l" t="t" r="r" b="b"/>
            <a:pathLst>
              <a:path w="3412034" h="2493963">
                <a:moveTo>
                  <a:pt x="0" y="101600"/>
                </a:moveTo>
                <a:lnTo>
                  <a:pt x="0" y="101600"/>
                </a:lnTo>
                <a:arcTo wR="101600" hR="101600" stAng="10800000" swAng="5400000"/>
                <a:lnTo>
                  <a:pt x="3310434" y="0"/>
                </a:lnTo>
                <a:arcTo wR="101600" hR="101600" stAng="16200000" swAng="5400000"/>
                <a:lnTo>
                  <a:pt x="3412034" y="101600"/>
                </a:lnTo>
                <a:arcTo wR="101600" hR="50800" stAng="0" swAng="-5400000"/>
                <a:lnTo>
                  <a:pt x="101600" y="50800"/>
                </a:lnTo>
                <a:arcTo wR="101600" hR="50800" stAng="16200000" swAng="-5400000"/>
                <a:close/>
              </a:path>
            </a:pathLst>
          </a:custGeom>
          <a:solidFill>
            <a:srgbClr val="003594"/>
          </a:solidFill>
          <a:ln/>
        </p:spPr>
      </p:sp>
      <p:sp>
        <p:nvSpPr>
          <p:cNvPr id="12" name="Text 8"/>
          <p:cNvSpPr/>
          <p:nvPr/>
        </p:nvSpPr>
        <p:spPr>
          <a:xfrm>
            <a:off x="4580434" y="1963341"/>
            <a:ext cx="31219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Locked to the screen</a:t>
            </a:r>
            <a:endParaRPr lang="en-US" sz="1500" dirty="0"/>
          </a:p>
        </p:txBody>
      </p:sp>
      <p:sp>
        <p:nvSpPr>
          <p:cNvPr id="13" name="Text 9"/>
          <p:cNvSpPr/>
          <p:nvPr/>
        </p:nvSpPr>
        <p:spPr>
          <a:xfrm>
            <a:off x="4580434" y="2280841"/>
            <a:ext cx="312196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C2433"/>
                </a:solidFill>
                <a:latin typeface="Carlito" pitchFamily="34" charset="0"/>
                <a:ea typeface="Carlito" pitchFamily="34" charset="-122"/>
                <a:cs typeface="Carlito" pitchFamily="34" charset="-120"/>
              </a:rPr>
              <a:t>Canvas as a </a:t>
            </a:r>
            <a:r>
              <a:rPr lang="en-US" sz="1200" b="1" dirty="0">
                <a:solidFill>
                  <a:srgbClr val="1C2433"/>
                </a:solidFill>
                <a:latin typeface="Carlito" pitchFamily="34" charset="0"/>
                <a:ea typeface="Carlito" pitchFamily="34" charset="-122"/>
                <a:cs typeface="Carlito" pitchFamily="34" charset="-120"/>
              </a:rPr>
              <a:t>child of AR Camera</a:t>
            </a:r>
            <a:r>
              <a:rPr lang="en-US" sz="1200" dirty="0">
                <a:solidFill>
                  <a:srgbClr val="1C2433"/>
                </a:solidFill>
                <a:latin typeface="Carlito" pitchFamily="34" charset="0"/>
                <a:ea typeface="Carlito" pitchFamily="34" charset="-122"/>
                <a:cs typeface="Carlito" pitchFamily="34" charset="-120"/>
              </a:rPr>
              <a:t>, World Space, scale 0.01, at (0, 0, 1). Always in view.</a:t>
            </a:r>
            <a:endParaRPr lang="en-US" sz="1200" dirty="0"/>
          </a:p>
        </p:txBody>
      </p:sp>
      <p:sp>
        <p:nvSpPr>
          <p:cNvPr id="14" name="Text 10"/>
          <p:cNvSpPr/>
          <p:nvPr/>
        </p:nvSpPr>
        <p:spPr>
          <a:xfrm>
            <a:off x="4580434" y="2796381"/>
            <a:ext cx="312196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C2433"/>
                </a:solidFill>
                <a:latin typeface="Carlito" pitchFamily="34" charset="0"/>
                <a:ea typeface="Carlito" pitchFamily="34" charset="-122"/>
                <a:cs typeface="Carlito" pitchFamily="34" charset="-120"/>
              </a:rPr>
              <a:t>Arrow buttons, plus </a:t>
            </a:r>
            <a:r>
              <a:rPr lang="en-US" sz="1200" b="1" dirty="0">
                <a:solidFill>
                  <a:srgbClr val="1C2433"/>
                </a:solidFill>
                <a:latin typeface="Carlito" pitchFamily="34" charset="0"/>
                <a:ea typeface="Carlito" pitchFamily="34" charset="-122"/>
                <a:cs typeface="Carlito" pitchFamily="34" charset="-120"/>
              </a:rPr>
              <a:t>InfoPanel</a:t>
            </a:r>
            <a:r>
              <a:rPr lang="en-US" sz="1200" dirty="0">
                <a:solidFill>
                  <a:srgbClr val="1C2433"/>
                </a:solidFill>
                <a:latin typeface="Carlito" pitchFamily="34" charset="0"/>
                <a:ea typeface="Carlito" pitchFamily="34" charset="-122"/>
                <a:cs typeface="Carlito" pitchFamily="34" charset="-120"/>
              </a:rPr>
              <a:t>: “Wait until the blue surface is visible” and </a:t>
            </a:r>
            <a:r>
              <a:rPr lang="en-US" sz="1200" b="1" dirty="0">
                <a:solidFill>
                  <a:srgbClr val="1C2433"/>
                </a:solidFill>
                <a:latin typeface="Carlito" pitchFamily="34" charset="0"/>
                <a:ea typeface="Carlito" pitchFamily="34" charset="-122"/>
                <a:cs typeface="Carlito" pitchFamily="34" charset="-120"/>
              </a:rPr>
              <a:t>Place First Meal</a:t>
            </a:r>
            <a:r>
              <a:rPr lang="en-US" sz="1200" dirty="0">
                <a:solidFill>
                  <a:srgbClr val="1C2433"/>
                </a:solidFill>
                <a:latin typeface="Carlito" pitchFamily="34" charset="0"/>
                <a:ea typeface="Carlito" pitchFamily="34" charset="-122"/>
                <a:cs typeface="Carlito" pitchFamily="34" charset="-120"/>
              </a:rPr>
              <a:t>.</a:t>
            </a:r>
            <a:endParaRPr lang="en-US" sz="1200" dirty="0"/>
          </a:p>
        </p:txBody>
      </p:sp>
      <p:sp>
        <p:nvSpPr>
          <p:cNvPr id="15" name="Text 11"/>
          <p:cNvSpPr/>
          <p:nvPr/>
        </p:nvSpPr>
        <p:spPr>
          <a:xfrm>
            <a:off x="4580434" y="3311922"/>
            <a:ext cx="32215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One SetActive(false) on InfoPanel hides all three.</a:t>
            </a:r>
            <a:endParaRPr lang="en-US" sz="1200" dirty="0"/>
          </a:p>
        </p:txBody>
      </p:sp>
      <p:sp>
        <p:nvSpPr>
          <p:cNvPr id="16" name="Shape 12"/>
          <p:cNvSpPr/>
          <p:nvPr/>
        </p:nvSpPr>
        <p:spPr>
          <a:xfrm>
            <a:off x="7967067" y="1722041"/>
            <a:ext cx="3412034" cy="2493963"/>
          </a:xfrm>
          <a:prstGeom prst="roundRect">
            <a:avLst>
              <a:gd name="adj" fmla="val 4074"/>
            </a:avLst>
          </a:prstGeom>
          <a:solidFill>
            <a:srgbClr val="EEF1F5"/>
          </a:solidFill>
          <a:ln/>
        </p:spPr>
      </p:sp>
      <p:sp>
        <p:nvSpPr>
          <p:cNvPr id="17" name="Shape 13"/>
          <p:cNvSpPr/>
          <p:nvPr/>
        </p:nvSpPr>
        <p:spPr>
          <a:xfrm>
            <a:off x="7967067" y="1722041"/>
            <a:ext cx="3412034" cy="2493963"/>
          </a:xfrm>
          <a:custGeom>
            <a:avLst/>
            <a:gdLst/>
            <a:ahLst/>
            <a:cxnLst/>
            <a:rect l="l" t="t" r="r" b="b"/>
            <a:pathLst>
              <a:path w="3412034" h="2493963">
                <a:moveTo>
                  <a:pt x="0" y="101600"/>
                </a:moveTo>
                <a:lnTo>
                  <a:pt x="0" y="101600"/>
                </a:lnTo>
                <a:arcTo wR="101600" hR="101600" stAng="10800000" swAng="5400000"/>
                <a:lnTo>
                  <a:pt x="3310434" y="0"/>
                </a:lnTo>
                <a:arcTo wR="101600" hR="101600" stAng="16200000" swAng="5400000"/>
                <a:lnTo>
                  <a:pt x="3412034" y="101600"/>
                </a:lnTo>
                <a:arcTo wR="101600" hR="50800" stAng="0" swAng="-5400000"/>
                <a:lnTo>
                  <a:pt x="101600" y="50800"/>
                </a:lnTo>
                <a:arcTo wR="101600" hR="50800" stAng="16200000" swAng="-5400000"/>
                <a:close/>
              </a:path>
            </a:pathLst>
          </a:custGeom>
          <a:solidFill>
            <a:srgbClr val="E8752A"/>
          </a:solidFill>
          <a:ln/>
        </p:spPr>
      </p:sp>
      <p:sp>
        <p:nvSpPr>
          <p:cNvPr id="18" name="Text 14"/>
          <p:cNvSpPr/>
          <p:nvPr/>
        </p:nvSpPr>
        <p:spPr>
          <a:xfrm>
            <a:off x="8157567" y="1963341"/>
            <a:ext cx="31219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3594"/>
                </a:solidFill>
                <a:latin typeface="Carlito" pitchFamily="34" charset="0"/>
                <a:ea typeface="Carlito" pitchFamily="34" charset="-122"/>
                <a:cs typeface="Carlito" pitchFamily="34" charset="-120"/>
              </a:rPr>
              <a:t>Anchored in the world</a:t>
            </a:r>
            <a:endParaRPr lang="en-US" sz="1500" dirty="0"/>
          </a:p>
        </p:txBody>
      </p:sp>
      <p:sp>
        <p:nvSpPr>
          <p:cNvPr id="19" name="Text 15"/>
          <p:cNvSpPr/>
          <p:nvPr/>
        </p:nvSpPr>
        <p:spPr>
          <a:xfrm>
            <a:off x="8157567" y="2280841"/>
            <a:ext cx="3121965"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C2433"/>
                </a:solidFill>
                <a:latin typeface="Carlito" pitchFamily="34" charset="0"/>
                <a:ea typeface="Carlito" pitchFamily="34" charset="-122"/>
                <a:cs typeface="Carlito" pitchFamily="34" charset="-120"/>
              </a:rPr>
              <a:t>FoodInfoCanvas › FoodInfoText</a:t>
            </a:r>
            <a:r>
              <a:rPr lang="en-US" sz="1200" dirty="0">
                <a:solidFill>
                  <a:srgbClr val="1C2433"/>
                </a:solidFill>
                <a:latin typeface="Carlito" pitchFamily="34" charset="0"/>
                <a:ea typeface="Carlito" pitchFamily="34" charset="-122"/>
                <a:cs typeface="Carlito" pitchFamily="34" charset="-120"/>
              </a:rPr>
              <a:t> is not a camera child. Code moves it above each placed dish and fills in name, ingredients, calories, diet.</a:t>
            </a:r>
            <a:endParaRPr lang="en-US" sz="1200" dirty="0"/>
          </a:p>
        </p:txBody>
      </p:sp>
      <p:sp>
        <p:nvSpPr>
          <p:cNvPr id="20" name="Text 16"/>
          <p:cNvSpPr/>
          <p:nvPr/>
        </p:nvSpPr>
        <p:spPr>
          <a:xfrm>
            <a:off x="8157567" y="3009702"/>
            <a:ext cx="312196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C2433"/>
                </a:solidFill>
                <a:latin typeface="Carlito" pitchFamily="34" charset="0"/>
                <a:ea typeface="Carlito" pitchFamily="34" charset="-122"/>
                <a:cs typeface="Carlito" pitchFamily="34" charset="-120"/>
              </a:rPr>
              <a:t>Placement grid: a blue </a:t>
            </a:r>
            <a:r>
              <a:rPr lang="en-US" sz="1200" b="1" dirty="0">
                <a:solidFill>
                  <a:srgbClr val="1C2433"/>
                </a:solidFill>
                <a:latin typeface="Carlito" pitchFamily="34" charset="0"/>
                <a:ea typeface="Carlito" pitchFamily="34" charset="-122"/>
                <a:cs typeface="Carlito" pitchFamily="34" charset="-120"/>
              </a:rPr>
              <a:t>GridMaterial</a:t>
            </a:r>
            <a:r>
              <a:rPr lang="en-US" sz="1200" dirty="0">
                <a:solidFill>
                  <a:srgbClr val="1C2433"/>
                </a:solidFill>
                <a:latin typeface="Carlito" pitchFamily="34" charset="0"/>
                <a:ea typeface="Carlito" pitchFamily="34" charset="-122"/>
                <a:cs typeface="Carlito" pitchFamily="34" charset="-120"/>
              </a:rPr>
              <a:t> in </a:t>
            </a:r>
            <a:r>
              <a:rPr lang="en-US" sz="1200" b="1" dirty="0">
                <a:solidFill>
                  <a:srgbClr val="1C2433"/>
                </a:solidFill>
                <a:latin typeface="Carlito" pitchFamily="34" charset="0"/>
                <a:ea typeface="Carlito" pitchFamily="34" charset="-122"/>
                <a:cs typeface="Carlito" pitchFamily="34" charset="-120"/>
              </a:rPr>
              <a:t>Assets/Resources</a:t>
            </a:r>
            <a:r>
              <a:rPr lang="en-US" sz="1200" dirty="0">
                <a:solidFill>
                  <a:srgbClr val="1C2433"/>
                </a:solidFill>
                <a:latin typeface="Carlito" pitchFamily="34" charset="0"/>
                <a:ea typeface="Carlito" pitchFamily="34" charset="-122"/>
                <a:cs typeface="Carlito" pitchFamily="34" charset="-120"/>
              </a:rPr>
              <a:t>, loaded by name with Resources.Load.</a:t>
            </a:r>
            <a:endParaRPr lang="en-US" sz="1200" dirty="0"/>
          </a:p>
        </p:txBody>
      </p:sp>
      <p:sp>
        <p:nvSpPr>
          <p:cNvPr id="21" name="Text 1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6 — Building Interactive AR Experiences (pp. 129–133, 140)</a:t>
            </a:r>
            <a:endParaRPr lang="en-US" sz="1200" dirty="0"/>
          </a:p>
        </p:txBody>
      </p:sp>
    </p:spTree>
    <p:extLst>
      <p:ext uri="{BB962C8B-B14F-4D97-AF65-F5344CB8AC3E}">
        <p14:creationId xmlns:p14="http://schemas.microsoft.com/office/powerpoint/2010/main" val="332105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6 · ARPLACEPREFAB</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Every frame: look at screen center, find a table, wait for a tap</a:t>
            </a:r>
            <a:endParaRPr lang="en-US" sz="2800" dirty="0"/>
          </a:p>
        </p:txBody>
      </p:sp>
      <p:sp>
        <p:nvSpPr>
          <p:cNvPr id="6" name="Shape 2"/>
          <p:cNvSpPr/>
          <p:nvPr/>
        </p:nvSpPr>
        <p:spPr>
          <a:xfrm>
            <a:off x="812800" y="1709341"/>
            <a:ext cx="2565400" cy="954881"/>
          </a:xfrm>
          <a:prstGeom prst="roundRect">
            <a:avLst>
              <a:gd name="adj" fmla="val 9310"/>
            </a:avLst>
          </a:prstGeom>
          <a:solidFill>
            <a:srgbClr val="003594"/>
          </a:solidFill>
          <a:ln/>
        </p:spPr>
      </p:sp>
      <p:sp>
        <p:nvSpPr>
          <p:cNvPr id="7" name="Text 3"/>
          <p:cNvSpPr/>
          <p:nvPr/>
        </p:nvSpPr>
        <p:spPr>
          <a:xfrm>
            <a:off x="952500" y="1849041"/>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Carlito" pitchFamily="34" charset="0"/>
                <a:ea typeface="Carlito" pitchFamily="34" charset="-122"/>
                <a:cs typeface="Carlito" pitchFamily="34" charset="-120"/>
              </a:rPr>
              <a:t>1 · Two fingers?</a:t>
            </a:r>
            <a:endParaRPr lang="en-US" sz="1200" dirty="0"/>
          </a:p>
        </p:txBody>
      </p:sp>
      <p:sp>
        <p:nvSpPr>
          <p:cNvPr id="8" name="Text 4"/>
          <p:cNvSpPr/>
          <p:nvPr/>
        </p:nvSpPr>
        <p:spPr>
          <a:xfrm>
            <a:off x="952500" y="2113161"/>
            <a:ext cx="235458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PinchToScale()</a:t>
            </a:r>
            <a:endParaRPr lang="en-US" sz="1200" dirty="0"/>
          </a:p>
        </p:txBody>
      </p:sp>
      <p:sp>
        <p:nvSpPr>
          <p:cNvPr id="9" name="Shape 5"/>
          <p:cNvSpPr/>
          <p:nvPr/>
        </p:nvSpPr>
        <p:spPr>
          <a:xfrm>
            <a:off x="3479800" y="1709341"/>
            <a:ext cx="2565400" cy="954881"/>
          </a:xfrm>
          <a:prstGeom prst="roundRect">
            <a:avLst>
              <a:gd name="adj" fmla="val 9310"/>
            </a:avLst>
          </a:prstGeom>
          <a:solidFill>
            <a:srgbClr val="003594"/>
          </a:solidFill>
          <a:ln/>
        </p:spPr>
      </p:sp>
      <p:sp>
        <p:nvSpPr>
          <p:cNvPr id="10" name="Text 6"/>
          <p:cNvSpPr/>
          <p:nvPr/>
        </p:nvSpPr>
        <p:spPr>
          <a:xfrm>
            <a:off x="3619500" y="1849041"/>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Carlito" pitchFamily="34" charset="0"/>
                <a:ea typeface="Carlito" pitchFamily="34" charset="-122"/>
                <a:cs typeface="Carlito" pitchFamily="34" charset="-120"/>
              </a:rPr>
              <a:t>2 · Find pose</a:t>
            </a:r>
            <a:endParaRPr lang="en-US" sz="1200" dirty="0"/>
          </a:p>
        </p:txBody>
      </p:sp>
      <p:sp>
        <p:nvSpPr>
          <p:cNvPr id="11" name="Text 7"/>
          <p:cNvSpPr/>
          <p:nvPr/>
        </p:nvSpPr>
        <p:spPr>
          <a:xfrm>
            <a:off x="3619500" y="2113161"/>
            <a:ext cx="235458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Ray from (0.5, 0.5) of the view onto planes</a:t>
            </a:r>
            <a:endParaRPr lang="en-US" sz="1200" dirty="0"/>
          </a:p>
        </p:txBody>
      </p:sp>
      <p:sp>
        <p:nvSpPr>
          <p:cNvPr id="12" name="Shape 8"/>
          <p:cNvSpPr/>
          <p:nvPr/>
        </p:nvSpPr>
        <p:spPr>
          <a:xfrm>
            <a:off x="6146800" y="1709341"/>
            <a:ext cx="2565400" cy="954881"/>
          </a:xfrm>
          <a:prstGeom prst="roundRect">
            <a:avLst>
              <a:gd name="adj" fmla="val 9310"/>
            </a:avLst>
          </a:prstGeom>
          <a:solidFill>
            <a:srgbClr val="003594"/>
          </a:solidFill>
          <a:ln/>
        </p:spPr>
      </p:sp>
      <p:sp>
        <p:nvSpPr>
          <p:cNvPr id="13" name="Text 9"/>
          <p:cNvSpPr/>
          <p:nvPr/>
        </p:nvSpPr>
        <p:spPr>
          <a:xfrm>
            <a:off x="6286500" y="1849041"/>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B81C"/>
                </a:solidFill>
                <a:latin typeface="Carlito" pitchFamily="34" charset="0"/>
                <a:ea typeface="Carlito" pitchFamily="34" charset="-122"/>
                <a:cs typeface="Carlito" pitchFamily="34" charset="-120"/>
              </a:rPr>
              <a:t>3 · Show grid</a:t>
            </a:r>
            <a:endParaRPr lang="en-US" sz="1200" dirty="0"/>
          </a:p>
        </p:txBody>
      </p:sp>
      <p:sp>
        <p:nvSpPr>
          <p:cNvPr id="14" name="Text 10"/>
          <p:cNvSpPr/>
          <p:nvPr/>
        </p:nvSpPr>
        <p:spPr>
          <a:xfrm>
            <a:off x="6286500" y="2113161"/>
            <a:ext cx="235458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3E9F2"/>
                </a:solidFill>
                <a:latin typeface="Carlito" pitchFamily="34" charset="0"/>
                <a:ea typeface="Carlito" pitchFamily="34" charset="-122"/>
                <a:cs typeface="Carlito" pitchFamily="34" charset="-120"/>
              </a:rPr>
              <a:t>Indicator at the hit; hidden if none</a:t>
            </a:r>
            <a:endParaRPr lang="en-US" sz="1200" dirty="0"/>
          </a:p>
        </p:txBody>
      </p:sp>
      <p:sp>
        <p:nvSpPr>
          <p:cNvPr id="15" name="Shape 11"/>
          <p:cNvSpPr/>
          <p:nvPr/>
        </p:nvSpPr>
        <p:spPr>
          <a:xfrm>
            <a:off x="8813800" y="1709341"/>
            <a:ext cx="2565400" cy="954881"/>
          </a:xfrm>
          <a:prstGeom prst="roundRect">
            <a:avLst>
              <a:gd name="adj" fmla="val 9310"/>
            </a:avLst>
          </a:prstGeom>
          <a:solidFill>
            <a:srgbClr val="E8752A"/>
          </a:solidFill>
          <a:ln/>
        </p:spPr>
      </p:sp>
      <p:sp>
        <p:nvSpPr>
          <p:cNvPr id="16" name="Text 12"/>
          <p:cNvSpPr/>
          <p:nvPr/>
        </p:nvSpPr>
        <p:spPr>
          <a:xfrm>
            <a:off x="8953500" y="1849041"/>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C2433"/>
                </a:solidFill>
                <a:latin typeface="Carlito" pitchFamily="34" charset="0"/>
                <a:ea typeface="Carlito" pitchFamily="34" charset="-122"/>
                <a:cs typeface="Carlito" pitchFamily="34" charset="-120"/>
              </a:rPr>
              <a:t>4 · Tap began?</a:t>
            </a:r>
            <a:endParaRPr lang="en-US" sz="1200" dirty="0"/>
          </a:p>
        </p:txBody>
      </p:sp>
      <p:sp>
        <p:nvSpPr>
          <p:cNvPr id="17" name="Text 13"/>
          <p:cNvSpPr/>
          <p:nvPr/>
        </p:nvSpPr>
        <p:spPr>
          <a:xfrm>
            <a:off x="8953500" y="2113161"/>
            <a:ext cx="235458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C2433"/>
                </a:solidFill>
                <a:latin typeface="Carlito" pitchFamily="34" charset="0"/>
                <a:ea typeface="Carlito" pitchFamily="34" charset="-122"/>
                <a:cs typeface="Carlito" pitchFamily="34" charset="-120"/>
              </a:rPr>
              <a:t>PlaceObject(): replace dish, scale 0.5, buttons at ±0.5 m</a:t>
            </a:r>
            <a:endParaRPr lang="en-US" sz="1200" dirty="0"/>
          </a:p>
        </p:txBody>
      </p:sp>
      <p:sp>
        <p:nvSpPr>
          <p:cNvPr id="18" name="Text 14"/>
          <p:cNvSpPr/>
          <p:nvPr/>
        </p:nvSpPr>
        <p:spPr>
          <a:xfrm>
            <a:off x="812800" y="2842022"/>
            <a:ext cx="10566400" cy="2494161"/>
          </a:xfrm>
          <a:prstGeom prst="roundRect">
            <a:avLst>
              <a:gd name="adj" fmla="val 3564"/>
            </a:avLst>
          </a:prstGeom>
          <a:solidFill>
            <a:srgbClr val="14191F"/>
          </a:solidFill>
          <a:ln/>
        </p:spPr>
        <p:txBody>
          <a:bodyPr wrap="none" lIns="177162" tIns="139062" rIns="0" bIns="113662" rtlCol="0" anchor="t">
            <a:normAutofit/>
          </a:bodyPr>
          <a:lstStyle/>
          <a:p>
            <a:pPr marL="0" indent="0" algn="l">
              <a:lnSpc>
                <a:spcPts val="1704"/>
              </a:lnSpc>
              <a:buNone/>
            </a:pPr>
            <a:r>
              <a:rPr lang="en-US" sz="1200" dirty="0">
                <a:solidFill>
                  <a:srgbClr val="7FB4FF"/>
                </a:solidFill>
                <a:latin typeface="JetBrains Mono" pitchFamily="49" charset="0"/>
                <a:ea typeface="JetBrains Mono" pitchFamily="49" charset="-122"/>
                <a:cs typeface="JetBrains Mono" pitchFamily="49" charset="-120"/>
              </a:rPr>
              <a:t>private void</a:t>
            </a:r>
            <a:r>
              <a:rPr lang="en-US" sz="1200" dirty="0">
                <a:solidFill>
                  <a:srgbClr val="D6E2EE"/>
                </a:solidFill>
                <a:latin typeface="JetBrains Mono" pitchFamily="49" charset="0"/>
                <a:ea typeface="JetBrains Mono" pitchFamily="49" charset="-122"/>
                <a:cs typeface="JetBrains Mono" pitchFamily="49" charset="-120"/>
              </a:rPr>
              <a:t> UpdatePlacementPose() {</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var</a:t>
            </a:r>
            <a:r>
              <a:rPr lang="en-US" sz="1200" dirty="0">
                <a:solidFill>
                  <a:srgbClr val="D6E2EE"/>
                </a:solidFill>
                <a:latin typeface="JetBrains Mono" pitchFamily="49" charset="0"/>
                <a:ea typeface="JetBrains Mono" pitchFamily="49" charset="-122"/>
                <a:cs typeface="JetBrains Mono" pitchFamily="49" charset="-120"/>
              </a:rPr>
              <a:t> screenCenter = Camera.current.ViewportToScreenPoint(</a:t>
            </a:r>
            <a:r>
              <a:rPr lang="en-US" sz="1200" dirty="0">
                <a:solidFill>
                  <a:srgbClr val="7FB4FF"/>
                </a:solidFill>
                <a:latin typeface="JetBrains Mono" pitchFamily="49" charset="0"/>
                <a:ea typeface="JetBrains Mono" pitchFamily="49" charset="-122"/>
                <a:cs typeface="JetBrains Mono" pitchFamily="49" charset="-120"/>
              </a:rPr>
              <a:t>new</a:t>
            </a:r>
            <a:r>
              <a:rPr lang="en-US" sz="1200" dirty="0">
                <a:solidFill>
                  <a:srgbClr val="D6E2EE"/>
                </a:solidFill>
                <a:latin typeface="JetBrains Mono" pitchFamily="49" charset="0"/>
                <a:ea typeface="JetBrains Mono" pitchFamily="49" charset="-122"/>
                <a:cs typeface="JetBrains Mono" pitchFamily="49" charset="-120"/>
              </a:rPr>
              <a:t> Vector3(</a:t>
            </a:r>
            <a:r>
              <a:rPr lang="en-US" sz="1200" dirty="0">
                <a:solidFill>
                  <a:srgbClr val="FFB81C"/>
                </a:solidFill>
                <a:latin typeface="JetBrains Mono" pitchFamily="49" charset="0"/>
                <a:ea typeface="JetBrains Mono" pitchFamily="49" charset="-122"/>
                <a:cs typeface="JetBrains Mono" pitchFamily="49" charset="-120"/>
              </a:rPr>
              <a:t>0.5f</a:t>
            </a: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FFB81C"/>
                </a:solidFill>
                <a:latin typeface="JetBrains Mono" pitchFamily="49" charset="0"/>
                <a:ea typeface="JetBrains Mono" pitchFamily="49" charset="-122"/>
                <a:cs typeface="JetBrains Mono" pitchFamily="49" charset="-120"/>
              </a:rPr>
              <a:t>0.5f</a:t>
            </a: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var</a:t>
            </a:r>
            <a:r>
              <a:rPr lang="en-US" sz="1200" dirty="0">
                <a:solidFill>
                  <a:srgbClr val="D6E2EE"/>
                </a:solidFill>
                <a:latin typeface="JetBrains Mono" pitchFamily="49" charset="0"/>
                <a:ea typeface="JetBrains Mono" pitchFamily="49" charset="-122"/>
                <a:cs typeface="JetBrains Mono" pitchFamily="49" charset="-120"/>
              </a:rPr>
              <a:t> hits = </a:t>
            </a:r>
            <a:r>
              <a:rPr lang="en-US" sz="1200" dirty="0">
                <a:solidFill>
                  <a:srgbClr val="7FB4FF"/>
                </a:solidFill>
                <a:latin typeface="JetBrains Mono" pitchFamily="49" charset="0"/>
                <a:ea typeface="JetBrains Mono" pitchFamily="49" charset="-122"/>
                <a:cs typeface="JetBrains Mono" pitchFamily="49" charset="-120"/>
              </a:rPr>
              <a:t>new</a:t>
            </a:r>
            <a:r>
              <a:rPr lang="en-US" sz="1200" dirty="0">
                <a:solidFill>
                  <a:srgbClr val="D6E2EE"/>
                </a:solidFill>
                <a:latin typeface="JetBrains Mono" pitchFamily="49" charset="0"/>
                <a:ea typeface="JetBrains Mono" pitchFamily="49" charset="-122"/>
                <a:cs typeface="JetBrains Mono" pitchFamily="49" charset="-120"/>
              </a:rPr>
              <a:t> List&lt;ARRaycastHit&gt;();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_arRaycastManager.Raycast(screenCenter, hits, TrackableType.Planes);</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_placementPoseIsValid = hits.Count &gt; </a:t>
            </a:r>
            <a:r>
              <a:rPr lang="en-US" sz="1200" dirty="0">
                <a:solidFill>
                  <a:srgbClr val="FFB81C"/>
                </a:solidFill>
                <a:latin typeface="JetBrains Mono" pitchFamily="49" charset="0"/>
                <a:ea typeface="JetBrains Mono" pitchFamily="49" charset="-122"/>
                <a:cs typeface="JetBrains Mono" pitchFamily="49" charset="-120"/>
              </a:rPr>
              <a:t>0</a:t>
            </a: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if</a:t>
            </a:r>
            <a:r>
              <a:rPr lang="en-US" sz="1200" dirty="0">
                <a:solidFill>
                  <a:srgbClr val="D6E2EE"/>
                </a:solidFill>
                <a:latin typeface="JetBrains Mono" pitchFamily="49" charset="0"/>
                <a:ea typeface="JetBrains Mono" pitchFamily="49" charset="-122"/>
                <a:cs typeface="JetBrains Mono" pitchFamily="49" charset="-120"/>
              </a:rPr>
              <a:t> (_placementPoseIsValid) {</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_placementPose = hits[</a:t>
            </a:r>
            <a:r>
              <a:rPr lang="en-US" sz="1200" dirty="0">
                <a:solidFill>
                  <a:srgbClr val="FFB81C"/>
                </a:solidFill>
                <a:latin typeface="JetBrains Mono" pitchFamily="49" charset="0"/>
                <a:ea typeface="JetBrains Mono" pitchFamily="49" charset="-122"/>
                <a:cs typeface="JetBrains Mono" pitchFamily="49" charset="-120"/>
              </a:rPr>
              <a:t>0</a:t>
            </a:r>
            <a:r>
              <a:rPr lang="en-US" sz="1200" dirty="0">
                <a:solidFill>
                  <a:srgbClr val="D6E2EE"/>
                </a:solidFill>
                <a:latin typeface="JetBrains Mono" pitchFamily="49" charset="0"/>
                <a:ea typeface="JetBrains Mono" pitchFamily="49" charset="-122"/>
                <a:cs typeface="JetBrains Mono" pitchFamily="49" charset="-120"/>
              </a:rPr>
              <a:t>].pose;  </a:t>
            </a:r>
            <a:r>
              <a:rPr lang="en-US" sz="1200" dirty="0">
                <a:solidFill>
                  <a:srgbClr val="8A97A8"/>
                </a:solidFill>
                <a:latin typeface="JetBrains Mono" pitchFamily="49" charset="0"/>
                <a:ea typeface="JetBrains Mono" pitchFamily="49" charset="-122"/>
                <a:cs typeface="JetBrains Mono" pitchFamily="49" charset="-120"/>
              </a:rPr>
              <a:t>// closest hit wins</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PositionGrid(hits[</a:t>
            </a:r>
            <a:r>
              <a:rPr lang="en-US" sz="1200" dirty="0">
                <a:solidFill>
                  <a:srgbClr val="FFB81C"/>
                </a:solidFill>
                <a:latin typeface="JetBrains Mono" pitchFamily="49" charset="0"/>
                <a:ea typeface="JetBrains Mono" pitchFamily="49" charset="-122"/>
                <a:cs typeface="JetBrains Mono" pitchFamily="49" charset="-120"/>
              </a:rPr>
              <a:t>0</a:t>
            </a:r>
            <a:r>
              <a:rPr lang="en-US" sz="1200" dirty="0">
                <a:solidFill>
                  <a:srgbClr val="D6E2EE"/>
                </a:solidFill>
                <a:latin typeface="JetBrains Mono" pitchFamily="49" charset="0"/>
                <a:ea typeface="JetBrains Mono" pitchFamily="49" charset="-122"/>
                <a:cs typeface="JetBrains Mono" pitchFamily="49" charset="-120"/>
              </a:rPr>
              <a:t>].pose.position, hits[</a:t>
            </a:r>
            <a:r>
              <a:rPr lang="en-US" sz="1200" dirty="0">
                <a:solidFill>
                  <a:srgbClr val="FFB81C"/>
                </a:solidFill>
                <a:latin typeface="JetBrains Mono" pitchFamily="49" charset="0"/>
                <a:ea typeface="JetBrains Mono" pitchFamily="49" charset="-122"/>
                <a:cs typeface="JetBrains Mono" pitchFamily="49" charset="-120"/>
              </a:rPr>
              <a:t>0</a:t>
            </a:r>
            <a:r>
              <a:rPr lang="en-US" sz="1200" dirty="0">
                <a:solidFill>
                  <a:srgbClr val="D6E2EE"/>
                </a:solidFill>
                <a:latin typeface="JetBrains Mono" pitchFamily="49" charset="0"/>
                <a:ea typeface="JetBrains Mono" pitchFamily="49" charset="-122"/>
                <a:cs typeface="JetBrains Mono" pitchFamily="49" charset="-120"/>
              </a:rPr>
              <a:t>].pose.rotation);</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 </a:t>
            </a:r>
            <a:r>
              <a:rPr lang="en-US" sz="1200" dirty="0">
                <a:solidFill>
                  <a:srgbClr val="7FB4FF"/>
                </a:solidFill>
                <a:latin typeface="JetBrains Mono" pitchFamily="49" charset="0"/>
                <a:ea typeface="JetBrains Mono" pitchFamily="49" charset="-122"/>
                <a:cs typeface="JetBrains Mono" pitchFamily="49" charset="-120"/>
              </a:rPr>
              <a:t>else</a:t>
            </a:r>
            <a:r>
              <a:rPr lang="en-US" sz="1200" dirty="0">
                <a:solidFill>
                  <a:srgbClr val="D6E2EE"/>
                </a:solidFill>
                <a:latin typeface="JetBrains Mono" pitchFamily="49" charset="0"/>
                <a:ea typeface="JetBrains Mono" pitchFamily="49" charset="-122"/>
                <a:cs typeface="JetBrains Mono" pitchFamily="49" charset="-120"/>
              </a:rPr>
              <a:t> _placementGrid.SetActive(</a:t>
            </a:r>
            <a:r>
              <a:rPr lang="en-US" sz="1200" dirty="0">
                <a:solidFill>
                  <a:srgbClr val="FFB81C"/>
                </a:solidFill>
                <a:latin typeface="JetBrains Mono" pitchFamily="49" charset="0"/>
                <a:ea typeface="JetBrains Mono" pitchFamily="49" charset="-122"/>
                <a:cs typeface="JetBrains Mono" pitchFamily="49" charset="-120"/>
              </a:rPr>
              <a:t>false</a:t>
            </a: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p:txBody>
      </p:sp>
      <p:sp>
        <p:nvSpPr>
          <p:cNvPr id="19" name="Text 1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6 — Building Interactive AR Experiences (pp. 135–143)</a:t>
            </a:r>
            <a:endParaRPr lang="en-US" sz="1200" dirty="0"/>
          </a:p>
        </p:txBody>
      </p:sp>
    </p:spTree>
    <p:extLst>
      <p:ext uri="{BB962C8B-B14F-4D97-AF65-F5344CB8AC3E}">
        <p14:creationId xmlns:p14="http://schemas.microsoft.com/office/powerpoint/2010/main" val="3530737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6 · FOOD AND SWAPPREFAB</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A data class, a wrapping index, and pinch to scale</a:t>
            </a:r>
            <a:endParaRPr lang="en-US" sz="2800" dirty="0"/>
          </a:p>
        </p:txBody>
      </p:sp>
      <p:sp>
        <p:nvSpPr>
          <p:cNvPr id="6" name="Text 2"/>
          <p:cNvSpPr/>
          <p:nvPr/>
        </p:nvSpPr>
        <p:spPr>
          <a:xfrm>
            <a:off x="812800" y="1722041"/>
            <a:ext cx="5715000" cy="3792538"/>
          </a:xfrm>
          <a:prstGeom prst="roundRect">
            <a:avLst>
              <a:gd name="adj" fmla="val 2344"/>
            </a:avLst>
          </a:prstGeom>
          <a:solidFill>
            <a:srgbClr val="14191F"/>
          </a:solidFill>
          <a:ln/>
        </p:spPr>
        <p:txBody>
          <a:bodyPr wrap="none" lIns="177162" tIns="139062" rIns="17904" bIns="113662" rtlCol="0" anchor="t">
            <a:normAutofit/>
          </a:bodyPr>
          <a:lstStyle/>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[System.Serializable]  </a:t>
            </a:r>
            <a:r>
              <a:rPr lang="en-US" sz="1200" dirty="0">
                <a:solidFill>
                  <a:srgbClr val="8A97A8"/>
                </a:solidFill>
                <a:latin typeface="JetBrains Mono" pitchFamily="49" charset="0"/>
                <a:ea typeface="JetBrains Mono" pitchFamily="49" charset="-122"/>
                <a:cs typeface="JetBrains Mono" pitchFamily="49" charset="-120"/>
              </a:rPr>
              <a:t>// editable in Inspector</a:t>
            </a:r>
            <a:endParaRPr lang="en-US" sz="1200" dirty="0"/>
          </a:p>
          <a:p>
            <a:pPr marL="0" indent="0" algn="l">
              <a:lnSpc>
                <a:spcPts val="1704"/>
              </a:lnSpc>
              <a:buNone/>
            </a:pPr>
            <a:r>
              <a:rPr lang="en-US" sz="1200" dirty="0">
                <a:solidFill>
                  <a:srgbClr val="7FB4FF"/>
                </a:solidFill>
                <a:latin typeface="JetBrains Mono" pitchFamily="49" charset="0"/>
                <a:ea typeface="JetBrains Mono" pitchFamily="49" charset="-122"/>
                <a:cs typeface="JetBrains Mono" pitchFamily="49" charset="-120"/>
              </a:rPr>
              <a:t>public class</a:t>
            </a:r>
            <a:r>
              <a:rPr lang="en-US" sz="1200" dirty="0">
                <a:solidFill>
                  <a:srgbClr val="D6E2EE"/>
                </a:solidFill>
                <a:latin typeface="JetBrains Mono" pitchFamily="49" charset="0"/>
                <a:ea typeface="JetBrains Mono" pitchFamily="49" charset="-122"/>
                <a:cs typeface="JetBrains Mono" pitchFamily="49" charset="-120"/>
              </a:rPr>
              <a:t> Food {</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public string</a:t>
            </a:r>
            <a:r>
              <a:rPr lang="en-US" sz="1200" dirty="0">
                <a:solidFill>
                  <a:srgbClr val="D6E2EE"/>
                </a:solidFill>
                <a:latin typeface="JetBrains Mono" pitchFamily="49" charset="0"/>
                <a:ea typeface="JetBrains Mono" pitchFamily="49" charset="-122"/>
                <a:cs typeface="JetBrains Mono" pitchFamily="49" charset="-120"/>
              </a:rPr>
              <a:t> name, ingredients, calories, dietType;</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7FB4FF"/>
                </a:solidFill>
                <a:latin typeface="JetBrains Mono" pitchFamily="49" charset="0"/>
                <a:ea typeface="JetBrains Mono" pitchFamily="49" charset="-122"/>
                <a:cs typeface="JetBrains Mono" pitchFamily="49" charset="-120"/>
              </a:rPr>
              <a:t>public</a:t>
            </a:r>
            <a:r>
              <a:rPr lang="en-US" sz="1200" dirty="0">
                <a:solidFill>
                  <a:srgbClr val="D6E2EE"/>
                </a:solidFill>
                <a:latin typeface="JetBrains Mono" pitchFamily="49" charset="0"/>
                <a:ea typeface="JetBrains Mono" pitchFamily="49" charset="-122"/>
                <a:cs typeface="JetBrains Mono" pitchFamily="49" charset="-120"/>
              </a:rPr>
              <a:t> GameObject prefab;</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04"/>
              </a:lnSpc>
              <a:buNone/>
            </a:pPr>
            <a:endParaRPr lang="en-US" sz="1200" dirty="0"/>
          </a:p>
          <a:p>
            <a:pPr marL="0" indent="0" algn="l">
              <a:lnSpc>
                <a:spcPts val="1704"/>
              </a:lnSpc>
              <a:buNone/>
            </a:pPr>
            <a:r>
              <a:rPr lang="en-US" sz="1200" dirty="0">
                <a:solidFill>
                  <a:srgbClr val="8A97A8"/>
                </a:solidFill>
                <a:latin typeface="JetBrains Mono" pitchFamily="49" charset="0"/>
                <a:ea typeface="JetBrains Mono" pitchFamily="49" charset="-122"/>
                <a:cs typeface="JetBrains Mono" pitchFamily="49" charset="-120"/>
              </a:rPr>
              <a:t>// SwapPrefab.cs</a:t>
            </a:r>
            <a:endParaRPr lang="en-US" sz="1200" dirty="0"/>
          </a:p>
          <a:p>
            <a:pPr marL="0" indent="0" algn="l">
              <a:lnSpc>
                <a:spcPts val="1704"/>
              </a:lnSpc>
              <a:buNone/>
            </a:pPr>
            <a:r>
              <a:rPr lang="en-US" sz="1200" dirty="0">
                <a:solidFill>
                  <a:srgbClr val="7FB4FF"/>
                </a:solidFill>
                <a:latin typeface="JetBrains Mono" pitchFamily="49" charset="0"/>
                <a:ea typeface="JetBrains Mono" pitchFamily="49" charset="-122"/>
                <a:cs typeface="JetBrains Mono" pitchFamily="49" charset="-120"/>
              </a:rPr>
              <a:t>public</a:t>
            </a:r>
            <a:r>
              <a:rPr lang="en-US" sz="1200" dirty="0">
                <a:solidFill>
                  <a:srgbClr val="D6E2EE"/>
                </a:solidFill>
                <a:latin typeface="JetBrains Mono" pitchFamily="49" charset="0"/>
                <a:ea typeface="JetBrains Mono" pitchFamily="49" charset="-122"/>
                <a:cs typeface="JetBrains Mono" pitchFamily="49" charset="-120"/>
              </a:rPr>
              <a:t> Food[] AvailableFoods;</a:t>
            </a:r>
            <a:endParaRPr lang="en-US" sz="1200" dirty="0"/>
          </a:p>
          <a:p>
            <a:pPr marL="0" indent="0" algn="l">
              <a:lnSpc>
                <a:spcPts val="1704"/>
              </a:lnSpc>
              <a:buNone/>
            </a:pPr>
            <a:r>
              <a:rPr lang="en-US" sz="1200" dirty="0">
                <a:solidFill>
                  <a:srgbClr val="7FB4FF"/>
                </a:solidFill>
                <a:latin typeface="JetBrains Mono" pitchFamily="49" charset="0"/>
                <a:ea typeface="JetBrains Mono" pitchFamily="49" charset="-122"/>
                <a:cs typeface="JetBrains Mono" pitchFamily="49" charset="-120"/>
              </a:rPr>
              <a:t>public void</a:t>
            </a:r>
            <a:r>
              <a:rPr lang="en-US" sz="1200" dirty="0">
                <a:solidFill>
                  <a:srgbClr val="D6E2EE"/>
                </a:solidFill>
                <a:latin typeface="JetBrains Mono" pitchFamily="49" charset="0"/>
                <a:ea typeface="JetBrains Mono" pitchFamily="49" charset="-122"/>
                <a:cs typeface="JetBrains Mono" pitchFamily="49" charset="-120"/>
              </a:rPr>
              <a:t> SwapFoodPrefab() {</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CurrentFoodIndex = (CurrentFoodIndex + </a:t>
            </a:r>
            <a:r>
              <a:rPr lang="en-US" sz="1200" dirty="0">
                <a:solidFill>
                  <a:srgbClr val="FFB81C"/>
                </a:solidFill>
                <a:latin typeface="JetBrains Mono" pitchFamily="49" charset="0"/>
                <a:ea typeface="JetBrains Mono" pitchFamily="49" charset="-122"/>
                <a:cs typeface="JetBrains Mono" pitchFamily="49" charset="-120"/>
              </a:rPr>
              <a:t>1</a:t>
            </a: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 AvailableFoods.Length;  </a:t>
            </a:r>
            <a:r>
              <a:rPr lang="en-US" sz="1200" dirty="0">
                <a:solidFill>
                  <a:srgbClr val="8A97A8"/>
                </a:solidFill>
                <a:latin typeface="JetBrains Mono" pitchFamily="49" charset="0"/>
                <a:ea typeface="JetBrains Mono" pitchFamily="49" charset="-122"/>
                <a:cs typeface="JetBrains Mono" pitchFamily="49" charset="-120"/>
              </a:rPr>
              <a:t>// wraps to 0</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ARPrefabPlacement.ObjectToPlace =</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AvailableFoods[CurrentFoodIndex].prefab;</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ARPrefabPlacement.PlaceObject();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  </a:t>
            </a:r>
            <a:r>
              <a:rPr lang="en-US" sz="1200" dirty="0">
                <a:solidFill>
                  <a:srgbClr val="8A97A8"/>
                </a:solidFill>
                <a:latin typeface="JetBrains Mono" pitchFamily="49" charset="0"/>
                <a:ea typeface="JetBrains Mono" pitchFamily="49" charset="-122"/>
                <a:cs typeface="JetBrains Mono" pitchFamily="49" charset="-120"/>
              </a:rPr>
              <a:t>// ...then fill InfoText with rich text</a:t>
            </a:r>
            <a:endParaRPr lang="en-US" sz="1200" dirty="0"/>
          </a:p>
          <a:p>
            <a:pPr marL="0" indent="0" algn="l">
              <a:lnSpc>
                <a:spcPts val="1704"/>
              </a:lnSpc>
              <a:buNone/>
            </a:pPr>
            <a:r>
              <a:rPr lang="en-US" sz="1200" dirty="0">
                <a:solidFill>
                  <a:srgbClr val="D6E2EE"/>
                </a:solidFill>
                <a:latin typeface="JetBrains Mono" pitchFamily="49" charset="0"/>
                <a:ea typeface="JetBrains Mono" pitchFamily="49" charset="-122"/>
                <a:cs typeface="JetBrains Mono" pitchFamily="49" charset="-120"/>
              </a:rPr>
              <a:t>}</a:t>
            </a:r>
            <a:endParaRPr lang="en-US" sz="1200" dirty="0"/>
          </a:p>
        </p:txBody>
      </p:sp>
      <p:sp>
        <p:nvSpPr>
          <p:cNvPr id="7" name="Shape 3"/>
          <p:cNvSpPr/>
          <p:nvPr/>
        </p:nvSpPr>
        <p:spPr>
          <a:xfrm>
            <a:off x="6781800" y="1722041"/>
            <a:ext cx="4597400" cy="995561"/>
          </a:xfrm>
          <a:prstGeom prst="roundRect">
            <a:avLst>
              <a:gd name="adj" fmla="val 8930"/>
            </a:avLst>
          </a:prstGeom>
          <a:solidFill>
            <a:srgbClr val="EEF1F5"/>
          </a:solidFill>
          <a:ln/>
        </p:spPr>
      </p:sp>
      <p:sp>
        <p:nvSpPr>
          <p:cNvPr id="8" name="Text 4"/>
          <p:cNvSpPr/>
          <p:nvPr/>
        </p:nvSpPr>
        <p:spPr>
          <a:xfrm>
            <a:off x="6959600" y="1874441"/>
            <a:ext cx="43690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Pinch to scale</a:t>
            </a:r>
            <a:endParaRPr lang="en-US" sz="1400" dirty="0"/>
          </a:p>
        </p:txBody>
      </p:sp>
      <p:sp>
        <p:nvSpPr>
          <p:cNvPr id="9" name="Text 5"/>
          <p:cNvSpPr/>
          <p:nvPr/>
        </p:nvSpPr>
        <p:spPr>
          <a:xfrm>
            <a:off x="6959600" y="2138561"/>
            <a:ext cx="43690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C2433"/>
                </a:solidFill>
                <a:latin typeface="Carlito" pitchFamily="34" charset="0"/>
                <a:ea typeface="Carlito" pitchFamily="34" charset="-122"/>
                <a:cs typeface="Carlito" pitchFamily="34" charset="-120"/>
              </a:rPr>
              <a:t>Change in finger distance × </a:t>
            </a:r>
            <a:r>
              <a:rPr lang="en-US" sz="1200" b="1" dirty="0">
                <a:solidFill>
                  <a:srgbClr val="1C2433"/>
                </a:solidFill>
                <a:latin typeface="Carlito" pitchFamily="34" charset="0"/>
                <a:ea typeface="Carlito" pitchFamily="34" charset="-122"/>
                <a:cs typeface="Carlito" pitchFamily="34" charset="-120"/>
              </a:rPr>
              <a:t>0.001</a:t>
            </a:r>
            <a:r>
              <a:rPr lang="en-US" sz="1200" dirty="0">
                <a:solidFill>
                  <a:srgbClr val="1C2433"/>
                </a:solidFill>
                <a:latin typeface="Carlito" pitchFamily="34" charset="0"/>
                <a:ea typeface="Carlito" pitchFamily="34" charset="-122"/>
                <a:cs typeface="Carlito" pitchFamily="34" charset="-120"/>
              </a:rPr>
              <a:t>, added to the scale, clamped between </a:t>
            </a:r>
            <a:r>
              <a:rPr lang="en-US" sz="1200" b="1" dirty="0">
                <a:solidFill>
                  <a:srgbClr val="1C2433"/>
                </a:solidFill>
                <a:latin typeface="Carlito" pitchFamily="34" charset="0"/>
                <a:ea typeface="Carlito" pitchFamily="34" charset="-122"/>
                <a:cs typeface="Carlito" pitchFamily="34" charset="-120"/>
              </a:rPr>
              <a:t>0.1</a:t>
            </a:r>
            <a:r>
              <a:rPr lang="en-US" sz="1200" dirty="0">
                <a:solidFill>
                  <a:srgbClr val="1C2433"/>
                </a:solidFill>
                <a:latin typeface="Carlito" pitchFamily="34" charset="0"/>
                <a:ea typeface="Carlito" pitchFamily="34" charset="-122"/>
                <a:cs typeface="Carlito" pitchFamily="34" charset="-120"/>
              </a:rPr>
              <a:t> and </a:t>
            </a:r>
            <a:r>
              <a:rPr lang="en-US" sz="1200" b="1" dirty="0">
                <a:solidFill>
                  <a:srgbClr val="1C2433"/>
                </a:solidFill>
                <a:latin typeface="Carlito" pitchFamily="34" charset="0"/>
                <a:ea typeface="Carlito" pitchFamily="34" charset="-122"/>
                <a:cs typeface="Carlito" pitchFamily="34" charset="-120"/>
              </a:rPr>
              <a:t>10</a:t>
            </a:r>
            <a:r>
              <a:rPr lang="en-US" sz="1200" dirty="0">
                <a:solidFill>
                  <a:srgbClr val="1C2433"/>
                </a:solidFill>
                <a:latin typeface="Carlito" pitchFamily="34" charset="0"/>
                <a:ea typeface="Carlito" pitchFamily="34" charset="-122"/>
                <a:cs typeface="Carlito" pitchFamily="34" charset="-120"/>
              </a:rPr>
              <a:t>.</a:t>
            </a:r>
            <a:endParaRPr lang="en-US" sz="1200" dirty="0"/>
          </a:p>
        </p:txBody>
      </p:sp>
      <p:sp>
        <p:nvSpPr>
          <p:cNvPr id="10" name="Shape 6"/>
          <p:cNvSpPr/>
          <p:nvPr/>
        </p:nvSpPr>
        <p:spPr>
          <a:xfrm>
            <a:off x="6781800" y="2831902"/>
            <a:ext cx="4597400" cy="1422202"/>
          </a:xfrm>
          <a:prstGeom prst="roundRect">
            <a:avLst>
              <a:gd name="adj" fmla="val 6251"/>
            </a:avLst>
          </a:prstGeom>
          <a:solidFill>
            <a:srgbClr val="EEF1F5"/>
          </a:solidFill>
          <a:ln/>
        </p:spPr>
      </p:sp>
      <p:sp>
        <p:nvSpPr>
          <p:cNvPr id="11" name="Text 7"/>
          <p:cNvSpPr/>
          <p:nvPr/>
        </p:nvSpPr>
        <p:spPr>
          <a:xfrm>
            <a:off x="6959600" y="2984302"/>
            <a:ext cx="43690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3594"/>
                </a:solidFill>
                <a:latin typeface="Carlito" pitchFamily="34" charset="0"/>
                <a:ea typeface="Carlito" pitchFamily="34" charset="-122"/>
                <a:cs typeface="Carlito" pitchFamily="34" charset="-120"/>
              </a:rPr>
              <a:t>Wire it up</a:t>
            </a:r>
            <a:endParaRPr lang="en-US" sz="1400" dirty="0"/>
          </a:p>
        </p:txBody>
      </p:sp>
      <p:sp>
        <p:nvSpPr>
          <p:cNvPr id="12" name="Text 8"/>
          <p:cNvSpPr/>
          <p:nvPr/>
        </p:nvSpPr>
        <p:spPr>
          <a:xfrm>
            <a:off x="6959600" y="3248422"/>
            <a:ext cx="4369054"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C2433"/>
                </a:solidFill>
                <a:latin typeface="Carlito" pitchFamily="34" charset="0"/>
                <a:ea typeface="Carlito" pitchFamily="34" charset="-122"/>
                <a:cs typeface="Carlito" pitchFamily="34" charset="-120"/>
              </a:rPr>
              <a:t>Empty </a:t>
            </a:r>
            <a:r>
              <a:rPr lang="en-US" sz="1200" b="1" dirty="0">
                <a:solidFill>
                  <a:srgbClr val="1C2433"/>
                </a:solidFill>
                <a:latin typeface="Carlito" pitchFamily="34" charset="0"/>
                <a:ea typeface="Carlito" pitchFamily="34" charset="-122"/>
                <a:cs typeface="Carlito" pitchFamily="34" charset="-120"/>
              </a:rPr>
              <a:t>PrefabManager</a:t>
            </a:r>
            <a:r>
              <a:rPr lang="en-US" sz="1200" dirty="0">
                <a:solidFill>
                  <a:srgbClr val="1C2433"/>
                </a:solidFill>
                <a:latin typeface="Carlito" pitchFamily="34" charset="0"/>
                <a:ea typeface="Carlito" pitchFamily="34" charset="-122"/>
                <a:cs typeface="Carlito" pitchFamily="34" charset="-120"/>
              </a:rPr>
              <a:t> + SwapPrefab. ButtonNext → SwapFoodPrefab(); ButtonPrevious → SwapToPreviousFoodPrefab(). Fill three dishes in the Inspector. Uncomment the SwapPrefab lines in ARPlacePrefab.</a:t>
            </a:r>
            <a:endParaRPr lang="en-US" sz="1200" dirty="0"/>
          </a:p>
        </p:txBody>
      </p:sp>
      <p:sp>
        <p:nvSpPr>
          <p:cNvPr id="13" name="Text 9"/>
          <p:cNvSpPr/>
          <p:nvPr/>
        </p:nvSpPr>
        <p:spPr>
          <a:xfrm>
            <a:off x="6781800" y="4368403"/>
            <a:ext cx="473532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arlito" pitchFamily="34" charset="0"/>
                <a:ea typeface="Carlito" pitchFamily="34" charset="-122"/>
                <a:cs typeface="Carlito" pitchFamily="34" charset="-120"/>
              </a:rPr>
              <a:t>Previous wraps the other way: below 0 → Length − 1.</a:t>
            </a:r>
            <a:endParaRPr lang="en-US" sz="1200" dirty="0"/>
          </a:p>
        </p:txBody>
      </p:sp>
      <p:sp>
        <p:nvSpPr>
          <p:cNvPr id="14" name="Text 10"/>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6 — Building Interactive AR Experiences (pp. 133–148)</a:t>
            </a:r>
            <a:endParaRPr lang="en-US" sz="1200" dirty="0"/>
          </a:p>
        </p:txBody>
      </p:sp>
    </p:spTree>
    <p:extLst>
      <p:ext uri="{BB962C8B-B14F-4D97-AF65-F5344CB8AC3E}">
        <p14:creationId xmlns:p14="http://schemas.microsoft.com/office/powerpoint/2010/main" val="449617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pic>
        <p:nvPicPr>
          <p:cNvPr id="2" name="Image 0" descr="University of Pittsburgh Bradford logo"/>
          <p:cNvPicPr>
            <a:picLocks noChangeAspect="1"/>
          </p:cNvPicPr>
          <p:nvPr/>
        </p:nvPicPr>
        <p:blipFill>
          <a:blip r:embed="rId3"/>
          <a:srcRect l="-273" r="-273"/>
          <a:stretch/>
        </p:blipFill>
        <p:spPr>
          <a:xfrm>
            <a:off x="0" y="0"/>
            <a:ext cx="2095500" cy="457200"/>
          </a:xfrm>
          <a:prstGeom prst="rect">
            <a:avLst/>
          </a:prstGeom>
        </p:spPr>
      </p:pic>
      <p:pic>
        <p:nvPicPr>
          <p:cNvPr id="3" name="Image 1"/>
          <p:cNvPicPr>
            <a:picLocks noChangeAspect="1"/>
          </p:cNvPicPr>
          <p:nvPr/>
        </p:nvPicPr>
        <p:blipFill>
          <a:blip r:embed="rId4"/>
          <a:srcRect l="167" r="167"/>
          <a:stretch/>
        </p:blipFill>
        <p:spPr>
          <a:xfrm>
            <a:off x="11176000" y="0"/>
            <a:ext cx="1016000" cy="654050"/>
          </a:xfrm>
          <a:prstGeom prst="rect">
            <a:avLst/>
          </a:prstGeom>
        </p:spPr>
      </p:pic>
      <p:sp>
        <p:nvSpPr>
          <p:cNvPr id="4" name="Text 0"/>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41A"/>
                </a:solidFill>
                <a:latin typeface="Carlito" pitchFamily="34" charset="0"/>
                <a:ea typeface="Carlito" pitchFamily="34" charset="-122"/>
                <a:cs typeface="Carlito" pitchFamily="34" charset="-120"/>
              </a:rPr>
              <a:t>CHAPTER 6 · BOOK VS. YOUR UNITY VERSION</a:t>
            </a:r>
            <a:endParaRPr lang="en-US" sz="1200" dirty="0"/>
          </a:p>
        </p:txBody>
      </p:sp>
      <p:sp>
        <p:nvSpPr>
          <p:cNvPr id="5" name="Text 1"/>
          <p:cNvSpPr>
            <a:spLocks noGrp="1"/>
          </p:cNvSpPr>
          <p:nvPr>
            <p:ph type="title"/>
          </p:nvPr>
        </p:nvSpPr>
        <p:spPr>
          <a:xfrm>
            <a:off x="812800" y="11404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03594"/>
                </a:solidFill>
                <a:latin typeface="Carlito" pitchFamily="18" charset="0"/>
                <a:ea typeface="Carlito" pitchFamily="18" charset="-122"/>
                <a:cs typeface="Carlito" pitchFamily="18" charset="-120"/>
              </a:rPr>
              <a:t>If the book’s AR code fights your project, check these first</a:t>
            </a:r>
            <a:endParaRPr lang="en-US" sz="2800" dirty="0"/>
          </a:p>
        </p:txBody>
      </p:sp>
      <p:graphicFrame>
        <p:nvGraphicFramePr>
          <p:cNvPr id="6" name="Table 0"/>
          <p:cNvGraphicFramePr>
            <a:graphicFrameLocks noGrp="1"/>
          </p:cNvGraphicFramePr>
          <p:nvPr/>
        </p:nvGraphicFramePr>
        <p:xfrm>
          <a:off x="825500" y="1734741"/>
          <a:ext cx="10553700" cy="2282318"/>
        </p:xfrm>
        <a:graphic>
          <a:graphicData uri="http://schemas.openxmlformats.org/drawingml/2006/table">
            <a:tbl>
              <a:tblPr/>
              <a:tblGrid>
                <a:gridCol w="3166110">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588258">
                  <a:extLst>
                    <a:ext uri="{9D8B030D-6E8A-4147-A177-3AD203B41FA5}">
                      <a16:colId xmlns:a16="http://schemas.microsoft.com/office/drawing/2014/main" val="20002"/>
                    </a:ext>
                  </a:extLst>
                </a:gridCol>
              </a:tblGrid>
              <a:tr h="346075">
                <a:tc>
                  <a:txBody>
                    <a:bodyPr/>
                    <a:lstStyle/>
                    <a:p>
                      <a:pPr marL="0" indent="0">
                        <a:lnSpc>
                          <a:spcPts val="1750"/>
                        </a:lnSpc>
                        <a:buNone/>
                      </a:pPr>
                      <a:r>
                        <a:rPr lang="en-US" sz="1250" b="1" dirty="0">
                          <a:solidFill>
                            <a:srgbClr val="FAFAF7"/>
                          </a:solidFill>
                          <a:latin typeface="Carlito" pitchFamily="34" charset="0"/>
                          <a:ea typeface="Carlito" pitchFamily="34" charset="-122"/>
                          <a:cs typeface="Carlito" pitchFamily="34" charset="-120"/>
                        </a:rPr>
                        <a:t>The book (2023)</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750"/>
                        </a:lnSpc>
                        <a:buNone/>
                      </a:pPr>
                      <a:r>
                        <a:rPr lang="en-US" sz="1250" b="1" dirty="0">
                          <a:solidFill>
                            <a:srgbClr val="FAFAF7"/>
                          </a:solidFill>
                          <a:latin typeface="Carlito" pitchFamily="34" charset="0"/>
                          <a:ea typeface="Carlito" pitchFamily="34" charset="-122"/>
                          <a:cs typeface="Carlito" pitchFamily="34" charset="-120"/>
                        </a:rPr>
                        <a:t>What you may see now</a:t>
                      </a:r>
                      <a:endParaRPr lang="en-US" sz="1250" dirty="0">
                        <a:latin typeface="Carlito" charset="0"/>
                        <a:ea typeface="Carlito" charset="0"/>
                        <a:cs typeface="Carlito" charset="0"/>
                      </a:endParaRPr>
                    </a:p>
                  </a:txBody>
                  <a:tcPr marL="55563" marR="55563" marT="55563" marB="55563">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marL="0" indent="0">
                        <a:lnSpc>
                          <a:spcPts val="1750"/>
                        </a:lnSpc>
                        <a:buNone/>
                      </a:pPr>
                      <a:r>
                        <a:rPr lang="en-US" sz="1250" b="1" dirty="0">
                          <a:solidFill>
                            <a:srgbClr val="FAFAF7"/>
                          </a:solidFill>
                          <a:latin typeface="Carlito" pitchFamily="34" charset="0"/>
                          <a:ea typeface="Carlito" pitchFamily="34" charset="-122"/>
                          <a:cs typeface="Carlito" pitchFamily="34" charset="-120"/>
                        </a:rPr>
                        <a:t>Do this</a:t>
                      </a:r>
                      <a:endParaRPr lang="en-US" sz="1250" dirty="0">
                        <a:latin typeface="Carlito" charset="0"/>
                        <a:ea typeface="Carlito" charset="0"/>
                        <a:cs typeface="Carlito" charset="0"/>
                      </a:endParaRPr>
                    </a:p>
                  </a:txBody>
                  <a:tcPr marL="55563" marR="55563" marT="55563" marB="55563">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AR Session Origin</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Deprecated in AR Foundation 5+</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Use XR Origin (AR); same managers</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FindObjectOfType&lt;T&gt;()</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Obsolete warning in Unity 6</a:t>
                      </a:r>
                      <a:endParaRPr lang="en-US" sz="1250" dirty="0">
                        <a:latin typeface="Carlito" charset="0"/>
                        <a:ea typeface="Carlito" charset="0"/>
                        <a:cs typeface="Carlito" charset="0"/>
                      </a:endParaRPr>
                    </a:p>
                  </a:txBody>
                  <a:tcPr marL="55563" marR="55563" marT="55563" marB="5556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FindFirstObjectByType&lt;T&gt;(), or a public field</a:t>
                      </a:r>
                      <a:endParaRPr lang="en-US" sz="1250" dirty="0">
                        <a:latin typeface="Carlito" charset="0"/>
                        <a:ea typeface="Carlito" charset="0"/>
                        <a:cs typeface="Carlito" charset="0"/>
                      </a:endParaRPr>
                    </a:p>
                  </a:txBody>
                  <a:tcPr marL="55563" marR="55563" marT="55563" marB="5556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Input.touchCount, GetTouch</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Errors if only the new Input System is on</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Active Input Handling = Both, or EnhancedTouch</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Camera.current in Update</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Can be null outside rendering</a:t>
                      </a:r>
                      <a:endParaRPr lang="en-US" sz="1250" dirty="0">
                        <a:latin typeface="Carlito" charset="0"/>
                        <a:ea typeface="Carlito" charset="0"/>
                        <a:cs typeface="Carlito" charset="0"/>
                      </a:endParaRPr>
                    </a:p>
                  </a:txBody>
                  <a:tcPr marL="55563" marR="55563" marT="55563" marB="5556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Reference the AR Camera, or Camera.main</a:t>
                      </a:r>
                      <a:endParaRPr lang="en-US" sz="1250" dirty="0">
                        <a:latin typeface="Carlito" charset="0"/>
                        <a:ea typeface="Carlito" charset="0"/>
                        <a:cs typeface="Carlito" charset="0"/>
                      </a:endParaRPr>
                    </a:p>
                  </a:txBody>
                  <a:tcPr marL="55563" marR="55563" marT="55563" marB="5556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4"/>
                  </a:ext>
                </a:extLst>
              </a:tr>
              <a:tr h="346075">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Commented-out lines</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SwapPrefab doesn’t exist yet</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50"/>
                        </a:lnSpc>
                        <a:buNone/>
                      </a:pPr>
                      <a:r>
                        <a:rPr lang="en-US" sz="1250" dirty="0">
                          <a:solidFill>
                            <a:srgbClr val="1C2433"/>
                          </a:solidFill>
                          <a:latin typeface="Carlito" pitchFamily="34" charset="0"/>
                          <a:ea typeface="Carlito" pitchFamily="34" charset="-122"/>
                          <a:cs typeface="Carlito" pitchFamily="34" charset="-120"/>
                        </a:rPr>
                        <a:t>Uncomment after creating SwapPrefab</a:t>
                      </a:r>
                      <a:endParaRPr lang="en-US" sz="1250" dirty="0">
                        <a:latin typeface="Carlito" charset="0"/>
                        <a:ea typeface="Carlito" charset="0"/>
                        <a:cs typeface="Carlito" charset="0"/>
                      </a:endParaRPr>
                    </a:p>
                  </a:txBody>
                  <a:tcPr marL="55563" marR="55563" marT="55563" marB="55563">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2"/>
          <p:cNvSpPr/>
          <p:nvPr/>
        </p:nvSpPr>
        <p:spPr>
          <a:xfrm>
            <a:off x="812800" y="4001691"/>
            <a:ext cx="10566400" cy="510480"/>
          </a:xfrm>
          <a:prstGeom prst="roundRect">
            <a:avLst>
              <a:gd name="adj" fmla="val 14927"/>
            </a:avLst>
          </a:prstGeom>
          <a:solidFill>
            <a:srgbClr val="EEF1F5"/>
          </a:solidFill>
          <a:ln/>
        </p:spPr>
        <p:txBody>
          <a:bodyPr wrap="square" lIns="231682" tIns="117382" rIns="0" bIns="91982" rtlCol="0" anchor="t">
            <a:normAutofit/>
          </a:bodyPr>
          <a:lstStyle/>
          <a:p>
            <a:pPr marL="0" indent="0" algn="l">
              <a:lnSpc>
                <a:spcPts val="1820"/>
              </a:lnSpc>
              <a:buNone/>
            </a:pPr>
            <a:r>
              <a:rPr lang="en-US" sz="1300" dirty="0">
                <a:solidFill>
                  <a:srgbClr val="33415A"/>
                </a:solidFill>
                <a:latin typeface="Carlito" pitchFamily="34" charset="0"/>
                <a:ea typeface="Carlito" pitchFamily="34" charset="-122"/>
                <a:cs typeface="Carlito" pitchFamily="34" charset="-120"/>
              </a:rPr>
              <a:t>Read the Console from the top. The first error is usually the real one; the rest are fallout.</a:t>
            </a:r>
            <a:endParaRPr lang="en-US" sz="1300" dirty="0"/>
          </a:p>
        </p:txBody>
      </p:sp>
      <p:sp>
        <p:nvSpPr>
          <p:cNvPr id="8" name="Shape 3"/>
          <p:cNvSpPr/>
          <p:nvPr/>
        </p:nvSpPr>
        <p:spPr>
          <a:xfrm>
            <a:off x="812800" y="4001691"/>
            <a:ext cx="10566400" cy="510480"/>
          </a:xfrm>
          <a:custGeom>
            <a:avLst/>
            <a:gdLst/>
            <a:ahLst/>
            <a:cxnLst/>
            <a:rect l="l" t="t" r="r" b="b"/>
            <a:pathLst>
              <a:path w="10566400" h="510480">
                <a:moveTo>
                  <a:pt x="76200" y="510480"/>
                </a:moveTo>
                <a:lnTo>
                  <a:pt x="76200" y="510480"/>
                </a:lnTo>
                <a:arcTo wR="76200" hR="76200" stAng="5400000" swAng="5400000"/>
                <a:lnTo>
                  <a:pt x="0" y="76200"/>
                </a:lnTo>
                <a:arcTo wR="76200" hR="76200" stAng="10800000" swAng="5400000"/>
                <a:lnTo>
                  <a:pt x="76200" y="0"/>
                </a:lnTo>
                <a:arcTo wR="25400" hR="76200" stAng="16200000" swAng="-5400000"/>
                <a:lnTo>
                  <a:pt x="50800" y="434280"/>
                </a:lnTo>
                <a:arcTo wR="25400" hR="76200" stAng="10800000" swAng="-5400000"/>
                <a:close/>
              </a:path>
            </a:pathLst>
          </a:custGeom>
          <a:solidFill>
            <a:srgbClr val="E8752A"/>
          </a:solidFill>
          <a:ln/>
        </p:spPr>
      </p:sp>
      <p:sp>
        <p:nvSpPr>
          <p:cNvPr id="9" name="Text 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7"/>
                </a:solidFill>
                <a:latin typeface="Carlito" pitchFamily="34" charset="0"/>
                <a:ea typeface="Carlito" pitchFamily="34" charset="-122"/>
                <a:cs typeface="Carlito" pitchFamily="34" charset="-120"/>
              </a:rPr>
              <a:t>CIST 1423 · Week 10 · Ch. 6 — Building Interactive AR Experiences</a:t>
            </a:r>
            <a:endParaRPr lang="en-US" sz="1200" dirty="0"/>
          </a:p>
        </p:txBody>
      </p:sp>
    </p:spTree>
    <p:extLst>
      <p:ext uri="{BB962C8B-B14F-4D97-AF65-F5344CB8AC3E}">
        <p14:creationId xmlns:p14="http://schemas.microsoft.com/office/powerpoint/2010/main" val="642082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58212-A77D-01ED-86F6-02F66F015AAB}"/>
            </a:ext>
          </a:extLst>
        </p:cNvPr>
        <p:cNvGrpSpPr/>
        <p:nvPr/>
      </p:nvGrpSpPr>
      <p:grpSpPr>
        <a:xfrm>
          <a:off x="0" y="0"/>
          <a:ext cx="0" cy="0"/>
          <a:chOff x="0" y="0"/>
          <a:chExt cx="0" cy="0"/>
        </a:xfrm>
      </p:grpSpPr>
      <p:pic>
        <p:nvPicPr>
          <p:cNvPr id="2" name="Picture 1" descr="C:\Users\Jeremy Callinan\AppData\Local\Temp\claude\c--GitHub-CIST1423-Fall2026-Examples\62e170c0-4055-4e17-811f-6bb67e40bfc7\scratchpad\deck\img\w5_start.jpg">
            <a:extLst>
              <a:ext uri="{FF2B5EF4-FFF2-40B4-BE49-F238E27FC236}">
                <a16:creationId xmlns:a16="http://schemas.microsoft.com/office/drawing/2014/main" id="{3B3263D9-1133-0BE1-D0DD-A2B0FAFA9AC8}"/>
              </a:ext>
            </a:extLst>
          </p:cNvPr>
          <p:cNvPicPr>
            <a:picLocks noChangeAspect="1"/>
          </p:cNvPicPr>
          <p:nvPr/>
        </p:nvPicPr>
        <p:blipFill>
          <a:blip r:embed="rId2"/>
          <a:srcRect b="-312"/>
          <a:stretch>
            <a:fillRect/>
          </a:stretch>
        </p:blipFill>
        <p:spPr>
          <a:xfrm>
            <a:off x="396875" y="2560955"/>
            <a:ext cx="3571875" cy="2025590"/>
          </a:xfrm>
          <a:prstGeom prst="rect">
            <a:avLst/>
          </a:prstGeom>
        </p:spPr>
      </p:pic>
      <p:pic>
        <p:nvPicPr>
          <p:cNvPr id="3" name="Picture 2" descr="C:\Users\Jeremy Callinan\AppData\Local\Temp\claude\c--GitHub-CIST1423-Fall2026-Examples\62e170c0-4055-4e17-811f-6bb67e40bfc7\scratchpad\deck\img\w5_target.jpg">
            <a:extLst>
              <a:ext uri="{FF2B5EF4-FFF2-40B4-BE49-F238E27FC236}">
                <a16:creationId xmlns:a16="http://schemas.microsoft.com/office/drawing/2014/main" id="{3FD2A6C9-91D6-3F64-B986-CA51959703FE}"/>
              </a:ext>
            </a:extLst>
          </p:cNvPr>
          <p:cNvPicPr>
            <a:picLocks noChangeAspect="1"/>
          </p:cNvPicPr>
          <p:nvPr/>
        </p:nvPicPr>
        <p:blipFill>
          <a:blip r:embed="rId3"/>
          <a:srcRect b="-312"/>
          <a:stretch>
            <a:fillRect/>
          </a:stretch>
        </p:blipFill>
        <p:spPr>
          <a:xfrm>
            <a:off x="4116070" y="2571750"/>
            <a:ext cx="3571875" cy="2025590"/>
          </a:xfrm>
          <a:prstGeom prst="rect">
            <a:avLst/>
          </a:prstGeom>
        </p:spPr>
      </p:pic>
      <p:pic>
        <p:nvPicPr>
          <p:cNvPr id="4" name="Picture 3" descr="C:\Users\Jeremy Callinan\AppData\Local\Temp\claude\c--GitHub-CIST1423-Fall2026-Examples\62e170c0-4055-4e17-811f-6bb67e40bfc7\scratchpad\deck\img\w5_valve.jpg">
            <a:extLst>
              <a:ext uri="{FF2B5EF4-FFF2-40B4-BE49-F238E27FC236}">
                <a16:creationId xmlns:a16="http://schemas.microsoft.com/office/drawing/2014/main" id="{8A156AA1-A99E-3FE9-E196-3511E8DC9F66}"/>
              </a:ext>
            </a:extLst>
          </p:cNvPr>
          <p:cNvPicPr>
            <a:picLocks noChangeAspect="1"/>
          </p:cNvPicPr>
          <p:nvPr/>
        </p:nvPicPr>
        <p:blipFill>
          <a:blip r:embed="rId4"/>
          <a:srcRect b="-312"/>
          <a:stretch>
            <a:fillRect/>
          </a:stretch>
        </p:blipFill>
        <p:spPr>
          <a:xfrm>
            <a:off x="7906385" y="2562225"/>
            <a:ext cx="3571875" cy="2025590"/>
          </a:xfrm>
          <a:prstGeom prst="rect">
            <a:avLst/>
          </a:prstGeom>
        </p:spPr>
      </p:pic>
      <p:pic>
        <p:nvPicPr>
          <p:cNvPr id="5" name="Image 0">
            <a:extLst>
              <a:ext uri="{FF2B5EF4-FFF2-40B4-BE49-F238E27FC236}">
                <a16:creationId xmlns:a16="http://schemas.microsoft.com/office/drawing/2014/main" id="{51CB62A9-F797-339F-BCB5-D02A7709A75A}"/>
              </a:ext>
            </a:extLst>
          </p:cNvPr>
          <p:cNvPicPr>
            <a:picLocks noChangeAspect="1"/>
          </p:cNvPicPr>
          <p:nvPr/>
        </p:nvPicPr>
        <p:blipFill>
          <a:blip r:embed="rId5"/>
          <a:stretch>
            <a:fillRect/>
          </a:stretch>
        </p:blipFill>
        <p:spPr>
          <a:xfrm>
            <a:off x="320040" y="237744"/>
            <a:ext cx="1371600" cy="329184"/>
          </a:xfrm>
          <a:prstGeom prst="rect">
            <a:avLst/>
          </a:prstGeom>
        </p:spPr>
      </p:pic>
      <p:pic>
        <p:nvPicPr>
          <p:cNvPr id="6" name="Image 1">
            <a:extLst>
              <a:ext uri="{FF2B5EF4-FFF2-40B4-BE49-F238E27FC236}">
                <a16:creationId xmlns:a16="http://schemas.microsoft.com/office/drawing/2014/main" id="{42D8F02A-39C1-A0D6-FF20-E6E6D8196EC4}"/>
              </a:ext>
            </a:extLst>
          </p:cNvPr>
          <p:cNvPicPr>
            <a:picLocks noChangeAspect="1"/>
          </p:cNvPicPr>
          <p:nvPr/>
        </p:nvPicPr>
        <p:blipFill>
          <a:blip r:embed="rId6"/>
          <a:stretch>
            <a:fillRect/>
          </a:stretch>
        </p:blipFill>
        <p:spPr>
          <a:xfrm>
            <a:off x="10561320" y="201168"/>
            <a:ext cx="1234440" cy="795528"/>
          </a:xfrm>
          <a:prstGeom prst="rect">
            <a:avLst/>
          </a:prstGeom>
        </p:spPr>
      </p:pic>
      <p:sp>
        <p:nvSpPr>
          <p:cNvPr id="7" name="Text 0">
            <a:extLst>
              <a:ext uri="{FF2B5EF4-FFF2-40B4-BE49-F238E27FC236}">
                <a16:creationId xmlns:a16="http://schemas.microsoft.com/office/drawing/2014/main" id="{ED8EA1CD-5005-5163-25B6-EEE438363C66}"/>
              </a:ext>
            </a:extLst>
          </p:cNvPr>
          <p:cNvSpPr txBox="1"/>
          <p:nvPr/>
        </p:nvSpPr>
        <p:spPr>
          <a:xfrm>
            <a:off x="363761" y="1396284"/>
            <a:ext cx="10058400" cy="6583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500" b="1" dirty="0" err="1">
                <a:solidFill>
                  <a:srgbClr val="0E2841"/>
                </a:solidFill>
                <a:latin typeface="Cambria"/>
                <a:ea typeface="Cambria"/>
              </a:rPr>
              <a:t>SteamVR</a:t>
            </a:r>
            <a:r>
              <a:rPr lang="en-US" sz="2500" b="1" dirty="0">
                <a:solidFill>
                  <a:srgbClr val="0E2841"/>
                </a:solidFill>
                <a:latin typeface="Cambria"/>
                <a:ea typeface="Cambria"/>
              </a:rPr>
              <a:t> Playground Testing and HTC Vive Setup</a:t>
            </a:r>
            <a:endParaRPr lang="en-US" dirty="0"/>
          </a:p>
        </p:txBody>
      </p:sp>
      <p:sp>
        <p:nvSpPr>
          <p:cNvPr id="8" name="Shape 1">
            <a:extLst>
              <a:ext uri="{FF2B5EF4-FFF2-40B4-BE49-F238E27FC236}">
                <a16:creationId xmlns:a16="http://schemas.microsoft.com/office/drawing/2014/main" id="{88DD91ED-0090-4088-84D3-67A242F04E99}"/>
              </a:ext>
            </a:extLst>
          </p:cNvPr>
          <p:cNvSpPr/>
          <p:nvPr/>
        </p:nvSpPr>
        <p:spPr>
          <a:xfrm>
            <a:off x="363761" y="2072940"/>
            <a:ext cx="9875520" cy="0"/>
          </a:xfrm>
          <a:prstGeom prst="line">
            <a:avLst/>
          </a:prstGeom>
          <a:noFill/>
          <a:ln w="9525">
            <a:solidFill>
              <a:srgbClr val="E97132"/>
            </a:solidFill>
            <a:prstDash val="solid"/>
          </a:ln>
        </p:spPr>
        <p:txBody>
          <a:bodyPr/>
          <a:lstStyle/>
          <a:p>
            <a:endParaRPr lang="en-US"/>
          </a:p>
        </p:txBody>
      </p:sp>
      <p:pic>
        <p:nvPicPr>
          <p:cNvPr id="9" name="Image 0">
            <a:extLst>
              <a:ext uri="{FF2B5EF4-FFF2-40B4-BE49-F238E27FC236}">
                <a16:creationId xmlns:a16="http://schemas.microsoft.com/office/drawing/2014/main" id="{6BAA1CDE-797E-6909-EFD9-70A14DC6B3DF}"/>
              </a:ext>
            </a:extLst>
          </p:cNvPr>
          <p:cNvPicPr>
            <a:picLocks noChangeAspect="1"/>
          </p:cNvPicPr>
          <p:nvPr/>
        </p:nvPicPr>
        <p:blipFill>
          <a:blip r:embed="rId7"/>
          <a:stretch>
            <a:fillRect/>
          </a:stretch>
        </p:blipFill>
        <p:spPr>
          <a:xfrm>
            <a:off x="0" y="2899"/>
            <a:ext cx="3055146" cy="772543"/>
          </a:xfrm>
          <a:prstGeom prst="rect">
            <a:avLst/>
          </a:prstGeom>
        </p:spPr>
      </p:pic>
      <p:sp>
        <p:nvSpPr>
          <p:cNvPr id="10" name="TextBox 9">
            <a:extLst>
              <a:ext uri="{FF2B5EF4-FFF2-40B4-BE49-F238E27FC236}">
                <a16:creationId xmlns:a16="http://schemas.microsoft.com/office/drawing/2014/main" id="{42D384C5-DED7-43D3-BD73-30A6EF7671E9}"/>
              </a:ext>
            </a:extLst>
          </p:cNvPr>
          <p:cNvSpPr txBox="1"/>
          <p:nvPr/>
        </p:nvSpPr>
        <p:spPr>
          <a:xfrm>
            <a:off x="644236" y="4966854"/>
            <a:ext cx="91994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a:cs typeface="Calibri"/>
              </a:rPr>
              <a:t>Test on the VR Stage</a:t>
            </a:r>
            <a:endParaRPr lang="en-US"/>
          </a:p>
          <a:p>
            <a:pPr marL="285750" indent="-285750">
              <a:buFont typeface="Arial"/>
              <a:buChar char="•"/>
            </a:pPr>
            <a:r>
              <a:rPr lang="en-US" dirty="0">
                <a:ea typeface="Calibri"/>
                <a:cs typeface="Calibri"/>
              </a:rPr>
              <a:t>Let's also set up another HTC </a:t>
            </a:r>
            <a:r>
              <a:rPr lang="en-US" dirty="0" err="1">
                <a:ea typeface="Calibri"/>
                <a:cs typeface="Calibri"/>
              </a:rPr>
              <a:t>Vive</a:t>
            </a:r>
            <a:endParaRPr lang="en-US">
              <a:ea typeface="Calibri"/>
              <a:cs typeface="Calibri"/>
            </a:endParaRPr>
          </a:p>
        </p:txBody>
      </p:sp>
    </p:spTree>
    <p:extLst>
      <p:ext uri="{BB962C8B-B14F-4D97-AF65-F5344CB8AC3E}">
        <p14:creationId xmlns:p14="http://schemas.microsoft.com/office/powerpoint/2010/main" val="1378924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icPr>
            <a:picLocks noChangeAspect="1"/>
          </p:cNvPicPr>
          <p:nvPr/>
        </p:nvPicPr>
        <p:blipFill>
          <a:blip r:embed="rId3"/>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icPr>
            <a:picLocks noChangeAspect="1"/>
          </p:cNvPicPr>
          <p:nvPr/>
        </p:nvPicPr>
        <p:blipFill>
          <a:blip r:embed="rId4"/>
          <a:stretch>
            <a:fillRect/>
          </a:stretch>
        </p:blipFill>
        <p:spPr>
          <a:xfrm>
            <a:off x="10561320" y="201168"/>
            <a:ext cx="1234440" cy="795528"/>
          </a:xfrm>
          <a:prstGeom prst="rect">
            <a:avLst/>
          </a:prstGeom>
        </p:spPr>
      </p:pic>
      <p:sp>
        <p:nvSpPr>
          <p:cNvPr id="4" name="Text 0"/>
          <p:cNvSpPr txBox="1"/>
          <p:nvPr/>
        </p:nvSpPr>
        <p:spPr>
          <a:xfrm>
            <a:off x="357515" y="940333"/>
            <a:ext cx="10058400" cy="658368"/>
          </a:xfrm>
          <a:prstGeom prst="rect">
            <a:avLst/>
          </a:prstGeom>
          <a:noFill/>
          <a:ln/>
        </p:spPr>
        <p:txBody>
          <a:bodyPr wrap="square" lIns="0" tIns="0" rIns="0" bIns="0" rtlCol="0" anchor="ctr"/>
          <a:lstStyle/>
          <a:p>
            <a:r>
              <a:rPr lang="en-US" sz="2500" b="1" dirty="0">
                <a:solidFill>
                  <a:srgbClr val="0E2841"/>
                </a:solidFill>
                <a:latin typeface="Cambria"/>
                <a:ea typeface="Cambria"/>
                <a:cs typeface="Cambria" pitchFamily="34" charset="-120"/>
              </a:rPr>
              <a:t>AR on the web: Beta Test WaterWorks Builder</a:t>
            </a:r>
            <a:endParaRPr lang="en-US" sz="2500" dirty="0" err="1"/>
          </a:p>
        </p:txBody>
      </p:sp>
      <p:sp>
        <p:nvSpPr>
          <p:cNvPr id="5" name="Shape 1"/>
          <p:cNvSpPr/>
          <p:nvPr/>
        </p:nvSpPr>
        <p:spPr>
          <a:xfrm>
            <a:off x="357515" y="1616989"/>
            <a:ext cx="9875520" cy="0"/>
          </a:xfrm>
          <a:prstGeom prst="line">
            <a:avLst/>
          </a:prstGeom>
          <a:noFill/>
          <a:ln w="9525">
            <a:solidFill>
              <a:srgbClr val="E97132"/>
            </a:solidFill>
            <a:prstDash val="solid"/>
          </a:ln>
        </p:spPr>
      </p:sp>
      <p:pic>
        <p:nvPicPr>
          <p:cNvPr id="9" name="Image 3" descr="C:\Users\Jeremy Callinan\AppData\Local\Temp\claude\c--GitHub-CIST1423-Fall2026-Examples\62e170c0-4055-4e17-811f-6bb67e40bfc7\scratchpad\deck\img\ww_shelf.jpg"/>
          <p:cNvPicPr>
            <a:picLocks noChangeAspect="1"/>
          </p:cNvPicPr>
          <p:nvPr/>
        </p:nvPicPr>
        <p:blipFill>
          <a:blip r:embed="rId5"/>
          <a:stretch>
            <a:fillRect/>
          </a:stretch>
        </p:blipFill>
        <p:spPr>
          <a:xfrm>
            <a:off x="362595" y="2137181"/>
            <a:ext cx="3657600" cy="3017520"/>
          </a:xfrm>
          <a:prstGeom prst="rect">
            <a:avLst/>
          </a:prstGeom>
        </p:spPr>
      </p:pic>
      <p:pic>
        <p:nvPicPr>
          <p:cNvPr id="14" name="Image 0" descr="C:\Users\Jeremy Callinan\AppData\Local\Temp\claude\c--GitHub-CIST1423-Fall2026-Examples\62e170c0-4055-4e17-811f-6bb67e40bfc7\scratchpad\deck\img\pitt_big.jpeg">
            <a:extLst>
              <a:ext uri="{FF2B5EF4-FFF2-40B4-BE49-F238E27FC236}">
                <a16:creationId xmlns:a16="http://schemas.microsoft.com/office/drawing/2014/main" id="{7AEAD7D9-B3C6-F0DD-9EC8-EE4222A52F90}"/>
              </a:ext>
            </a:extLst>
          </p:cNvPr>
          <p:cNvPicPr>
            <a:picLocks noChangeAspect="1"/>
          </p:cNvPicPr>
          <p:nvPr/>
        </p:nvPicPr>
        <p:blipFill>
          <a:blip r:embed="rId6"/>
          <a:stretch>
            <a:fillRect/>
          </a:stretch>
        </p:blipFill>
        <p:spPr>
          <a:xfrm>
            <a:off x="0" y="9144"/>
            <a:ext cx="3392424" cy="841248"/>
          </a:xfrm>
          <a:prstGeom prst="rect">
            <a:avLst/>
          </a:prstGeom>
        </p:spPr>
      </p:pic>
      <p:sp>
        <p:nvSpPr>
          <p:cNvPr id="8" name="TextBox 7">
            <a:extLst>
              <a:ext uri="{FF2B5EF4-FFF2-40B4-BE49-F238E27FC236}">
                <a16:creationId xmlns:a16="http://schemas.microsoft.com/office/drawing/2014/main" id="{49D67B50-FFA6-5192-8E7C-69AF003E0F07}"/>
              </a:ext>
            </a:extLst>
          </p:cNvPr>
          <p:cNvSpPr txBox="1"/>
          <p:nvPr/>
        </p:nvSpPr>
        <p:spPr>
          <a:xfrm>
            <a:off x="4609772" y="5027762"/>
            <a:ext cx="595052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ea typeface="Calibri"/>
                <a:cs typeface="Calibri"/>
              </a:rPr>
              <a:t>Quest 3</a:t>
            </a:r>
          </a:p>
          <a:p>
            <a:pPr marL="285750" indent="-285750">
              <a:buFont typeface="Arial"/>
              <a:buChar char="•"/>
            </a:pPr>
            <a:r>
              <a:rPr lang="en-US" sz="2000" dirty="0">
                <a:ea typeface="Calibri"/>
                <a:cs typeface="Calibri"/>
              </a:rPr>
              <a:t>Hololens</a:t>
            </a:r>
          </a:p>
          <a:p>
            <a:pPr marL="285750" indent="-285750">
              <a:buFont typeface="Arial"/>
              <a:buChar char="•"/>
            </a:pPr>
            <a:r>
              <a:rPr lang="en-US" sz="2000" dirty="0">
                <a:ea typeface="Calibri"/>
                <a:cs typeface="Calibri"/>
              </a:rPr>
              <a:t>Vive XR</a:t>
            </a:r>
          </a:p>
        </p:txBody>
      </p:sp>
      <p:sp>
        <p:nvSpPr>
          <p:cNvPr id="6" name="TextBox 5">
            <a:extLst>
              <a:ext uri="{FF2B5EF4-FFF2-40B4-BE49-F238E27FC236}">
                <a16:creationId xmlns:a16="http://schemas.microsoft.com/office/drawing/2014/main" id="{5F5F1138-5D4B-6B36-051F-8F1774DBBF9C}"/>
              </a:ext>
            </a:extLst>
          </p:cNvPr>
          <p:cNvSpPr txBox="1"/>
          <p:nvPr/>
        </p:nvSpPr>
        <p:spPr>
          <a:xfrm>
            <a:off x="4143026" y="4271542"/>
            <a:ext cx="5334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hlinkClick r:id="rId7"/>
              </a:rPr>
              <a:t>https://github.com/jcallinan/CIST1423-Fall2026-Examples/tree/master/Week-08-WebXR-WaterWorks</a:t>
            </a:r>
            <a:r>
              <a:rPr lang="en-US" dirty="0">
                <a:ea typeface="+mn-lt"/>
                <a:cs typeface="+mn-lt"/>
              </a:rPr>
              <a:t> </a:t>
            </a:r>
            <a:endParaRPr lang="en-US">
              <a:ea typeface="+mn-lt"/>
              <a:cs typeface="+mn-lt"/>
            </a:endParaRPr>
          </a:p>
        </p:txBody>
      </p:sp>
      <p:sp>
        <p:nvSpPr>
          <p:cNvPr id="7" name="TextBox 6">
            <a:extLst>
              <a:ext uri="{FF2B5EF4-FFF2-40B4-BE49-F238E27FC236}">
                <a16:creationId xmlns:a16="http://schemas.microsoft.com/office/drawing/2014/main" id="{C6EE1178-9365-14BD-1357-8986D9ADEEC7}"/>
              </a:ext>
            </a:extLst>
          </p:cNvPr>
          <p:cNvSpPr txBox="1"/>
          <p:nvPr/>
        </p:nvSpPr>
        <p:spPr>
          <a:xfrm>
            <a:off x="4176476" y="2137532"/>
            <a:ext cx="6220408"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ea typeface="+mn-lt"/>
                <a:cs typeface="+mn-lt"/>
              </a:rPr>
              <a:t>WaterWorks</a:t>
            </a:r>
            <a:r>
              <a:rPr lang="en-US" dirty="0">
                <a:ea typeface="+mn-lt"/>
                <a:cs typeface="+mn-lt"/>
              </a:rPr>
              <a:t> Builder is a </a:t>
            </a:r>
            <a:r>
              <a:rPr lang="en-US" b="1" dirty="0">
                <a:ea typeface="+mn-lt"/>
                <a:cs typeface="+mn-lt"/>
              </a:rPr>
              <a:t>multiplayer </a:t>
            </a:r>
            <a:r>
              <a:rPr lang="en-US" b="1" dirty="0" err="1">
                <a:ea typeface="+mn-lt"/>
                <a:cs typeface="+mn-lt"/>
              </a:rPr>
              <a:t>WebXR</a:t>
            </a:r>
            <a:r>
              <a:rPr lang="en-US" b="1" dirty="0">
                <a:ea typeface="+mn-lt"/>
                <a:cs typeface="+mn-lt"/>
              </a:rPr>
              <a:t> sandbox for laying out a small water system</a:t>
            </a:r>
            <a:r>
              <a:rPr lang="en-US" dirty="0">
                <a:ea typeface="+mn-lt"/>
                <a:cs typeface="+mn-lt"/>
              </a:rPr>
              <a:t>: storage tank → gate valve → Y-strainer → centrifugal pump → riser → check valve → meter → tee with pressure gauge → main → hydrant. Everyone in the same room sees the same parts, sees each other's heads and hands, and only one person can hold a part at a time.</a:t>
            </a:r>
            <a:endParaRPr lang="en-US">
              <a:ea typeface="Calibri"/>
              <a:cs typeface="Calibri"/>
            </a:endParaRPr>
          </a:p>
          <a:p>
            <a:br>
              <a:rPr lang="en-US" dirty="0"/>
            </a:br>
            <a:endParaRPr lang="en-US" sz="3200">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0A0C10"/>
        </a:solidFill>
        <a:effectLst/>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icPr>
            <a:picLocks noChangeAspect="1"/>
          </p:cNvPicPr>
          <p:nvPr/>
        </p:nvPicPr>
        <p:blipFill>
          <a:blip r:embed="rId3"/>
          <a:stretch>
            <a:fillRect/>
          </a:stretch>
        </p:blipFill>
        <p:spPr>
          <a:xfrm>
            <a:off x="320040" y="256032"/>
            <a:ext cx="1371600" cy="329184"/>
          </a:xfrm>
          <a:prstGeom prst="rect">
            <a:avLst/>
          </a:prstGeom>
        </p:spPr>
      </p:pic>
      <p:pic>
        <p:nvPicPr>
          <p:cNvPr id="3" name="Image 1" descr="C:\Users\Jeremy Callinan\AppData\Local\Temp\claude\c--GitHub-CIST1423-Fall2026-Examples\62e170c0-4055-4e17-811f-6bb67e40bfc7\scratchpad\deck\img\vr_badge.jpeg"/>
          <p:cNvPicPr>
            <a:picLocks noChangeAspect="1"/>
          </p:cNvPicPr>
          <p:nvPr/>
        </p:nvPicPr>
        <p:blipFill>
          <a:blip r:embed="rId4"/>
          <a:stretch>
            <a:fillRect/>
          </a:stretch>
        </p:blipFill>
        <p:spPr>
          <a:xfrm>
            <a:off x="10561320" y="201168"/>
            <a:ext cx="1234440" cy="795528"/>
          </a:xfrm>
          <a:prstGeom prst="rect">
            <a:avLst/>
          </a:prstGeom>
        </p:spPr>
      </p:pic>
      <p:sp>
        <p:nvSpPr>
          <p:cNvPr id="4" name="Text 0"/>
          <p:cNvSpPr txBox="1"/>
          <p:nvPr/>
        </p:nvSpPr>
        <p:spPr>
          <a:xfrm>
            <a:off x="457200" y="1097280"/>
            <a:ext cx="9601200" cy="731520"/>
          </a:xfrm>
          <a:prstGeom prst="rect">
            <a:avLst/>
          </a:prstGeom>
          <a:noFill/>
          <a:ln/>
        </p:spPr>
        <p:txBody>
          <a:bodyPr wrap="square" lIns="0" tIns="0" rIns="0" bIns="0" rtlCol="0" anchor="ctr"/>
          <a:lstStyle/>
          <a:p>
            <a:r>
              <a:rPr lang="en-US" sz="3600" b="1">
                <a:solidFill>
                  <a:srgbClr val="FFFFFF"/>
                </a:solidFill>
                <a:latin typeface="Cambria"/>
                <a:ea typeface="Cambria"/>
                <a:cs typeface="Cambria" pitchFamily="34" charset="-120"/>
              </a:rPr>
              <a:t>Next steps: Planning the project</a:t>
            </a:r>
            <a:endParaRPr lang="en-US" sz="3600" b="1">
              <a:solidFill>
                <a:srgbClr val="FFFFFF"/>
              </a:solidFill>
              <a:latin typeface="Cambria"/>
              <a:ea typeface="Cambria"/>
            </a:endParaRPr>
          </a:p>
        </p:txBody>
      </p:sp>
      <p:sp>
        <p:nvSpPr>
          <p:cNvPr id="5" name="Text 1"/>
          <p:cNvSpPr txBox="1"/>
          <p:nvPr/>
        </p:nvSpPr>
        <p:spPr>
          <a:xfrm>
            <a:off x="929627" y="2132537"/>
            <a:ext cx="5781040" cy="3840480"/>
          </a:xfrm>
          <a:prstGeom prst="rect">
            <a:avLst/>
          </a:prstGeom>
          <a:noFill/>
          <a:ln/>
        </p:spPr>
        <p:txBody>
          <a:bodyPr wrap="square" lIns="0" tIns="0" rIns="0" bIns="0" rtlCol="0" anchor="t"/>
          <a:lstStyle/>
          <a:p>
            <a:pPr marL="177800" indent="-177800">
              <a:spcAft>
                <a:spcPts val="500"/>
              </a:spcAft>
              <a:buSzPct val="100000"/>
              <a:buFont typeface="Arial"/>
              <a:buChar char="•"/>
            </a:pPr>
            <a:r>
              <a:rPr lang="en-US" sz="1600" dirty="0">
                <a:solidFill>
                  <a:srgbClr val="FFFFFF"/>
                </a:solidFill>
                <a:latin typeface="Calibri"/>
                <a:ea typeface="Calibri"/>
                <a:cs typeface="Calibri"/>
              </a:rPr>
              <a:t>Work your project's tech definition and project plan, and complete by next week , </a:t>
            </a:r>
            <a:r>
              <a:rPr lang="en-US" sz="1600">
                <a:solidFill>
                  <a:srgbClr val="FFFFFF"/>
                </a:solidFill>
                <a:latin typeface="Calibri"/>
                <a:ea typeface="Calibri"/>
                <a:cs typeface="Calibri"/>
              </a:rPr>
              <a:t>I extended it a week </a:t>
            </a:r>
            <a:r>
              <a:rPr lang="en-US" sz="1600" dirty="0">
                <a:solidFill>
                  <a:srgbClr val="FFFFFF"/>
                </a:solidFill>
                <a:latin typeface="Calibri"/>
                <a:ea typeface="Calibri"/>
                <a:cs typeface="Calibri"/>
              </a:rPr>
              <a:t>- </a:t>
            </a:r>
            <a:r>
              <a:rPr lang="en-US" sz="1600" dirty="0">
                <a:solidFill>
                  <a:srgbClr val="FFFFFF"/>
                </a:solidFill>
                <a:latin typeface="Calibri"/>
                <a:ea typeface="Calibri"/>
                <a:cs typeface="Calibri"/>
                <a:hlinkClick r:id="rId5"/>
              </a:rPr>
              <a:t>https://canvas.pitt.edu/courses/381238/assignments/2244240?module_item_id=7074251</a:t>
            </a:r>
            <a:r>
              <a:rPr lang="en-US" sz="1600" dirty="0">
                <a:solidFill>
                  <a:srgbClr val="FFFFFF"/>
                </a:solidFill>
                <a:latin typeface="Calibri"/>
                <a:ea typeface="Calibri"/>
                <a:cs typeface="Calibri"/>
              </a:rPr>
              <a:t> </a:t>
            </a:r>
            <a:endParaRPr lang="en-US" dirty="0">
              <a:solidFill>
                <a:srgbClr val="000000"/>
              </a:solidFill>
              <a:latin typeface="Calibri"/>
              <a:ea typeface="Calibri"/>
              <a:cs typeface="Calibri"/>
            </a:endParaRPr>
          </a:p>
          <a:p>
            <a:pPr marL="177800" indent="-177800">
              <a:spcAft>
                <a:spcPts val="500"/>
              </a:spcAft>
              <a:buSzPct val="100000"/>
              <a:buFont typeface="Arial"/>
              <a:buChar char="•"/>
            </a:pPr>
            <a:r>
              <a:rPr lang="en-US" sz="1600" dirty="0">
                <a:solidFill>
                  <a:srgbClr val="FFFFFF"/>
                </a:solidFill>
                <a:ea typeface="Calibri"/>
                <a:cs typeface="Calibri"/>
              </a:rPr>
              <a:t>Check out GitHub Project - </a:t>
            </a:r>
            <a:r>
              <a:rPr lang="en-US" sz="1600" dirty="0">
                <a:solidFill>
                  <a:srgbClr val="FFFFFF"/>
                </a:solidFill>
                <a:ea typeface="Calibri"/>
                <a:cs typeface="Calibri"/>
                <a:hlinkClick r:id="rId6"/>
              </a:rPr>
              <a:t>https://github.com/users/jcallinan/projects/2/views/2</a:t>
            </a:r>
            <a:r>
              <a:rPr lang="en-US" sz="1600" dirty="0">
                <a:solidFill>
                  <a:srgbClr val="FFFFFF"/>
                </a:solidFill>
                <a:ea typeface="Calibri"/>
                <a:cs typeface="Calibri"/>
              </a:rPr>
              <a:t> </a:t>
            </a:r>
          </a:p>
          <a:p>
            <a:pPr marL="177800" indent="-177800">
              <a:spcAft>
                <a:spcPts val="500"/>
              </a:spcAft>
              <a:buSzPct val="100000"/>
              <a:buFont typeface="Arial"/>
              <a:buChar char="•"/>
            </a:pPr>
            <a:r>
              <a:rPr lang="en-US" sz="1600" dirty="0">
                <a:solidFill>
                  <a:srgbClr val="FFFFFF"/>
                </a:solidFill>
                <a:ea typeface="Calibri"/>
                <a:cs typeface="Calibri"/>
              </a:rPr>
              <a:t>Review chapter examples - </a:t>
            </a:r>
            <a:r>
              <a:rPr lang="en-US" sz="1600" dirty="0">
                <a:solidFill>
                  <a:srgbClr val="FFFFFF"/>
                </a:solidFill>
                <a:ea typeface="Calibri"/>
                <a:cs typeface="Calibri"/>
                <a:hlinkClick r:id="rId7"/>
              </a:rPr>
              <a:t>https://github.com/jcallinan/CIST1423-Fall2026-Examples</a:t>
            </a:r>
            <a:r>
              <a:rPr lang="en-US" sz="1600" dirty="0">
                <a:solidFill>
                  <a:srgbClr val="FFFFFF"/>
                </a:solidFill>
                <a:ea typeface="Calibri"/>
                <a:cs typeface="Calibri"/>
              </a:rPr>
              <a:t> </a:t>
            </a:r>
          </a:p>
          <a:p>
            <a:pPr marL="177800" indent="-177800">
              <a:spcAft>
                <a:spcPts val="500"/>
              </a:spcAft>
              <a:buSzPct val="100000"/>
              <a:buFont typeface="Arial"/>
              <a:buChar char="•"/>
            </a:pPr>
            <a:r>
              <a:rPr lang="en-US" sz="1600">
                <a:solidFill>
                  <a:srgbClr val="FFFFFF"/>
                </a:solidFill>
                <a:ea typeface="Calibri"/>
                <a:cs typeface="Calibri"/>
              </a:rPr>
              <a:t>Exam soon</a:t>
            </a:r>
            <a:endParaRPr lang="en-US" sz="1600" dirty="0">
              <a:solidFill>
                <a:srgbClr val="FFFFFF"/>
              </a:solidFill>
              <a:ea typeface="Calibri"/>
              <a:cs typeface="Calibri"/>
            </a:endParaRPr>
          </a:p>
        </p:txBody>
      </p:sp>
      <p:sp>
        <p:nvSpPr>
          <p:cNvPr id="7" name="Text 2"/>
          <p:cNvSpPr txBox="1"/>
          <p:nvPr/>
        </p:nvSpPr>
        <p:spPr>
          <a:xfrm>
            <a:off x="320040" y="6528816"/>
            <a:ext cx="8229600" cy="274320"/>
          </a:xfrm>
          <a:prstGeom prst="rect">
            <a:avLst/>
          </a:prstGeom>
          <a:noFill/>
          <a:ln/>
        </p:spPr>
        <p:txBody>
          <a:bodyPr wrap="square" lIns="0" tIns="0" rIns="0" bIns="0" rtlCol="0" anchor="ctr"/>
          <a:lstStyle/>
          <a:p>
            <a:pPr marL="0" indent="0">
              <a:buNone/>
            </a:pPr>
            <a:r>
              <a:rPr lang="en-US" sz="1050" dirty="0">
                <a:solidFill>
                  <a:srgbClr val="9AA7B1"/>
                </a:solidFill>
                <a:latin typeface="Calibri" pitchFamily="34" charset="0"/>
                <a:ea typeface="Calibri" pitchFamily="34" charset="-122"/>
                <a:cs typeface="Calibri" pitchFamily="34" charset="-120"/>
              </a:rPr>
              <a:t>CIST 1423 — Week 6 — AR Development in Unity I (Ch. 4, first half)</a:t>
            </a:r>
            <a:endParaRPr lang="en-US" sz="1050" dirty="0"/>
          </a:p>
        </p:txBody>
      </p:sp>
      <p:pic>
        <p:nvPicPr>
          <p:cNvPr id="8" name="Image 0" descr="C:\Users\Jeremy Callinan\AppData\Local\Temp\claude\c--GitHub-CIST1423-Fall2026-Examples\62e170c0-4055-4e17-811f-6bb67e40bfc7\scratchpad\deck\img\pitt_big.jpeg">
            <a:extLst>
              <a:ext uri="{FF2B5EF4-FFF2-40B4-BE49-F238E27FC236}">
                <a16:creationId xmlns:a16="http://schemas.microsoft.com/office/drawing/2014/main" id="{246B05C2-1822-A4E7-9682-B3838F6E2D8C}"/>
              </a:ext>
            </a:extLst>
          </p:cNvPr>
          <p:cNvPicPr>
            <a:picLocks noChangeAspect="1"/>
          </p:cNvPicPr>
          <p:nvPr/>
        </p:nvPicPr>
        <p:blipFill>
          <a:blip r:embed="rId8"/>
          <a:stretch>
            <a:fillRect/>
          </a:stretch>
        </p:blipFill>
        <p:spPr>
          <a:xfrm>
            <a:off x="0" y="9144"/>
            <a:ext cx="3392424" cy="8412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22</Slides>
  <Notes>19</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Five chapters, five projects, one skill each</vt:lpstr>
      <vt:lpstr>Building Interactive VR Experiences</vt:lpstr>
      <vt:lpstr>Build the car exhibition scene</vt:lpstr>
      <vt:lpstr>Interactable events you can hook without code</vt:lpstr>
      <vt:lpstr>Clips hold the motion; the Animator decides when</vt:lpstr>
      <vt:lpstr>Two UI buttons drive a three-state Animator</vt:lpstr>
      <vt:lpstr>Reach for C# when the motion depends on the moment</vt:lpstr>
      <vt:lpstr>Unity calls your methods; you fill them in</vt:lpstr>
      <vt:lpstr>BusScaler binds a slider’s value to the bus’s scale</vt:lpstr>
      <vt:lpstr>Building Interactive AR Experiences</vt:lpstr>
      <vt:lpstr>Successful AR apps share one simple pattern</vt:lpstr>
      <vt:lpstr>The ARFoodMenu scene, from hierarchy to scripts</vt:lpstr>
      <vt:lpstr>Get the food models, then build two kinds of UI</vt:lpstr>
      <vt:lpstr>Every frame: look at screen center, find a table, wait for a tap</vt:lpstr>
      <vt:lpstr>A data class, a wrapping index, and pinch to scale</vt:lpstr>
      <vt:lpstr>If the book’s AR code fights your project, check these first</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 Development I: the AR landscape and a first AR Foundation scene</dc:title>
  <dc:subject>PptxGenJS Presentation</dc:subject>
  <dc:creator>PptxGenJS</dc:creator>
  <cp:lastModifiedBy>Callinan, Jeremy Patrick</cp:lastModifiedBy>
  <cp:revision>304</cp:revision>
  <dcterms:created xsi:type="dcterms:W3CDTF">2026-09-28T00:20:10Z</dcterms:created>
  <dcterms:modified xsi:type="dcterms:W3CDTF">2026-10-25T22:14:21Z</dcterms:modified>
</cp:coreProperties>
</file>