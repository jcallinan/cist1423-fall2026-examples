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Syllabus Week 6. Next week (normally AR II) is WebXR building instead, so this week carries the core AR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textbook shows "AR Session Origin"; in AR Foundation 5+ it is "XR Origin (AR)". Same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Q1. What does the AR Session object do? What does XR Origin do?
   AR Session turns AR on/off and owns tracking state; XR Origin maps device space to Unity space and holds the AR Camera and managers.
Q2. Your default cube looks huge on the table. Why?
   1 Unity unit = 1 metre. A default cube is 1 m, so scale it to 0.1.
Q3. Which manager for "tap to place on a floor"?
   ARRaycastManager (against planes found by ARPlaneManager).
Q4. What's the WebXR name for the same idea?
   The hit-test feature (XRHitTestSource).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Reality</a:t>
            </a:r>
            <a:endParaRPr lang="en-US" sz="7200" dirty="0"/>
          </a:p>
        </p:txBody>
      </p:sp>
      <p:pic>
        <p:nvPicPr>
          <p:cNvPr id="5" name="Image 2" descr="C:\Users\Jeremy Callinan\AppData\Local\Temp\claude\c--GitHub-CIST1423-Fall2026-Examples\62e170c0-4055-4e17-811f-6bb67e40bfc7\scratchpad\deck\img\panther_gol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63040"/>
            <a:ext cx="4480560" cy="25237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3611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Development I: the AR landscape and a first AR Foundation scene</a:t>
            </a:r>
            <a:endParaRPr lang="en-US" sz="2200" dirty="0"/>
          </a:p>
        </p:txBody>
      </p:sp>
      <p:sp>
        <p:nvSpPr>
          <p:cNvPr id="7" name="Text 2"/>
          <p:cNvSpPr txBox="1"/>
          <p:nvPr/>
        </p:nvSpPr>
        <p:spPr>
          <a:xfrm>
            <a:off x="2130552" y="4572000"/>
            <a:ext cx="9217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 at 6:00pm</a:t>
            </a:r>
            <a:endParaRPr lang="en-US" sz="20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1423 - 2010   VIRTUAL REALITY PROGRAMMING AND TECHNOLOGY</a:t>
            </a: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411480" y="58064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9" name="Image 3" descr="C:\Users\Jeremy Callinan\AppData\Local\Temp\claude\c--GitHub-CIST1423-Fall2026-Examples\62e170c0-4055-4e17-811f-6bb67e40bfc7\scratchpad\deck\img\pa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916168"/>
            <a:ext cx="420624" cy="4206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5806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a starter AR Foundation scene and place a cube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bi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3392424" cy="841248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096" y="0"/>
            <a:ext cx="2276856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73152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4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08" y="2103120"/>
            <a:ext cx="1005840" cy="10058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5808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 landscape</a:t>
            </a:r>
            <a:endParaRPr lang="en-US" sz="2000" dirty="0"/>
          </a:p>
        </p:txBody>
      </p:sp>
      <p:sp>
        <p:nvSpPr>
          <p:cNvPr id="7" name="Text 2"/>
          <p:cNvSpPr txBox="1"/>
          <p:nvPr/>
        </p:nvSpPr>
        <p:spPr>
          <a:xfrm>
            <a:off x="115808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headsets, marker vs markerless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2103120"/>
            <a:ext cx="1005840" cy="1005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63280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Foundation setup</a:t>
            </a:r>
            <a:endParaRPr lang="en-US" sz="2000" dirty="0"/>
          </a:p>
        </p:txBody>
      </p:sp>
      <p:sp>
        <p:nvSpPr>
          <p:cNvPr id="10" name="Text 4"/>
          <p:cNvSpPr txBox="1"/>
          <p:nvPr/>
        </p:nvSpPr>
        <p:spPr>
          <a:xfrm>
            <a:off x="463280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Packages, XR Plug-in Management, the session objects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648" y="2103120"/>
            <a:ext cx="1005840" cy="10058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107528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cube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8107528" y="3794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object in the real world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class you can…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85800" y="23317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103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handheld AR, passthrough MR and optical see-through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marker-based from markerless AR, and name the AR Foundation manager for each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 AR Foundation project (packages, XR Plug-in Management, AR Session, XR Origin)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85800" y="5074920"/>
            <a:ext cx="457200" cy="457200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4846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cube in the real world at the right scale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452360" y="192024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68096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plan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6060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778240" y="2606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680960" y="31729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778240" y="3172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landscape + AR Foundation setup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680960" y="3739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77824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briefing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680960" y="430682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50–130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778240" y="43068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starter AR scene + place a cube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7680960" y="4873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130–145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8778240" y="48737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680960" y="54406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145–150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8778240" y="5440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6 — AR Development in Unity I (Ch. 4, first half)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 landscape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everywhere: track the device, understand the room, draw on top of reality.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743200"/>
                <a:gridCol w="2834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you see reality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Handheld 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(ARCore), iPhone/iPad (ARKit)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feed on a screen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phones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Passthrough MR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 3 / Quest Pro, Vision 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Cameras → headset displays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 (lab)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see-through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HoloLens 2, Magic Leap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lenses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HoloLens (stage)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 Browser, Chrome Android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WebXR immersive-ar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3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panther-builder / WaterWorks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replaces the world. AR adds to it. MR additionally understands it (planes, meshes, anchors).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6 — AR Development in Unity I (Ch. 4, first half)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Marker-based vs markerless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app know where to put things?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5509260" cy="3429000"/>
          </a:xfrm>
          <a:prstGeom prst="roundRect">
            <a:avLst>
              <a:gd name="adj" fmla="val 21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Marker-based (image tracking)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51435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 known picture: poster, card, QR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locks to the marker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museum labels, product boxes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Foundation: ARTrackedImageManager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195060" y="1920240"/>
            <a:ext cx="5509260" cy="3429000"/>
          </a:xfrm>
          <a:prstGeom prst="roundRect">
            <a:avLst>
              <a:gd name="adj" fmla="val 21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835140" y="2103120"/>
            <a:ext cx="4686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Markerless (SLAM)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6377940" y="2560320"/>
            <a:ext cx="51435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feature points in any scene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planes: floors, tables, walls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anywhere, anchor to the world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Foundation: ARPlaneManager, ARRaycastManager, ARAnchorManager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idea: a marker on the Panther statue's plaque that spawns our scanned Panther model next to it.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6 — AR Development in Unity I (Ch. 4, first half)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set up an AR Foundation project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2022.3 LTS. Build target Android (or iOS on a Mac).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Template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Hub → New → "AR Mobile" template, or 3D (URP) and add packages yourself.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743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743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Packages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80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Manager: AR Foundation + Google ARCore XR Plugin (Android) / Apple ARKit XR Plugin (iOS).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XR Plug-in Mgmt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66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tab: check ARCore. Player Settings: min API 24+, remove Vulkan, IL2CPP + ARM64.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315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Session objects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315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52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Main Camera. GameObject → XR → AR Session, and XR Origin (AR).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9601200" y="19202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601200" y="1920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601200" y="256032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738360" y="269748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Run to a phone. Or use XR Simulation (AR Foundation 5+) in the Editor.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6 — AR Development in Unity I (Ch. 4, first half)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Session and XR Origin (was AR Session Origin)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GameObjects every AR Foundation scene needs.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Session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AR on and off for the whole app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tracking state (none / limited / tracking)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per scene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428244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20" y="2103120"/>
            <a:ext cx="329184" cy="32918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2252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Origin (AR)</a:t>
            </a:r>
            <a:endParaRPr lang="en-US" sz="1450" dirty="0"/>
          </a:p>
        </p:txBody>
      </p:sp>
      <p:sp>
        <p:nvSpPr>
          <p:cNvPr id="14" name="Text 8"/>
          <p:cNvSpPr txBox="1"/>
          <p:nvPr/>
        </p:nvSpPr>
        <p:spPr>
          <a:xfrm>
            <a:off x="446532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"rig": maps device space to Unity space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AR Camera (camera feed + pose)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trackable managers live (planes, raycasts, anchors)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8107680" y="1920240"/>
            <a:ext cx="3596640" cy="4206240"/>
          </a:xfrm>
          <a:prstGeom prst="roundRect">
            <a:avLst>
              <a:gd name="adj" fmla="val 2034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10312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47760" y="2103120"/>
            <a:ext cx="277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units</a:t>
            </a:r>
            <a:endParaRPr lang="en-US" sz="1450" dirty="0"/>
          </a:p>
        </p:txBody>
      </p:sp>
      <p:sp>
        <p:nvSpPr>
          <p:cNvPr id="18" name="Text 11"/>
          <p:cNvSpPr txBox="1"/>
          <p:nvPr/>
        </p:nvSpPr>
        <p:spPr>
          <a:xfrm>
            <a:off x="8290560" y="2560320"/>
            <a:ext cx="3230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Unity unit = 1 metre in the real world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cube is 1 m: scale it to 0.1 for a tabletop cube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6 — AR Development in Unity I (Ch. 4, first half)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Placing a simple cube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version: put a 10 cm cube 50 cm in front of the camera when AR starts tracking.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B1620"/>
          </a:solidFill>
          <a:ln w="9525">
            <a:solidFill>
              <a:srgbClr val="0B16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2048256"/>
            <a:ext cx="634593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UnityEngine.XR.ARFoundation;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PlaceCubeOnStart : MonoBehaviour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Transform arCamera;   // the AR Camera under XR Origin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placed;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E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Wait until the device is actually tracking the room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(placed || ARSession.state != ARSessionState.SessionTracking)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cube = GameObject.CreatePrimitive(PrimitiveType.Cube);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cube.transform.localScale = Vector3.one * 0.1f;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cube.transform.position = arCamera.position + arCamera.forward * 0.5f;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placed =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60920" y="192024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03120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01000" y="21031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wait for tracking?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7543800" y="256032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tracking, the camera pose is 0,0,0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cube would appear in the wrong place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60920" y="4137660"/>
            <a:ext cx="4343400" cy="1988820"/>
          </a:xfrm>
          <a:prstGeom prst="roundRect">
            <a:avLst>
              <a:gd name="adj" fmla="val 3678"/>
            </a:avLst>
          </a:prstGeom>
          <a:solidFill>
            <a:srgbClr val="0E2841"/>
          </a:solidFill>
          <a:ln w="9525">
            <a:solidFill>
              <a:srgbClr val="0E284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32054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0" y="43205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7543800" y="4777740"/>
            <a:ext cx="39776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detected plane to place instead (ARRaycastManager)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that in WebXR next week with hit-test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6 — AR Development in Unity I (Ch. 4, first half)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 on the web: the same ideas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panther-builder we showed at Alumni Weekend is web AR: immersive-ar on a Quest with passthrough.</a:t>
            </a:r>
            <a:endParaRPr lang="en-US" sz="1350" dirty="0"/>
          </a:p>
        </p:txBody>
      </p:sp>
      <p:pic>
        <p:nvPicPr>
          <p:cNvPr id="7" name="Image 2" descr="C:\Users\Jeremy Callinan\AppData\Local\Temp\claude\c--GitHub-CIST1423-Fall2026-Examples\62e170c0-4055-4e17-811f-6bb67e40bfc7\scratchpad\deck\img\panther_deskto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62" y="1920240"/>
            <a:ext cx="5361076" cy="30175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5029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panther-builder on a laptop: same code, no AR. The 3D viewer is the fallback.</a:t>
            </a:r>
            <a:endParaRPr lang="en-US" sz="1200" dirty="0"/>
          </a:p>
        </p:txBody>
      </p:sp>
      <p:pic>
        <p:nvPicPr>
          <p:cNvPr id="9" name="Image 3" descr="C:\Users\Jeremy Callinan\AppData\Local\Temp\claude\c--GitHub-CIST1423-Fall2026-Examples\62e170c0-4055-4e17-811f-6bb67e40bfc7\scratchpad\deck\img\ww_shelf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920240"/>
            <a:ext cx="3657600" cy="30175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217920" y="5029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week's WaterWorks shelf: in MR it floats in your real room.</a:t>
            </a:r>
            <a:endParaRPr lang="en-US" sz="1200" dirty="0"/>
          </a:p>
        </p:txBody>
      </p:sp>
      <p:sp>
        <p:nvSpPr>
          <p:cNvPr id="11" name="Shape 5"/>
          <p:cNvSpPr/>
          <p:nvPr/>
        </p:nvSpPr>
        <p:spPr>
          <a:xfrm>
            <a:off x="457200" y="55321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asks for the same features AR Foundation has: hit-test (raycasts), plane-detection, anchors.</a:t>
            </a:r>
            <a:endParaRPr lang="en-US" sz="1250" dirty="0"/>
          </a:p>
        </p:txBody>
      </p:sp>
      <p:sp>
        <p:nvSpPr>
          <p:cNvPr id="13" name="Text 7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6 — AR Development in Unity I (Ch. 4, first half)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6217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320040" y="1298448"/>
            <a:ext cx="9875520" cy="0"/>
          </a:xfrm>
          <a:prstGeom prst="line">
            <a:avLst/>
          </a:prstGeom>
          <a:noFill/>
          <a:ln w="9525">
            <a:solidFill>
              <a:srgbClr val="E9713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a partner first, then we'll compare.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5720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AR Session object do? What does XR Origin do?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95060" y="192024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2366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23660" y="260604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default cube looks huge on the table. Why?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43205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82346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manager for "tap to place on a floor"?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95060" y="4137660"/>
            <a:ext cx="5509260" cy="1988820"/>
          </a:xfrm>
          <a:prstGeom prst="roundRect">
            <a:avLst>
              <a:gd name="adj" fmla="val 3678"/>
            </a:avLst>
          </a:prstGeom>
          <a:solidFill>
            <a:srgbClr val="F4F7FA"/>
          </a:solidFill>
          <a:ln w="9525">
            <a:solidFill>
              <a:srgbClr val="D8E1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23660" y="43205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6423660" y="4823460"/>
            <a:ext cx="50520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WebXR name for the same idea?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20040" y="65288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6 — AR Development in Unity I (Ch. 4, first half)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remy Callinan\AppData\Local\Temp\claude\c--GitHub-CIST1423-Fall2026-Examples\62e170c0-4055-4e17-811f-6bb67e40bfc7\scratchpad\deck\img\pitt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371600" cy="329184"/>
          </a:xfrm>
          <a:prstGeom prst="rect">
            <a:avLst/>
          </a:prstGeom>
        </p:spPr>
      </p:pic>
      <p:pic>
        <p:nvPicPr>
          <p:cNvPr id="3" name="Image 1" descr="C:\Users\Jeremy Callinan\AppData\Local\Temp\claude\c--GitHub-CIST1423-Fall2026-Examples\62e170c0-4055-4e17-811f-6bb67e40bfc7\scratchpad\deck\img\vr_badg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01168"/>
            <a:ext cx="12344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homework + planning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7863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AR scene with a placed object (screenshot or phone video)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reflection: what AR Session and XR Origin each do in your scene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WebXR building (replaces AR Development II), bring a laptop and headset</a:t>
            </a:r>
            <a:endParaRPr lang="en-US" sz="1600" dirty="0"/>
          </a:p>
        </p:txBody>
      </p:sp>
      <p:pic>
        <p:nvPicPr>
          <p:cNvPr id="6" name="Image 2" descr="C:\Users\Jeremy Callinan\AppData\Local\Temp\claude\c--GitHub-CIST1423-Fall2026-Examples\62e170c0-4055-4e17-811f-6bb67e40bfc7\scratchpad\deck\img\alumni_bad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846320"/>
            <a:ext cx="2926080" cy="1691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004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CIST 1423 — Week 6 — AR Development in Unity I (Ch. 4, first half)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Development I: the AR landscape and a first AR Foundation scene</dc:title>
  <dc:subject>PptxGenJS Presentation</dc:subject>
  <dc:creator>PptxGenJS</dc:creator>
  <cp:lastModifiedBy>PptxGenJS</cp:lastModifiedBy>
  <cp:revision>1</cp:revision>
  <dcterms:created xsi:type="dcterms:W3CDTF">2026-09-28T00:20:10Z</dcterms:created>
  <dcterms:modified xsi:type="dcterms:W3CDTF">2026-09-28T00:20:10Z</dcterms:modified>
</cp:coreProperties>
</file>