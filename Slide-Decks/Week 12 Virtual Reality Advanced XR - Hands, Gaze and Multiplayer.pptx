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lesson plan: Lesson-Plans/Week-12-Multiplayer.md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Q1. Two people grab the same pipe at once. What happens?
   The server grants the first grab to arrive; the other gets grab-denied and their copy snaps back.
Q2. Updates arrive 15×/s. Why does motion look smooth?
   Clients interpolate (lerp/slerp) toward the latest pose every frame.
Q3. What is the "Midas touch" problem?
   Everything you look at gets selected. Fix: dwell time plus visible progress.
Q4. PUN's PhotonView ownership maps to what in WaterWorks?
   heldBy, enforced by the server's grab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Reality</a:t>
            </a:r>
            <a:endParaRPr lang="en-US" sz="7200" dirty="0"/>
          </a:p>
        </p:txBody>
      </p:sp>
      <p:pic>
        <p:nvPicPr>
          <p:cNvPr id="5" name="Image 2" descr="C:\Users\Jeremy Callinan\AppData\Local\Temp\claude\c--GitHub-CIST1423-Fall2026-Examples\62e170c0-4055-4e17-811f-6bb67e40bfc7\scratchpad\deck\img\ww_multi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44805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XR: hand tracking, eye and head gaze, and multiplayer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130552" y="4572000"/>
            <a:ext cx="9217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at 6:00pm</a:t>
            </a:r>
            <a:endParaRPr lang="en-US" sz="20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1423 - 2010   VIRTUAL REALITY PROGRAMMING AND TECHNOLOGY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411480" y="58064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9" name="Image 3" descr="C:\Users\Jeremy Callinan\AppData\Local\Temp\claude\c--GitHub-CIST1423-Fall2026-Examples\62e170c0-4055-4e17-811f-6bb67e40bfc7\scratchpad\deck\img\pa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916168"/>
            <a:ext cx="420624" cy="4206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prototype one advanced feature and document your approach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73152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4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08" y="21031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5808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115808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XRI Hands, SteamVR skeletons, WebXR hands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2103120"/>
            <a:ext cx="1005840" cy="1005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328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&amp; head gaze</a:t>
            </a:r>
            <a:endParaRPr lang="en-US" sz="2000" dirty="0"/>
          </a:p>
        </p:txBody>
      </p:sp>
      <p:sp>
        <p:nvSpPr>
          <p:cNvPr id="10" name="Text 4"/>
          <p:cNvSpPr txBox="1"/>
          <p:nvPr/>
        </p:nvSpPr>
        <p:spPr>
          <a:xfrm>
            <a:off x="463280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as input: dwell to select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21031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752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810752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in the book, our WaterWorks relay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class you can…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multiplayer problems: meeting, authority, sync, presence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grab ownership with a two-person race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interpolation between 15 Hz updates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85800" y="50749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4846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head-gaze dwell selection and avoid the Midas touch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452360" y="192024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6809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plan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606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778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680960" y="31729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77824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+ gaze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7680960" y="3739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25–45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77824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Unplugged: be the network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680960" y="430682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45–85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778240" y="4306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vs relay, live WS frames, code reading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7680960" y="48737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85–135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8778240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one advanced feature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680960" y="54406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135–150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8778240" y="5440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 + exit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12 — Building Advanced XR Techniques (Ch. 8)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tracking on each platform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everywhere: a pose per finger joint, every frame.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017520"/>
                <a:gridCol w="2743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+ XRI (book)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XR Hands package, XRHandSubsystem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 (camera hands)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 / pinch interactors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+ SteamVR (lab)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SkeletonLeftHand / RightHand 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Knuckles, Vive wands (estimated)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Hand.skeleton, finger curls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WebXR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optionalFeatures: ['hand-tracking']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 Browser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XRHand: 25 joints per hand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need bigger targets and forgiving colliders. No trigger means "pinch" or "poke" is the click.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12 — Building Advanced XR Techniques (Ch. 8)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gaze + dwell to select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every headset (no eye tracker needed). Eye gaze uses the same logic with an eye ray.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B1620"/>
          </a:solidFill>
          <a:ln w="9525">
            <a:solidFill>
              <a:srgbClr val="0B162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2048256"/>
            <a:ext cx="634593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GazeDwell : MonoBehaviour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Transform head;                   // the VR camera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dwellSeconds = 1.2f;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GameObject current; float timer;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GameObject hit = null;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(Physics.Raycast(head.position, head.forward, out var h, 10f))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hit = h.collider.gameObject;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(hit != current) { current = hit; timer = 0; return;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(current == null)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timer += Time.deltaTime;             // show a filling ring 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(timer &gt;= dwellSeconds)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current.SendMessage("OnGazeSelect",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SendMessageOptions.DontRequireReceiver);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timer = float.NegativeInfinity;  // once, until you look away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360920" y="192024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0312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0" y="21031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"Midas touch" problem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7543800" y="256032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look at gets selected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 + visible progress fixes it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60920" y="413766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32054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0" y="43205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win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7543800" y="477774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works for users who can't use controllers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12 — Building Advanced XR Techniques (Ch. 8)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Multiplayer, live: WaterWorks Builder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pic>
        <p:nvPicPr>
          <p:cNvPr id="6" name="Image 2" descr="C:\Users\Jeremy Callinan\AppData\Local\Temp\claude\c--GitHub-CIST1423-Fall2026-Examples\62e170c0-4055-4e17-811f-6bb67e40bfc7\scratchpad\deck\img\ww_multi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55" y="1920240"/>
            <a:ext cx="6660731" cy="3749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57200" y="57424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Ben's view: Ana (yellow, desktop) and a Vive Pro 2 user (green, head + hands) in the same room, 16 shared parts.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7680960" y="1920240"/>
            <a:ext cx="4023360" cy="124968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103120"/>
            <a:ext cx="329184" cy="32918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321040" y="2103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with memory</a:t>
            </a:r>
            <a:endParaRPr lang="en-US" sz="1450" dirty="0"/>
          </a:p>
        </p:txBody>
      </p:sp>
      <p:sp>
        <p:nvSpPr>
          <p:cNvPr id="11" name="Text 5"/>
          <p:cNvSpPr txBox="1"/>
          <p:nvPr/>
        </p:nvSpPr>
        <p:spPr>
          <a:xfrm>
            <a:off x="7863840" y="256032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WebSocket, one room per ?room=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part list for late joiners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7680960" y="3398520"/>
            <a:ext cx="4023360" cy="124968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3581400"/>
            <a:ext cx="329184" cy="32918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321040" y="35814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450" dirty="0"/>
          </a:p>
        </p:txBody>
      </p:sp>
      <p:sp>
        <p:nvSpPr>
          <p:cNvPr id="15" name="Text 8"/>
          <p:cNvSpPr txBox="1"/>
          <p:nvPr/>
        </p:nvSpPr>
        <p:spPr>
          <a:xfrm>
            <a:off x="7863840" y="403860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holder per part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grab → grab-denied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7680960" y="4876800"/>
            <a:ext cx="4023360" cy="1249680"/>
          </a:xfrm>
          <a:prstGeom prst="roundRect">
            <a:avLst>
              <a:gd name="adj" fmla="val 5854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5059680"/>
            <a:ext cx="329184" cy="32918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321040" y="50596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Hz + smoothing</a:t>
            </a:r>
            <a:endParaRPr lang="en-US" sz="1450" dirty="0"/>
          </a:p>
        </p:txBody>
      </p:sp>
      <p:sp>
        <p:nvSpPr>
          <p:cNvPr id="19" name="Text 11"/>
          <p:cNvSpPr txBox="1"/>
          <p:nvPr/>
        </p:nvSpPr>
        <p:spPr>
          <a:xfrm>
            <a:off x="7863840" y="551688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 sent 15×/s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lerps/slerps between them</a:t>
            </a:r>
            <a:endParaRPr lang="en-US" sz="1250" dirty="0"/>
          </a:p>
        </p:txBody>
      </p:sp>
      <p:sp>
        <p:nvSpPr>
          <p:cNvPr id="20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12 — Building Advanced XR Techniques (Ch. 8)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 (textbook) vs our relay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problems, different names.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Photon PUN (Ch. 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WaterWorks (Week-07-WebXR-WaterWorks)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do players meet?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Photon Cloud room, NetworkManager joins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server.mjs relay, ?room=lab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controls an object?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PhotonView ownership / RequestOwnership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heldBy; server grants grab or sends grab-denied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Keeping positions in sync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PhotonTransformView, OnPhotonSerializeView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{id,p,q} at 15 Hz, workspace.smooth()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Showing other people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Avatar prefab: head, hands, animated fingers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avatars.js: visor head, hands, name tag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joiners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Buffered RPCs / room properties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snapshot of peers + parts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12 — Building Advanced XR Techniques (Ch. 8)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 rule that makes it fair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server/rooms.mjs: pure logic, unit-tested, no networking inside.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B1620"/>
          </a:solidFill>
          <a:ln w="9525">
            <a:solidFill>
              <a:srgbClr val="0B162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2048256"/>
            <a:ext cx="634593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'grab':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part = this.parts.get(msg.id);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(!part) return [];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(part.heldBy &amp;&amp; part.heldBy !== from)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someone got there first: tell only the loser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[{ to: from, msg: { t: 'grab-denied', id: part.id,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heldBy: part.heldBy, p: part.p, q: part.q } }];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part.heldBy = from;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[{ to: 'others', msg: { t: 'grab', id: part.id, by: from } }];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360920" y="192024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0312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0" y="21031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7543800" y="256032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rooms.test.mjs: ownership, leaving drops held parts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relay.test.mjs: two real clients race for a pump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60920" y="413766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32054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0" y="43205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7543800" y="477774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start in Week-07-WebXR-WaterWorks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browsers + a headset, same URL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12 — Building Advanced XR Techniques (Ch. 8)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a partner first, then we'll compare.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grab the same pipe at once. What happens?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9506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236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23660" y="260604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arrive 15×/s. Why does motion look smooth?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43205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82346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"Midas touch" problem?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9506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23660" y="43205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6423660" y="482346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PUN's PhotonView ownership maps to what in WaterWorks?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12 — Building Advanced XR Techniques (Ch. 8)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homework + planning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one advanced feature: hand tracking, gaze interaction, or a basic multiplayer connection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approach in Markdown (what you tried, what worked)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option: add a feature to WaterWorks (undo, pipe sizes, flow check)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Ch. 9, best practices, trends, and collaboration</a:t>
            </a:r>
            <a:endParaRPr lang="en-US" sz="1600" dirty="0"/>
          </a:p>
        </p:txBody>
      </p:sp>
      <p:pic>
        <p:nvPicPr>
          <p:cNvPr id="6" name="Image 2" descr="C:\Users\Jeremy Callinan\AppData\Local\Temp\claude\c--GitHub-CIST1423-Fall2026-Examples\62e170c0-4055-4e17-811f-6bb67e40bfc7\scratchpad\deck\img\alumni_bad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00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12 — Building Advanced XR Techniques (Ch. 8)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XR: hand tracking, eye and head gaze, and multiplayer</dc:title>
  <dc:subject>PptxGenJS Presentation</dc:subject>
  <dc:creator>PptxGenJS</dc:creator>
  <cp:lastModifiedBy>PptxGenJS</cp:lastModifiedBy>
  <cp:revision>1</cp:revision>
  <dcterms:created xsi:type="dcterms:W3CDTF">2026-09-28T00:20:10Z</dcterms:created>
  <dcterms:modified xsi:type="dcterms:W3CDTF">2026-09-28T00:20:10Z</dcterms:modified>
</cp:coreProperties>
</file>