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Syllabus Ch. 3 covers VR setup with the XR Interaction Toolkit. We use SteamVR instead because the lab Vive Pros and our Alumni Weekend GolfVR project run on it. Repo folders: Week-04-SteamVR-Setup and Week-05-SteamVR-Interactions.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set up the project (Week 4 README), tour and build with the Interaction System (Week 5 README), then read real code from GolfVR.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sessions. Lesson plans: Lesson-Plans/Week-04-SteamVR-Setup.md and Lesson-Plans/Week-05-SteamVR-Playground.md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framing: most of the class is interaction design, not rendering.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row is XRI. Point out that GolfVR has both OpenVR and OpenXR loaders installed, with OpenVR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highlighted because it causes the most first-day problems. GolfVR's Assets/XR/XRGeneralSettingsPerBuildTarget.asset lists OpenVRLoader then OpenXRLoader.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action names in GolfVR's actions.json. The Menu action is what our Week 5 MenuButtonSpawner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check these before asking for help. The deliverable template has a "Problems I hit" section for them to record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sample scene live and stop at each station. All of these components are used in Interactions_Example (checked by GUID).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 come from Throwable.cs in SteamVR 2.8. GolfVR has a BugFixVerificationTest that checks the putter's flags include SnapOnAttach.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 Assets/Editor/BuildSteamVRPlayground.cs. Needs the SteamVR plugin and a Built-In pipeline project. Lesson plan: Lesson-Plans/Week-05-SteamVR-Playground.md (station guide with predict/explain/change prompts and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questions (answers): 1 Can vs ball speed? Same: Throwable copies hand velocity. 2 Cube resting on the board: hit? No, below 1.2 m/s. 4 Knob in the middle: scale? 1.0x. 5 Turns from shut to full? Two (maxAngle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Week-05-SteamVR-Interactions/docs (six views, including the lever and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Ch. 5 exercise scales an object with a UI slider; the lever is the physical version. Week 9 builds the UI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scripts are in Week-05-SteamVR-Interactions/Assets/Scripts.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order is in the Week 5 README section 4. GolfVR Docs/README.md also covers its Edit-mode test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simplified from GolfPutter.cs (the null-conditional on the hand stands in for the original if/try block). Hint for the discussion: a held putter is kinematic, so its Rigidbody velocity is not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deliverable templates are at the bottom of the week READMEs.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OpenXR is listed above OpenVR in XR Plug-in Management. What breaks?
   The SteamVR plugin’s Input and Interaction System, which need the OpenVR loader active.
Q2. Hands appear but no button does anything. Most likely cause?
   SteamVR Input was never saved and generated.
Q3. A held cube passes through the table. Which attachment flag is responsible?
   TurnOnKinematic: a kinematic body is not pushed by collisions.
Q4. The lever knob is at the middle. What scale is the statue?
   1.0x: Lerp(0.4, 1.6,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WebXR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image" Target="../media/image-20-3.jp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548640" y="1371600"/>
            <a:ext cx="6400800" cy="2194560"/>
          </a:xfrm>
          <a:prstGeom prst="rect">
            <a:avLst/>
          </a:prstGeom>
          <a:noFill/>
          <a:ln/>
        </p:spPr>
        <p:txBody>
          <a:bodyPr wrap="square" lIns="0" tIns="0" rIns="0" bIns="0" rtlCol="0" anchor="ctr"/>
          <a:lstStyle/>
          <a:p>
            <a:pPr indent="0" marL="0">
              <a:buNone/>
            </a:pPr>
            <a:r>
              <a:rPr lang="en-US" sz="7200" dirty="0">
                <a:solidFill>
                  <a:srgbClr val="000000"/>
                </a:solidFill>
                <a:latin typeface="Calibri Light" pitchFamily="34" charset="0"/>
                <a:ea typeface="Calibri Light" pitchFamily="34" charset="-122"/>
                <a:cs typeface="Calibri Light" pitchFamily="34" charset="-120"/>
              </a:rPr>
              <a:t>Virtual Reality</a:t>
            </a:r>
            <a:endParaRPr lang="en-US" sz="7200" dirty="0"/>
          </a:p>
        </p:txBody>
      </p:sp>
      <p:pic>
        <p:nvPicPr>
          <p:cNvPr id="5" name="Image 2" descr="C:\Users\Jeremy Callinan\AppData\Local\Temp\claude\c--GitHub-CIST1423-Fall2026-Examples\62e170c0-4055-4e17-811f-6bb67e40bfc7\scratchpad\deck\img\golf_overview.jpg">    </p:cNvPr>
          <p:cNvPicPr>
            <a:picLocks noChangeAspect="1"/>
          </p:cNvPicPr>
          <p:nvPr/>
        </p:nvPicPr>
        <p:blipFill>
          <a:blip r:embed="rId3"/>
          <a:stretch>
            <a:fillRect/>
          </a:stretch>
        </p:blipFill>
        <p:spPr>
          <a:xfrm>
            <a:off x="7086600" y="1463040"/>
            <a:ext cx="4480560" cy="2523744"/>
          </a:xfrm>
          <a:prstGeom prst="rect">
            <a:avLst/>
          </a:prstGeom>
        </p:spPr>
      </p:pic>
      <p:sp>
        <p:nvSpPr>
          <p:cNvPr id="6" name="Text 1"/>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2200" b="1" dirty="0">
                <a:solidFill>
                  <a:srgbClr val="0E2841"/>
                </a:solidFill>
                <a:latin typeface="Cambria" pitchFamily="34" charset="0"/>
                <a:ea typeface="Cambria" pitchFamily="34" charset="-122"/>
                <a:cs typeface="Cambria" pitchFamily="34" charset="-120"/>
              </a:rPr>
              <a:t>SteamVR setup, the Interaction System, and how GolfVR was built</a:t>
            </a:r>
            <a:endParaRPr lang="en-US" sz="2200" dirty="0"/>
          </a:p>
        </p:txBody>
      </p:sp>
      <p:sp>
        <p:nvSpPr>
          <p:cNvPr id="7" name="Text 2"/>
          <p:cNvSpPr txBox="1"/>
          <p:nvPr/>
        </p:nvSpPr>
        <p:spPr>
          <a:xfrm>
            <a:off x="2130552" y="4572000"/>
            <a:ext cx="9217152" cy="914400"/>
          </a:xfrm>
          <a:prstGeom prst="rect">
            <a:avLst/>
          </a:prstGeom>
          <a:noFill/>
          <a:ln/>
        </p:spPr>
        <p:txBody>
          <a:bodyPr wrap="square" lIns="0" tIns="0" rIns="0" bIns="0" rtlCol="0" anchor="ctr"/>
          <a:lstStyle/>
          <a:p>
            <a:pPr algn="r" indent="0" marL="0">
              <a:buNone/>
            </a:pPr>
            <a:r>
              <a:rPr lang="en-US" sz="2000" dirty="0">
                <a:solidFill>
                  <a:srgbClr val="4472C4"/>
                </a:solidFill>
                <a:latin typeface="Calibri" pitchFamily="34" charset="0"/>
                <a:ea typeface="Calibri" pitchFamily="34" charset="-122"/>
                <a:cs typeface="Calibri" pitchFamily="34" charset="-120"/>
              </a:rPr>
              <a:t>Wednesdays at 6:00pm</a:t>
            </a:r>
            <a:endParaRPr lang="en-US" sz="2000" dirty="0"/>
          </a:p>
          <a:p>
            <a:pPr algn="r" indent="0" marL="0">
              <a:buNone/>
            </a:pPr>
            <a:r>
              <a:rPr lang="en-US" sz="1600" dirty="0">
                <a:solidFill>
                  <a:srgbClr val="000000"/>
                </a:solidFill>
                <a:latin typeface="Calibri" pitchFamily="34" charset="0"/>
                <a:ea typeface="Calibri" pitchFamily="34" charset="-122"/>
                <a:cs typeface="Calibri" pitchFamily="34" charset="-120"/>
              </a:rPr>
              <a:t>CIST 1423 - 2010   VIRTUAL REALITY PROGRAMMING AND TECHNOLOGY</a:t>
            </a:r>
            <a:endParaRPr lang="en-US" sz="2000" dirty="0"/>
          </a:p>
        </p:txBody>
      </p:sp>
      <p:sp>
        <p:nvSpPr>
          <p:cNvPr id="8" name="Shape 3"/>
          <p:cNvSpPr/>
          <p:nvPr/>
        </p:nvSpPr>
        <p:spPr>
          <a:xfrm>
            <a:off x="411480" y="5806440"/>
            <a:ext cx="8138160" cy="640080"/>
          </a:xfrm>
          <a:prstGeom prst="roundRect">
            <a:avLst>
              <a:gd name="adj" fmla="val 14286"/>
            </a:avLst>
          </a:prstGeom>
          <a:solidFill>
            <a:srgbClr val="0E2841"/>
          </a:solidFill>
          <a:ln w="12700">
            <a:solidFill>
              <a:srgbClr val="0E2841"/>
            </a:solidFill>
            <a:prstDash val="solid"/>
          </a:ln>
        </p:spPr>
      </p:sp>
      <p:pic>
        <p:nvPicPr>
          <p:cNvPr id="9" name="Image 3" descr="C:\Users\Jeremy Callinan\AppData\Local\Temp\claude\c--GitHub-CIST1423-Fall2026-Examples\62e170c0-4055-4e17-811f-6bb67e40bfc7\scratchpad\deck\img\paw.png">    </p:cNvPr>
          <p:cNvPicPr>
            <a:picLocks noChangeAspect="1"/>
          </p:cNvPicPr>
          <p:nvPr/>
        </p:nvPicPr>
        <p:blipFill>
          <a:blip r:embed="rId4"/>
          <a:stretch>
            <a:fillRect/>
          </a:stretch>
        </p:blipFill>
        <p:spPr>
          <a:xfrm>
            <a:off x="576072" y="5916168"/>
            <a:ext cx="420624" cy="420624"/>
          </a:xfrm>
          <a:prstGeom prst="rect">
            <a:avLst/>
          </a:prstGeom>
        </p:spPr>
      </p:pic>
      <p:sp>
        <p:nvSpPr>
          <p:cNvPr id="10" name="Text 4"/>
          <p:cNvSpPr txBox="1"/>
          <p:nvPr/>
        </p:nvSpPr>
        <p:spPr>
          <a:xfrm>
            <a:off x="1143000" y="5806440"/>
            <a:ext cx="7315200" cy="640080"/>
          </a:xfrm>
          <a:prstGeom prst="rect">
            <a:avLst/>
          </a:prstGeom>
          <a:noFill/>
          <a:ln/>
        </p:spPr>
        <p:txBody>
          <a:bodyPr wrap="square" lIns="0" tIns="0" rIns="0" bIns="0" rtlCol="0" anchor="ctr"/>
          <a:lstStyle/>
          <a:p>
            <a:pPr indent="0" marL="0">
              <a:buNone/>
            </a:pPr>
            <a:r>
              <a:rPr lang="en-US" sz="1600" b="1" dirty="0">
                <a:solidFill>
                  <a:srgbClr val="F0D68A"/>
                </a:solidFill>
                <a:latin typeface="Calibri" pitchFamily="34" charset="0"/>
                <a:ea typeface="Calibri" pitchFamily="34" charset="-122"/>
                <a:cs typeface="Calibri" pitchFamily="34" charset="-120"/>
              </a:rPr>
              <a:t>Lab tonight: build a teleport + grab test scene, then read GolfVR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big.jpeg">    </p:cNvPr>
          <p:cNvPicPr>
            <a:picLocks noChangeAspect="1"/>
          </p:cNvPicPr>
          <p:nvPr/>
        </p:nvPicPr>
        <p:blipFill>
          <a:blip r:embed="rId1"/>
          <a:stretch>
            <a:fillRect/>
          </a:stretch>
        </p:blipFill>
        <p:spPr>
          <a:xfrm>
            <a:off x="0" y="9144"/>
            <a:ext cx="3392424" cy="841248"/>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9912096" y="0"/>
            <a:ext cx="2276856" cy="1371600"/>
          </a:xfrm>
          <a:prstGeom prst="rect">
            <a:avLst/>
          </a:prstGeom>
        </p:spPr>
      </p:pic>
      <p:sp>
        <p:nvSpPr>
          <p:cNvPr id="4" name="Text 0"/>
          <p:cNvSpPr txBox="1"/>
          <p:nvPr/>
        </p:nvSpPr>
        <p:spPr>
          <a:xfrm>
            <a:off x="3200400" y="731520"/>
            <a:ext cx="5788152" cy="822960"/>
          </a:xfrm>
          <a:prstGeom prst="rect">
            <a:avLst/>
          </a:prstGeom>
          <a:noFill/>
          <a:ln/>
        </p:spPr>
        <p:txBody>
          <a:bodyPr wrap="square" lIns="0" tIns="0" rIns="0" bIns="0" rtlCol="0" anchor="ctr"/>
          <a:lstStyle/>
          <a:p>
            <a:pPr algn="ctr" indent="0" marL="0">
              <a:buNone/>
            </a:pPr>
            <a:r>
              <a:rPr lang="en-US" sz="4000" dirty="0">
                <a:solidFill>
                  <a:srgbClr val="000000"/>
                </a:solidFill>
                <a:latin typeface="Calibri Light" pitchFamily="34" charset="0"/>
                <a:ea typeface="Calibri Light" pitchFamily="34" charset="-122"/>
                <a:cs typeface="Calibri Light" pitchFamily="34" charset="-120"/>
              </a:rPr>
              <a:t>Agenda</a:t>
            </a:r>
            <a:endParaRPr lang="en-US" sz="4000" dirty="0"/>
          </a:p>
        </p:txBody>
      </p:sp>
      <p:pic>
        <p:nvPicPr>
          <p:cNvPr id="5" name="Image 2" descr="preencoded.png">    </p:cNvPr>
          <p:cNvPicPr>
            <a:picLocks noChangeAspect="1"/>
          </p:cNvPicPr>
          <p:nvPr/>
        </p:nvPicPr>
        <p:blipFill>
          <a:blip r:embed="rId3"/>
          <a:stretch>
            <a:fillRect/>
          </a:stretch>
        </p:blipFill>
        <p:spPr>
          <a:xfrm>
            <a:off x="2118208" y="2103120"/>
            <a:ext cx="1005840" cy="1005840"/>
          </a:xfrm>
          <a:prstGeom prst="rect">
            <a:avLst/>
          </a:prstGeom>
        </p:spPr>
      </p:pic>
      <p:sp>
        <p:nvSpPr>
          <p:cNvPr id="6" name="Text 1"/>
          <p:cNvSpPr txBox="1"/>
          <p:nvPr/>
        </p:nvSpPr>
        <p:spPr>
          <a:xfrm>
            <a:off x="115808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SteamVR setup</a:t>
            </a:r>
            <a:endParaRPr lang="en-US" sz="2000" dirty="0"/>
          </a:p>
        </p:txBody>
      </p:sp>
      <p:sp>
        <p:nvSpPr>
          <p:cNvPr id="7" name="Text 2"/>
          <p:cNvSpPr txBox="1"/>
          <p:nvPr/>
        </p:nvSpPr>
        <p:spPr>
          <a:xfrm>
            <a:off x="115808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Project, OpenVR loader, SteamVR Input actions</a:t>
            </a:r>
            <a:endParaRPr lang="en-US" sz="1300" dirty="0"/>
          </a:p>
        </p:txBody>
      </p:sp>
      <p:pic>
        <p:nvPicPr>
          <p:cNvPr id="8" name="Image 3" descr="preencoded.png">    </p:cNvPr>
          <p:cNvPicPr>
            <a:picLocks noChangeAspect="1"/>
          </p:cNvPicPr>
          <p:nvPr/>
        </p:nvPicPr>
        <p:blipFill>
          <a:blip r:embed="rId4"/>
          <a:stretch>
            <a:fillRect/>
          </a:stretch>
        </p:blipFill>
        <p:spPr>
          <a:xfrm>
            <a:off x="5592928" y="2103120"/>
            <a:ext cx="1005840" cy="1005840"/>
          </a:xfrm>
          <a:prstGeom prst="rect">
            <a:avLst/>
          </a:prstGeom>
        </p:spPr>
      </p:pic>
      <p:sp>
        <p:nvSpPr>
          <p:cNvPr id="9" name="Text 3"/>
          <p:cNvSpPr txBox="1"/>
          <p:nvPr/>
        </p:nvSpPr>
        <p:spPr>
          <a:xfrm>
            <a:off x="463280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Interaction System</a:t>
            </a:r>
            <a:endParaRPr lang="en-US" sz="2000" dirty="0"/>
          </a:p>
        </p:txBody>
      </p:sp>
      <p:sp>
        <p:nvSpPr>
          <p:cNvPr id="10" name="Text 4"/>
          <p:cNvSpPr txBox="1"/>
          <p:nvPr/>
        </p:nvSpPr>
        <p:spPr>
          <a:xfrm>
            <a:off x="463280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Player, teleport, grab, buttons: the lab scene</a:t>
            </a:r>
            <a:endParaRPr lang="en-US" sz="1300" dirty="0"/>
          </a:p>
        </p:txBody>
      </p:sp>
      <p:pic>
        <p:nvPicPr>
          <p:cNvPr id="11" name="Image 4" descr="preencoded.png">    </p:cNvPr>
          <p:cNvPicPr>
            <a:picLocks noChangeAspect="1"/>
          </p:cNvPicPr>
          <p:nvPr/>
        </p:nvPicPr>
        <p:blipFill>
          <a:blip r:embed="rId5"/>
          <a:stretch>
            <a:fillRect/>
          </a:stretch>
        </p:blipFill>
        <p:spPr>
          <a:xfrm>
            <a:off x="9067648" y="2103120"/>
            <a:ext cx="1005840" cy="1005840"/>
          </a:xfrm>
          <a:prstGeom prst="rect">
            <a:avLst/>
          </a:prstGeom>
        </p:spPr>
      </p:pic>
      <p:sp>
        <p:nvSpPr>
          <p:cNvPr id="12" name="Text 5"/>
          <p:cNvSpPr txBox="1"/>
          <p:nvPr/>
        </p:nvSpPr>
        <p:spPr>
          <a:xfrm>
            <a:off x="8107528" y="3291840"/>
            <a:ext cx="292608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GolfVR case study</a:t>
            </a:r>
            <a:endParaRPr lang="en-US" sz="2000" dirty="0"/>
          </a:p>
        </p:txBody>
      </p:sp>
      <p:sp>
        <p:nvSpPr>
          <p:cNvPr id="13" name="Text 6"/>
          <p:cNvSpPr txBox="1"/>
          <p:nvPr/>
        </p:nvSpPr>
        <p:spPr>
          <a:xfrm>
            <a:off x="8107528" y="3794760"/>
            <a:ext cx="2926080" cy="1097280"/>
          </a:xfrm>
          <a:prstGeom prst="rect">
            <a:avLst/>
          </a:prstGeom>
          <a:noFill/>
          <a:ln/>
        </p:spPr>
        <p:txBody>
          <a:bodyPr wrap="square" lIns="0" tIns="0" rIns="0" bIns="0" rtlCol="0" anchor="t"/>
          <a:lstStyle/>
          <a:p>
            <a:pPr algn="ctr" indent="0" marL="0">
              <a:buNone/>
            </a:pPr>
            <a:r>
              <a:rPr lang="en-US" sz="1300" dirty="0">
                <a:solidFill>
                  <a:srgbClr val="5B6B76"/>
                </a:solidFill>
                <a:latin typeface="Calibri" pitchFamily="34" charset="0"/>
                <a:ea typeface="Calibri" pitchFamily="34" charset="-122"/>
                <a:cs typeface="Calibri" pitchFamily="34" charset="-120"/>
              </a:rPr>
              <a:t>How the Alumni Weekend course uses the same parts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Today</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By the end of class you can…</a:t>
            </a:r>
            <a:endParaRPr lang="en-US" sz="1350" dirty="0"/>
          </a:p>
        </p:txBody>
      </p:sp>
      <p:sp>
        <p:nvSpPr>
          <p:cNvPr id="7" name="Shape 3"/>
          <p:cNvSpPr/>
          <p:nvPr/>
        </p:nvSpPr>
        <p:spPr>
          <a:xfrm>
            <a:off x="457200" y="1920240"/>
            <a:ext cx="6766560" cy="4206240"/>
          </a:xfrm>
          <a:prstGeom prst="roundRect">
            <a:avLst>
              <a:gd name="adj" fmla="val 1739"/>
            </a:avLst>
          </a:prstGeom>
          <a:solidFill>
            <a:srgbClr val="F4F7FA"/>
          </a:solidFill>
          <a:ln w="9525">
            <a:solidFill>
              <a:srgbClr val="D8E1E8"/>
            </a:solidFill>
            <a:prstDash val="solid"/>
          </a:ln>
        </p:spPr>
      </p:sp>
      <p:sp>
        <p:nvSpPr>
          <p:cNvPr id="8" name="Shape 4"/>
          <p:cNvSpPr/>
          <p:nvPr/>
        </p:nvSpPr>
        <p:spPr>
          <a:xfrm>
            <a:off x="685800" y="2331720"/>
            <a:ext cx="457200" cy="457200"/>
          </a:xfrm>
          <a:prstGeom prst="ellipse">
            <a:avLst/>
          </a:prstGeom>
          <a:solidFill>
            <a:srgbClr val="0E2841"/>
          </a:solidFill>
          <a:ln w="12700">
            <a:solidFill>
              <a:srgbClr val="0E2841"/>
            </a:solidFill>
            <a:prstDash val="solid"/>
          </a:ln>
        </p:spPr>
      </p:sp>
      <p:sp>
        <p:nvSpPr>
          <p:cNvPr id="9" name="Text 5"/>
          <p:cNvSpPr txBox="1"/>
          <p:nvPr/>
        </p:nvSpPr>
        <p:spPr>
          <a:xfrm>
            <a:off x="685800" y="23317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325880" y="21031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Explain rendering, tracking, input, and why the SteamVR plugin needs the OpenVR loader first</a:t>
            </a:r>
            <a:endParaRPr lang="en-US" sz="1500" dirty="0"/>
          </a:p>
        </p:txBody>
      </p:sp>
      <p:sp>
        <p:nvSpPr>
          <p:cNvPr id="11" name="Shape 7"/>
          <p:cNvSpPr/>
          <p:nvPr/>
        </p:nvSpPr>
        <p:spPr>
          <a:xfrm>
            <a:off x="685800" y="3246120"/>
            <a:ext cx="457200" cy="457200"/>
          </a:xfrm>
          <a:prstGeom prst="ellipse">
            <a:avLst/>
          </a:prstGeom>
          <a:solidFill>
            <a:srgbClr val="0E2841"/>
          </a:solidFill>
          <a:ln w="12700">
            <a:solidFill>
              <a:srgbClr val="0E2841"/>
            </a:solidFill>
            <a:prstDash val="solid"/>
          </a:ln>
        </p:spPr>
      </p:sp>
      <p:sp>
        <p:nvSpPr>
          <p:cNvPr id="12" name="Text 8"/>
          <p:cNvSpPr txBox="1"/>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1325880" y="30175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Set up a SteamVR project and generate SteamVR Input actions</a:t>
            </a:r>
            <a:endParaRPr lang="en-US" sz="1500" dirty="0"/>
          </a:p>
        </p:txBody>
      </p:sp>
      <p:sp>
        <p:nvSpPr>
          <p:cNvPr id="14" name="Shape 10"/>
          <p:cNvSpPr/>
          <p:nvPr/>
        </p:nvSpPr>
        <p:spPr>
          <a:xfrm>
            <a:off x="685800" y="4160520"/>
            <a:ext cx="457200" cy="457200"/>
          </a:xfrm>
          <a:prstGeom prst="ellipse">
            <a:avLst/>
          </a:prstGeom>
          <a:solidFill>
            <a:srgbClr val="0E2841"/>
          </a:solidFill>
          <a:ln w="12700">
            <a:solidFill>
              <a:srgbClr val="0E2841"/>
            </a:solidFill>
            <a:prstDash val="solid"/>
          </a:ln>
        </p:spPr>
      </p:sp>
      <p:sp>
        <p:nvSpPr>
          <p:cNvPr id="15" name="Text 11"/>
          <p:cNvSpPr txBox="1"/>
          <p:nvPr/>
        </p:nvSpPr>
        <p:spPr>
          <a:xfrm>
            <a:off x="685800" y="41605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1325880" y="39319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Map XRI concepts to Interaction System components and describe a grab in four steps</a:t>
            </a:r>
            <a:endParaRPr lang="en-US" sz="1500" dirty="0"/>
          </a:p>
        </p:txBody>
      </p:sp>
      <p:sp>
        <p:nvSpPr>
          <p:cNvPr id="17" name="Shape 13"/>
          <p:cNvSpPr/>
          <p:nvPr/>
        </p:nvSpPr>
        <p:spPr>
          <a:xfrm>
            <a:off x="685800" y="5074920"/>
            <a:ext cx="457200" cy="457200"/>
          </a:xfrm>
          <a:prstGeom prst="ellipse">
            <a:avLst/>
          </a:prstGeom>
          <a:solidFill>
            <a:srgbClr val="0E2841"/>
          </a:solidFill>
          <a:ln w="12700">
            <a:solidFill>
              <a:srgbClr val="0E2841"/>
            </a:solidFill>
            <a:prstDash val="solid"/>
          </a:ln>
        </p:spPr>
      </p:sp>
      <p:sp>
        <p:nvSpPr>
          <p:cNvPr id="18" name="Text 14"/>
          <p:cNvSpPr txBox="1"/>
          <p:nvPr/>
        </p:nvSpPr>
        <p:spPr>
          <a:xfrm>
            <a:off x="685800" y="5074920"/>
            <a:ext cx="457200" cy="457200"/>
          </a:xfrm>
          <a:prstGeom prst="rect">
            <a:avLst/>
          </a:prstGeom>
          <a:noFill/>
          <a:ln/>
        </p:spPr>
        <p:txBody>
          <a:bodyPr wrap="square" lIns="0" tIns="0" rIns="0" bIns="0" rtlCol="0" anchor="ctr"/>
          <a:lstStyle/>
          <a:p>
            <a:pPr algn="ctr" indent="0" marL="0">
              <a:buNone/>
            </a:pPr>
            <a:r>
              <a:rPr lang="en-US" sz="1500" b="1" dirty="0">
                <a:solidFill>
                  <a:srgbClr val="D4A017"/>
                </a:solidFill>
                <a:latin typeface="Calibri" pitchFamily="34" charset="0"/>
                <a:ea typeface="Calibri" pitchFamily="34" charset="-122"/>
                <a:cs typeface="Calibri" pitchFamily="34" charset="-120"/>
              </a:rPr>
              <a:t>4</a:t>
            </a:r>
            <a:endParaRPr lang="en-US" sz="1500" dirty="0"/>
          </a:p>
        </p:txBody>
      </p:sp>
      <p:sp>
        <p:nvSpPr>
          <p:cNvPr id="19" name="Text 15"/>
          <p:cNvSpPr txBox="1"/>
          <p:nvPr/>
        </p:nvSpPr>
        <p:spPr>
          <a:xfrm>
            <a:off x="1325880" y="4846320"/>
            <a:ext cx="5669280" cy="914400"/>
          </a:xfrm>
          <a:prstGeom prst="rect">
            <a:avLst/>
          </a:prstGeom>
          <a:noFill/>
          <a:ln/>
        </p:spPr>
        <p:txBody>
          <a:bodyPr wrap="square" lIns="0" tIns="0" rIns="0" bIns="0" rtlCol="0" anchor="ctr"/>
          <a:lstStyle/>
          <a:p>
            <a:pPr indent="0" marL="0">
              <a:buNone/>
            </a:pPr>
            <a:r>
              <a:rPr lang="en-US" sz="1500" dirty="0">
                <a:solidFill>
                  <a:srgbClr val="13202B"/>
                </a:solidFill>
                <a:latin typeface="Calibri" pitchFamily="34" charset="0"/>
                <a:ea typeface="Calibri" pitchFamily="34" charset="-122"/>
                <a:cs typeface="Calibri" pitchFamily="34" charset="-120"/>
              </a:rPr>
              <a:t>Drive your own scripts from events, actions, and LinearMapping (levers and wheels)</a:t>
            </a:r>
            <a:endParaRPr lang="en-US" sz="1500" dirty="0"/>
          </a:p>
        </p:txBody>
      </p:sp>
      <p:sp>
        <p:nvSpPr>
          <p:cNvPr id="20" name="Shape 16"/>
          <p:cNvSpPr/>
          <p:nvPr/>
        </p:nvSpPr>
        <p:spPr>
          <a:xfrm>
            <a:off x="7452360" y="1920240"/>
            <a:ext cx="4251960" cy="4206240"/>
          </a:xfrm>
          <a:prstGeom prst="roundRect">
            <a:avLst>
              <a:gd name="adj" fmla="val 1739"/>
            </a:avLst>
          </a:prstGeom>
          <a:solidFill>
            <a:srgbClr val="0E2841"/>
          </a:solidFill>
          <a:ln w="12700">
            <a:solidFill>
              <a:srgbClr val="0E2841"/>
            </a:solidFill>
            <a:prstDash val="solid"/>
          </a:ln>
        </p:spPr>
      </p:sp>
      <p:sp>
        <p:nvSpPr>
          <p:cNvPr id="21" name="Text 17"/>
          <p:cNvSpPr txBox="1"/>
          <p:nvPr/>
        </p:nvSpPr>
        <p:spPr>
          <a:xfrm>
            <a:off x="7680960" y="2103120"/>
            <a:ext cx="379476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Tonight's plan</a:t>
            </a:r>
            <a:endParaRPr lang="en-US" sz="1500" dirty="0"/>
          </a:p>
        </p:txBody>
      </p:sp>
      <p:sp>
        <p:nvSpPr>
          <p:cNvPr id="22" name="Text 18"/>
          <p:cNvSpPr txBox="1"/>
          <p:nvPr/>
        </p:nvSpPr>
        <p:spPr>
          <a:xfrm>
            <a:off x="7680960" y="260604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Week 4</a:t>
            </a:r>
            <a:endParaRPr lang="en-US" sz="1300" dirty="0"/>
          </a:p>
        </p:txBody>
      </p:sp>
      <p:sp>
        <p:nvSpPr>
          <p:cNvPr id="23" name="Text 19"/>
          <p:cNvSpPr txBox="1"/>
          <p:nvPr/>
        </p:nvSpPr>
        <p:spPr>
          <a:xfrm>
            <a:off x="8778240" y="260604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Setup: loaders, SteamVR Input, run the sample</a:t>
            </a:r>
            <a:endParaRPr lang="en-US" sz="1300" dirty="0"/>
          </a:p>
        </p:txBody>
      </p:sp>
      <p:sp>
        <p:nvSpPr>
          <p:cNvPr id="24" name="Text 20"/>
          <p:cNvSpPr txBox="1"/>
          <p:nvPr/>
        </p:nvSpPr>
        <p:spPr>
          <a:xfrm>
            <a:off x="7680960" y="3172968"/>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Wk5 0–30</a:t>
            </a:r>
            <a:endParaRPr lang="en-US" sz="1300" dirty="0"/>
          </a:p>
        </p:txBody>
      </p:sp>
      <p:sp>
        <p:nvSpPr>
          <p:cNvPr id="25" name="Text 21"/>
          <p:cNvSpPr txBox="1"/>
          <p:nvPr/>
        </p:nvSpPr>
        <p:spPr>
          <a:xfrm>
            <a:off x="8778240" y="3172968"/>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Tour Interactions_Example</a:t>
            </a:r>
            <a:endParaRPr lang="en-US" sz="1300" dirty="0"/>
          </a:p>
        </p:txBody>
      </p:sp>
      <p:sp>
        <p:nvSpPr>
          <p:cNvPr id="26" name="Text 22"/>
          <p:cNvSpPr txBox="1"/>
          <p:nvPr/>
        </p:nvSpPr>
        <p:spPr>
          <a:xfrm>
            <a:off x="7680960" y="3739896"/>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30–50</a:t>
            </a:r>
            <a:endParaRPr lang="en-US" sz="1300" dirty="0"/>
          </a:p>
        </p:txBody>
      </p:sp>
      <p:sp>
        <p:nvSpPr>
          <p:cNvPr id="27" name="Text 23"/>
          <p:cNvSpPr txBox="1"/>
          <p:nvPr/>
        </p:nvSpPr>
        <p:spPr>
          <a:xfrm>
            <a:off x="8778240" y="3739896"/>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grabbing works + build the Playground</a:t>
            </a:r>
            <a:endParaRPr lang="en-US" sz="1300" dirty="0"/>
          </a:p>
        </p:txBody>
      </p:sp>
      <p:sp>
        <p:nvSpPr>
          <p:cNvPr id="28" name="Text 24"/>
          <p:cNvSpPr txBox="1"/>
          <p:nvPr/>
        </p:nvSpPr>
        <p:spPr>
          <a:xfrm>
            <a:off x="7680960" y="4306824"/>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55–115</a:t>
            </a:r>
            <a:endParaRPr lang="en-US" sz="1300" dirty="0"/>
          </a:p>
        </p:txBody>
      </p:sp>
      <p:sp>
        <p:nvSpPr>
          <p:cNvPr id="29" name="Text 25"/>
          <p:cNvSpPr txBox="1"/>
          <p:nvPr/>
        </p:nvSpPr>
        <p:spPr>
          <a:xfrm>
            <a:off x="8778240" y="4306824"/>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Station rotation: six stations</a:t>
            </a:r>
            <a:endParaRPr lang="en-US" sz="1300" dirty="0"/>
          </a:p>
        </p:txBody>
      </p:sp>
      <p:sp>
        <p:nvSpPr>
          <p:cNvPr id="30" name="Text 26"/>
          <p:cNvSpPr txBox="1"/>
          <p:nvPr/>
        </p:nvSpPr>
        <p:spPr>
          <a:xfrm>
            <a:off x="7680960" y="4873752"/>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115–130</a:t>
            </a:r>
            <a:endParaRPr lang="en-US" sz="1300" dirty="0"/>
          </a:p>
        </p:txBody>
      </p:sp>
      <p:sp>
        <p:nvSpPr>
          <p:cNvPr id="31" name="Text 27"/>
          <p:cNvSpPr txBox="1"/>
          <p:nvPr/>
        </p:nvSpPr>
        <p:spPr>
          <a:xfrm>
            <a:off x="8778240" y="4873752"/>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Code reading: GolfPutter</a:t>
            </a:r>
            <a:endParaRPr lang="en-US" sz="1300" dirty="0"/>
          </a:p>
        </p:txBody>
      </p:sp>
      <p:sp>
        <p:nvSpPr>
          <p:cNvPr id="32" name="Text 28"/>
          <p:cNvSpPr txBox="1"/>
          <p:nvPr/>
        </p:nvSpPr>
        <p:spPr>
          <a:xfrm>
            <a:off x="7680960" y="5440680"/>
            <a:ext cx="1051560" cy="566928"/>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130–150</a:t>
            </a:r>
            <a:endParaRPr lang="en-US" sz="1300" dirty="0"/>
          </a:p>
        </p:txBody>
      </p:sp>
      <p:sp>
        <p:nvSpPr>
          <p:cNvPr id="33" name="Text 29"/>
          <p:cNvSpPr txBox="1"/>
          <p:nvPr/>
        </p:nvSpPr>
        <p:spPr>
          <a:xfrm>
            <a:off x="8778240" y="5440680"/>
            <a:ext cx="2743200" cy="56692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Share-out + exit ticket</a:t>
            </a:r>
            <a:endParaRPr lang="en-US" sz="1300" dirty="0"/>
          </a:p>
        </p:txBody>
      </p:sp>
      <p:sp>
        <p:nvSpPr>
          <p:cNvPr id="34" name="Text 30"/>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What does VR development involve?</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 VR app is still a Unity app. It adds three jobs, and SteamVR covers each one.</a:t>
            </a:r>
            <a:endParaRPr lang="en-US" sz="1350" dirty="0"/>
          </a:p>
        </p:txBody>
      </p:sp>
      <p:sp>
        <p:nvSpPr>
          <p:cNvPr id="7" name="Shape 3"/>
          <p:cNvSpPr/>
          <p:nvPr/>
        </p:nvSpPr>
        <p:spPr>
          <a:xfrm>
            <a:off x="457200" y="2011680"/>
            <a:ext cx="3611880" cy="2468880"/>
          </a:xfrm>
          <a:prstGeom prst="roundRect">
            <a:avLst>
              <a:gd name="adj" fmla="val 2963"/>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94560"/>
            <a:ext cx="329184" cy="329184"/>
          </a:xfrm>
          <a:prstGeom prst="rect">
            <a:avLst/>
          </a:prstGeom>
        </p:spPr>
      </p:pic>
      <p:sp>
        <p:nvSpPr>
          <p:cNvPr id="9" name="Text 4"/>
          <p:cNvSpPr txBox="1"/>
          <p:nvPr/>
        </p:nvSpPr>
        <p:spPr>
          <a:xfrm>
            <a:off x="1097280" y="219456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Rendering</a:t>
            </a:r>
            <a:endParaRPr lang="en-US" sz="1450" dirty="0"/>
          </a:p>
        </p:txBody>
      </p:sp>
      <p:sp>
        <p:nvSpPr>
          <p:cNvPr id="10" name="Text 5"/>
          <p:cNvSpPr txBox="1"/>
          <p:nvPr/>
        </p:nvSpPr>
        <p:spPr>
          <a:xfrm>
            <a:off x="640080" y="2651760"/>
            <a:ext cx="3246120" cy="16459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Draw the scene twice per frame (one image per eye)</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90 Hz with no dropped frames, or people feel sick</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The OpenVR XR plug-in takes over the camera</a:t>
            </a:r>
            <a:endParaRPr lang="en-US" sz="1350" dirty="0"/>
          </a:p>
        </p:txBody>
      </p:sp>
      <p:sp>
        <p:nvSpPr>
          <p:cNvPr id="11" name="Shape 6"/>
          <p:cNvSpPr/>
          <p:nvPr/>
        </p:nvSpPr>
        <p:spPr>
          <a:xfrm>
            <a:off x="4279392" y="2011680"/>
            <a:ext cx="3611880" cy="2468880"/>
          </a:xfrm>
          <a:prstGeom prst="roundRect">
            <a:avLst>
              <a:gd name="adj" fmla="val 2963"/>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4462272" y="2194560"/>
            <a:ext cx="329184" cy="329184"/>
          </a:xfrm>
          <a:prstGeom prst="rect">
            <a:avLst/>
          </a:prstGeom>
        </p:spPr>
      </p:pic>
      <p:sp>
        <p:nvSpPr>
          <p:cNvPr id="13" name="Text 7"/>
          <p:cNvSpPr txBox="1"/>
          <p:nvPr/>
        </p:nvSpPr>
        <p:spPr>
          <a:xfrm>
            <a:off x="4919472" y="219456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Tracking</a:t>
            </a:r>
            <a:endParaRPr lang="en-US" sz="1450" dirty="0"/>
          </a:p>
        </p:txBody>
      </p:sp>
      <p:sp>
        <p:nvSpPr>
          <p:cNvPr id="14" name="Text 8"/>
          <p:cNvSpPr txBox="1"/>
          <p:nvPr/>
        </p:nvSpPr>
        <p:spPr>
          <a:xfrm>
            <a:off x="4462272" y="2651760"/>
            <a:ext cx="3246120" cy="16459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Headset and both controllers: position and rotation every frame (6DOF)</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SteamVR_Behaviour_Pose on each hand</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The Player prefab wires it all up</a:t>
            </a:r>
            <a:endParaRPr lang="en-US" sz="1350" dirty="0"/>
          </a:p>
        </p:txBody>
      </p:sp>
      <p:sp>
        <p:nvSpPr>
          <p:cNvPr id="15" name="Shape 9"/>
          <p:cNvSpPr/>
          <p:nvPr/>
        </p:nvSpPr>
        <p:spPr>
          <a:xfrm>
            <a:off x="8101584" y="2011680"/>
            <a:ext cx="3611880" cy="2468880"/>
          </a:xfrm>
          <a:prstGeom prst="roundRect">
            <a:avLst>
              <a:gd name="adj" fmla="val 2963"/>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8284464" y="2194560"/>
            <a:ext cx="329184" cy="329184"/>
          </a:xfrm>
          <a:prstGeom prst="rect">
            <a:avLst/>
          </a:prstGeom>
        </p:spPr>
      </p:pic>
      <p:sp>
        <p:nvSpPr>
          <p:cNvPr id="17" name="Text 10"/>
          <p:cNvSpPr txBox="1"/>
          <p:nvPr/>
        </p:nvSpPr>
        <p:spPr>
          <a:xfrm>
            <a:off x="8741664" y="2194560"/>
            <a:ext cx="27889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Input</a:t>
            </a:r>
            <a:endParaRPr lang="en-US" sz="1450" dirty="0"/>
          </a:p>
        </p:txBody>
      </p:sp>
      <p:sp>
        <p:nvSpPr>
          <p:cNvPr id="18" name="Text 11"/>
          <p:cNvSpPr txBox="1"/>
          <p:nvPr/>
        </p:nvSpPr>
        <p:spPr>
          <a:xfrm>
            <a:off x="8284464" y="2651760"/>
            <a:ext cx="3246120" cy="16459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Map buttons to actions like "Grab" or "Teleport"</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actions.json plus one bindings file per controller</a:t>
            </a:r>
            <a:endParaRPr lang="en-US" sz="1350" dirty="0"/>
          </a:p>
          <a:p>
            <a:pPr marL="177800" indent="-177800">
              <a:spcAft>
                <a:spcPts val="500"/>
              </a:spcAft>
              <a:buSzPct val="100000"/>
              <a:buChar char="•"/>
            </a:pPr>
            <a:r>
              <a:rPr lang="en-US" sz="1350" dirty="0">
                <a:solidFill>
                  <a:srgbClr val="13202B"/>
                </a:solidFill>
                <a:latin typeface="Calibri" pitchFamily="34" charset="0"/>
                <a:ea typeface="Calibri" pitchFamily="34" charset="-122"/>
                <a:cs typeface="Calibri" pitchFamily="34" charset="-120"/>
              </a:rPr>
              <a:t>Code reads actions, never raw buttons</a:t>
            </a:r>
            <a:endParaRPr lang="en-US" sz="1350" dirty="0"/>
          </a:p>
        </p:txBody>
      </p:sp>
      <p:sp>
        <p:nvSpPr>
          <p:cNvPr id="19" name="Shape 12"/>
          <p:cNvSpPr/>
          <p:nvPr/>
        </p:nvSpPr>
        <p:spPr>
          <a:xfrm>
            <a:off x="457200" y="4754880"/>
            <a:ext cx="11247120" cy="502920"/>
          </a:xfrm>
          <a:prstGeom prst="roundRect">
            <a:avLst>
              <a:gd name="adj" fmla="val 14545"/>
            </a:avLst>
          </a:prstGeom>
          <a:solidFill>
            <a:srgbClr val="F4F7FA"/>
          </a:solidFill>
          <a:ln w="9525">
            <a:solidFill>
              <a:srgbClr val="D8E1E8"/>
            </a:solidFill>
            <a:prstDash val="solid"/>
          </a:ln>
        </p:spPr>
      </p:sp>
      <p:sp>
        <p:nvSpPr>
          <p:cNvPr id="20" name="Text 13"/>
          <p:cNvSpPr txBox="1"/>
          <p:nvPr/>
        </p:nvSpPr>
        <p:spPr>
          <a:xfrm>
            <a:off x="457200" y="4754880"/>
            <a:ext cx="11247120" cy="50292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Everything else is interaction design: how do you pick something up, move, or press a button with no mouse?</a:t>
            </a:r>
            <a:endParaRPr lang="en-US" sz="1250" dirty="0"/>
          </a:p>
        </p:txBody>
      </p:sp>
      <p:sp>
        <p:nvSpPr>
          <p:cNvPr id="21" name="Text 14"/>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Headset approaches: which SDK?</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OpenVR and OpenXR are runtimes, the layer between Unity and the headset. Pick the SDK that fits the hardware.</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47120" cy="914400"/>
        </p:xfrm>
        <a:graphic>
          <a:graphicData uri="http://schemas.openxmlformats.org/drawingml/2006/table">
            <a:tbl>
              <a:tblPr/>
              <a:tblGrid>
                <a:gridCol w="2377440"/>
                <a:gridCol w="2743200"/>
                <a:gridCol w="3108960"/>
                <a:gridCol w="30175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Unity package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it when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47548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SteamVR / OpenVR (this course)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PC VR: Vive, Index, Quest via Link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SteamVR Plugin 2.8 + OpenVR XR Plugin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Lab headsets. Includes the ready-made Interaction System</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OpenXR + XR Interaction Toolkit (textbook)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Nearly everything, incl. standalone Quest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com.unity.xr.openxr + XRI</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Cross-vendor or Android builds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7548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Meta XR SDK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Quest only</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Meta XR All-in-One SDK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Passthrough, scene API, hand tracking</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WebXR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Any headset browser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None (JavaScript + three.js)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No install. See the WebXR deck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bl>
          </a:graphicData>
        </a:graphic>
      </p:graphicFrame>
      <p:sp>
        <p:nvSpPr>
          <p:cNvPr id="8" name="Shape 3"/>
          <p:cNvSpPr/>
          <p:nvPr/>
        </p:nvSpPr>
        <p:spPr>
          <a:xfrm>
            <a:off x="457200" y="4572000"/>
            <a:ext cx="11247120" cy="1005840"/>
          </a:xfrm>
          <a:prstGeom prst="roundRect">
            <a:avLst>
              <a:gd name="adj" fmla="val 7273"/>
            </a:avLst>
          </a:prstGeom>
          <a:solidFill>
            <a:srgbClr val="0E2841"/>
          </a:solidFill>
          <a:ln w="9525">
            <a:solidFill>
              <a:srgbClr val="0E2841"/>
            </a:solidFill>
            <a:prstDash val="solid"/>
          </a:ln>
        </p:spPr>
      </p:sp>
      <p:pic>
        <p:nvPicPr>
          <p:cNvPr id="9" name="Image 2" descr="preencoded.png">    </p:cNvPr>
          <p:cNvPicPr>
            <a:picLocks noChangeAspect="1"/>
          </p:cNvPicPr>
          <p:nvPr/>
        </p:nvPicPr>
        <p:blipFill>
          <a:blip r:embed="rId3"/>
          <a:stretch>
            <a:fillRect/>
          </a:stretch>
        </p:blipFill>
        <p:spPr>
          <a:xfrm>
            <a:off x="640080" y="4754880"/>
            <a:ext cx="329184" cy="329184"/>
          </a:xfrm>
          <a:prstGeom prst="rect">
            <a:avLst/>
          </a:prstGeom>
        </p:spPr>
      </p:pic>
      <p:sp>
        <p:nvSpPr>
          <p:cNvPr id="10" name="Text 4"/>
          <p:cNvSpPr txBox="1"/>
          <p:nvPr/>
        </p:nvSpPr>
        <p:spPr>
          <a:xfrm>
            <a:off x="1097280" y="4754880"/>
            <a:ext cx="10424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Key idea</a:t>
            </a:r>
            <a:endParaRPr lang="en-US" sz="1450" dirty="0"/>
          </a:p>
        </p:txBody>
      </p:sp>
      <p:sp>
        <p:nvSpPr>
          <p:cNvPr id="11" name="Text 5"/>
          <p:cNvSpPr txBox="1"/>
          <p:nvPr/>
        </p:nvSpPr>
        <p:spPr>
          <a:xfrm>
            <a:off x="640080" y="5212080"/>
            <a:ext cx="10881360" cy="182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SteamVR can act as an OpenXR runtime too, but the SteamVR Plugin's Input and Interaction System only work when the OpenVR loader is active.</a:t>
            </a:r>
            <a:endParaRPr lang="en-US" sz="1250" dirty="0"/>
          </a:p>
        </p:txBody>
      </p:sp>
      <p:sp>
        <p:nvSpPr>
          <p:cNvPr id="12" name="Text 6"/>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Lab 4: create the SteamVR project</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Five steps. Week-04-SteamVR-Setup/README.md has every click.</a:t>
            </a:r>
            <a:endParaRPr lang="en-US" sz="1350" dirty="0"/>
          </a:p>
        </p:txBody>
      </p:sp>
      <p:sp>
        <p:nvSpPr>
          <p:cNvPr id="7" name="Shape 3"/>
          <p:cNvSpPr/>
          <p:nvPr/>
        </p:nvSpPr>
        <p:spPr>
          <a:xfrm>
            <a:off x="457200" y="2011680"/>
            <a:ext cx="2103120" cy="457200"/>
          </a:xfrm>
          <a:prstGeom prst="roundRect">
            <a:avLst>
              <a:gd name="adj" fmla="val 16000"/>
            </a:avLst>
          </a:prstGeom>
          <a:solidFill>
            <a:srgbClr val="F4F7FA"/>
          </a:solidFill>
          <a:ln w="9525">
            <a:solidFill>
              <a:srgbClr val="D8E1E8"/>
            </a:solidFill>
            <a:prstDash val="solid"/>
          </a:ln>
        </p:spPr>
      </p:sp>
      <p:sp>
        <p:nvSpPr>
          <p:cNvPr id="8" name="Text 4"/>
          <p:cNvSpPr txBox="1"/>
          <p:nvPr/>
        </p:nvSpPr>
        <p:spPr>
          <a:xfrm>
            <a:off x="457200" y="2011680"/>
            <a:ext cx="2103120" cy="457200"/>
          </a:xfrm>
          <a:prstGeom prst="rect">
            <a:avLst/>
          </a:prstGeom>
          <a:noFill/>
          <a:ln/>
        </p:spPr>
        <p:txBody>
          <a:bodyPr wrap="square" lIns="0" tIns="0" rIns="0" bIns="0" rtlCol="0" anchor="ctr"/>
          <a:lstStyle/>
          <a:p>
            <a:pPr algn="ctr" indent="0" marL="0">
              <a:buNone/>
            </a:pPr>
            <a:r>
              <a:rPr lang="en-US" sz="1300" b="1" dirty="0">
                <a:solidFill>
                  <a:srgbClr val="0E2841"/>
                </a:solidFill>
                <a:latin typeface="Calibri" pitchFamily="34" charset="0"/>
                <a:ea typeface="Calibri" pitchFamily="34" charset="-122"/>
                <a:cs typeface="Calibri" pitchFamily="34" charset="-120"/>
              </a:rPr>
              <a:t>1. New project</a:t>
            </a:r>
            <a:endParaRPr lang="en-US" sz="1300" dirty="0"/>
          </a:p>
        </p:txBody>
      </p:sp>
      <p:sp>
        <p:nvSpPr>
          <p:cNvPr id="9" name="Text 5"/>
          <p:cNvSpPr txBox="1"/>
          <p:nvPr/>
        </p:nvSpPr>
        <p:spPr>
          <a:xfrm>
            <a:off x="2560320" y="2011680"/>
            <a:ext cx="182880" cy="457200"/>
          </a:xfrm>
          <a:prstGeom prst="rect">
            <a:avLst/>
          </a:prstGeom>
          <a:noFill/>
          <a:ln/>
        </p:spPr>
        <p:txBody>
          <a:bodyPr wrap="square" lIns="0" tIns="0" rIns="0" bIns="0" rtlCol="0" anchor="ctr"/>
          <a:lstStyle/>
          <a:p>
            <a:pPr algn="ctr" indent="0" marL="0">
              <a:buNone/>
            </a:pPr>
            <a:r>
              <a:rPr lang="en-US" sz="1800" dirty="0">
                <a:solidFill>
                  <a:srgbClr val="5B6B76"/>
                </a:solidFill>
              </a:rPr>
              <a:t>›</a:t>
            </a:r>
            <a:endParaRPr lang="en-US" sz="1800" dirty="0"/>
          </a:p>
        </p:txBody>
      </p:sp>
      <p:sp>
        <p:nvSpPr>
          <p:cNvPr id="10" name="Shape 6"/>
          <p:cNvSpPr/>
          <p:nvPr/>
        </p:nvSpPr>
        <p:spPr>
          <a:xfrm>
            <a:off x="457200" y="2651760"/>
            <a:ext cx="2103120" cy="1600200"/>
          </a:xfrm>
          <a:prstGeom prst="roundRect">
            <a:avLst>
              <a:gd name="adj" fmla="val 4571"/>
            </a:avLst>
          </a:prstGeom>
          <a:solidFill>
            <a:srgbClr val="F4F7FA"/>
          </a:solidFill>
          <a:ln w="9525">
            <a:solidFill>
              <a:srgbClr val="D8E1E8"/>
            </a:solidFill>
            <a:prstDash val="solid"/>
          </a:ln>
        </p:spPr>
      </p:sp>
      <p:sp>
        <p:nvSpPr>
          <p:cNvPr id="11" name="Text 7"/>
          <p:cNvSpPr txBox="1"/>
          <p:nvPr/>
        </p:nvSpPr>
        <p:spPr>
          <a:xfrm>
            <a:off x="594360" y="2788920"/>
            <a:ext cx="1828800" cy="132588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3D (Built-In) template, Unity 2022.3 LTS. Not URP: Interaction System materials turn pink.</a:t>
            </a:r>
            <a:endParaRPr lang="en-US" sz="1350" dirty="0"/>
          </a:p>
        </p:txBody>
      </p:sp>
      <p:sp>
        <p:nvSpPr>
          <p:cNvPr id="12" name="Shape 8"/>
          <p:cNvSpPr/>
          <p:nvPr/>
        </p:nvSpPr>
        <p:spPr>
          <a:xfrm>
            <a:off x="2743200" y="2011680"/>
            <a:ext cx="2103120" cy="457200"/>
          </a:xfrm>
          <a:prstGeom prst="roundRect">
            <a:avLst>
              <a:gd name="adj" fmla="val 16000"/>
            </a:avLst>
          </a:prstGeom>
          <a:solidFill>
            <a:srgbClr val="F4F7FA"/>
          </a:solidFill>
          <a:ln w="9525">
            <a:solidFill>
              <a:srgbClr val="D8E1E8"/>
            </a:solidFill>
            <a:prstDash val="solid"/>
          </a:ln>
        </p:spPr>
      </p:sp>
      <p:sp>
        <p:nvSpPr>
          <p:cNvPr id="13" name="Text 9"/>
          <p:cNvSpPr txBox="1"/>
          <p:nvPr/>
        </p:nvSpPr>
        <p:spPr>
          <a:xfrm>
            <a:off x="2743200" y="2011680"/>
            <a:ext cx="2103120" cy="457200"/>
          </a:xfrm>
          <a:prstGeom prst="rect">
            <a:avLst/>
          </a:prstGeom>
          <a:noFill/>
          <a:ln/>
        </p:spPr>
        <p:txBody>
          <a:bodyPr wrap="square" lIns="0" tIns="0" rIns="0" bIns="0" rtlCol="0" anchor="ctr"/>
          <a:lstStyle/>
          <a:p>
            <a:pPr algn="ctr" indent="0" marL="0">
              <a:buNone/>
            </a:pPr>
            <a:r>
              <a:rPr lang="en-US" sz="1300" b="1" dirty="0">
                <a:solidFill>
                  <a:srgbClr val="0E2841"/>
                </a:solidFill>
                <a:latin typeface="Calibri" pitchFamily="34" charset="0"/>
                <a:ea typeface="Calibri" pitchFamily="34" charset="-122"/>
                <a:cs typeface="Calibri" pitchFamily="34" charset="-120"/>
              </a:rPr>
              <a:t>2. Import plugin</a:t>
            </a:r>
            <a:endParaRPr lang="en-US" sz="1300" dirty="0"/>
          </a:p>
        </p:txBody>
      </p:sp>
      <p:sp>
        <p:nvSpPr>
          <p:cNvPr id="14" name="Text 10"/>
          <p:cNvSpPr txBox="1"/>
          <p:nvPr/>
        </p:nvSpPr>
        <p:spPr>
          <a:xfrm>
            <a:off x="4846320" y="2011680"/>
            <a:ext cx="182880" cy="457200"/>
          </a:xfrm>
          <a:prstGeom prst="rect">
            <a:avLst/>
          </a:prstGeom>
          <a:noFill/>
          <a:ln/>
        </p:spPr>
        <p:txBody>
          <a:bodyPr wrap="square" lIns="0" tIns="0" rIns="0" bIns="0" rtlCol="0" anchor="ctr"/>
          <a:lstStyle/>
          <a:p>
            <a:pPr algn="ctr" indent="0" marL="0">
              <a:buNone/>
            </a:pPr>
            <a:r>
              <a:rPr lang="en-US" sz="1800" dirty="0">
                <a:solidFill>
                  <a:srgbClr val="5B6B76"/>
                </a:solidFill>
              </a:rPr>
              <a:t>›</a:t>
            </a:r>
            <a:endParaRPr lang="en-US" sz="1800" dirty="0"/>
          </a:p>
        </p:txBody>
      </p:sp>
      <p:sp>
        <p:nvSpPr>
          <p:cNvPr id="15" name="Shape 11"/>
          <p:cNvSpPr/>
          <p:nvPr/>
        </p:nvSpPr>
        <p:spPr>
          <a:xfrm>
            <a:off x="2743200" y="2651760"/>
            <a:ext cx="2103120" cy="1600200"/>
          </a:xfrm>
          <a:prstGeom prst="roundRect">
            <a:avLst>
              <a:gd name="adj" fmla="val 4571"/>
            </a:avLst>
          </a:prstGeom>
          <a:solidFill>
            <a:srgbClr val="F4F7FA"/>
          </a:solidFill>
          <a:ln w="9525">
            <a:solidFill>
              <a:srgbClr val="D8E1E8"/>
            </a:solidFill>
            <a:prstDash val="solid"/>
          </a:ln>
        </p:spPr>
      </p:sp>
      <p:sp>
        <p:nvSpPr>
          <p:cNvPr id="16" name="Text 12"/>
          <p:cNvSpPr txBox="1"/>
          <p:nvPr/>
        </p:nvSpPr>
        <p:spPr>
          <a:xfrm>
            <a:off x="2880360" y="2788920"/>
            <a:ext cx="1828800" cy="132588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SteamVR Plugin 2.8 (Asset Store or GitHub release). Click "Accept All" on the settings pop-up.</a:t>
            </a:r>
            <a:endParaRPr lang="en-US" sz="1350" dirty="0"/>
          </a:p>
        </p:txBody>
      </p:sp>
      <p:sp>
        <p:nvSpPr>
          <p:cNvPr id="17" name="Shape 13"/>
          <p:cNvSpPr/>
          <p:nvPr/>
        </p:nvSpPr>
        <p:spPr>
          <a:xfrm>
            <a:off x="5029200" y="2011680"/>
            <a:ext cx="2103120" cy="457200"/>
          </a:xfrm>
          <a:prstGeom prst="roundRect">
            <a:avLst>
              <a:gd name="adj" fmla="val 16000"/>
            </a:avLst>
          </a:prstGeom>
          <a:solidFill>
            <a:srgbClr val="0E2841"/>
          </a:solidFill>
          <a:ln w="9525">
            <a:solidFill>
              <a:srgbClr val="0E2841"/>
            </a:solidFill>
            <a:prstDash val="solid"/>
          </a:ln>
        </p:spPr>
      </p:sp>
      <p:sp>
        <p:nvSpPr>
          <p:cNvPr id="18" name="Text 14"/>
          <p:cNvSpPr txBox="1"/>
          <p:nvPr/>
        </p:nvSpPr>
        <p:spPr>
          <a:xfrm>
            <a:off x="5029200" y="2011680"/>
            <a:ext cx="2103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XR Plug-in Mgmt</a:t>
            </a:r>
            <a:endParaRPr lang="en-US" sz="1300" dirty="0"/>
          </a:p>
        </p:txBody>
      </p:sp>
      <p:sp>
        <p:nvSpPr>
          <p:cNvPr id="19" name="Text 15"/>
          <p:cNvSpPr txBox="1"/>
          <p:nvPr/>
        </p:nvSpPr>
        <p:spPr>
          <a:xfrm>
            <a:off x="7132320" y="2011680"/>
            <a:ext cx="182880" cy="457200"/>
          </a:xfrm>
          <a:prstGeom prst="rect">
            <a:avLst/>
          </a:prstGeom>
          <a:noFill/>
          <a:ln/>
        </p:spPr>
        <p:txBody>
          <a:bodyPr wrap="square" lIns="0" tIns="0" rIns="0" bIns="0" rtlCol="0" anchor="ctr"/>
          <a:lstStyle/>
          <a:p>
            <a:pPr algn="ctr" indent="0" marL="0">
              <a:buNone/>
            </a:pPr>
            <a:r>
              <a:rPr lang="en-US" sz="1800" dirty="0">
                <a:solidFill>
                  <a:srgbClr val="5B6B76"/>
                </a:solidFill>
              </a:rPr>
              <a:t>›</a:t>
            </a:r>
            <a:endParaRPr lang="en-US" sz="1800" dirty="0"/>
          </a:p>
        </p:txBody>
      </p:sp>
      <p:sp>
        <p:nvSpPr>
          <p:cNvPr id="20" name="Shape 16"/>
          <p:cNvSpPr/>
          <p:nvPr/>
        </p:nvSpPr>
        <p:spPr>
          <a:xfrm>
            <a:off x="5029200" y="2651760"/>
            <a:ext cx="2103120" cy="1600200"/>
          </a:xfrm>
          <a:prstGeom prst="roundRect">
            <a:avLst>
              <a:gd name="adj" fmla="val 4571"/>
            </a:avLst>
          </a:prstGeom>
          <a:solidFill>
            <a:srgbClr val="F4F7FA"/>
          </a:solidFill>
          <a:ln w="9525">
            <a:solidFill>
              <a:srgbClr val="D8E1E8"/>
            </a:solidFill>
            <a:prstDash val="solid"/>
          </a:ln>
        </p:spPr>
      </p:sp>
      <p:sp>
        <p:nvSpPr>
          <p:cNvPr id="21" name="Text 17"/>
          <p:cNvSpPr txBox="1"/>
          <p:nvPr/>
        </p:nvSpPr>
        <p:spPr>
          <a:xfrm>
            <a:off x="5166360" y="2788920"/>
            <a:ext cx="1828800" cy="132588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PC tab: check OpenVR Loader and list it first. Single Pass Instanced, mirror Right eye.</a:t>
            </a:r>
            <a:endParaRPr lang="en-US" sz="1350" dirty="0"/>
          </a:p>
        </p:txBody>
      </p:sp>
      <p:sp>
        <p:nvSpPr>
          <p:cNvPr id="22" name="Shape 18"/>
          <p:cNvSpPr/>
          <p:nvPr/>
        </p:nvSpPr>
        <p:spPr>
          <a:xfrm>
            <a:off x="7315200" y="2011680"/>
            <a:ext cx="2103120" cy="457200"/>
          </a:xfrm>
          <a:prstGeom prst="roundRect">
            <a:avLst>
              <a:gd name="adj" fmla="val 16000"/>
            </a:avLst>
          </a:prstGeom>
          <a:solidFill>
            <a:srgbClr val="F4F7FA"/>
          </a:solidFill>
          <a:ln w="9525">
            <a:solidFill>
              <a:srgbClr val="D8E1E8"/>
            </a:solidFill>
            <a:prstDash val="solid"/>
          </a:ln>
        </p:spPr>
      </p:sp>
      <p:sp>
        <p:nvSpPr>
          <p:cNvPr id="23" name="Text 19"/>
          <p:cNvSpPr txBox="1"/>
          <p:nvPr/>
        </p:nvSpPr>
        <p:spPr>
          <a:xfrm>
            <a:off x="7315200" y="2011680"/>
            <a:ext cx="2103120" cy="457200"/>
          </a:xfrm>
          <a:prstGeom prst="rect">
            <a:avLst/>
          </a:prstGeom>
          <a:noFill/>
          <a:ln/>
        </p:spPr>
        <p:txBody>
          <a:bodyPr wrap="square" lIns="0" tIns="0" rIns="0" bIns="0" rtlCol="0" anchor="ctr"/>
          <a:lstStyle/>
          <a:p>
            <a:pPr algn="ctr" indent="0" marL="0">
              <a:buNone/>
            </a:pPr>
            <a:r>
              <a:rPr lang="en-US" sz="1300" b="1" dirty="0">
                <a:solidFill>
                  <a:srgbClr val="0E2841"/>
                </a:solidFill>
                <a:latin typeface="Calibri" pitchFamily="34" charset="0"/>
                <a:ea typeface="Calibri" pitchFamily="34" charset="-122"/>
                <a:cs typeface="Calibri" pitchFamily="34" charset="-120"/>
              </a:rPr>
              <a:t>4. SteamVR Input</a:t>
            </a:r>
            <a:endParaRPr lang="en-US" sz="1300" dirty="0"/>
          </a:p>
        </p:txBody>
      </p:sp>
      <p:sp>
        <p:nvSpPr>
          <p:cNvPr id="24" name="Text 20"/>
          <p:cNvSpPr txBox="1"/>
          <p:nvPr/>
        </p:nvSpPr>
        <p:spPr>
          <a:xfrm>
            <a:off x="9418320" y="2011680"/>
            <a:ext cx="182880" cy="457200"/>
          </a:xfrm>
          <a:prstGeom prst="rect">
            <a:avLst/>
          </a:prstGeom>
          <a:noFill/>
          <a:ln/>
        </p:spPr>
        <p:txBody>
          <a:bodyPr wrap="square" lIns="0" tIns="0" rIns="0" bIns="0" rtlCol="0" anchor="ctr"/>
          <a:lstStyle/>
          <a:p>
            <a:pPr algn="ctr" indent="0" marL="0">
              <a:buNone/>
            </a:pPr>
            <a:r>
              <a:rPr lang="en-US" sz="1800" dirty="0">
                <a:solidFill>
                  <a:srgbClr val="5B6B76"/>
                </a:solidFill>
              </a:rPr>
              <a:t>›</a:t>
            </a:r>
            <a:endParaRPr lang="en-US" sz="1800" dirty="0"/>
          </a:p>
        </p:txBody>
      </p:sp>
      <p:sp>
        <p:nvSpPr>
          <p:cNvPr id="25" name="Shape 21"/>
          <p:cNvSpPr/>
          <p:nvPr/>
        </p:nvSpPr>
        <p:spPr>
          <a:xfrm>
            <a:off x="7315200" y="2651760"/>
            <a:ext cx="2103120" cy="1600200"/>
          </a:xfrm>
          <a:prstGeom prst="roundRect">
            <a:avLst>
              <a:gd name="adj" fmla="val 4571"/>
            </a:avLst>
          </a:prstGeom>
          <a:solidFill>
            <a:srgbClr val="F4F7FA"/>
          </a:solidFill>
          <a:ln w="9525">
            <a:solidFill>
              <a:srgbClr val="D8E1E8"/>
            </a:solidFill>
            <a:prstDash val="solid"/>
          </a:ln>
        </p:spPr>
      </p:sp>
      <p:sp>
        <p:nvSpPr>
          <p:cNvPr id="26" name="Text 22"/>
          <p:cNvSpPr txBox="1"/>
          <p:nvPr/>
        </p:nvSpPr>
        <p:spPr>
          <a:xfrm>
            <a:off x="7452360" y="2788920"/>
            <a:ext cx="1828800" cy="132588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Window → SteamVR Input → copy example JSONs → Save and generate.</a:t>
            </a:r>
            <a:endParaRPr lang="en-US" sz="1350" dirty="0"/>
          </a:p>
        </p:txBody>
      </p:sp>
      <p:sp>
        <p:nvSpPr>
          <p:cNvPr id="27" name="Shape 23"/>
          <p:cNvSpPr/>
          <p:nvPr/>
        </p:nvSpPr>
        <p:spPr>
          <a:xfrm>
            <a:off x="9601200" y="2011680"/>
            <a:ext cx="2103120" cy="457200"/>
          </a:xfrm>
          <a:prstGeom prst="roundRect">
            <a:avLst>
              <a:gd name="adj" fmla="val 16000"/>
            </a:avLst>
          </a:prstGeom>
          <a:solidFill>
            <a:srgbClr val="F4F7FA"/>
          </a:solidFill>
          <a:ln w="9525">
            <a:solidFill>
              <a:srgbClr val="D8E1E8"/>
            </a:solidFill>
            <a:prstDash val="solid"/>
          </a:ln>
        </p:spPr>
      </p:sp>
      <p:sp>
        <p:nvSpPr>
          <p:cNvPr id="28" name="Text 24"/>
          <p:cNvSpPr txBox="1"/>
          <p:nvPr/>
        </p:nvSpPr>
        <p:spPr>
          <a:xfrm>
            <a:off x="9601200" y="2011680"/>
            <a:ext cx="2103120" cy="457200"/>
          </a:xfrm>
          <a:prstGeom prst="rect">
            <a:avLst/>
          </a:prstGeom>
          <a:noFill/>
          <a:ln/>
        </p:spPr>
        <p:txBody>
          <a:bodyPr wrap="square" lIns="0" tIns="0" rIns="0" bIns="0" rtlCol="0" anchor="ctr"/>
          <a:lstStyle/>
          <a:p>
            <a:pPr algn="ctr" indent="0" marL="0">
              <a:buNone/>
            </a:pPr>
            <a:r>
              <a:rPr lang="en-US" sz="1300" b="1" dirty="0">
                <a:solidFill>
                  <a:srgbClr val="0E2841"/>
                </a:solidFill>
                <a:latin typeface="Calibri" pitchFamily="34" charset="0"/>
                <a:ea typeface="Calibri" pitchFamily="34" charset="-122"/>
                <a:cs typeface="Calibri" pitchFamily="34" charset="-120"/>
              </a:rPr>
              <a:t>5. Run the sample</a:t>
            </a:r>
            <a:endParaRPr lang="en-US" sz="1300" dirty="0"/>
          </a:p>
        </p:txBody>
      </p:sp>
      <p:sp>
        <p:nvSpPr>
          <p:cNvPr id="29" name="Shape 25"/>
          <p:cNvSpPr/>
          <p:nvPr/>
        </p:nvSpPr>
        <p:spPr>
          <a:xfrm>
            <a:off x="9601200" y="2651760"/>
            <a:ext cx="2103120" cy="1600200"/>
          </a:xfrm>
          <a:prstGeom prst="roundRect">
            <a:avLst>
              <a:gd name="adj" fmla="val 4571"/>
            </a:avLst>
          </a:prstGeom>
          <a:solidFill>
            <a:srgbClr val="F4F7FA"/>
          </a:solidFill>
          <a:ln w="9525">
            <a:solidFill>
              <a:srgbClr val="D8E1E8"/>
            </a:solidFill>
            <a:prstDash val="solid"/>
          </a:ln>
        </p:spPr>
      </p:sp>
      <p:sp>
        <p:nvSpPr>
          <p:cNvPr id="30" name="Text 26"/>
          <p:cNvSpPr txBox="1"/>
          <p:nvPr/>
        </p:nvSpPr>
        <p:spPr>
          <a:xfrm>
            <a:off x="9738360" y="2788920"/>
            <a:ext cx="1828800" cy="132588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Open Interactions_Example.unity (in the Samples folder), headset on, press Play.</a:t>
            </a:r>
            <a:endParaRPr lang="en-US" sz="1350" dirty="0"/>
          </a:p>
        </p:txBody>
      </p:sp>
      <p:sp>
        <p:nvSpPr>
          <p:cNvPr id="31" name="Shape 27"/>
          <p:cNvSpPr/>
          <p:nvPr/>
        </p:nvSpPr>
        <p:spPr>
          <a:xfrm>
            <a:off x="457200" y="4526280"/>
            <a:ext cx="11247120" cy="1234440"/>
          </a:xfrm>
          <a:prstGeom prst="roundRect">
            <a:avLst>
              <a:gd name="adj" fmla="val 5926"/>
            </a:avLst>
          </a:prstGeom>
          <a:solidFill>
            <a:srgbClr val="F4F7FA"/>
          </a:solidFill>
          <a:ln w="9525">
            <a:solidFill>
              <a:srgbClr val="D8E1E8"/>
            </a:solidFill>
            <a:prstDash val="solid"/>
          </a:ln>
        </p:spPr>
      </p:sp>
      <p:pic>
        <p:nvPicPr>
          <p:cNvPr id="32" name="Image 2" descr="preencoded.png">    </p:cNvPr>
          <p:cNvPicPr>
            <a:picLocks noChangeAspect="1"/>
          </p:cNvPicPr>
          <p:nvPr/>
        </p:nvPicPr>
        <p:blipFill>
          <a:blip r:embed="rId3"/>
          <a:stretch>
            <a:fillRect/>
          </a:stretch>
        </p:blipFill>
        <p:spPr>
          <a:xfrm>
            <a:off x="640080" y="4709160"/>
            <a:ext cx="329184" cy="329184"/>
          </a:xfrm>
          <a:prstGeom prst="rect">
            <a:avLst/>
          </a:prstGeom>
        </p:spPr>
      </p:pic>
      <p:sp>
        <p:nvSpPr>
          <p:cNvPr id="33" name="Text 28"/>
          <p:cNvSpPr txBox="1"/>
          <p:nvPr/>
        </p:nvSpPr>
        <p:spPr>
          <a:xfrm>
            <a:off x="1097280" y="4709160"/>
            <a:ext cx="1042416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No headset at home?</a:t>
            </a:r>
            <a:endParaRPr lang="en-US" sz="1450" dirty="0"/>
          </a:p>
        </p:txBody>
      </p:sp>
      <p:sp>
        <p:nvSpPr>
          <p:cNvPr id="34" name="Text 29"/>
          <p:cNvSpPr txBox="1"/>
          <p:nvPr/>
        </p:nvSpPr>
        <p:spPr>
          <a:xfrm>
            <a:off x="640080" y="5166360"/>
            <a:ext cx="10881360" cy="41148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The Player prefab's "Allow Toggle To 2D" switches to a keyboard-and-mouse fallback when SteamVR can't start (WASD, mouse look, click to grab). It plays the role of XRI's XR Device Simulator.</a:t>
            </a:r>
            <a:endParaRPr lang="en-US" sz="1250" dirty="0"/>
          </a:p>
        </p:txBody>
      </p:sp>
      <p:sp>
        <p:nvSpPr>
          <p:cNvPr id="35" name="Text 30"/>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SteamVR Input: the default action set</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Save and generate writes StreamingAssets/SteamVR/actions.json and generates the SteamVR_Actions C# class.</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6766560" cy="914400"/>
        </p:xfrm>
        <a:graphic>
          <a:graphicData uri="http://schemas.openxmlformats.org/drawingml/2006/table">
            <a:tbl>
              <a:tblPr/>
              <a:tblGrid>
                <a:gridCol w="2011680"/>
                <a:gridCol w="1188720"/>
                <a:gridCol w="1737360"/>
                <a:gridCol w="1828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Vive Wand</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by</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GrabPinch</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Trigger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Picking things up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GrabGrip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Grip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Picking things up</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Trackpad center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Teleporting prefab</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InteractUI</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Trigger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UI buttons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SnapTurnLeft / Right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Trackpad edges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Snap turn (GolfVR repurposes)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Menu</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Boolean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Menu button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Free for your game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11480">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Haptic</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Vibration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hand.TriggerHapticPulse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bl>
          </a:graphicData>
        </a:graphic>
      </p:graphicFrame>
      <p:sp>
        <p:nvSpPr>
          <p:cNvPr id="8" name="Shape 3"/>
          <p:cNvSpPr/>
          <p:nvPr/>
        </p:nvSpPr>
        <p:spPr>
          <a:xfrm>
            <a:off x="7498080" y="1965960"/>
            <a:ext cx="4206240" cy="3337560"/>
          </a:xfrm>
          <a:prstGeom prst="roundRect">
            <a:avLst>
              <a:gd name="adj" fmla="val 2192"/>
            </a:avLst>
          </a:prstGeom>
          <a:solidFill>
            <a:srgbClr val="0E2841"/>
          </a:solidFill>
          <a:ln w="9525">
            <a:solidFill>
              <a:srgbClr val="0E2841"/>
            </a:solidFill>
            <a:prstDash val="solid"/>
          </a:ln>
        </p:spPr>
      </p:sp>
      <p:pic>
        <p:nvPicPr>
          <p:cNvPr id="9" name="Image 2" descr="preencoded.png">    </p:cNvPr>
          <p:cNvPicPr>
            <a:picLocks noChangeAspect="1"/>
          </p:cNvPicPr>
          <p:nvPr/>
        </p:nvPicPr>
        <p:blipFill>
          <a:blip r:embed="rId3"/>
          <a:stretch>
            <a:fillRect/>
          </a:stretch>
        </p:blipFill>
        <p:spPr>
          <a:xfrm>
            <a:off x="7680960" y="2148840"/>
            <a:ext cx="329184" cy="329184"/>
          </a:xfrm>
          <a:prstGeom prst="rect">
            <a:avLst/>
          </a:prstGeom>
        </p:spPr>
      </p:pic>
      <p:sp>
        <p:nvSpPr>
          <p:cNvPr id="10" name="Text 4"/>
          <p:cNvSpPr txBox="1"/>
          <p:nvPr/>
        </p:nvSpPr>
        <p:spPr>
          <a:xfrm>
            <a:off x="8138160" y="2148840"/>
            <a:ext cx="338328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Actions, not raw buttons</a:t>
            </a:r>
            <a:endParaRPr lang="en-US" sz="1450" dirty="0"/>
          </a:p>
        </p:txBody>
      </p:sp>
      <p:sp>
        <p:nvSpPr>
          <p:cNvPr id="11" name="Text 5"/>
          <p:cNvSpPr txBox="1"/>
          <p:nvPr/>
        </p:nvSpPr>
        <p:spPr>
          <a:xfrm>
            <a:off x="7680960" y="2606040"/>
            <a:ext cx="3840480" cy="25146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You name what the game needs once, in actions.json</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A bindings file per controller maps buttons to actions (bindings_vive_controller.json, bindings_oculus_touch.json, …)</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Swap Vive Wands for Index or Quest and the code never changes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Window → SteamVR Input → Open binding UI to remap</a:t>
            </a:r>
            <a:endParaRPr lang="en-US" sz="1250" dirty="0"/>
          </a:p>
        </p:txBody>
      </p:sp>
      <p:sp>
        <p:nvSpPr>
          <p:cNvPr id="12" name="Text 6"/>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Common first-day problems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Almost every "it doesn't work" in Week 4 is one of these five.</a:t>
            </a:r>
            <a:endParaRPr lang="en-US" sz="1350" dirty="0"/>
          </a:p>
        </p:txBody>
      </p:sp>
      <p:sp>
        <p:nvSpPr>
          <p:cNvPr id="7" name="Shape 3"/>
          <p:cNvSpPr/>
          <p:nvPr/>
        </p:nvSpPr>
        <p:spPr>
          <a:xfrm>
            <a:off x="457200" y="1965960"/>
            <a:ext cx="11247120" cy="685800"/>
          </a:xfrm>
          <a:prstGeom prst="roundRect">
            <a:avLst>
              <a:gd name="adj" fmla="val 10667"/>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30552"/>
            <a:ext cx="365760" cy="365760"/>
          </a:xfrm>
          <a:prstGeom prst="rect">
            <a:avLst/>
          </a:prstGeom>
        </p:spPr>
      </p:pic>
      <p:sp>
        <p:nvSpPr>
          <p:cNvPr id="9" name="Text 4"/>
          <p:cNvSpPr txBox="1"/>
          <p:nvPr/>
        </p:nvSpPr>
        <p:spPr>
          <a:xfrm>
            <a:off x="1188720" y="1965960"/>
            <a:ext cx="4480560" cy="685800"/>
          </a:xfrm>
          <a:prstGeom prst="rect">
            <a:avLst/>
          </a:prstGeom>
          <a:noFill/>
          <a:ln/>
        </p:spPr>
        <p:txBody>
          <a:bodyPr wrap="square" lIns="0" tIns="0" rIns="0" bIns="0" rtlCol="0" anchor="ctr"/>
          <a:lstStyle/>
          <a:p>
            <a:pPr indent="0" marL="0">
              <a:buNone/>
            </a:pPr>
            <a:r>
              <a:rPr lang="en-US" sz="1400" b="1" dirty="0">
                <a:solidFill>
                  <a:srgbClr val="0E2841"/>
                </a:solidFill>
                <a:latin typeface="Calibri" pitchFamily="34" charset="0"/>
                <a:ea typeface="Calibri" pitchFamily="34" charset="-122"/>
                <a:cs typeface="Calibri" pitchFamily="34" charset="-120"/>
              </a:rPr>
              <a:t>Game view works, headset is black</a:t>
            </a:r>
            <a:endParaRPr lang="en-US" sz="1400" dirty="0"/>
          </a:p>
        </p:txBody>
      </p:sp>
      <p:sp>
        <p:nvSpPr>
          <p:cNvPr id="10" name="Text 5"/>
          <p:cNvSpPr txBox="1"/>
          <p:nvPr/>
        </p:nvSpPr>
        <p:spPr>
          <a:xfrm>
            <a:off x="5760720" y="1965960"/>
            <a:ext cx="5760720" cy="685800"/>
          </a:xfrm>
          <a:prstGeom prst="rect">
            <a:avLst/>
          </a:prstGeom>
          <a:noFill/>
          <a:ln/>
        </p:spPr>
        <p:txBody>
          <a:bodyPr wrap="square" lIns="0" tIns="0" rIns="0" bIns="0" rtlCol="0" anchor="ctr"/>
          <a:lstStyle/>
          <a:p>
            <a:pPr indent="0" marL="0">
              <a:buNone/>
            </a:pPr>
            <a:r>
              <a:rPr lang="en-US" sz="1300" dirty="0">
                <a:solidFill>
                  <a:srgbClr val="13202B"/>
                </a:solidFill>
                <a:latin typeface="Calibri" pitchFamily="34" charset="0"/>
                <a:ea typeface="Calibri" pitchFamily="34" charset="-122"/>
                <a:cs typeface="Calibri" pitchFamily="34" charset="-120"/>
              </a:rPr>
              <a:t>→  OpenVR Loader unchecked, or OpenXR listed above it</a:t>
            </a:r>
            <a:endParaRPr lang="en-US" sz="1300" dirty="0"/>
          </a:p>
        </p:txBody>
      </p:sp>
      <p:sp>
        <p:nvSpPr>
          <p:cNvPr id="11" name="Shape 6"/>
          <p:cNvSpPr/>
          <p:nvPr/>
        </p:nvSpPr>
        <p:spPr>
          <a:xfrm>
            <a:off x="457200" y="2788920"/>
            <a:ext cx="11247120" cy="685800"/>
          </a:xfrm>
          <a:prstGeom prst="roundRect">
            <a:avLst>
              <a:gd name="adj" fmla="val 10667"/>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640080" y="2953512"/>
            <a:ext cx="365760" cy="365760"/>
          </a:xfrm>
          <a:prstGeom prst="rect">
            <a:avLst/>
          </a:prstGeom>
        </p:spPr>
      </p:pic>
      <p:sp>
        <p:nvSpPr>
          <p:cNvPr id="13" name="Text 7"/>
          <p:cNvSpPr txBox="1"/>
          <p:nvPr/>
        </p:nvSpPr>
        <p:spPr>
          <a:xfrm>
            <a:off x="1188720" y="2788920"/>
            <a:ext cx="4480560" cy="685800"/>
          </a:xfrm>
          <a:prstGeom prst="rect">
            <a:avLst/>
          </a:prstGeom>
          <a:noFill/>
          <a:ln/>
        </p:spPr>
        <p:txBody>
          <a:bodyPr wrap="square" lIns="0" tIns="0" rIns="0" bIns="0" rtlCol="0" anchor="ctr"/>
          <a:lstStyle/>
          <a:p>
            <a:pPr indent="0" marL="0">
              <a:buNone/>
            </a:pPr>
            <a:r>
              <a:rPr lang="en-US" sz="1400" b="1" dirty="0">
                <a:solidFill>
                  <a:srgbClr val="0E2841"/>
                </a:solidFill>
                <a:latin typeface="Calibri" pitchFamily="34" charset="0"/>
                <a:ea typeface="Calibri" pitchFamily="34" charset="-122"/>
                <a:cs typeface="Calibri" pitchFamily="34" charset="-120"/>
              </a:rPr>
              <a:t>Hands show up, buttons do nothing</a:t>
            </a:r>
            <a:endParaRPr lang="en-US" sz="1400" dirty="0"/>
          </a:p>
        </p:txBody>
      </p:sp>
      <p:sp>
        <p:nvSpPr>
          <p:cNvPr id="14" name="Text 8"/>
          <p:cNvSpPr txBox="1"/>
          <p:nvPr/>
        </p:nvSpPr>
        <p:spPr>
          <a:xfrm>
            <a:off x="5760720" y="2788920"/>
            <a:ext cx="5760720" cy="685800"/>
          </a:xfrm>
          <a:prstGeom prst="rect">
            <a:avLst/>
          </a:prstGeom>
          <a:noFill/>
          <a:ln/>
        </p:spPr>
        <p:txBody>
          <a:bodyPr wrap="square" lIns="0" tIns="0" rIns="0" bIns="0" rtlCol="0" anchor="ctr"/>
          <a:lstStyle/>
          <a:p>
            <a:pPr indent="0" marL="0">
              <a:buNone/>
            </a:pPr>
            <a:r>
              <a:rPr lang="en-US" sz="1300" dirty="0">
                <a:solidFill>
                  <a:srgbClr val="13202B"/>
                </a:solidFill>
                <a:latin typeface="Calibri" pitchFamily="34" charset="0"/>
                <a:ea typeface="Calibri" pitchFamily="34" charset="-122"/>
                <a:cs typeface="Calibri" pitchFamily="34" charset="-120"/>
              </a:rPr>
              <a:t>→  Skipped "Save and generate" in the SteamVR Input window</a:t>
            </a:r>
            <a:endParaRPr lang="en-US" sz="1300" dirty="0"/>
          </a:p>
        </p:txBody>
      </p:sp>
      <p:sp>
        <p:nvSpPr>
          <p:cNvPr id="15" name="Shape 9"/>
          <p:cNvSpPr/>
          <p:nvPr/>
        </p:nvSpPr>
        <p:spPr>
          <a:xfrm>
            <a:off x="457200" y="3611880"/>
            <a:ext cx="11247120" cy="685800"/>
          </a:xfrm>
          <a:prstGeom prst="roundRect">
            <a:avLst>
              <a:gd name="adj" fmla="val 10667"/>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640080" y="3776472"/>
            <a:ext cx="365760" cy="365760"/>
          </a:xfrm>
          <a:prstGeom prst="rect">
            <a:avLst/>
          </a:prstGeom>
        </p:spPr>
      </p:pic>
      <p:sp>
        <p:nvSpPr>
          <p:cNvPr id="17" name="Text 10"/>
          <p:cNvSpPr txBox="1"/>
          <p:nvPr/>
        </p:nvSpPr>
        <p:spPr>
          <a:xfrm>
            <a:off x="1188720" y="3611880"/>
            <a:ext cx="4480560" cy="685800"/>
          </a:xfrm>
          <a:prstGeom prst="rect">
            <a:avLst/>
          </a:prstGeom>
          <a:noFill/>
          <a:ln/>
        </p:spPr>
        <p:txBody>
          <a:bodyPr wrap="square" lIns="0" tIns="0" rIns="0" bIns="0" rtlCol="0" anchor="ctr"/>
          <a:lstStyle/>
          <a:p>
            <a:pPr indent="0" marL="0">
              <a:buNone/>
            </a:pPr>
            <a:r>
              <a:rPr lang="en-US" sz="1400" b="1" dirty="0">
                <a:solidFill>
                  <a:srgbClr val="0E2841"/>
                </a:solidFill>
                <a:latin typeface="Calibri" pitchFamily="34" charset="0"/>
                <a:ea typeface="Calibri" pitchFamily="34" charset="-122"/>
                <a:cs typeface="Calibri" pitchFamily="34" charset="-120"/>
              </a:rPr>
              <a:t>Everything is pink</a:t>
            </a:r>
            <a:endParaRPr lang="en-US" sz="1400" dirty="0"/>
          </a:p>
        </p:txBody>
      </p:sp>
      <p:sp>
        <p:nvSpPr>
          <p:cNvPr id="18" name="Text 11"/>
          <p:cNvSpPr txBox="1"/>
          <p:nvPr/>
        </p:nvSpPr>
        <p:spPr>
          <a:xfrm>
            <a:off x="5760720" y="3611880"/>
            <a:ext cx="5760720" cy="685800"/>
          </a:xfrm>
          <a:prstGeom prst="rect">
            <a:avLst/>
          </a:prstGeom>
          <a:noFill/>
          <a:ln/>
        </p:spPr>
        <p:txBody>
          <a:bodyPr wrap="square" lIns="0" tIns="0" rIns="0" bIns="0" rtlCol="0" anchor="ctr"/>
          <a:lstStyle/>
          <a:p>
            <a:pPr indent="0" marL="0">
              <a:buNone/>
            </a:pPr>
            <a:r>
              <a:rPr lang="en-US" sz="1300" dirty="0">
                <a:solidFill>
                  <a:srgbClr val="13202B"/>
                </a:solidFill>
                <a:latin typeface="Calibri" pitchFamily="34" charset="0"/>
                <a:ea typeface="Calibri" pitchFamily="34" charset="-122"/>
                <a:cs typeface="Calibri" pitchFamily="34" charset="-120"/>
              </a:rPr>
              <a:t>→  The project is URP. Start again from the Built-In template</a:t>
            </a:r>
            <a:endParaRPr lang="en-US" sz="1300" dirty="0"/>
          </a:p>
        </p:txBody>
      </p:sp>
      <p:sp>
        <p:nvSpPr>
          <p:cNvPr id="19" name="Shape 12"/>
          <p:cNvSpPr/>
          <p:nvPr/>
        </p:nvSpPr>
        <p:spPr>
          <a:xfrm>
            <a:off x="457200" y="4434840"/>
            <a:ext cx="11247120" cy="685800"/>
          </a:xfrm>
          <a:prstGeom prst="roundRect">
            <a:avLst>
              <a:gd name="adj" fmla="val 10667"/>
            </a:avLst>
          </a:prstGeom>
          <a:solidFill>
            <a:srgbClr val="F4F7FA"/>
          </a:solidFill>
          <a:ln w="9525">
            <a:solidFill>
              <a:srgbClr val="D8E1E8"/>
            </a:solidFill>
            <a:prstDash val="solid"/>
          </a:ln>
        </p:spPr>
      </p:sp>
      <p:pic>
        <p:nvPicPr>
          <p:cNvPr id="20" name="Image 5" descr="preencoded.png">    </p:cNvPr>
          <p:cNvPicPr>
            <a:picLocks noChangeAspect="1"/>
          </p:cNvPicPr>
          <p:nvPr/>
        </p:nvPicPr>
        <p:blipFill>
          <a:blip r:embed="rId6"/>
          <a:stretch>
            <a:fillRect/>
          </a:stretch>
        </p:blipFill>
        <p:spPr>
          <a:xfrm>
            <a:off x="640080" y="4599432"/>
            <a:ext cx="365760" cy="365760"/>
          </a:xfrm>
          <a:prstGeom prst="rect">
            <a:avLst/>
          </a:prstGeom>
        </p:spPr>
      </p:pic>
      <p:sp>
        <p:nvSpPr>
          <p:cNvPr id="21" name="Text 13"/>
          <p:cNvSpPr txBox="1"/>
          <p:nvPr/>
        </p:nvSpPr>
        <p:spPr>
          <a:xfrm>
            <a:off x="1188720" y="4434840"/>
            <a:ext cx="4480560" cy="685800"/>
          </a:xfrm>
          <a:prstGeom prst="rect">
            <a:avLst/>
          </a:prstGeom>
          <a:noFill/>
          <a:ln/>
        </p:spPr>
        <p:txBody>
          <a:bodyPr wrap="square" lIns="0" tIns="0" rIns="0" bIns="0" rtlCol="0" anchor="ctr"/>
          <a:lstStyle/>
          <a:p>
            <a:pPr indent="0" marL="0">
              <a:buNone/>
            </a:pPr>
            <a:r>
              <a:rPr lang="en-US" sz="1400" b="1" dirty="0">
                <a:solidFill>
                  <a:srgbClr val="0E2841"/>
                </a:solidFill>
                <a:latin typeface="Calibri" pitchFamily="34" charset="0"/>
                <a:ea typeface="Calibri" pitchFamily="34" charset="-122"/>
                <a:cs typeface="Calibri" pitchFamily="34" charset="-120"/>
              </a:rPr>
              <a:t>Errors about missing actions.json</a:t>
            </a:r>
            <a:endParaRPr lang="en-US" sz="1400" dirty="0"/>
          </a:p>
        </p:txBody>
      </p:sp>
      <p:sp>
        <p:nvSpPr>
          <p:cNvPr id="22" name="Text 14"/>
          <p:cNvSpPr txBox="1"/>
          <p:nvPr/>
        </p:nvSpPr>
        <p:spPr>
          <a:xfrm>
            <a:off x="5760720" y="4434840"/>
            <a:ext cx="5760720" cy="685800"/>
          </a:xfrm>
          <a:prstGeom prst="rect">
            <a:avLst/>
          </a:prstGeom>
          <a:noFill/>
          <a:ln/>
        </p:spPr>
        <p:txBody>
          <a:bodyPr wrap="square" lIns="0" tIns="0" rIns="0" bIns="0" rtlCol="0" anchor="ctr"/>
          <a:lstStyle/>
          <a:p>
            <a:pPr indent="0" marL="0">
              <a:buNone/>
            </a:pPr>
            <a:r>
              <a:rPr lang="en-US" sz="1300" dirty="0">
                <a:solidFill>
                  <a:srgbClr val="13202B"/>
                </a:solidFill>
                <a:latin typeface="Calibri" pitchFamily="34" charset="0"/>
                <a:ea typeface="Calibri" pitchFamily="34" charset="-122"/>
                <a:cs typeface="Calibri" pitchFamily="34" charset="-120"/>
              </a:rPr>
              <a:t>→  Delete StreamingAssets/SteamVR and re-copy the example JSONs</a:t>
            </a:r>
            <a:endParaRPr lang="en-US" sz="1300" dirty="0"/>
          </a:p>
        </p:txBody>
      </p:sp>
      <p:sp>
        <p:nvSpPr>
          <p:cNvPr id="23" name="Shape 15"/>
          <p:cNvSpPr/>
          <p:nvPr/>
        </p:nvSpPr>
        <p:spPr>
          <a:xfrm>
            <a:off x="457200" y="5257800"/>
            <a:ext cx="11247120" cy="685800"/>
          </a:xfrm>
          <a:prstGeom prst="roundRect">
            <a:avLst>
              <a:gd name="adj" fmla="val 10667"/>
            </a:avLst>
          </a:prstGeom>
          <a:solidFill>
            <a:srgbClr val="F4F7FA"/>
          </a:solidFill>
          <a:ln w="9525">
            <a:solidFill>
              <a:srgbClr val="D8E1E8"/>
            </a:solidFill>
            <a:prstDash val="solid"/>
          </a:ln>
        </p:spPr>
      </p:sp>
      <p:pic>
        <p:nvPicPr>
          <p:cNvPr id="24" name="Image 6" descr="preencoded.png">    </p:cNvPr>
          <p:cNvPicPr>
            <a:picLocks noChangeAspect="1"/>
          </p:cNvPicPr>
          <p:nvPr/>
        </p:nvPicPr>
        <p:blipFill>
          <a:blip r:embed="rId7"/>
          <a:stretch>
            <a:fillRect/>
          </a:stretch>
        </p:blipFill>
        <p:spPr>
          <a:xfrm>
            <a:off x="640080" y="5422392"/>
            <a:ext cx="365760" cy="365760"/>
          </a:xfrm>
          <a:prstGeom prst="rect">
            <a:avLst/>
          </a:prstGeom>
        </p:spPr>
      </p:pic>
      <p:sp>
        <p:nvSpPr>
          <p:cNvPr id="25" name="Text 16"/>
          <p:cNvSpPr txBox="1"/>
          <p:nvPr/>
        </p:nvSpPr>
        <p:spPr>
          <a:xfrm>
            <a:off x="1188720" y="5257800"/>
            <a:ext cx="4480560" cy="685800"/>
          </a:xfrm>
          <a:prstGeom prst="rect">
            <a:avLst/>
          </a:prstGeom>
          <a:noFill/>
          <a:ln/>
        </p:spPr>
        <p:txBody>
          <a:bodyPr wrap="square" lIns="0" tIns="0" rIns="0" bIns="0" rtlCol="0" anchor="ctr"/>
          <a:lstStyle/>
          <a:p>
            <a:pPr indent="0" marL="0">
              <a:buNone/>
            </a:pPr>
            <a:r>
              <a:rPr lang="en-US" sz="1400" b="1" dirty="0">
                <a:solidFill>
                  <a:srgbClr val="0E2841"/>
                </a:solidFill>
                <a:latin typeface="Calibri" pitchFamily="34" charset="0"/>
                <a:ea typeface="Calibri" pitchFamily="34" charset="-122"/>
                <a:cs typeface="Calibri" pitchFamily="34" charset="-120"/>
              </a:rPr>
              <a:t>Quest shows Meta home, not SteamVR</a:t>
            </a:r>
            <a:endParaRPr lang="en-US" sz="1400" dirty="0"/>
          </a:p>
        </p:txBody>
      </p:sp>
      <p:sp>
        <p:nvSpPr>
          <p:cNvPr id="26" name="Text 17"/>
          <p:cNvSpPr txBox="1"/>
          <p:nvPr/>
        </p:nvSpPr>
        <p:spPr>
          <a:xfrm>
            <a:off x="5760720" y="5257800"/>
            <a:ext cx="5760720" cy="685800"/>
          </a:xfrm>
          <a:prstGeom prst="rect">
            <a:avLst/>
          </a:prstGeom>
          <a:noFill/>
          <a:ln/>
        </p:spPr>
        <p:txBody>
          <a:bodyPr wrap="square" lIns="0" tIns="0" rIns="0" bIns="0" rtlCol="0" anchor="ctr"/>
          <a:lstStyle/>
          <a:p>
            <a:pPr indent="0" marL="0">
              <a:buNone/>
            </a:pPr>
            <a:r>
              <a:rPr lang="en-US" sz="1300" dirty="0">
                <a:solidFill>
                  <a:srgbClr val="13202B"/>
                </a:solidFill>
                <a:latin typeface="Calibri" pitchFamily="34" charset="0"/>
                <a:ea typeface="Calibri" pitchFamily="34" charset="-122"/>
                <a:cs typeface="Calibri" pitchFamily="34" charset="-120"/>
              </a:rPr>
              <a:t>→  Connect Link first, then launch SteamVR from the desktop</a:t>
            </a:r>
            <a:endParaRPr lang="en-US" sz="1300" dirty="0"/>
          </a:p>
        </p:txBody>
      </p:sp>
      <p:sp>
        <p:nvSpPr>
          <p:cNvPr id="27" name="Text 18"/>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Touring Interactions_Example: XRI → SteamVR</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Every concept in the textbook's XRI demo scene has a SteamVR Interaction System counterpart.</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47120" cy="914400"/>
        </p:xfrm>
        <a:graphic>
          <a:graphicData uri="http://schemas.openxmlformats.org/drawingml/2006/table">
            <a:tbl>
              <a:tblPr/>
              <a:tblGrid>
                <a:gridCol w="2926080"/>
                <a:gridCol w="4206240"/>
                <a:gridCol w="41148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Textbook (XRI)</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SteamVR Interaction System</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in the sample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0E2841"/>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XR Origin / player rig</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Player prefab: VRCamera, LeftHand, RightHand, 2D fallback</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Core/Prefabs/Player.prefab</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Teleportation Provider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Teleporting prefab: arc and player move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Teleport/Prefabs/Teleporting.prefab</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Teleportation Area / Anchor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TeleportArea on any mesh / TeleportPoint prefab</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Floor / pads around the room</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XR Grab Interactable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Interactable + Throwable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Table of throwables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UI button / poke button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UIElement on a uGUI Button / HoverButton</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Floating panel / push buttons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Lever, dial</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LinearDrive / CircularDrive</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Slider and wheel stations</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Gaze, climbing</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Not built in (use a VRCamera raycast); Longbow and Buggy Buddy show 2-hand and vehicle attach</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Samples/, Longbow/</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XR Device Simulator</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Player → Allow Toggle To 2D</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c>
                  <a:txBody>
                    <a:bodyPr/>
                    <a:lstStyle/>
                    <a:p>
                      <a:pPr indent="0" marL="0">
                        <a:buNone/>
                      </a:pPr>
                      <a:r>
                        <a:rPr lang="en-US" sz="1200" dirty="0">
                          <a:solidFill>
                            <a:srgbClr val="13202B"/>
                          </a:solidFill>
                          <a:latin typeface="Calibri" pitchFamily="34" charset="0"/>
                          <a:ea typeface="Calibri" pitchFamily="34" charset="-122"/>
                          <a:cs typeface="Calibri" pitchFamily="34" charset="-120"/>
                        </a:rPr>
                        <a:t>Automatic with no headset</a:t>
                      </a:r>
                      <a:endParaRPr lang="en-US" sz="1200" dirty="0">
                        <a:latin typeface="Calibri" charset="0"/>
                        <a:ea typeface="Calibri" charset="0"/>
                        <a:cs typeface="Calibri" charset="0"/>
                      </a:endParaRPr>
                    </a:p>
                  </a:txBody>
                  <a:tcPr marL="76200" marR="76200" marT="38100" marB="38100" anchor="ctr">
                    <a:lnL w="9525" cap="flat" cmpd="sng" algn="ctr">
                      <a:solidFill>
                        <a:srgbClr val="D8E1E8"/>
                      </a:solidFill>
                      <a:prstDash val="solid"/>
                      <a:round/>
                      <a:headEnd type="none" w="med" len="med"/>
                      <a:tailEnd type="none" w="med" len="med"/>
                    </a:lnL>
                    <a:lnR w="9525" cap="flat" cmpd="sng" algn="ctr">
                      <a:solidFill>
                        <a:srgbClr val="D8E1E8"/>
                      </a:solidFill>
                      <a:prstDash val="solid"/>
                      <a:round/>
                      <a:headEnd type="none" w="med" len="med"/>
                      <a:tailEnd type="none" w="med" len="med"/>
                    </a:lnR>
                    <a:lnT w="9525" cap="flat" cmpd="sng" algn="ctr">
                      <a:solidFill>
                        <a:srgbClr val="D8E1E8"/>
                      </a:solidFill>
                      <a:prstDash val="solid"/>
                      <a:round/>
                      <a:headEnd type="none" w="med" len="med"/>
                      <a:tailEnd type="none" w="med" len="med"/>
                    </a:lnT>
                    <a:lnB w="9525" cap="flat" cmpd="sng" algn="ctr">
                      <a:solidFill>
                        <a:srgbClr val="D8E1E8"/>
                      </a:solidFill>
                      <a:prstDash val="solid"/>
                      <a:round/>
                      <a:headEnd type="none" w="med" len="med"/>
                      <a:tailEnd type="none" w="med" len="med"/>
                    </a:lnB>
                    <a:solidFill>
                      <a:srgbClr val="F4F7FA"/>
                    </a:solidFill>
                  </a:tcPr>
                </a:tc>
              </a:tr>
            </a:tbl>
          </a:graphicData>
        </a:graphic>
      </p:graphicFrame>
      <p:sp>
        <p:nvSpPr>
          <p:cNvPr id="8" name="Text 3"/>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How grabbing actually works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Four steps, all inside Hand.cs and Throwable.cs. You rarely write any of it.</a:t>
            </a:r>
            <a:endParaRPr lang="en-US" sz="1350" dirty="0"/>
          </a:p>
        </p:txBody>
      </p:sp>
      <p:sp>
        <p:nvSpPr>
          <p:cNvPr id="7" name="Shape 3"/>
          <p:cNvSpPr/>
          <p:nvPr/>
        </p:nvSpPr>
        <p:spPr>
          <a:xfrm>
            <a:off x="502920" y="1965960"/>
            <a:ext cx="502920" cy="502920"/>
          </a:xfrm>
          <a:prstGeom prst="ellipse">
            <a:avLst/>
          </a:prstGeom>
          <a:solidFill>
            <a:srgbClr val="0E2841"/>
          </a:solidFill>
          <a:ln w="12700">
            <a:solidFill>
              <a:srgbClr val="0E2841"/>
            </a:solidFill>
            <a:prstDash val="solid"/>
          </a:ln>
        </p:spPr>
      </p:sp>
      <p:sp>
        <p:nvSpPr>
          <p:cNvPr id="8" name="Text 4"/>
          <p:cNvSpPr txBox="1"/>
          <p:nvPr/>
        </p:nvSpPr>
        <p:spPr>
          <a:xfrm>
            <a:off x="502920" y="1965960"/>
            <a:ext cx="502920" cy="50292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1</a:t>
            </a:r>
            <a:endParaRPr lang="en-US" sz="1600" dirty="0"/>
          </a:p>
        </p:txBody>
      </p:sp>
      <p:sp>
        <p:nvSpPr>
          <p:cNvPr id="9" name="Text 5"/>
          <p:cNvSpPr txBox="1"/>
          <p:nvPr/>
        </p:nvSpPr>
        <p:spPr>
          <a:xfrm>
            <a:off x="1143000" y="1965960"/>
            <a:ext cx="1920240" cy="50292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Hover</a:t>
            </a:r>
            <a:endParaRPr lang="en-US" sz="1600" dirty="0"/>
          </a:p>
        </p:txBody>
      </p:sp>
      <p:sp>
        <p:nvSpPr>
          <p:cNvPr id="10" name="Text 6"/>
          <p:cNvSpPr txBox="1"/>
          <p:nvPr/>
        </p:nvSpPr>
        <p:spPr>
          <a:xfrm>
            <a:off x="457200" y="2606040"/>
            <a:ext cx="2606040" cy="118872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Each Hand has a small hover sphere that highlights the closest Interactable</a:t>
            </a:r>
            <a:endParaRPr lang="en-US" sz="1250" dirty="0"/>
          </a:p>
        </p:txBody>
      </p:sp>
      <p:sp>
        <p:nvSpPr>
          <p:cNvPr id="11" name="Shape 7"/>
          <p:cNvSpPr/>
          <p:nvPr/>
        </p:nvSpPr>
        <p:spPr>
          <a:xfrm>
            <a:off x="3337560" y="1965960"/>
            <a:ext cx="502920" cy="502920"/>
          </a:xfrm>
          <a:prstGeom prst="ellipse">
            <a:avLst/>
          </a:prstGeom>
          <a:solidFill>
            <a:srgbClr val="0E2841"/>
          </a:solidFill>
          <a:ln w="12700">
            <a:solidFill>
              <a:srgbClr val="0E2841"/>
            </a:solidFill>
            <a:prstDash val="solid"/>
          </a:ln>
        </p:spPr>
      </p:sp>
      <p:sp>
        <p:nvSpPr>
          <p:cNvPr id="12" name="Text 8"/>
          <p:cNvSpPr txBox="1"/>
          <p:nvPr/>
        </p:nvSpPr>
        <p:spPr>
          <a:xfrm>
            <a:off x="3337560" y="1965960"/>
            <a:ext cx="502920" cy="50292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2</a:t>
            </a:r>
            <a:endParaRPr lang="en-US" sz="1600" dirty="0"/>
          </a:p>
        </p:txBody>
      </p:sp>
      <p:sp>
        <p:nvSpPr>
          <p:cNvPr id="13" name="Text 9"/>
          <p:cNvSpPr txBox="1"/>
          <p:nvPr/>
        </p:nvSpPr>
        <p:spPr>
          <a:xfrm>
            <a:off x="3977640" y="1965960"/>
            <a:ext cx="1920240" cy="50292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Grab</a:t>
            </a:r>
            <a:endParaRPr lang="en-US" sz="1600" dirty="0"/>
          </a:p>
        </p:txBody>
      </p:sp>
      <p:sp>
        <p:nvSpPr>
          <p:cNvPr id="14" name="Text 10"/>
          <p:cNvSpPr txBox="1"/>
          <p:nvPr/>
        </p:nvSpPr>
        <p:spPr>
          <a:xfrm>
            <a:off x="3291840" y="2606040"/>
            <a:ext cx="2606040" cy="118872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GrabPinch (trigger) or GrabGrip goes down → hand.AttachObject(obj, grabType, flags)</a:t>
            </a:r>
            <a:endParaRPr lang="en-US" sz="1250" dirty="0"/>
          </a:p>
        </p:txBody>
      </p:sp>
      <p:sp>
        <p:nvSpPr>
          <p:cNvPr id="15" name="Shape 11"/>
          <p:cNvSpPr/>
          <p:nvPr/>
        </p:nvSpPr>
        <p:spPr>
          <a:xfrm>
            <a:off x="6172200" y="1965960"/>
            <a:ext cx="502920" cy="502920"/>
          </a:xfrm>
          <a:prstGeom prst="ellipse">
            <a:avLst/>
          </a:prstGeom>
          <a:solidFill>
            <a:srgbClr val="0E2841"/>
          </a:solidFill>
          <a:ln w="12700">
            <a:solidFill>
              <a:srgbClr val="0E2841"/>
            </a:solidFill>
            <a:prstDash val="solid"/>
          </a:ln>
        </p:spPr>
      </p:sp>
      <p:sp>
        <p:nvSpPr>
          <p:cNvPr id="16" name="Text 12"/>
          <p:cNvSpPr txBox="1"/>
          <p:nvPr/>
        </p:nvSpPr>
        <p:spPr>
          <a:xfrm>
            <a:off x="6172200" y="1965960"/>
            <a:ext cx="502920" cy="50292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3</a:t>
            </a:r>
            <a:endParaRPr lang="en-US" sz="1600" dirty="0"/>
          </a:p>
        </p:txBody>
      </p:sp>
      <p:sp>
        <p:nvSpPr>
          <p:cNvPr id="17" name="Text 13"/>
          <p:cNvSpPr txBox="1"/>
          <p:nvPr/>
        </p:nvSpPr>
        <p:spPr>
          <a:xfrm>
            <a:off x="6812280" y="1965960"/>
            <a:ext cx="1920240" cy="50292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Hold</a:t>
            </a:r>
            <a:endParaRPr lang="en-US" sz="1600" dirty="0"/>
          </a:p>
        </p:txBody>
      </p:sp>
      <p:sp>
        <p:nvSpPr>
          <p:cNvPr id="18" name="Text 14"/>
          <p:cNvSpPr txBox="1"/>
          <p:nvPr/>
        </p:nvSpPr>
        <p:spPr>
          <a:xfrm>
            <a:off x="6126480" y="2606040"/>
            <a:ext cx="2606040" cy="118872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attachmentFlags decide the feel: parent to hand, snap to palm, go kinematic</a:t>
            </a:r>
            <a:endParaRPr lang="en-US" sz="1250" dirty="0"/>
          </a:p>
        </p:txBody>
      </p:sp>
      <p:sp>
        <p:nvSpPr>
          <p:cNvPr id="19" name="Shape 15"/>
          <p:cNvSpPr/>
          <p:nvPr/>
        </p:nvSpPr>
        <p:spPr>
          <a:xfrm>
            <a:off x="9006840" y="1965960"/>
            <a:ext cx="502920" cy="502920"/>
          </a:xfrm>
          <a:prstGeom prst="ellipse">
            <a:avLst/>
          </a:prstGeom>
          <a:solidFill>
            <a:srgbClr val="0E2841"/>
          </a:solidFill>
          <a:ln w="12700">
            <a:solidFill>
              <a:srgbClr val="0E2841"/>
            </a:solidFill>
            <a:prstDash val="solid"/>
          </a:ln>
        </p:spPr>
      </p:sp>
      <p:sp>
        <p:nvSpPr>
          <p:cNvPr id="20" name="Text 16"/>
          <p:cNvSpPr txBox="1"/>
          <p:nvPr/>
        </p:nvSpPr>
        <p:spPr>
          <a:xfrm>
            <a:off x="9006840" y="1965960"/>
            <a:ext cx="502920" cy="50292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4</a:t>
            </a:r>
            <a:endParaRPr lang="en-US" sz="1600" dirty="0"/>
          </a:p>
        </p:txBody>
      </p:sp>
      <p:sp>
        <p:nvSpPr>
          <p:cNvPr id="21" name="Text 17"/>
          <p:cNvSpPr txBox="1"/>
          <p:nvPr/>
        </p:nvSpPr>
        <p:spPr>
          <a:xfrm>
            <a:off x="9646920" y="1965960"/>
            <a:ext cx="1920240" cy="502920"/>
          </a:xfrm>
          <a:prstGeom prst="rect">
            <a:avLst/>
          </a:prstGeom>
          <a:noFill/>
          <a:ln/>
        </p:spPr>
        <p:txBody>
          <a:bodyPr wrap="square" lIns="0" tIns="0" rIns="0" bIns="0" rtlCol="0" anchor="ctr"/>
          <a:lstStyle/>
          <a:p>
            <a:pPr indent="0" marL="0">
              <a:buNone/>
            </a:pPr>
            <a:r>
              <a:rPr lang="en-US" sz="1600" b="1" dirty="0">
                <a:solidFill>
                  <a:srgbClr val="0E2841"/>
                </a:solidFill>
                <a:latin typeface="Calibri" pitchFamily="34" charset="0"/>
                <a:ea typeface="Calibri" pitchFamily="34" charset="-122"/>
                <a:cs typeface="Calibri" pitchFamily="34" charset="-120"/>
              </a:rPr>
              <a:t>Release</a:t>
            </a:r>
            <a:endParaRPr lang="en-US" sz="1600" dirty="0"/>
          </a:p>
        </p:txBody>
      </p:sp>
      <p:sp>
        <p:nvSpPr>
          <p:cNvPr id="22" name="Text 18"/>
          <p:cNvSpPr txBox="1"/>
          <p:nvPr/>
        </p:nvSpPr>
        <p:spPr>
          <a:xfrm>
            <a:off x="8961120" y="2606040"/>
            <a:ext cx="2606040" cy="1188720"/>
          </a:xfrm>
          <a:prstGeom prst="rect">
            <a:avLst/>
          </a:prstGeom>
          <a:noFill/>
          <a:ln/>
        </p:spPr>
        <p:txBody>
          <a:bodyPr wrap="square" lIns="0" tIns="0" rIns="0" bIns="0" rtlCol="0" anchor="t"/>
          <a:lstStyle/>
          <a:p>
            <a:pPr indent="0" marL="0">
              <a:buNone/>
            </a:pPr>
            <a:r>
              <a:rPr lang="en-US" sz="1250" dirty="0">
                <a:solidFill>
                  <a:srgbClr val="13202B"/>
                </a:solidFill>
                <a:latin typeface="Calibri" pitchFamily="34" charset="0"/>
                <a:ea typeface="Calibri" pitchFamily="34" charset="-122"/>
                <a:cs typeface="Calibri" pitchFamily="34" charset="-120"/>
              </a:rPr>
              <a:t>Throwable copies the hand's velocity estimate onto the Rigidbody, so throws keep your arm's speed</a:t>
            </a:r>
            <a:endParaRPr lang="en-US" sz="1250" dirty="0"/>
          </a:p>
        </p:txBody>
      </p:sp>
      <p:sp>
        <p:nvSpPr>
          <p:cNvPr id="23" name="Shape 19"/>
          <p:cNvSpPr/>
          <p:nvPr/>
        </p:nvSpPr>
        <p:spPr>
          <a:xfrm>
            <a:off x="457200" y="3977640"/>
            <a:ext cx="6583680" cy="2148840"/>
          </a:xfrm>
          <a:prstGeom prst="roundRect">
            <a:avLst>
              <a:gd name="adj" fmla="val 3404"/>
            </a:avLst>
          </a:prstGeom>
          <a:solidFill>
            <a:srgbClr val="0B1620"/>
          </a:solidFill>
          <a:ln w="9525">
            <a:solidFill>
              <a:srgbClr val="0B1620"/>
            </a:solidFill>
            <a:prstDash val="solid"/>
          </a:ln>
        </p:spPr>
      </p:sp>
      <p:sp>
        <p:nvSpPr>
          <p:cNvPr id="24" name="Text 20"/>
          <p:cNvSpPr txBox="1"/>
          <p:nvPr/>
        </p:nvSpPr>
        <p:spPr>
          <a:xfrm>
            <a:off x="621792" y="4105656"/>
            <a:ext cx="6254496" cy="1892808"/>
          </a:xfrm>
          <a:prstGeom prst="rect">
            <a:avLst/>
          </a:prstGeom>
          <a:noFill/>
          <a:ln/>
        </p:spPr>
        <p:txBody>
          <a:bodyPr wrap="square" lIns="0" tIns="0" rIns="0" bIns="0" rtlCol="0" anchor="t"/>
          <a:lstStyle/>
          <a:p>
            <a:pPr indent="0" marL="0">
              <a:buNone/>
            </a:pPr>
            <a:r>
              <a:rPr lang="en-US" sz="1200" dirty="0">
                <a:solidFill>
                  <a:srgbClr val="6EE7A8"/>
                </a:solidFill>
                <a:latin typeface="Consolas" pitchFamily="34" charset="0"/>
                <a:ea typeface="Consolas" pitchFamily="34" charset="-122"/>
                <a:cs typeface="Consolas" pitchFamily="34" charset="-120"/>
              </a:rPr>
              <a:t>// Throwable's default flags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attachmentFlags = Hand.AttachmentFlags.ParentToHand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 Hand.AttachmentFlags.DetachFromOtherHand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 Hand.AttachmentFlags.TurnOnKinematic;</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6EE7A8"/>
                </a:solidFill>
                <a:latin typeface="Consolas" pitchFamily="34" charset="0"/>
                <a:ea typeface="Consolas" pitchFamily="34" charset="-122"/>
                <a:cs typeface="Consolas" pitchFamily="34" charset="-120"/>
              </a:rPr>
              <a:t>// GolfVR's putter adds SnapOnAttach so the grip</a:t>
            </a:r>
            <a:endParaRPr lang="en-US" sz="1200" dirty="0"/>
          </a:p>
          <a:p>
            <a:pPr indent="0" marL="0">
              <a:buNone/>
            </a:pPr>
            <a:r>
              <a:rPr lang="en-US" sz="1200" dirty="0">
                <a:solidFill>
                  <a:srgbClr val="6EE7A8"/>
                </a:solidFill>
                <a:latin typeface="Consolas" pitchFamily="34" charset="0"/>
                <a:ea typeface="Consolas" pitchFamily="34" charset="-122"/>
                <a:cs typeface="Consolas" pitchFamily="34" charset="-120"/>
              </a:rPr>
              <a:t>// lands exactly in your palm</a:t>
            </a:r>
            <a:endParaRPr lang="en-US" sz="1200" dirty="0"/>
          </a:p>
        </p:txBody>
      </p:sp>
      <p:sp>
        <p:nvSpPr>
          <p:cNvPr id="25" name="Shape 21"/>
          <p:cNvSpPr/>
          <p:nvPr/>
        </p:nvSpPr>
        <p:spPr>
          <a:xfrm>
            <a:off x="7269480" y="3977640"/>
            <a:ext cx="4434840" cy="2148840"/>
          </a:xfrm>
          <a:prstGeom prst="roundRect">
            <a:avLst>
              <a:gd name="adj" fmla="val 3404"/>
            </a:avLst>
          </a:prstGeom>
          <a:solidFill>
            <a:srgbClr val="F4F7FA"/>
          </a:solidFill>
          <a:ln w="9525">
            <a:solidFill>
              <a:srgbClr val="D8E1E8"/>
            </a:solidFill>
            <a:prstDash val="solid"/>
          </a:ln>
        </p:spPr>
      </p:sp>
      <p:pic>
        <p:nvPicPr>
          <p:cNvPr id="26" name="Image 2" descr="preencoded.png">    </p:cNvPr>
          <p:cNvPicPr>
            <a:picLocks noChangeAspect="1"/>
          </p:cNvPicPr>
          <p:nvPr/>
        </p:nvPicPr>
        <p:blipFill>
          <a:blip r:embed="rId3"/>
          <a:stretch>
            <a:fillRect/>
          </a:stretch>
        </p:blipFill>
        <p:spPr>
          <a:xfrm>
            <a:off x="7452360" y="4160520"/>
            <a:ext cx="329184" cy="329184"/>
          </a:xfrm>
          <a:prstGeom prst="rect">
            <a:avLst/>
          </a:prstGeom>
        </p:spPr>
      </p:pic>
      <p:sp>
        <p:nvSpPr>
          <p:cNvPr id="27" name="Text 22"/>
          <p:cNvSpPr txBox="1"/>
          <p:nvPr/>
        </p:nvSpPr>
        <p:spPr>
          <a:xfrm>
            <a:off x="7909560" y="4160520"/>
            <a:ext cx="36118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Try it</a:t>
            </a:r>
            <a:endParaRPr lang="en-US" sz="1450" dirty="0"/>
          </a:p>
        </p:txBody>
      </p:sp>
      <p:sp>
        <p:nvSpPr>
          <p:cNvPr id="28" name="Text 23"/>
          <p:cNvSpPr txBox="1"/>
          <p:nvPr/>
        </p:nvSpPr>
        <p:spPr>
          <a:xfrm>
            <a:off x="7452360" y="4617720"/>
            <a:ext cx="406908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Remove TurnOnKinematic from a Throwable. What happens to a held cube that touches the table?</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Add SnapOnAttach. How does the grip change?</a:t>
            </a:r>
            <a:endParaRPr lang="en-US" sz="1250" dirty="0"/>
          </a:p>
        </p:txBody>
      </p:sp>
      <p:sp>
        <p:nvSpPr>
          <p:cNvPr id="29" name="Text 24"/>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Lab 5: the SteamVR Playground</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Copy Week-05-SteamVR-Interactions/Assets into your Week 4 project → SteamVR Playground → Build Test Scene.</a:t>
            </a:r>
            <a:endParaRPr lang="en-US" sz="1350" dirty="0"/>
          </a:p>
        </p:txBody>
      </p:sp>
      <p:pic>
        <p:nvPicPr>
          <p:cNvPr id="7" name="Image 2" descr="C:\Users\Jeremy Callinan\AppData\Local\Temp\claude\c--GitHub-CIST1423-Fall2026-Examples\62e170c0-4055-4e17-811f-6bb67e40bfc7\scratchpad\deck\img\w5_overview.jpg">    </p:cNvPr>
          <p:cNvPicPr>
            <a:picLocks noChangeAspect="1"/>
          </p:cNvPicPr>
          <p:nvPr/>
        </p:nvPicPr>
        <p:blipFill>
          <a:blip r:embed="rId3"/>
          <a:stretch>
            <a:fillRect/>
          </a:stretch>
        </p:blipFill>
        <p:spPr>
          <a:xfrm>
            <a:off x="601555" y="1920240"/>
            <a:ext cx="6660731" cy="3749040"/>
          </a:xfrm>
          <a:prstGeom prst="rect">
            <a:avLst/>
          </a:prstGeom>
        </p:spPr>
      </p:pic>
      <p:sp>
        <p:nvSpPr>
          <p:cNvPr id="8" name="Text 3"/>
          <p:cNvSpPr txBox="1"/>
          <p:nvPr/>
        </p:nvSpPr>
        <p:spPr>
          <a:xfrm>
            <a:off x="457200" y="5742432"/>
            <a:ext cx="6949440" cy="365760"/>
          </a:xfrm>
          <a:prstGeom prst="rect">
            <a:avLst/>
          </a:prstGeom>
          <a:noFill/>
          <a:ln/>
        </p:spPr>
        <p:txBody>
          <a:bodyPr wrap="square" lIns="0" tIns="0" rIns="0" bIns="0" rtlCol="0" anchor="t"/>
          <a:lstStyle/>
          <a:p>
            <a:pPr indent="0" marL="0">
              <a:buNone/>
            </a:pPr>
            <a:r>
              <a:rPr lang="en-US" sz="1100" i="1" dirty="0">
                <a:solidFill>
                  <a:srgbClr val="5B6B76"/>
                </a:solidFill>
                <a:latin typeface="Calibri" pitchFamily="34" charset="0"/>
                <a:ea typeface="Calibri" pitchFamily="34" charset="-122"/>
                <a:cs typeface="Calibri" pitchFamily="34" charset="-120"/>
              </a:rPr>
              <a:t>Six numbered stations around the start point. Every station has a sign; three signs are live readouts.</a:t>
            </a:r>
            <a:endParaRPr lang="en-US" sz="1100" dirty="0"/>
          </a:p>
        </p:txBody>
      </p:sp>
      <p:sp>
        <p:nvSpPr>
          <p:cNvPr id="9" name="Shape 4"/>
          <p:cNvSpPr/>
          <p:nvPr/>
        </p:nvSpPr>
        <p:spPr>
          <a:xfrm>
            <a:off x="7680960" y="1920240"/>
            <a:ext cx="4023360" cy="1988820"/>
          </a:xfrm>
          <a:prstGeom prst="roundRect">
            <a:avLst>
              <a:gd name="adj" fmla="val 3678"/>
            </a:avLst>
          </a:prstGeom>
          <a:solidFill>
            <a:srgbClr val="F4F7FA"/>
          </a:solidFill>
          <a:ln w="9525">
            <a:solidFill>
              <a:srgbClr val="D8E1E8"/>
            </a:solidFill>
            <a:prstDash val="solid"/>
          </a:ln>
        </p:spPr>
      </p:sp>
      <p:pic>
        <p:nvPicPr>
          <p:cNvPr id="10" name="Image 3" descr="preencoded.png">    </p:cNvPr>
          <p:cNvPicPr>
            <a:picLocks noChangeAspect="1"/>
          </p:cNvPicPr>
          <p:nvPr/>
        </p:nvPicPr>
        <p:blipFill>
          <a:blip r:embed="rId4"/>
          <a:stretch>
            <a:fillRect/>
          </a:stretch>
        </p:blipFill>
        <p:spPr>
          <a:xfrm>
            <a:off x="7863840" y="2103120"/>
            <a:ext cx="329184" cy="329184"/>
          </a:xfrm>
          <a:prstGeom prst="rect">
            <a:avLst/>
          </a:prstGeom>
        </p:spPr>
      </p:pic>
      <p:sp>
        <p:nvSpPr>
          <p:cNvPr id="11" name="Text 5"/>
          <p:cNvSpPr txBox="1"/>
          <p:nvPr/>
        </p:nvSpPr>
        <p:spPr>
          <a:xfrm>
            <a:off x="8321040" y="2103120"/>
            <a:ext cx="320040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Built by a menu command</a:t>
            </a:r>
            <a:endParaRPr lang="en-US" sz="1450" dirty="0"/>
          </a:p>
        </p:txBody>
      </p:sp>
      <p:sp>
        <p:nvSpPr>
          <p:cNvPr id="12" name="Text 6"/>
          <p:cNvSpPr txBox="1"/>
          <p:nvPr/>
        </p:nvSpPr>
        <p:spPr>
          <a:xfrm>
            <a:off x="7863840" y="2560320"/>
            <a:ext cx="365760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Stock prefabs: Player, Teleporting, TeleportPoint</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Re-running deletes and rebuilds: always safe</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Same pattern as Week 2</a:t>
            </a:r>
            <a:endParaRPr lang="en-US" sz="1250" dirty="0"/>
          </a:p>
        </p:txBody>
      </p:sp>
      <p:sp>
        <p:nvSpPr>
          <p:cNvPr id="13" name="Shape 7"/>
          <p:cNvSpPr/>
          <p:nvPr/>
        </p:nvSpPr>
        <p:spPr>
          <a:xfrm>
            <a:off x="7680960" y="4137660"/>
            <a:ext cx="4023360" cy="1988820"/>
          </a:xfrm>
          <a:prstGeom prst="roundRect">
            <a:avLst>
              <a:gd name="adj" fmla="val 3678"/>
            </a:avLst>
          </a:prstGeom>
          <a:solidFill>
            <a:srgbClr val="0E2841"/>
          </a:solidFill>
          <a:ln w="9525">
            <a:solidFill>
              <a:srgbClr val="0E2841"/>
            </a:solidFill>
            <a:prstDash val="solid"/>
          </a:ln>
        </p:spPr>
      </p:sp>
      <p:pic>
        <p:nvPicPr>
          <p:cNvPr id="14" name="Image 4" descr="preencoded.png">    </p:cNvPr>
          <p:cNvPicPr>
            <a:picLocks noChangeAspect="1"/>
          </p:cNvPicPr>
          <p:nvPr/>
        </p:nvPicPr>
        <p:blipFill>
          <a:blip r:embed="rId5"/>
          <a:stretch>
            <a:fillRect/>
          </a:stretch>
        </p:blipFill>
        <p:spPr>
          <a:xfrm>
            <a:off x="7863840" y="4320540"/>
            <a:ext cx="329184" cy="329184"/>
          </a:xfrm>
          <a:prstGeom prst="rect">
            <a:avLst/>
          </a:prstGeom>
        </p:spPr>
      </p:pic>
      <p:sp>
        <p:nvSpPr>
          <p:cNvPr id="15" name="Text 8"/>
          <p:cNvSpPr txBox="1"/>
          <p:nvPr/>
        </p:nvSpPr>
        <p:spPr>
          <a:xfrm>
            <a:off x="8321040" y="4320540"/>
            <a:ext cx="320040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Station rotation</a:t>
            </a:r>
            <a:endParaRPr lang="en-US" sz="1450" dirty="0"/>
          </a:p>
        </p:txBody>
      </p:sp>
      <p:sp>
        <p:nvSpPr>
          <p:cNvPr id="16" name="Text 9"/>
          <p:cNvSpPr txBox="1"/>
          <p:nvPr/>
        </p:nvSpPr>
        <p:spPr>
          <a:xfrm>
            <a:off x="7863840" y="4777740"/>
            <a:ext cx="3657600" cy="11658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Pairs, 12 minutes per station, in order</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Predict → try → explain → change it</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Driver in the headset, navigator at the keyboard</a:t>
            </a:r>
            <a:endParaRPr lang="en-US" sz="1250" dirty="0"/>
          </a:p>
        </p:txBody>
      </p:sp>
      <p:sp>
        <p:nvSpPr>
          <p:cNvPr id="17" name="Text 10"/>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Six stations, six Interaction System ideas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Each station is one component plus one small script you can read in five minutes.</a:t>
            </a:r>
            <a:endParaRPr lang="en-US" sz="1350" dirty="0"/>
          </a:p>
        </p:txBody>
      </p:sp>
      <p:sp>
        <p:nvSpPr>
          <p:cNvPr id="7" name="Shape 3"/>
          <p:cNvSpPr/>
          <p:nvPr/>
        </p:nvSpPr>
        <p:spPr>
          <a:xfrm>
            <a:off x="457200" y="1920240"/>
            <a:ext cx="3596640" cy="1600200"/>
          </a:xfrm>
          <a:prstGeom prst="roundRect">
            <a:avLst>
              <a:gd name="adj" fmla="val 4571"/>
            </a:avLst>
          </a:prstGeom>
          <a:solidFill>
            <a:srgbClr val="F4F7FA"/>
          </a:solidFill>
          <a:ln w="9525">
            <a:solidFill>
              <a:srgbClr val="D8E1E8"/>
            </a:solidFill>
            <a:prstDash val="solid"/>
          </a:ln>
        </p:spPr>
      </p:sp>
      <p:pic>
        <p:nvPicPr>
          <p:cNvPr id="8" name="Image 2" descr="preencoded.png">    </p:cNvPr>
          <p:cNvPicPr>
            <a:picLocks noChangeAspect="1"/>
          </p:cNvPicPr>
          <p:nvPr/>
        </p:nvPicPr>
        <p:blipFill>
          <a:blip r:embed="rId3"/>
          <a:stretch>
            <a:fillRect/>
          </a:stretch>
        </p:blipFill>
        <p:spPr>
          <a:xfrm>
            <a:off x="640080" y="2103120"/>
            <a:ext cx="329184" cy="329184"/>
          </a:xfrm>
          <a:prstGeom prst="rect">
            <a:avLst/>
          </a:prstGeom>
        </p:spPr>
      </p:pic>
      <p:sp>
        <p:nvSpPr>
          <p:cNvPr id="9" name="Text 4"/>
          <p:cNvSpPr txBox="1"/>
          <p:nvPr/>
        </p:nvSpPr>
        <p:spPr>
          <a:xfrm>
            <a:off x="109728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1  Grab &amp; throw</a:t>
            </a:r>
            <a:endParaRPr lang="en-US" sz="1450" dirty="0"/>
          </a:p>
        </p:txBody>
      </p:sp>
      <p:sp>
        <p:nvSpPr>
          <p:cNvPr id="10" name="Text 5"/>
          <p:cNvSpPr txBox="1"/>
          <p:nvPr/>
        </p:nvSpPr>
        <p:spPr>
          <a:xfrm>
            <a:off x="640080" y="25603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Throwable + GrabReporter</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Events, haptics, release velocity</a:t>
            </a:r>
            <a:endParaRPr lang="en-US" sz="1250" dirty="0"/>
          </a:p>
        </p:txBody>
      </p:sp>
      <p:sp>
        <p:nvSpPr>
          <p:cNvPr id="11" name="Shape 6"/>
          <p:cNvSpPr/>
          <p:nvPr/>
        </p:nvSpPr>
        <p:spPr>
          <a:xfrm>
            <a:off x="4282440" y="1920240"/>
            <a:ext cx="3596640" cy="1600200"/>
          </a:xfrm>
          <a:prstGeom prst="roundRect">
            <a:avLst>
              <a:gd name="adj" fmla="val 4571"/>
            </a:avLst>
          </a:prstGeom>
          <a:solidFill>
            <a:srgbClr val="F4F7FA"/>
          </a:solidFill>
          <a:ln w="9525">
            <a:solidFill>
              <a:srgbClr val="D8E1E8"/>
            </a:solidFill>
            <a:prstDash val="solid"/>
          </a:ln>
        </p:spPr>
      </p:sp>
      <p:pic>
        <p:nvPicPr>
          <p:cNvPr id="12" name="Image 3" descr="preencoded.png">    </p:cNvPr>
          <p:cNvPicPr>
            <a:picLocks noChangeAspect="1"/>
          </p:cNvPicPr>
          <p:nvPr/>
        </p:nvPicPr>
        <p:blipFill>
          <a:blip r:embed="rId4"/>
          <a:stretch>
            <a:fillRect/>
          </a:stretch>
        </p:blipFill>
        <p:spPr>
          <a:xfrm>
            <a:off x="4465320" y="2103120"/>
            <a:ext cx="329184" cy="329184"/>
          </a:xfrm>
          <a:prstGeom prst="rect">
            <a:avLst/>
          </a:prstGeom>
        </p:spPr>
      </p:pic>
      <p:sp>
        <p:nvSpPr>
          <p:cNvPr id="13" name="Text 7"/>
          <p:cNvSpPr txBox="1"/>
          <p:nvPr/>
        </p:nvSpPr>
        <p:spPr>
          <a:xfrm>
            <a:off x="492252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2  Target</a:t>
            </a:r>
            <a:endParaRPr lang="en-US" sz="1450" dirty="0"/>
          </a:p>
        </p:txBody>
      </p:sp>
      <p:sp>
        <p:nvSpPr>
          <p:cNvPr id="14" name="Text 8"/>
          <p:cNvSpPr txBox="1"/>
          <p:nvPr/>
        </p:nvSpPr>
        <p:spPr>
          <a:xfrm>
            <a:off x="4465320" y="25603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ThrowTarget: score, sparks, chime</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OnCollisionEnter + relative velocity</a:t>
            </a:r>
            <a:endParaRPr lang="en-US" sz="1250" dirty="0"/>
          </a:p>
        </p:txBody>
      </p:sp>
      <p:sp>
        <p:nvSpPr>
          <p:cNvPr id="15" name="Shape 9"/>
          <p:cNvSpPr/>
          <p:nvPr/>
        </p:nvSpPr>
        <p:spPr>
          <a:xfrm>
            <a:off x="8107680" y="1920240"/>
            <a:ext cx="3596640" cy="1600200"/>
          </a:xfrm>
          <a:prstGeom prst="roundRect">
            <a:avLst>
              <a:gd name="adj" fmla="val 4571"/>
            </a:avLst>
          </a:prstGeom>
          <a:solidFill>
            <a:srgbClr val="F4F7FA"/>
          </a:solidFill>
          <a:ln w="9525">
            <a:solidFill>
              <a:srgbClr val="D8E1E8"/>
            </a:solidFill>
            <a:prstDash val="solid"/>
          </a:ln>
        </p:spPr>
      </p:sp>
      <p:pic>
        <p:nvPicPr>
          <p:cNvPr id="16" name="Image 4" descr="preencoded.png">    </p:cNvPr>
          <p:cNvPicPr>
            <a:picLocks noChangeAspect="1"/>
          </p:cNvPicPr>
          <p:nvPr/>
        </p:nvPicPr>
        <p:blipFill>
          <a:blip r:embed="rId5"/>
          <a:stretch>
            <a:fillRect/>
          </a:stretch>
        </p:blipFill>
        <p:spPr>
          <a:xfrm>
            <a:off x="8290560" y="2103120"/>
            <a:ext cx="329184" cy="329184"/>
          </a:xfrm>
          <a:prstGeom prst="rect">
            <a:avLst/>
          </a:prstGeom>
        </p:spPr>
      </p:pic>
      <p:sp>
        <p:nvSpPr>
          <p:cNvPr id="17" name="Text 10"/>
          <p:cNvSpPr txBox="1"/>
          <p:nvPr/>
        </p:nvSpPr>
        <p:spPr>
          <a:xfrm>
            <a:off x="8747760" y="21031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3  Push button</a:t>
            </a:r>
            <a:endParaRPr lang="en-US" sz="1450" dirty="0"/>
          </a:p>
        </p:txBody>
      </p:sp>
      <p:sp>
        <p:nvSpPr>
          <p:cNvPr id="18" name="Text 11"/>
          <p:cNvSpPr txBox="1"/>
          <p:nvPr/>
        </p:nvSpPr>
        <p:spPr>
          <a:xfrm>
            <a:off x="8290560" y="25603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HoverButton + PittColorButton</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onButtonDown is a UnityEvent&lt;Hand&gt;</a:t>
            </a:r>
            <a:endParaRPr lang="en-US" sz="1250" dirty="0"/>
          </a:p>
        </p:txBody>
      </p:sp>
      <p:sp>
        <p:nvSpPr>
          <p:cNvPr id="19" name="Shape 12"/>
          <p:cNvSpPr/>
          <p:nvPr/>
        </p:nvSpPr>
        <p:spPr>
          <a:xfrm>
            <a:off x="457200" y="3749040"/>
            <a:ext cx="3596640" cy="1600200"/>
          </a:xfrm>
          <a:prstGeom prst="roundRect">
            <a:avLst>
              <a:gd name="adj" fmla="val 4571"/>
            </a:avLst>
          </a:prstGeom>
          <a:solidFill>
            <a:srgbClr val="F4F7FA"/>
          </a:solidFill>
          <a:ln w="9525">
            <a:solidFill>
              <a:srgbClr val="D8E1E8"/>
            </a:solidFill>
            <a:prstDash val="solid"/>
          </a:ln>
        </p:spPr>
      </p:sp>
      <p:pic>
        <p:nvPicPr>
          <p:cNvPr id="20" name="Image 5" descr="preencoded.png">    </p:cNvPr>
          <p:cNvPicPr>
            <a:picLocks noChangeAspect="1"/>
          </p:cNvPicPr>
          <p:nvPr/>
        </p:nvPicPr>
        <p:blipFill>
          <a:blip r:embed="rId6"/>
          <a:stretch>
            <a:fillRect/>
          </a:stretch>
        </p:blipFill>
        <p:spPr>
          <a:xfrm>
            <a:off x="640080" y="3931920"/>
            <a:ext cx="329184" cy="329184"/>
          </a:xfrm>
          <a:prstGeom prst="rect">
            <a:avLst/>
          </a:prstGeom>
        </p:spPr>
      </p:pic>
      <p:sp>
        <p:nvSpPr>
          <p:cNvPr id="21" name="Text 13"/>
          <p:cNvSpPr txBox="1"/>
          <p:nvPr/>
        </p:nvSpPr>
        <p:spPr>
          <a:xfrm>
            <a:off x="1097280" y="39319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4  Lever</a:t>
            </a:r>
            <a:endParaRPr lang="en-US" sz="1450" dirty="0"/>
          </a:p>
        </p:txBody>
      </p:sp>
      <p:sp>
        <p:nvSpPr>
          <p:cNvPr id="22" name="Text 14"/>
          <p:cNvSpPr txBox="1"/>
          <p:nvPr/>
        </p:nvSpPr>
        <p:spPr>
          <a:xfrm>
            <a:off x="640080" y="43891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LinearDrive → LinearMapping (0–1)</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LeverScaler: Ch. 5 slider-scale, physically</a:t>
            </a:r>
            <a:endParaRPr lang="en-US" sz="1250" dirty="0"/>
          </a:p>
        </p:txBody>
      </p:sp>
      <p:sp>
        <p:nvSpPr>
          <p:cNvPr id="23" name="Shape 15"/>
          <p:cNvSpPr/>
          <p:nvPr/>
        </p:nvSpPr>
        <p:spPr>
          <a:xfrm>
            <a:off x="4282440" y="3749040"/>
            <a:ext cx="3596640" cy="1600200"/>
          </a:xfrm>
          <a:prstGeom prst="roundRect">
            <a:avLst>
              <a:gd name="adj" fmla="val 4571"/>
            </a:avLst>
          </a:prstGeom>
          <a:solidFill>
            <a:srgbClr val="F4F7FA"/>
          </a:solidFill>
          <a:ln w="9525">
            <a:solidFill>
              <a:srgbClr val="D8E1E8"/>
            </a:solidFill>
            <a:prstDash val="solid"/>
          </a:ln>
        </p:spPr>
      </p:sp>
      <p:pic>
        <p:nvPicPr>
          <p:cNvPr id="24" name="Image 6" descr="preencoded.png">    </p:cNvPr>
          <p:cNvPicPr>
            <a:picLocks noChangeAspect="1"/>
          </p:cNvPicPr>
          <p:nvPr/>
        </p:nvPicPr>
        <p:blipFill>
          <a:blip r:embed="rId7"/>
          <a:stretch>
            <a:fillRect/>
          </a:stretch>
        </p:blipFill>
        <p:spPr>
          <a:xfrm>
            <a:off x="4465320" y="3931920"/>
            <a:ext cx="329184" cy="329184"/>
          </a:xfrm>
          <a:prstGeom prst="rect">
            <a:avLst/>
          </a:prstGeom>
        </p:spPr>
      </p:pic>
      <p:sp>
        <p:nvSpPr>
          <p:cNvPr id="25" name="Text 16"/>
          <p:cNvSpPr txBox="1"/>
          <p:nvPr/>
        </p:nvSpPr>
        <p:spPr>
          <a:xfrm>
            <a:off x="4922520" y="3931920"/>
            <a:ext cx="27736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5  Valve wheel</a:t>
            </a:r>
            <a:endParaRPr lang="en-US" sz="1450" dirty="0"/>
          </a:p>
        </p:txBody>
      </p:sp>
      <p:sp>
        <p:nvSpPr>
          <p:cNvPr id="26" name="Text 17"/>
          <p:cNvSpPr txBox="1"/>
          <p:nvPr/>
        </p:nvSpPr>
        <p:spPr>
          <a:xfrm>
            <a:off x="4465320" y="43891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CircularDrive, two turns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ValveFlow drives a water ParticleSystem</a:t>
            </a:r>
            <a:endParaRPr lang="en-US" sz="1250" dirty="0"/>
          </a:p>
        </p:txBody>
      </p:sp>
      <p:sp>
        <p:nvSpPr>
          <p:cNvPr id="27" name="Shape 18"/>
          <p:cNvSpPr/>
          <p:nvPr/>
        </p:nvSpPr>
        <p:spPr>
          <a:xfrm>
            <a:off x="8107680" y="3749040"/>
            <a:ext cx="3596640" cy="1600200"/>
          </a:xfrm>
          <a:prstGeom prst="roundRect">
            <a:avLst>
              <a:gd name="adj" fmla="val 4571"/>
            </a:avLst>
          </a:prstGeom>
          <a:solidFill>
            <a:srgbClr val="0E2841"/>
          </a:solidFill>
          <a:ln w="9525">
            <a:solidFill>
              <a:srgbClr val="0E2841"/>
            </a:solidFill>
            <a:prstDash val="solid"/>
          </a:ln>
        </p:spPr>
      </p:sp>
      <p:pic>
        <p:nvPicPr>
          <p:cNvPr id="28" name="Image 7" descr="preencoded.png">    </p:cNvPr>
          <p:cNvPicPr>
            <a:picLocks noChangeAspect="1"/>
          </p:cNvPicPr>
          <p:nvPr/>
        </p:nvPicPr>
        <p:blipFill>
          <a:blip r:embed="rId8"/>
          <a:stretch>
            <a:fillRect/>
          </a:stretch>
        </p:blipFill>
        <p:spPr>
          <a:xfrm>
            <a:off x="8290560" y="3931920"/>
            <a:ext cx="329184" cy="329184"/>
          </a:xfrm>
          <a:prstGeom prst="rect">
            <a:avLst/>
          </a:prstGeom>
        </p:spPr>
      </p:pic>
      <p:sp>
        <p:nvSpPr>
          <p:cNvPr id="29" name="Text 19"/>
          <p:cNvSpPr txBox="1"/>
          <p:nvPr/>
        </p:nvSpPr>
        <p:spPr>
          <a:xfrm>
            <a:off x="8747760" y="3931920"/>
            <a:ext cx="277368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6  Reset kiosk</a:t>
            </a:r>
            <a:endParaRPr lang="en-US" sz="1450" dirty="0"/>
          </a:p>
        </p:txBody>
      </p:sp>
      <p:sp>
        <p:nvSpPr>
          <p:cNvPr id="30" name="Text 20"/>
          <p:cNvSpPr txBox="1"/>
          <p:nvPr/>
        </p:nvSpPr>
        <p:spPr>
          <a:xfrm>
            <a:off x="8290560" y="4389120"/>
            <a:ext cx="3230880" cy="7772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ResetStation + ResettablePose</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Never resets what is in a hand (GolfVR kiosk)</a:t>
            </a:r>
            <a:endParaRPr lang="en-US" sz="1250" dirty="0"/>
          </a:p>
        </p:txBody>
      </p:sp>
      <p:sp>
        <p:nvSpPr>
          <p:cNvPr id="31" name="Shape 21"/>
          <p:cNvSpPr/>
          <p:nvPr/>
        </p:nvSpPr>
        <p:spPr>
          <a:xfrm>
            <a:off x="457200" y="5532120"/>
            <a:ext cx="11247120" cy="548640"/>
          </a:xfrm>
          <a:prstGeom prst="roundRect">
            <a:avLst>
              <a:gd name="adj" fmla="val 13333"/>
            </a:avLst>
          </a:prstGeom>
          <a:solidFill>
            <a:srgbClr val="F4F7FA"/>
          </a:solidFill>
          <a:ln w="9525">
            <a:solidFill>
              <a:srgbClr val="D8E1E8"/>
            </a:solidFill>
            <a:prstDash val="solid"/>
          </a:ln>
        </p:spPr>
      </p:sp>
      <p:sp>
        <p:nvSpPr>
          <p:cNvPr id="32" name="Text 22"/>
          <p:cNvSpPr txBox="1"/>
          <p:nvPr/>
        </p:nvSpPr>
        <p:spPr>
          <a:xfrm>
            <a:off x="457200" y="5532120"/>
            <a:ext cx="11247120" cy="54864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Plus: a teleport area and three teleport pads; the Menu button spawns cubes (reads a SteamVR action directly).</a:t>
            </a:r>
            <a:endParaRPr lang="en-US" sz="1250" dirty="0"/>
          </a:p>
        </p:txBody>
      </p:sp>
      <p:sp>
        <p:nvSpPr>
          <p:cNvPr id="33" name="Text 23"/>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What you will see</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Rendered in Unity 2022.3 with SteamVR 2.8. The same run compiled every script and checked each station’s logic.</a:t>
            </a:r>
            <a:endParaRPr lang="en-US" sz="1350" dirty="0"/>
          </a:p>
        </p:txBody>
      </p:sp>
      <p:pic>
        <p:nvPicPr>
          <p:cNvPr id="7" name="Image 2" descr="C:\Users\Jeremy Callinan\AppData\Local\Temp\claude\c--GitHub-CIST1423-Fall2026-Examples\62e170c0-4055-4e17-811f-6bb67e40bfc7\scratchpad\deck\img\w5_start.jpg">    </p:cNvPr>
          <p:cNvPicPr>
            <a:picLocks noChangeAspect="1"/>
          </p:cNvPicPr>
          <p:nvPr/>
        </p:nvPicPr>
        <p:blipFill>
          <a:blip r:embed="rId3"/>
          <a:stretch>
            <a:fillRect/>
          </a:stretch>
        </p:blipFill>
        <p:spPr>
          <a:xfrm>
            <a:off x="457200" y="1920240"/>
            <a:ext cx="3566160" cy="2007239"/>
          </a:xfrm>
          <a:prstGeom prst="rect">
            <a:avLst/>
          </a:prstGeom>
        </p:spPr>
      </p:pic>
      <p:sp>
        <p:nvSpPr>
          <p:cNvPr id="8" name="Text 3"/>
          <p:cNvSpPr txBox="1"/>
          <p:nvPr/>
        </p:nvSpPr>
        <p:spPr>
          <a:xfrm>
            <a:off x="457200" y="4018919"/>
            <a:ext cx="356616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From the start point: table in front, target behind it</a:t>
            </a:r>
            <a:endParaRPr lang="en-US" sz="1200" dirty="0"/>
          </a:p>
        </p:txBody>
      </p:sp>
      <p:pic>
        <p:nvPicPr>
          <p:cNvPr id="9" name="Image 3" descr="C:\Users\Jeremy Callinan\AppData\Local\Temp\claude\c--GitHub-CIST1423-Fall2026-Examples\62e170c0-4055-4e17-811f-6bb67e40bfc7\scratchpad\deck\img\w5_target.jpg">    </p:cNvPr>
          <p:cNvPicPr>
            <a:picLocks noChangeAspect="1"/>
          </p:cNvPicPr>
          <p:nvPr/>
        </p:nvPicPr>
        <p:blipFill>
          <a:blip r:embed="rId4"/>
          <a:stretch>
            <a:fillRect/>
          </a:stretch>
        </p:blipFill>
        <p:spPr>
          <a:xfrm>
            <a:off x="4297680" y="1920240"/>
            <a:ext cx="3566160" cy="2007239"/>
          </a:xfrm>
          <a:prstGeom prst="rect">
            <a:avLst/>
          </a:prstGeom>
        </p:spPr>
      </p:pic>
      <p:sp>
        <p:nvSpPr>
          <p:cNvPr id="10" name="Text 4"/>
          <p:cNvSpPr txBox="1"/>
          <p:nvPr/>
        </p:nvSpPr>
        <p:spPr>
          <a:xfrm>
            <a:off x="4297680" y="4018919"/>
            <a:ext cx="356616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Target after three hits: score, sparks, chime</a:t>
            </a:r>
            <a:endParaRPr lang="en-US" sz="1200" dirty="0"/>
          </a:p>
        </p:txBody>
      </p:sp>
      <p:pic>
        <p:nvPicPr>
          <p:cNvPr id="11" name="Image 4" descr="C:\Users\Jeremy Callinan\AppData\Local\Temp\claude\c--GitHub-CIST1423-Fall2026-Examples\62e170c0-4055-4e17-811f-6bb67e40bfc7\scratchpad\deck\img\w5_valve.jpg">    </p:cNvPr>
          <p:cNvPicPr>
            <a:picLocks noChangeAspect="1"/>
          </p:cNvPicPr>
          <p:nvPr/>
        </p:nvPicPr>
        <p:blipFill>
          <a:blip r:embed="rId5"/>
          <a:stretch>
            <a:fillRect/>
          </a:stretch>
        </p:blipFill>
        <p:spPr>
          <a:xfrm>
            <a:off x="8138160" y="1920240"/>
            <a:ext cx="3566160" cy="2007239"/>
          </a:xfrm>
          <a:prstGeom prst="rect">
            <a:avLst/>
          </a:prstGeom>
        </p:spPr>
      </p:pic>
      <p:sp>
        <p:nvSpPr>
          <p:cNvPr id="12" name="Text 5"/>
          <p:cNvSpPr txBox="1"/>
          <p:nvPr/>
        </p:nvSpPr>
        <p:spPr>
          <a:xfrm>
            <a:off x="8138160" y="4018919"/>
            <a:ext cx="3566160" cy="685800"/>
          </a:xfrm>
          <a:prstGeom prst="rect">
            <a:avLst/>
          </a:prstGeom>
          <a:noFill/>
          <a:ln/>
        </p:spPr>
        <p:txBody>
          <a:bodyPr wrap="square" lIns="0" tIns="0" rIns="0" bIns="0" rtlCol="0" anchor="t"/>
          <a:lstStyle/>
          <a:p>
            <a:pPr indent="0" marL="0">
              <a:buNone/>
            </a:pPr>
            <a:r>
              <a:rPr lang="en-US" sz="1200" dirty="0">
                <a:solidFill>
                  <a:srgbClr val="13202B"/>
                </a:solidFill>
                <a:latin typeface="Calibri" pitchFamily="34" charset="0"/>
                <a:ea typeface="Calibri" pitchFamily="34" charset="-122"/>
                <a:cs typeface="Calibri" pitchFamily="34" charset="-120"/>
              </a:rPr>
              <a:t>Valve 70% open: the stream follows the wheel</a:t>
            </a:r>
            <a:endParaRPr lang="en-US" sz="1200" dirty="0"/>
          </a:p>
        </p:txBody>
      </p:sp>
      <p:sp>
        <p:nvSpPr>
          <p:cNvPr id="13" name="Shape 6"/>
          <p:cNvSpPr/>
          <p:nvPr/>
        </p:nvSpPr>
        <p:spPr>
          <a:xfrm>
            <a:off x="457200" y="5532120"/>
            <a:ext cx="11247120" cy="548640"/>
          </a:xfrm>
          <a:prstGeom prst="roundRect">
            <a:avLst>
              <a:gd name="adj" fmla="val 13333"/>
            </a:avLst>
          </a:prstGeom>
          <a:solidFill>
            <a:srgbClr val="F4F7FA"/>
          </a:solidFill>
          <a:ln w="9525">
            <a:solidFill>
              <a:srgbClr val="D8E1E8"/>
            </a:solidFill>
            <a:prstDash val="solid"/>
          </a:ln>
        </p:spPr>
      </p:sp>
      <p:sp>
        <p:nvSpPr>
          <p:cNvPr id="14" name="Text 7"/>
          <p:cNvSpPr txBox="1"/>
          <p:nvPr/>
        </p:nvSpPr>
        <p:spPr>
          <a:xfrm>
            <a:off x="457200" y="5532120"/>
            <a:ext cx="11247120" cy="54864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Earlier renders caught two real bugs before anyone put on a headset: mirrored labels and magenta (material-less) particles.</a:t>
            </a:r>
            <a:endParaRPr lang="en-US" sz="1250" dirty="0"/>
          </a:p>
        </p:txBody>
      </p:sp>
      <p:sp>
        <p:nvSpPr>
          <p:cNvPr id="15" name="Text 8"/>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Levers and wheels: one number, 0 to 1</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LinearDrive and CircularDrive only write LinearMapping.value. Your script decides what it means.</a:t>
            </a:r>
            <a:endParaRPr lang="en-US" sz="1350" dirty="0"/>
          </a:p>
        </p:txBody>
      </p:sp>
      <p:sp>
        <p:nvSpPr>
          <p:cNvPr id="7" name="Shape 3"/>
          <p:cNvSpPr/>
          <p:nvPr/>
        </p:nvSpPr>
        <p:spPr>
          <a:xfrm>
            <a:off x="457200" y="1920240"/>
            <a:ext cx="6675120" cy="4160520"/>
          </a:xfrm>
          <a:prstGeom prst="roundRect">
            <a:avLst>
              <a:gd name="adj" fmla="val 1758"/>
            </a:avLst>
          </a:prstGeom>
          <a:solidFill>
            <a:srgbClr val="0B1620"/>
          </a:solidFill>
          <a:ln w="9525">
            <a:solidFill>
              <a:srgbClr val="0B1620"/>
            </a:solidFill>
            <a:prstDash val="solid"/>
          </a:ln>
        </p:spPr>
      </p:sp>
      <p:sp>
        <p:nvSpPr>
          <p:cNvPr id="8" name="Text 4"/>
          <p:cNvSpPr txBox="1"/>
          <p:nvPr/>
        </p:nvSpPr>
        <p:spPr>
          <a:xfrm>
            <a:off x="621792" y="2048256"/>
            <a:ext cx="6345936" cy="3904488"/>
          </a:xfrm>
          <a:prstGeom prst="rect">
            <a:avLst/>
          </a:prstGeom>
          <a:noFill/>
          <a:ln/>
        </p:spPr>
        <p:txBody>
          <a:bodyPr wrap="square" lIns="0" tIns="0" rIns="0" bIns="0" rtlCol="0" anchor="t"/>
          <a:lstStyle/>
          <a:p>
            <a:pPr indent="0" marL="0">
              <a:buNone/>
            </a:pPr>
            <a:r>
              <a:rPr lang="en-US" sz="1250" dirty="0">
                <a:solidFill>
                  <a:srgbClr val="6EE7A8"/>
                </a:solidFill>
                <a:latin typeface="Consolas" pitchFamily="34" charset="0"/>
                <a:ea typeface="Consolas" pitchFamily="34" charset="-122"/>
                <a:cs typeface="Consolas" pitchFamily="34" charset="-120"/>
              </a:rPr>
              <a:t>// LeverScaler.cs: lever position -&gt; statue size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float s = Mathf.Lerp(minScale, maxScale, mapping.value);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target.localScale = baseScale * s;</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ValveFlow.cs: wheel angle -&gt; water flow</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var emission = water.emission;</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emission.rateOverTime = mapping.value * maxRate;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 </a:t>
            </a:r>
            <a:endParaRPr lang="en-US" sz="1250" dirty="0"/>
          </a:p>
          <a:p>
            <a:pPr indent="0" marL="0">
              <a:buNone/>
            </a:pPr>
            <a:r>
              <a:rPr lang="en-US" sz="1250" dirty="0">
                <a:solidFill>
                  <a:srgbClr val="6EE7A8"/>
                </a:solidFill>
                <a:latin typeface="Consolas" pitchFamily="34" charset="0"/>
                <a:ea typeface="Consolas" pitchFamily="34" charset="-122"/>
                <a:cs typeface="Consolas" pitchFamily="34" charset="-120"/>
              </a:rPr>
              <a:t>// CircularDrive setup (done by the builder)</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drive.axisOfRotation = CircularDrive.Axis_t.YAxis;</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drive.limited = true;</a:t>
            </a:r>
            <a:endParaRPr lang="en-US" sz="1250" dirty="0"/>
          </a:p>
          <a:p>
            <a:pPr indent="0" marL="0">
              <a:buNone/>
            </a:pPr>
            <a:r>
              <a:rPr lang="en-US" sz="1250" dirty="0">
                <a:solidFill>
                  <a:srgbClr val="D6E4EC"/>
                </a:solidFill>
                <a:latin typeface="Consolas" pitchFamily="34" charset="0"/>
                <a:ea typeface="Consolas" pitchFamily="34" charset="-122"/>
                <a:cs typeface="Consolas" pitchFamily="34" charset="-120"/>
              </a:rPr>
              <a:t>drive.minAngle = 0;  drive.maxAngle = 720;   // two turns</a:t>
            </a:r>
            <a:endParaRPr lang="en-US" sz="1250" dirty="0"/>
          </a:p>
        </p:txBody>
      </p:sp>
      <p:sp>
        <p:nvSpPr>
          <p:cNvPr id="9" name="Shape 5"/>
          <p:cNvSpPr/>
          <p:nvPr/>
        </p:nvSpPr>
        <p:spPr>
          <a:xfrm>
            <a:off x="7360920" y="1920240"/>
            <a:ext cx="4343400" cy="1965960"/>
          </a:xfrm>
          <a:prstGeom prst="roundRect">
            <a:avLst>
              <a:gd name="adj" fmla="val 3721"/>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543800" y="2103120"/>
            <a:ext cx="329184" cy="329184"/>
          </a:xfrm>
          <a:prstGeom prst="rect">
            <a:avLst/>
          </a:prstGeom>
        </p:spPr>
      </p:pic>
      <p:sp>
        <p:nvSpPr>
          <p:cNvPr id="11" name="Text 6"/>
          <p:cNvSpPr txBox="1"/>
          <p:nvPr/>
        </p:nvSpPr>
        <p:spPr>
          <a:xfrm>
            <a:off x="8001000" y="2103120"/>
            <a:ext cx="3520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Change it</a:t>
            </a:r>
            <a:endParaRPr lang="en-US" sz="1450" dirty="0"/>
          </a:p>
        </p:txBody>
      </p:sp>
      <p:sp>
        <p:nvSpPr>
          <p:cNvPr id="12" name="Text 7"/>
          <p:cNvSpPr txBox="1"/>
          <p:nvPr/>
        </p:nvSpPr>
        <p:spPr>
          <a:xfrm>
            <a:off x="7543800" y="2560320"/>
            <a:ext cx="397764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Lever drives colour instead of size (Color.Lerp)</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Valve "sticks" below 10%</a:t>
            </a:r>
            <a:endParaRPr lang="en-US" sz="1250" dirty="0"/>
          </a:p>
        </p:txBody>
      </p:sp>
      <p:sp>
        <p:nvSpPr>
          <p:cNvPr id="13" name="Shape 8"/>
          <p:cNvSpPr/>
          <p:nvPr/>
        </p:nvSpPr>
        <p:spPr>
          <a:xfrm>
            <a:off x="7360920" y="4114800"/>
            <a:ext cx="4343400" cy="1965960"/>
          </a:xfrm>
          <a:prstGeom prst="roundRect">
            <a:avLst>
              <a:gd name="adj" fmla="val 3721"/>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543800" y="4297680"/>
            <a:ext cx="329184" cy="329184"/>
          </a:xfrm>
          <a:prstGeom prst="rect">
            <a:avLst/>
          </a:prstGeom>
        </p:spPr>
      </p:pic>
      <p:sp>
        <p:nvSpPr>
          <p:cNvPr id="15" name="Text 9"/>
          <p:cNvSpPr txBox="1"/>
          <p:nvPr/>
        </p:nvSpPr>
        <p:spPr>
          <a:xfrm>
            <a:off x="8001000" y="4297680"/>
            <a:ext cx="352044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Same idea, on the web</a:t>
            </a:r>
            <a:endParaRPr lang="en-US" sz="1450" dirty="0"/>
          </a:p>
        </p:txBody>
      </p:sp>
      <p:sp>
        <p:nvSpPr>
          <p:cNvPr id="16" name="Text 10"/>
          <p:cNvSpPr txBox="1"/>
          <p:nvPr/>
        </p:nvSpPr>
        <p:spPr>
          <a:xfrm>
            <a:off x="7543800" y="4754880"/>
            <a:ext cx="3977640" cy="11430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panther-builder: a scale slider</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WaterWorks: a gate valve, synced to everyone</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Two ways to read input</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Let the Interaction System do the work when you can. Read an action yourself when a button has game meaning.</a:t>
            </a:r>
            <a:endParaRPr lang="en-US" sz="1350" dirty="0"/>
          </a:p>
        </p:txBody>
      </p:sp>
      <p:sp>
        <p:nvSpPr>
          <p:cNvPr id="7" name="Shape 3"/>
          <p:cNvSpPr/>
          <p:nvPr/>
        </p:nvSpPr>
        <p:spPr>
          <a:xfrm>
            <a:off x="457200" y="1965960"/>
            <a:ext cx="6583680" cy="3017520"/>
          </a:xfrm>
          <a:prstGeom prst="roundRect">
            <a:avLst>
              <a:gd name="adj" fmla="val 2424"/>
            </a:avLst>
          </a:prstGeom>
          <a:solidFill>
            <a:srgbClr val="0B1620"/>
          </a:solidFill>
          <a:ln w="9525">
            <a:solidFill>
              <a:srgbClr val="0B1620"/>
            </a:solidFill>
            <a:prstDash val="solid"/>
          </a:ln>
        </p:spPr>
      </p:sp>
      <p:sp>
        <p:nvSpPr>
          <p:cNvPr id="8" name="Text 4"/>
          <p:cNvSpPr txBox="1"/>
          <p:nvPr/>
        </p:nvSpPr>
        <p:spPr>
          <a:xfrm>
            <a:off x="621792" y="2093976"/>
            <a:ext cx="6254496" cy="2761488"/>
          </a:xfrm>
          <a:prstGeom prst="rect">
            <a:avLst/>
          </a:prstGeom>
          <a:noFill/>
          <a:ln/>
        </p:spPr>
        <p:txBody>
          <a:bodyPr wrap="square" lIns="0" tIns="0" rIns="0" bIns="0" rtlCol="0" anchor="t"/>
          <a:lstStyle/>
          <a:p>
            <a:pPr indent="0" marL="0">
              <a:buNone/>
            </a:pPr>
            <a:r>
              <a:rPr lang="en-US" sz="1200" dirty="0">
                <a:solidFill>
                  <a:srgbClr val="6EE7A8"/>
                </a:solidFill>
                <a:latin typeface="Consolas" pitchFamily="34" charset="0"/>
                <a:ea typeface="Consolas" pitchFamily="34" charset="-122"/>
                <a:cs typeface="Consolas" pitchFamily="34" charset="-120"/>
              </a:rPr>
              <a:t>// 1) React to Interaction System events (GrabReporter.cs)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interactable.onAttachedToHand += OnGrabbed;</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void OnGrabbed(Hand hand)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hand.TriggerHapticPulse(1500);</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Debug.Log($"grabbed by {hand.handType}");</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6EE7A8"/>
                </a:solidFill>
                <a:latin typeface="Consolas" pitchFamily="34" charset="0"/>
                <a:ea typeface="Consolas" pitchFamily="34" charset="-122"/>
                <a:cs typeface="Consolas" pitchFamily="34" charset="-120"/>
              </a:rPr>
              <a:t>// 2) Read a SteamVR action yourself (MenuButtonSpawner.cs)</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public SteamVR_Action_Boolean spawnAction =</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    SteamVR_Input.GetAction&lt;SteamVR_Action_Boolean&gt;("default", "Menu");</a:t>
            </a:r>
            <a:endParaRPr lang="en-US" sz="1200" dirty="0"/>
          </a:p>
          <a:p>
            <a:pPr indent="0" marL="0">
              <a:buNone/>
            </a:pPr>
            <a:r>
              <a:rPr lang="en-US" sz="1200" dirty="0">
                <a:solidFill>
                  <a:srgbClr val="D6E4EC"/>
                </a:solidFill>
                <a:latin typeface="Consolas" pitchFamily="34" charset="0"/>
                <a:ea typeface="Consolas" pitchFamily="34" charset="-122"/>
                <a:cs typeface="Consolas" pitchFamily="34" charset="-120"/>
              </a:rPr>
              <a:t>if (spawnAction.GetStateDown(SteamVR_Input_Sources.Any)) Spawn(pos);</a:t>
            </a:r>
            <a:endParaRPr lang="en-US" sz="1200" dirty="0"/>
          </a:p>
        </p:txBody>
      </p:sp>
      <p:sp>
        <p:nvSpPr>
          <p:cNvPr id="9" name="Shape 5"/>
          <p:cNvSpPr/>
          <p:nvPr/>
        </p:nvSpPr>
        <p:spPr>
          <a:xfrm>
            <a:off x="7269480" y="1965960"/>
            <a:ext cx="4434840" cy="3017520"/>
          </a:xfrm>
          <a:prstGeom prst="roundRect">
            <a:avLst>
              <a:gd name="adj" fmla="val 2424"/>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452360" y="2148840"/>
            <a:ext cx="329184" cy="329184"/>
          </a:xfrm>
          <a:prstGeom prst="rect">
            <a:avLst/>
          </a:prstGeom>
        </p:spPr>
      </p:pic>
      <p:sp>
        <p:nvSpPr>
          <p:cNvPr id="11" name="Text 6"/>
          <p:cNvSpPr txBox="1"/>
          <p:nvPr/>
        </p:nvSpPr>
        <p:spPr>
          <a:xfrm>
            <a:off x="7909560" y="2148840"/>
            <a:ext cx="361188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When to use which</a:t>
            </a:r>
            <a:endParaRPr lang="en-US" sz="1450" dirty="0"/>
          </a:p>
        </p:txBody>
      </p:sp>
      <p:sp>
        <p:nvSpPr>
          <p:cNvPr id="12" name="Text 7"/>
          <p:cNvSpPr txBox="1"/>
          <p:nvPr/>
        </p:nvSpPr>
        <p:spPr>
          <a:xfrm>
            <a:off x="7452360" y="2606040"/>
            <a:ext cx="4069080" cy="21945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Events: grab, release, hover, button press. The hand already knows</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Actions: "reset", "open menu", "spawn": buttons with game meaning</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Field initializer + GetAction is the pattern Valve's own samples use (BuggyController, JoeJeffController)</a:t>
            </a:r>
            <a:endParaRPr lang="en-US" sz="1250" dirty="0"/>
          </a:p>
        </p:txBody>
      </p:sp>
      <p:sp>
        <p:nvSpPr>
          <p:cNvPr id="13" name="Shape 8"/>
          <p:cNvSpPr/>
          <p:nvPr/>
        </p:nvSpPr>
        <p:spPr>
          <a:xfrm>
            <a:off x="457200" y="5212080"/>
            <a:ext cx="11247120" cy="502920"/>
          </a:xfrm>
          <a:prstGeom prst="roundRect">
            <a:avLst>
              <a:gd name="adj" fmla="val 14545"/>
            </a:avLst>
          </a:prstGeom>
          <a:solidFill>
            <a:srgbClr val="F4F7FA"/>
          </a:solidFill>
          <a:ln w="9525">
            <a:solidFill>
              <a:srgbClr val="D8E1E8"/>
            </a:solidFill>
            <a:prstDash val="solid"/>
          </a:ln>
        </p:spPr>
      </p:sp>
      <p:sp>
        <p:nvSpPr>
          <p:cNvPr id="14" name="Text 9"/>
          <p:cNvSpPr txBox="1"/>
          <p:nvPr/>
        </p:nvSpPr>
        <p:spPr>
          <a:xfrm>
            <a:off x="457200" y="5212080"/>
            <a:ext cx="11247120" cy="502920"/>
          </a:xfrm>
          <a:prstGeom prst="rect">
            <a:avLst/>
          </a:prstGeom>
          <a:noFill/>
          <a:ln/>
        </p:spPr>
        <p:txBody>
          <a:bodyPr wrap="square" lIns="0" tIns="0" rIns="0" bIns="0" rtlCol="0" anchor="ctr"/>
          <a:lstStyle/>
          <a:p>
            <a:pPr algn="ctr" indent="0" marL="0">
              <a:buNone/>
            </a:pPr>
            <a:r>
              <a:rPr lang="en-US" sz="1250" dirty="0">
                <a:solidFill>
                  <a:srgbClr val="5B6B76"/>
                </a:solidFill>
                <a:latin typeface="Calibri" pitchFamily="34" charset="0"/>
                <a:ea typeface="Calibri" pitchFamily="34" charset="-122"/>
                <a:cs typeface="Calibri" pitchFamily="34" charset="-120"/>
              </a:rPr>
              <a:t>SteamVR_Input_Sources.LeftHand / RightHand / Any: pass hand.handType so one script works on either hand</a:t>
            </a:r>
            <a:endParaRPr lang="en-US" sz="1250" dirty="0"/>
          </a:p>
        </p:txBody>
      </p:sp>
      <p:sp>
        <p:nvSpPr>
          <p:cNvPr id="15" name="Text 10"/>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Case study: GolfVR (Alumni Weekend 2026)</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 9-hole mini-golf course on the Vive Pro, built from the same Interaction System parts.</a:t>
            </a:r>
            <a:endParaRPr lang="en-US" sz="1350" dirty="0"/>
          </a:p>
        </p:txBody>
      </p:sp>
      <p:pic>
        <p:nvPicPr>
          <p:cNvPr id="7" name="Image 2" descr="C:\Users\Jeremy Callinan\AppData\Local\Temp\claude\c--GitHub-CIST1423-Fall2026-Examples\62e170c0-4055-4e17-811f-6bb67e40bfc7\scratchpad\deck\img\golf_kiosk.jpg">    </p:cNvPr>
          <p:cNvPicPr>
            <a:picLocks noChangeAspect="1"/>
          </p:cNvPicPr>
          <p:nvPr/>
        </p:nvPicPr>
        <p:blipFill>
          <a:blip r:embed="rId3"/>
          <a:stretch>
            <a:fillRect/>
          </a:stretch>
        </p:blipFill>
        <p:spPr>
          <a:xfrm>
            <a:off x="457200" y="1965960"/>
            <a:ext cx="4937760" cy="2779776"/>
          </a:xfrm>
          <a:prstGeom prst="rect">
            <a:avLst/>
          </a:prstGeom>
        </p:spPr>
      </p:pic>
      <p:sp>
        <p:nvSpPr>
          <p:cNvPr id="8" name="Text 3"/>
          <p:cNvSpPr txBox="1"/>
          <p:nvPr/>
        </p:nvSpPr>
        <p:spPr>
          <a:xfrm>
            <a:off x="457200" y="4800600"/>
            <a:ext cx="4937760" cy="274320"/>
          </a:xfrm>
          <a:prstGeom prst="rect">
            <a:avLst/>
          </a:prstGeom>
          <a:noFill/>
          <a:ln/>
        </p:spPr>
        <p:txBody>
          <a:bodyPr wrap="square" lIns="0" tIns="0" rIns="0" bIns="0" rtlCol="0" anchor="ctr"/>
          <a:lstStyle/>
          <a:p>
            <a:pPr indent="0" marL="0">
              <a:buNone/>
            </a:pPr>
            <a:r>
              <a:rPr lang="en-US" sz="1100" i="1" dirty="0">
                <a:solidFill>
                  <a:srgbClr val="5B6B76"/>
                </a:solidFill>
                <a:latin typeface="Calibri" pitchFamily="34" charset="0"/>
                <a:ea typeface="Calibri" pitchFamily="34" charset="-122"/>
                <a:cs typeface="Calibri" pitchFamily="34" charset="-120"/>
              </a:rPr>
              <a:t>Reset-for-next-group kiosk: a HoverButton</a:t>
            </a:r>
            <a:endParaRPr lang="en-US" sz="1100" dirty="0"/>
          </a:p>
        </p:txBody>
      </p:sp>
      <p:sp>
        <p:nvSpPr>
          <p:cNvPr id="9" name="Shape 4"/>
          <p:cNvSpPr/>
          <p:nvPr/>
        </p:nvSpPr>
        <p:spPr>
          <a:xfrm>
            <a:off x="5669280" y="1965960"/>
            <a:ext cx="6035040" cy="804672"/>
          </a:xfrm>
          <a:prstGeom prst="roundRect">
            <a:avLst>
              <a:gd name="adj" fmla="val 9091"/>
            </a:avLst>
          </a:prstGeom>
          <a:solidFill>
            <a:srgbClr val="F4F7FA"/>
          </a:solidFill>
          <a:ln w="9525">
            <a:solidFill>
              <a:srgbClr val="D8E1E8"/>
            </a:solidFill>
            <a:prstDash val="solid"/>
          </a:ln>
        </p:spPr>
      </p:sp>
      <p:pic>
        <p:nvPicPr>
          <p:cNvPr id="10" name="Image 3" descr="preencoded.png">    </p:cNvPr>
          <p:cNvPicPr>
            <a:picLocks noChangeAspect="1"/>
          </p:cNvPicPr>
          <p:nvPr/>
        </p:nvPicPr>
        <p:blipFill>
          <a:blip r:embed="rId4"/>
          <a:stretch>
            <a:fillRect/>
          </a:stretch>
        </p:blipFill>
        <p:spPr>
          <a:xfrm>
            <a:off x="5833872" y="2185416"/>
            <a:ext cx="365760" cy="365760"/>
          </a:xfrm>
          <a:prstGeom prst="rect">
            <a:avLst/>
          </a:prstGeom>
        </p:spPr>
      </p:pic>
      <p:sp>
        <p:nvSpPr>
          <p:cNvPr id="11" name="Text 5"/>
          <p:cNvSpPr txBox="1"/>
          <p:nvPr/>
        </p:nvSpPr>
        <p:spPr>
          <a:xfrm>
            <a:off x="6355080" y="2002536"/>
            <a:ext cx="5212080" cy="731520"/>
          </a:xfrm>
          <a:prstGeom prst="rect">
            <a:avLst/>
          </a:prstGeom>
          <a:noFill/>
          <a:ln/>
        </p:spPr>
        <p:txBody>
          <a:bodyPr wrap="square" lIns="0" tIns="0" rIns="0" bIns="0" rtlCol="0" anchor="ctr"/>
          <a:lstStyle/>
          <a:p>
            <a:pPr indent="0" marL="0">
              <a:buNone/>
            </a:pPr>
            <a:r>
              <a:rPr lang="en-US" sz="1350" b="1" dirty="0">
                <a:solidFill>
                  <a:srgbClr val="156082"/>
                </a:solidFill>
                <a:latin typeface="Calibri" pitchFamily="34" charset="0"/>
                <a:ea typeface="Calibri" pitchFamily="34" charset="-122"/>
                <a:cs typeface="Calibri" pitchFamily="34" charset="-120"/>
              </a:rPr>
              <a:t>GolfPutter.cs</a:t>
            </a:r>
            <a:endParaRPr lang="en-US" sz="1350" dirty="0"/>
          </a:p>
          <a:p>
            <a:pPr indent="0" marL="0">
              <a:buNone/>
            </a:pPr>
            <a:r>
              <a:rPr lang="en-US" sz="1200" dirty="0">
                <a:solidFill>
                  <a:srgbClr val="13202B"/>
                </a:solidFill>
                <a:latin typeface="Calibri" pitchFamily="34" charset="0"/>
                <a:ea typeface="Calibri" pitchFamily="34" charset="-122"/>
                <a:cs typeface="Calibri" pitchFamily="34" charset="-120"/>
              </a:rPr>
              <a:t>Interactable + Throwable with a gripPoint. Club-head velocity → impulse on the ball → haptic buzz</a:t>
            </a:r>
            <a:endParaRPr lang="en-US" sz="1350" dirty="0"/>
          </a:p>
        </p:txBody>
      </p:sp>
      <p:sp>
        <p:nvSpPr>
          <p:cNvPr id="12" name="Shape 6"/>
          <p:cNvSpPr/>
          <p:nvPr/>
        </p:nvSpPr>
        <p:spPr>
          <a:xfrm>
            <a:off x="5669280" y="2880360"/>
            <a:ext cx="6035040" cy="804672"/>
          </a:xfrm>
          <a:prstGeom prst="roundRect">
            <a:avLst>
              <a:gd name="adj" fmla="val 9091"/>
            </a:avLst>
          </a:prstGeom>
          <a:solidFill>
            <a:srgbClr val="F4F7FA"/>
          </a:solidFill>
          <a:ln w="9525">
            <a:solidFill>
              <a:srgbClr val="D8E1E8"/>
            </a:solidFill>
            <a:prstDash val="solid"/>
          </a:ln>
        </p:spPr>
      </p:sp>
      <p:pic>
        <p:nvPicPr>
          <p:cNvPr id="13" name="Image 4" descr="preencoded.png">    </p:cNvPr>
          <p:cNvPicPr>
            <a:picLocks noChangeAspect="1"/>
          </p:cNvPicPr>
          <p:nvPr/>
        </p:nvPicPr>
        <p:blipFill>
          <a:blip r:embed="rId5"/>
          <a:stretch>
            <a:fillRect/>
          </a:stretch>
        </p:blipFill>
        <p:spPr>
          <a:xfrm>
            <a:off x="5833872" y="3099816"/>
            <a:ext cx="365760" cy="365760"/>
          </a:xfrm>
          <a:prstGeom prst="rect">
            <a:avLst/>
          </a:prstGeom>
        </p:spPr>
      </p:pic>
      <p:sp>
        <p:nvSpPr>
          <p:cNvPr id="14" name="Text 7"/>
          <p:cNvSpPr txBox="1"/>
          <p:nvPr/>
        </p:nvSpPr>
        <p:spPr>
          <a:xfrm>
            <a:off x="6355080" y="2916936"/>
            <a:ext cx="5212080" cy="731520"/>
          </a:xfrm>
          <a:prstGeom prst="rect">
            <a:avLst/>
          </a:prstGeom>
          <a:noFill/>
          <a:ln/>
        </p:spPr>
        <p:txBody>
          <a:bodyPr wrap="square" lIns="0" tIns="0" rIns="0" bIns="0" rtlCol="0" anchor="ctr"/>
          <a:lstStyle/>
          <a:p>
            <a:pPr indent="0" marL="0">
              <a:buNone/>
            </a:pPr>
            <a:r>
              <a:rPr lang="en-US" sz="1350" b="1" dirty="0">
                <a:solidFill>
                  <a:srgbClr val="156082"/>
                </a:solidFill>
                <a:latin typeface="Calibri" pitchFamily="34" charset="0"/>
                <a:ea typeface="Calibri" pitchFamily="34" charset="-122"/>
                <a:cs typeface="Calibri" pitchFamily="34" charset="-120"/>
              </a:rPr>
              <a:t>QuickResetController.cs</a:t>
            </a:r>
            <a:endParaRPr lang="en-US" sz="1350" dirty="0"/>
          </a:p>
          <a:p>
            <a:pPr indent="0" marL="0">
              <a:buNone/>
            </a:pPr>
            <a:r>
              <a:rPr lang="en-US" sz="1200" dirty="0">
                <a:solidFill>
                  <a:srgbClr val="13202B"/>
                </a:solidFill>
                <a:latin typeface="Calibri" pitchFamily="34" charset="0"/>
                <a:ea typeface="Calibri" pitchFamily="34" charset="-122"/>
                <a:cs typeface="Calibri" pitchFamily="34" charset="-120"/>
              </a:rPr>
              <a:t>Rebinds SnapTurnLeft/Right to "reset ball" and "fetch putter"</a:t>
            </a:r>
            <a:endParaRPr lang="en-US" sz="1350" dirty="0"/>
          </a:p>
        </p:txBody>
      </p:sp>
      <p:sp>
        <p:nvSpPr>
          <p:cNvPr id="15" name="Shape 8"/>
          <p:cNvSpPr/>
          <p:nvPr/>
        </p:nvSpPr>
        <p:spPr>
          <a:xfrm>
            <a:off x="5669280" y="3794760"/>
            <a:ext cx="6035040" cy="804672"/>
          </a:xfrm>
          <a:prstGeom prst="roundRect">
            <a:avLst>
              <a:gd name="adj" fmla="val 9091"/>
            </a:avLst>
          </a:prstGeom>
          <a:solidFill>
            <a:srgbClr val="F4F7FA"/>
          </a:solidFill>
          <a:ln w="9525">
            <a:solidFill>
              <a:srgbClr val="D8E1E8"/>
            </a:solidFill>
            <a:prstDash val="solid"/>
          </a:ln>
        </p:spPr>
      </p:sp>
      <p:pic>
        <p:nvPicPr>
          <p:cNvPr id="16" name="Image 5" descr="preencoded.png">    </p:cNvPr>
          <p:cNvPicPr>
            <a:picLocks noChangeAspect="1"/>
          </p:cNvPicPr>
          <p:nvPr/>
        </p:nvPicPr>
        <p:blipFill>
          <a:blip r:embed="rId6"/>
          <a:stretch>
            <a:fillRect/>
          </a:stretch>
        </p:blipFill>
        <p:spPr>
          <a:xfrm>
            <a:off x="5833872" y="4014216"/>
            <a:ext cx="365760" cy="365760"/>
          </a:xfrm>
          <a:prstGeom prst="rect">
            <a:avLst/>
          </a:prstGeom>
        </p:spPr>
      </p:pic>
      <p:sp>
        <p:nvSpPr>
          <p:cNvPr id="17" name="Text 9"/>
          <p:cNvSpPr txBox="1"/>
          <p:nvPr/>
        </p:nvSpPr>
        <p:spPr>
          <a:xfrm>
            <a:off x="6355080" y="3831336"/>
            <a:ext cx="5212080" cy="731520"/>
          </a:xfrm>
          <a:prstGeom prst="rect">
            <a:avLst/>
          </a:prstGeom>
          <a:noFill/>
          <a:ln/>
        </p:spPr>
        <p:txBody>
          <a:bodyPr wrap="square" lIns="0" tIns="0" rIns="0" bIns="0" rtlCol="0" anchor="ctr"/>
          <a:lstStyle/>
          <a:p>
            <a:pPr indent="0" marL="0">
              <a:buNone/>
            </a:pPr>
            <a:r>
              <a:rPr lang="en-US" sz="1350" b="1" dirty="0">
                <a:solidFill>
                  <a:srgbClr val="156082"/>
                </a:solidFill>
                <a:latin typeface="Calibri" pitchFamily="34" charset="0"/>
                <a:ea typeface="Calibri" pitchFamily="34" charset="-122"/>
                <a:cs typeface="Calibri" pitchFamily="34" charset="-120"/>
              </a:rPr>
              <a:t>ResetRoundButton.cs + friends</a:t>
            </a:r>
            <a:endParaRPr lang="en-US" sz="1350" dirty="0"/>
          </a:p>
          <a:p>
            <a:pPr indent="0" marL="0">
              <a:buNone/>
            </a:pPr>
            <a:r>
              <a:rPr lang="en-US" sz="1200" dirty="0">
                <a:solidFill>
                  <a:srgbClr val="13202B"/>
                </a:solidFill>
                <a:latin typeface="Calibri" pitchFamily="34" charset="0"/>
                <a:ea typeface="Calibri" pitchFamily="34" charset="-122"/>
                <a:cs typeface="Calibri" pitchFamily="34" charset="-120"/>
              </a:rPr>
              <a:t>HoverButtons: staff reset, NEXT HOLE, jump to a hole</a:t>
            </a:r>
            <a:endParaRPr lang="en-US" sz="1350" dirty="0"/>
          </a:p>
        </p:txBody>
      </p:sp>
      <p:sp>
        <p:nvSpPr>
          <p:cNvPr id="18" name="Shape 10"/>
          <p:cNvSpPr/>
          <p:nvPr/>
        </p:nvSpPr>
        <p:spPr>
          <a:xfrm>
            <a:off x="5669280" y="4709160"/>
            <a:ext cx="6035040" cy="804672"/>
          </a:xfrm>
          <a:prstGeom prst="roundRect">
            <a:avLst>
              <a:gd name="adj" fmla="val 9091"/>
            </a:avLst>
          </a:prstGeom>
          <a:solidFill>
            <a:srgbClr val="F4F7FA"/>
          </a:solidFill>
          <a:ln w="9525">
            <a:solidFill>
              <a:srgbClr val="D8E1E8"/>
            </a:solidFill>
            <a:prstDash val="solid"/>
          </a:ln>
        </p:spPr>
      </p:sp>
      <p:pic>
        <p:nvPicPr>
          <p:cNvPr id="19" name="Image 6" descr="preencoded.png">    </p:cNvPr>
          <p:cNvPicPr>
            <a:picLocks noChangeAspect="1"/>
          </p:cNvPicPr>
          <p:nvPr/>
        </p:nvPicPr>
        <p:blipFill>
          <a:blip r:embed="rId7"/>
          <a:stretch>
            <a:fillRect/>
          </a:stretch>
        </p:blipFill>
        <p:spPr>
          <a:xfrm>
            <a:off x="5833872" y="4928616"/>
            <a:ext cx="365760" cy="365760"/>
          </a:xfrm>
          <a:prstGeom prst="rect">
            <a:avLst/>
          </a:prstGeom>
        </p:spPr>
      </p:pic>
      <p:sp>
        <p:nvSpPr>
          <p:cNvPr id="20" name="Text 11"/>
          <p:cNvSpPr txBox="1"/>
          <p:nvPr/>
        </p:nvSpPr>
        <p:spPr>
          <a:xfrm>
            <a:off x="6355080" y="4745736"/>
            <a:ext cx="5212080" cy="731520"/>
          </a:xfrm>
          <a:prstGeom prst="rect">
            <a:avLst/>
          </a:prstGeom>
          <a:noFill/>
          <a:ln/>
        </p:spPr>
        <p:txBody>
          <a:bodyPr wrap="square" lIns="0" tIns="0" rIns="0" bIns="0" rtlCol="0" anchor="ctr"/>
          <a:lstStyle/>
          <a:p>
            <a:pPr indent="0" marL="0">
              <a:buNone/>
            </a:pPr>
            <a:r>
              <a:rPr lang="en-US" sz="1350" b="1" dirty="0">
                <a:solidFill>
                  <a:srgbClr val="156082"/>
                </a:solidFill>
                <a:latin typeface="Calibri" pitchFamily="34" charset="0"/>
                <a:ea typeface="Calibri" pitchFamily="34" charset="-122"/>
                <a:cs typeface="Calibri" pitchFamily="34" charset="-120"/>
              </a:rPr>
              <a:t>MiniGolfGameManager / ScoreboardUI</a:t>
            </a:r>
            <a:endParaRPr lang="en-US" sz="1350" dirty="0"/>
          </a:p>
          <a:p>
            <a:pPr indent="0" marL="0">
              <a:buNone/>
            </a:pPr>
            <a:r>
              <a:rPr lang="en-US" sz="1200" dirty="0">
                <a:solidFill>
                  <a:srgbClr val="13202B"/>
                </a:solidFill>
                <a:latin typeface="Calibri" pitchFamily="34" charset="0"/>
                <a:ea typeface="Calibri" pitchFamily="34" charset="-122"/>
                <a:cs typeface="Calibri" pitchFamily="34" charset="-120"/>
              </a:rPr>
              <a:t>Ordinary Unity logic. Very little of the project is VR-specific</a:t>
            </a:r>
            <a:endParaRPr lang="en-US" sz="1350" dirty="0"/>
          </a:p>
        </p:txBody>
      </p:sp>
      <p:sp>
        <p:nvSpPr>
          <p:cNvPr id="21" name="Shape 12"/>
          <p:cNvSpPr/>
          <p:nvPr/>
        </p:nvSpPr>
        <p:spPr>
          <a:xfrm>
            <a:off x="457200" y="5760720"/>
            <a:ext cx="11247120" cy="457200"/>
          </a:xfrm>
          <a:prstGeom prst="roundRect">
            <a:avLst>
              <a:gd name="adj" fmla="val 16000"/>
            </a:avLst>
          </a:prstGeom>
          <a:solidFill>
            <a:srgbClr val="F4F7FA"/>
          </a:solidFill>
          <a:ln w="9525">
            <a:solidFill>
              <a:srgbClr val="D8E1E8"/>
            </a:solidFill>
            <a:prstDash val="solid"/>
          </a:ln>
        </p:spPr>
      </p:sp>
      <p:sp>
        <p:nvSpPr>
          <p:cNvPr id="22" name="Text 13"/>
          <p:cNvSpPr txBox="1"/>
          <p:nvPr/>
        </p:nvSpPr>
        <p:spPr>
          <a:xfrm>
            <a:off x="457200" y="5760720"/>
            <a:ext cx="11247120" cy="457200"/>
          </a:xfrm>
          <a:prstGeom prst="rect">
            <a:avLst/>
          </a:prstGeom>
          <a:noFill/>
          <a:ln/>
        </p:spPr>
        <p:txBody>
          <a:bodyPr wrap="square" lIns="0" tIns="0" rIns="0" bIns="0" rtlCol="0" anchor="ctr"/>
          <a:lstStyle/>
          <a:p>
            <a:pPr algn="ctr" indent="0" marL="0">
              <a:buNone/>
            </a:pPr>
            <a:r>
              <a:rPr lang="en-US" sz="1200" dirty="0">
                <a:solidFill>
                  <a:srgbClr val="5B6B76"/>
                </a:solidFill>
                <a:latin typeface="Calibri" pitchFamily="34" charset="0"/>
                <a:ea typeface="Calibri" pitchFamily="34" charset="-122"/>
                <a:cs typeface="Calibri" pitchFamily="34" charset="-120"/>
              </a:rPr>
              <a:t>Alumni-Weekend-2026/GolfVR/GolfVR: open it next to your Lab 5 project and compare</a:t>
            </a:r>
            <a:endParaRPr lang="en-US" sz="1200" dirty="0"/>
          </a:p>
        </p:txBody>
      </p:sp>
      <p:sp>
        <p:nvSpPr>
          <p:cNvPr id="23" name="Text 14"/>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Reading GolfPutter.cs: swing → putt</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Velocity from position deltas in FixedUpdate. The strike happens in OnCollisionEnter.</a:t>
            </a:r>
            <a:endParaRPr lang="en-US" sz="1350" dirty="0"/>
          </a:p>
        </p:txBody>
      </p:sp>
      <p:sp>
        <p:nvSpPr>
          <p:cNvPr id="7" name="Shape 3"/>
          <p:cNvSpPr/>
          <p:nvPr/>
        </p:nvSpPr>
        <p:spPr>
          <a:xfrm>
            <a:off x="457200" y="1965960"/>
            <a:ext cx="6949440" cy="4114800"/>
          </a:xfrm>
          <a:prstGeom prst="roundRect">
            <a:avLst>
              <a:gd name="adj" fmla="val 1778"/>
            </a:avLst>
          </a:prstGeom>
          <a:solidFill>
            <a:srgbClr val="0B1620"/>
          </a:solidFill>
          <a:ln w="9525">
            <a:solidFill>
              <a:srgbClr val="0B1620"/>
            </a:solidFill>
            <a:prstDash val="solid"/>
          </a:ln>
        </p:spPr>
      </p:sp>
      <p:sp>
        <p:nvSpPr>
          <p:cNvPr id="8" name="Text 4"/>
          <p:cNvSpPr txBox="1"/>
          <p:nvPr/>
        </p:nvSpPr>
        <p:spPr>
          <a:xfrm>
            <a:off x="621792" y="2093976"/>
            <a:ext cx="6620256" cy="3858768"/>
          </a:xfrm>
          <a:prstGeom prst="rect">
            <a:avLst/>
          </a:prstGeom>
          <a:noFill/>
          <a:ln/>
        </p:spPr>
        <p:txBody>
          <a:bodyPr wrap="square" lIns="0" tIns="0" rIns="0" bIns="0" rtlCol="0" anchor="t"/>
          <a:lstStyle/>
          <a:p>
            <a:pPr indent="0" marL="0">
              <a:buNone/>
            </a:pPr>
            <a:r>
              <a:rPr lang="en-US" sz="1150" dirty="0">
                <a:solidFill>
                  <a:srgbClr val="D6E4EC"/>
                </a:solidFill>
                <a:latin typeface="Consolas" pitchFamily="34" charset="0"/>
                <a:ea typeface="Consolas" pitchFamily="34" charset="-122"/>
                <a:cs typeface="Consolas" pitchFamily="34" charset="-120"/>
              </a:rPr>
              <a:t>void FixedUpdate() {</a:t>
            </a:r>
            <a:endParaRPr lang="en-US" sz="1150" dirty="0"/>
          </a:p>
          <a:p>
            <a:pPr indent="0" marL="0">
              <a:buNone/>
            </a:pPr>
            <a:r>
              <a:rPr lang="en-US" sz="1150" dirty="0">
                <a:solidFill>
                  <a:srgbClr val="6EE7A8"/>
                </a:solidFill>
                <a:latin typeface="Consolas" pitchFamily="34" charset="0"/>
                <a:ea typeface="Consolas" pitchFamily="34" charset="-122"/>
                <a:cs typeface="Consolas" pitchFamily="34" charset="-120"/>
              </a:rPr>
              <a:t>    // Estimate swing velocity of the club head</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Vector3 p = clubHead.position;</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_headVelocity = (p - _lastHeadPosition) / Time.fixedDeltaTime;</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_lastHeadPosition = p;</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void OnCollisionEnter(Collision c) {</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GolfBall ball = c.gameObject.GetComponent&lt;GolfBall&gt;();</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float speed = _headVelocity.magnitude;</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if (ball == null || speed &lt; minSwingSpeed) return;</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Vector3 dir = _headVelocity.normalized;</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dir.y = Mathf.Clamp(dir.y, 0f, 0.25f);   // keep putts on the green</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float power = Mathf.Min(speed * powerMultiplier, maxBallSpeed);</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ball.ReceivePutt(dir.normalized * power);</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    _currentHoldingHand?.TriggerHapticPulse(0.12f, 160f, 0.75f);</a:t>
            </a:r>
            <a:endParaRPr lang="en-US" sz="1150" dirty="0"/>
          </a:p>
          <a:p>
            <a:pPr indent="0" marL="0">
              <a:buNone/>
            </a:pPr>
            <a:r>
              <a:rPr lang="en-US" sz="1150" dirty="0">
                <a:solidFill>
                  <a:srgbClr val="D6E4EC"/>
                </a:solidFill>
                <a:latin typeface="Consolas" pitchFamily="34" charset="0"/>
                <a:ea typeface="Consolas" pitchFamily="34" charset="-122"/>
                <a:cs typeface="Consolas" pitchFamily="34" charset="-120"/>
              </a:rPr>
              <a:t>}</a:t>
            </a:r>
            <a:endParaRPr lang="en-US" sz="1150" dirty="0"/>
          </a:p>
        </p:txBody>
      </p:sp>
      <p:sp>
        <p:nvSpPr>
          <p:cNvPr id="9" name="Shape 5"/>
          <p:cNvSpPr/>
          <p:nvPr/>
        </p:nvSpPr>
        <p:spPr>
          <a:xfrm>
            <a:off x="7635240" y="1965960"/>
            <a:ext cx="4069080" cy="1828800"/>
          </a:xfrm>
          <a:prstGeom prst="roundRect">
            <a:avLst>
              <a:gd name="adj" fmla="val 4000"/>
            </a:avLst>
          </a:prstGeom>
          <a:solidFill>
            <a:srgbClr val="F4F7FA"/>
          </a:solidFill>
          <a:ln w="9525">
            <a:solidFill>
              <a:srgbClr val="D8E1E8"/>
            </a:solidFill>
            <a:prstDash val="solid"/>
          </a:ln>
        </p:spPr>
      </p:sp>
      <p:pic>
        <p:nvPicPr>
          <p:cNvPr id="10" name="Image 2" descr="preencoded.png">    </p:cNvPr>
          <p:cNvPicPr>
            <a:picLocks noChangeAspect="1"/>
          </p:cNvPicPr>
          <p:nvPr/>
        </p:nvPicPr>
        <p:blipFill>
          <a:blip r:embed="rId3"/>
          <a:stretch>
            <a:fillRect/>
          </a:stretch>
        </p:blipFill>
        <p:spPr>
          <a:xfrm>
            <a:off x="7818120" y="2148840"/>
            <a:ext cx="329184" cy="329184"/>
          </a:xfrm>
          <a:prstGeom prst="rect">
            <a:avLst/>
          </a:prstGeom>
        </p:spPr>
      </p:pic>
      <p:sp>
        <p:nvSpPr>
          <p:cNvPr id="11" name="Text 6"/>
          <p:cNvSpPr txBox="1"/>
          <p:nvPr/>
        </p:nvSpPr>
        <p:spPr>
          <a:xfrm>
            <a:off x="8275320" y="2148840"/>
            <a:ext cx="324612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Where does _currentHoldingHand come from?</a:t>
            </a:r>
            <a:endParaRPr lang="en-US" sz="1450" dirty="0"/>
          </a:p>
        </p:txBody>
      </p:sp>
      <p:sp>
        <p:nvSpPr>
          <p:cNvPr id="12" name="Text 7"/>
          <p:cNvSpPr txBox="1"/>
          <p:nvPr/>
        </p:nvSpPr>
        <p:spPr>
          <a:xfrm>
            <a:off x="7818120" y="2606040"/>
            <a:ext cx="3703320" cy="10058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interactable.onAttachedToHand += OnAttached</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The same event GrabReporter uses in Lab 5</a:t>
            </a:r>
            <a:endParaRPr lang="en-US" sz="1250" dirty="0"/>
          </a:p>
        </p:txBody>
      </p:sp>
      <p:sp>
        <p:nvSpPr>
          <p:cNvPr id="13" name="Shape 8"/>
          <p:cNvSpPr/>
          <p:nvPr/>
        </p:nvSpPr>
        <p:spPr>
          <a:xfrm>
            <a:off x="7635240" y="4023360"/>
            <a:ext cx="4069080" cy="2057400"/>
          </a:xfrm>
          <a:prstGeom prst="roundRect">
            <a:avLst>
              <a:gd name="adj" fmla="val 3556"/>
            </a:avLst>
          </a:prstGeom>
          <a:solidFill>
            <a:srgbClr val="0E2841"/>
          </a:solidFill>
          <a:ln w="9525">
            <a:solidFill>
              <a:srgbClr val="0E2841"/>
            </a:solidFill>
            <a:prstDash val="solid"/>
          </a:ln>
        </p:spPr>
      </p:sp>
      <p:pic>
        <p:nvPicPr>
          <p:cNvPr id="14" name="Image 3" descr="preencoded.png">    </p:cNvPr>
          <p:cNvPicPr>
            <a:picLocks noChangeAspect="1"/>
          </p:cNvPicPr>
          <p:nvPr/>
        </p:nvPicPr>
        <p:blipFill>
          <a:blip r:embed="rId4"/>
          <a:stretch>
            <a:fillRect/>
          </a:stretch>
        </p:blipFill>
        <p:spPr>
          <a:xfrm>
            <a:off x="7818120" y="4206240"/>
            <a:ext cx="329184" cy="329184"/>
          </a:xfrm>
          <a:prstGeom prst="rect">
            <a:avLst/>
          </a:prstGeom>
        </p:spPr>
      </p:pic>
      <p:sp>
        <p:nvSpPr>
          <p:cNvPr id="15" name="Text 9"/>
          <p:cNvSpPr txBox="1"/>
          <p:nvPr/>
        </p:nvSpPr>
        <p:spPr>
          <a:xfrm>
            <a:off x="8275320" y="4206240"/>
            <a:ext cx="324612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Discuss</a:t>
            </a:r>
            <a:endParaRPr lang="en-US" sz="1450" dirty="0"/>
          </a:p>
        </p:txBody>
      </p:sp>
      <p:sp>
        <p:nvSpPr>
          <p:cNvPr id="16" name="Text 10"/>
          <p:cNvSpPr txBox="1"/>
          <p:nvPr/>
        </p:nvSpPr>
        <p:spPr>
          <a:xfrm>
            <a:off x="7818120" y="4663440"/>
            <a:ext cx="3703320" cy="12344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Why estimate velocity by hand instead of reading the Rigidbody?</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What would powerMultiplier = 5 feel like?</a:t>
            </a:r>
            <a:endParaRPr lang="en-US" sz="1250" dirty="0"/>
          </a:p>
        </p:txBody>
      </p:sp>
      <p:sp>
        <p:nvSpPr>
          <p:cNvPr id="17"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Deliverables &amp; resources</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Shape 2"/>
          <p:cNvSpPr/>
          <p:nvPr/>
        </p:nvSpPr>
        <p:spPr>
          <a:xfrm>
            <a:off x="457200" y="1600200"/>
            <a:ext cx="5486400" cy="2148840"/>
          </a:xfrm>
          <a:prstGeom prst="roundRect">
            <a:avLst>
              <a:gd name="adj" fmla="val 3404"/>
            </a:avLst>
          </a:prstGeom>
          <a:solidFill>
            <a:srgbClr val="F4F7FA"/>
          </a:solidFill>
          <a:ln w="9525">
            <a:solidFill>
              <a:srgbClr val="D8E1E8"/>
            </a:solidFill>
            <a:prstDash val="solid"/>
          </a:ln>
        </p:spPr>
      </p:sp>
      <p:pic>
        <p:nvPicPr>
          <p:cNvPr id="7" name="Image 2" descr="preencoded.png">    </p:cNvPr>
          <p:cNvPicPr>
            <a:picLocks noChangeAspect="1"/>
          </p:cNvPicPr>
          <p:nvPr/>
        </p:nvPicPr>
        <p:blipFill>
          <a:blip r:embed="rId3"/>
          <a:stretch>
            <a:fillRect/>
          </a:stretch>
        </p:blipFill>
        <p:spPr>
          <a:xfrm>
            <a:off x="640080" y="1783080"/>
            <a:ext cx="329184" cy="329184"/>
          </a:xfrm>
          <a:prstGeom prst="rect">
            <a:avLst/>
          </a:prstGeom>
        </p:spPr>
      </p:pic>
      <p:sp>
        <p:nvSpPr>
          <p:cNvPr id="8" name="Text 3"/>
          <p:cNvSpPr txBox="1"/>
          <p:nvPr/>
        </p:nvSpPr>
        <p:spPr>
          <a:xfrm>
            <a:off x="1097280" y="1783080"/>
            <a:ext cx="4663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Week 4: setup write-up</a:t>
            </a:r>
            <a:endParaRPr lang="en-US" sz="1450" dirty="0"/>
          </a:p>
        </p:txBody>
      </p:sp>
      <p:sp>
        <p:nvSpPr>
          <p:cNvPr id="9" name="Text 4"/>
          <p:cNvSpPr txBox="1"/>
          <p:nvPr/>
        </p:nvSpPr>
        <p:spPr>
          <a:xfrm>
            <a:off x="640080" y="2240280"/>
            <a:ext cx="512064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Markdown write-up of your setup steps, using the README template</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Loaders (in order), action set, one rebind idea</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Screenshot of Interactions_Example running; push project + README.md</a:t>
            </a:r>
            <a:endParaRPr lang="en-US" sz="1250" dirty="0"/>
          </a:p>
        </p:txBody>
      </p:sp>
      <p:sp>
        <p:nvSpPr>
          <p:cNvPr id="10" name="Shape 5"/>
          <p:cNvSpPr/>
          <p:nvPr/>
        </p:nvSpPr>
        <p:spPr>
          <a:xfrm>
            <a:off x="6217920" y="1600200"/>
            <a:ext cx="5486400" cy="2148840"/>
          </a:xfrm>
          <a:prstGeom prst="roundRect">
            <a:avLst>
              <a:gd name="adj" fmla="val 3404"/>
            </a:avLst>
          </a:prstGeom>
          <a:solidFill>
            <a:srgbClr val="F4F7FA"/>
          </a:solidFill>
          <a:ln w="9525">
            <a:solidFill>
              <a:srgbClr val="D8E1E8"/>
            </a:solidFill>
            <a:prstDash val="solid"/>
          </a:ln>
        </p:spPr>
      </p:sp>
      <p:pic>
        <p:nvPicPr>
          <p:cNvPr id="11" name="Image 3" descr="preencoded.png">    </p:cNvPr>
          <p:cNvPicPr>
            <a:picLocks noChangeAspect="1"/>
          </p:cNvPicPr>
          <p:nvPr/>
        </p:nvPicPr>
        <p:blipFill>
          <a:blip r:embed="rId4"/>
          <a:stretch>
            <a:fillRect/>
          </a:stretch>
        </p:blipFill>
        <p:spPr>
          <a:xfrm>
            <a:off x="6400800" y="1783080"/>
            <a:ext cx="329184" cy="329184"/>
          </a:xfrm>
          <a:prstGeom prst="rect">
            <a:avLst/>
          </a:prstGeom>
        </p:spPr>
      </p:pic>
      <p:sp>
        <p:nvSpPr>
          <p:cNvPr id="12" name="Text 6"/>
          <p:cNvSpPr txBox="1"/>
          <p:nvPr/>
        </p:nvSpPr>
        <p:spPr>
          <a:xfrm>
            <a:off x="6858000" y="1783080"/>
            <a:ext cx="4663440" cy="329184"/>
          </a:xfrm>
          <a:prstGeom prst="rect">
            <a:avLst/>
          </a:prstGeom>
          <a:noFill/>
          <a:ln/>
        </p:spPr>
        <p:txBody>
          <a:bodyPr wrap="square" lIns="0" tIns="0" rIns="0" bIns="0" rtlCol="0" anchor="ctr"/>
          <a:lstStyle/>
          <a:p>
            <a:pPr indent="0" marL="0">
              <a:buNone/>
            </a:pPr>
            <a:r>
              <a:rPr lang="en-US" sz="1450" b="1" dirty="0">
                <a:solidFill>
                  <a:srgbClr val="156082"/>
                </a:solidFill>
                <a:latin typeface="Calibri" pitchFamily="34" charset="0"/>
                <a:ea typeface="Calibri" pitchFamily="34" charset="-122"/>
                <a:cs typeface="Calibri" pitchFamily="34" charset="-120"/>
              </a:rPr>
              <a:t>Week 5: teleport + grab test</a:t>
            </a:r>
            <a:endParaRPr lang="en-US" sz="1450" dirty="0"/>
          </a:p>
        </p:txBody>
      </p:sp>
      <p:sp>
        <p:nvSpPr>
          <p:cNvPr id="13" name="Text 7"/>
          <p:cNvSpPr txBox="1"/>
          <p:nvPr/>
        </p:nvSpPr>
        <p:spPr>
          <a:xfrm>
            <a:off x="6400800" y="2240280"/>
            <a:ext cx="512064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Checklist: teleport area, teleport point, grab, throw, button</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Paste GrabReporter Console lines; screenshots or a short clip</a:t>
            </a:r>
            <a:endParaRPr lang="en-US" sz="1250" dirty="0"/>
          </a:p>
          <a:p>
            <a:pPr marL="177800" indent="-177800">
              <a:spcAft>
                <a:spcPts val="500"/>
              </a:spcAft>
              <a:buSzPct val="100000"/>
              <a:buChar char="•"/>
            </a:pPr>
            <a:r>
              <a:rPr lang="en-US" sz="1250" dirty="0">
                <a:solidFill>
                  <a:srgbClr val="13202B"/>
                </a:solidFill>
                <a:latin typeface="Calibri" pitchFamily="34" charset="0"/>
                <a:ea typeface="Calibri" pitchFamily="34" charset="-122"/>
                <a:cs typeface="Calibri" pitchFamily="34" charset="-120"/>
              </a:rPr>
              <a:t>One change you made and what surprised you</a:t>
            </a:r>
            <a:endParaRPr lang="en-US" sz="1250" dirty="0"/>
          </a:p>
        </p:txBody>
      </p:sp>
      <p:sp>
        <p:nvSpPr>
          <p:cNvPr id="14" name="Shape 8"/>
          <p:cNvSpPr/>
          <p:nvPr/>
        </p:nvSpPr>
        <p:spPr>
          <a:xfrm>
            <a:off x="457200" y="3977640"/>
            <a:ext cx="11247120" cy="2148840"/>
          </a:xfrm>
          <a:prstGeom prst="roundRect">
            <a:avLst>
              <a:gd name="adj" fmla="val 3404"/>
            </a:avLst>
          </a:prstGeom>
          <a:solidFill>
            <a:srgbClr val="0E2841"/>
          </a:solidFill>
          <a:ln w="9525">
            <a:solidFill>
              <a:srgbClr val="0E2841"/>
            </a:solidFill>
            <a:prstDash val="solid"/>
          </a:ln>
        </p:spPr>
      </p:sp>
      <p:pic>
        <p:nvPicPr>
          <p:cNvPr id="15" name="Image 4" descr="preencoded.png">    </p:cNvPr>
          <p:cNvPicPr>
            <a:picLocks noChangeAspect="1"/>
          </p:cNvPicPr>
          <p:nvPr/>
        </p:nvPicPr>
        <p:blipFill>
          <a:blip r:embed="rId5"/>
          <a:stretch>
            <a:fillRect/>
          </a:stretch>
        </p:blipFill>
        <p:spPr>
          <a:xfrm>
            <a:off x="640080" y="4160520"/>
            <a:ext cx="329184" cy="329184"/>
          </a:xfrm>
          <a:prstGeom prst="rect">
            <a:avLst/>
          </a:prstGeom>
        </p:spPr>
      </p:pic>
      <p:sp>
        <p:nvSpPr>
          <p:cNvPr id="16" name="Text 9"/>
          <p:cNvSpPr txBox="1"/>
          <p:nvPr/>
        </p:nvSpPr>
        <p:spPr>
          <a:xfrm>
            <a:off x="1097280" y="4160520"/>
            <a:ext cx="10424160" cy="329184"/>
          </a:xfrm>
          <a:prstGeom prst="rect">
            <a:avLst/>
          </a:prstGeom>
          <a:noFill/>
          <a:ln/>
        </p:spPr>
        <p:txBody>
          <a:bodyPr wrap="square" lIns="0" tIns="0" rIns="0" bIns="0" rtlCol="0" anchor="ctr"/>
          <a:lstStyle/>
          <a:p>
            <a:pPr indent="0" marL="0">
              <a:buNone/>
            </a:pPr>
            <a:r>
              <a:rPr lang="en-US" sz="1450" b="1" dirty="0">
                <a:solidFill>
                  <a:srgbClr val="D4A017"/>
                </a:solidFill>
                <a:latin typeface="Calibri" pitchFamily="34" charset="0"/>
                <a:ea typeface="Calibri" pitchFamily="34" charset="-122"/>
                <a:cs typeface="Calibri" pitchFamily="34" charset="-120"/>
              </a:rPr>
              <a:t>Links</a:t>
            </a:r>
            <a:endParaRPr lang="en-US" sz="1450" dirty="0"/>
          </a:p>
        </p:txBody>
      </p:sp>
      <p:sp>
        <p:nvSpPr>
          <p:cNvPr id="17" name="Text 10"/>
          <p:cNvSpPr txBox="1"/>
          <p:nvPr/>
        </p:nvSpPr>
        <p:spPr>
          <a:xfrm>
            <a:off x="640080" y="4617720"/>
            <a:ext cx="1088136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This repo: github.com/jcallinan/CIST1423-Fall2026-Examples → Week-04-SteamVR-Setup, Week-05-SteamVR-Interactions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SteamVR Unity Plugin releases: github.com/ValveSoftware/steamvr_unity_plugin/releases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Plugin docs: valvesoftware.github.io/steamvr_unity_plugin</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GolfVR: Alumni-Weekend-2026/GolfVR/GolfVR (Docs/README.md for controls and tests)</a:t>
            </a:r>
            <a:endParaRPr lang="en-US" sz="1250" dirty="0"/>
          </a:p>
        </p:txBody>
      </p:sp>
      <p:sp>
        <p:nvSpPr>
          <p:cNvPr id="18" name="Text 11"/>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37744"/>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320040" y="621792"/>
            <a:ext cx="10058400" cy="658368"/>
          </a:xfrm>
          <a:prstGeom prst="rect">
            <a:avLst/>
          </a:prstGeom>
          <a:noFill/>
          <a:ln/>
        </p:spPr>
        <p:txBody>
          <a:bodyPr wrap="square" lIns="0" tIns="0" rIns="0" bIns="0" rtlCol="0" anchor="ctr"/>
          <a:lstStyle/>
          <a:p>
            <a:pPr indent="0" marL="0">
              <a:buNone/>
            </a:pPr>
            <a:r>
              <a:rPr lang="en-US" sz="2500" b="1" dirty="0">
                <a:solidFill>
                  <a:srgbClr val="0E2841"/>
                </a:solidFill>
                <a:latin typeface="Cambria" pitchFamily="34" charset="0"/>
                <a:ea typeface="Cambria" pitchFamily="34" charset="-122"/>
                <a:cs typeface="Cambria" pitchFamily="34" charset="-120"/>
              </a:rPr>
              <a:t>Check your understanding</a:t>
            </a:r>
            <a:endParaRPr lang="en-US" sz="2500" dirty="0"/>
          </a:p>
        </p:txBody>
      </p:sp>
      <p:sp>
        <p:nvSpPr>
          <p:cNvPr id="5" name="Shape 1"/>
          <p:cNvSpPr/>
          <p:nvPr/>
        </p:nvSpPr>
        <p:spPr>
          <a:xfrm>
            <a:off x="320040" y="1298448"/>
            <a:ext cx="9875520" cy="0"/>
          </a:xfrm>
          <a:prstGeom prst="line">
            <a:avLst/>
          </a:prstGeom>
          <a:noFill/>
          <a:ln w="9525">
            <a:solidFill>
              <a:srgbClr val="E97132"/>
            </a:solidFill>
            <a:prstDash val="solid"/>
          </a:ln>
        </p:spPr>
      </p:sp>
      <p:sp>
        <p:nvSpPr>
          <p:cNvPr id="6" name="Text 2"/>
          <p:cNvSpPr txBox="1"/>
          <p:nvPr/>
        </p:nvSpPr>
        <p:spPr>
          <a:xfrm>
            <a:off x="457200" y="1371600"/>
            <a:ext cx="11247120" cy="411480"/>
          </a:xfrm>
          <a:prstGeom prst="rect">
            <a:avLst/>
          </a:prstGeom>
          <a:noFill/>
          <a:ln/>
        </p:spPr>
        <p:txBody>
          <a:bodyPr wrap="square" lIns="0" tIns="0" rIns="0" bIns="0" rtlCol="0" anchor="ctr"/>
          <a:lstStyle/>
          <a:p>
            <a:pPr indent="0" marL="0">
              <a:buNone/>
            </a:pPr>
            <a:r>
              <a:rPr lang="en-US" sz="1350" dirty="0">
                <a:solidFill>
                  <a:srgbClr val="5B6B76"/>
                </a:solidFill>
                <a:latin typeface="Calibri" pitchFamily="34" charset="0"/>
                <a:ea typeface="Calibri" pitchFamily="34" charset="-122"/>
                <a:cs typeface="Calibri" pitchFamily="34" charset="-120"/>
              </a:rPr>
              <a:t>Answer with a partner first, then we'll compare.</a:t>
            </a:r>
            <a:endParaRPr lang="en-US" sz="1350" dirty="0"/>
          </a:p>
        </p:txBody>
      </p:sp>
      <p:sp>
        <p:nvSpPr>
          <p:cNvPr id="7" name="Shape 3"/>
          <p:cNvSpPr/>
          <p:nvPr/>
        </p:nvSpPr>
        <p:spPr>
          <a:xfrm>
            <a:off x="457200" y="1920240"/>
            <a:ext cx="5509260" cy="1988820"/>
          </a:xfrm>
          <a:prstGeom prst="roundRect">
            <a:avLst>
              <a:gd name="adj" fmla="val 3678"/>
            </a:avLst>
          </a:prstGeom>
          <a:solidFill>
            <a:srgbClr val="F4F7FA"/>
          </a:solidFill>
          <a:ln w="9525">
            <a:solidFill>
              <a:srgbClr val="D8E1E8"/>
            </a:solidFill>
            <a:prstDash val="solid"/>
          </a:ln>
        </p:spPr>
      </p:sp>
      <p:sp>
        <p:nvSpPr>
          <p:cNvPr id="8" name="Text 4"/>
          <p:cNvSpPr txBox="1"/>
          <p:nvPr/>
        </p:nvSpPr>
        <p:spPr>
          <a:xfrm>
            <a:off x="68580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Q1</a:t>
            </a:r>
            <a:endParaRPr lang="en-US" sz="2400" dirty="0"/>
          </a:p>
        </p:txBody>
      </p:sp>
      <p:sp>
        <p:nvSpPr>
          <p:cNvPr id="9" name="Text 5"/>
          <p:cNvSpPr txBox="1"/>
          <p:nvPr/>
        </p:nvSpPr>
        <p:spPr>
          <a:xfrm>
            <a:off x="68580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OpenXR is listed above OpenVR in XR Plug-in Management. What breaks?</a:t>
            </a:r>
            <a:endParaRPr lang="en-US" sz="1600" dirty="0"/>
          </a:p>
        </p:txBody>
      </p:sp>
      <p:sp>
        <p:nvSpPr>
          <p:cNvPr id="10" name="Shape 6"/>
          <p:cNvSpPr/>
          <p:nvPr/>
        </p:nvSpPr>
        <p:spPr>
          <a:xfrm>
            <a:off x="6195060" y="1920240"/>
            <a:ext cx="5509260" cy="1988820"/>
          </a:xfrm>
          <a:prstGeom prst="roundRect">
            <a:avLst>
              <a:gd name="adj" fmla="val 3678"/>
            </a:avLst>
          </a:prstGeom>
          <a:solidFill>
            <a:srgbClr val="F4F7FA"/>
          </a:solidFill>
          <a:ln w="9525">
            <a:solidFill>
              <a:srgbClr val="D8E1E8"/>
            </a:solidFill>
            <a:prstDash val="solid"/>
          </a:ln>
        </p:spPr>
      </p:sp>
      <p:sp>
        <p:nvSpPr>
          <p:cNvPr id="11" name="Text 7"/>
          <p:cNvSpPr txBox="1"/>
          <p:nvPr/>
        </p:nvSpPr>
        <p:spPr>
          <a:xfrm>
            <a:off x="6423660" y="210312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Q2</a:t>
            </a:r>
            <a:endParaRPr lang="en-US" sz="2400" dirty="0"/>
          </a:p>
        </p:txBody>
      </p:sp>
      <p:sp>
        <p:nvSpPr>
          <p:cNvPr id="12" name="Text 8"/>
          <p:cNvSpPr txBox="1"/>
          <p:nvPr/>
        </p:nvSpPr>
        <p:spPr>
          <a:xfrm>
            <a:off x="6423660" y="260604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Hands appear but no button does anything. Most likely cause?</a:t>
            </a:r>
            <a:endParaRPr lang="en-US" sz="1600" dirty="0"/>
          </a:p>
        </p:txBody>
      </p:sp>
      <p:sp>
        <p:nvSpPr>
          <p:cNvPr id="13" name="Shape 9"/>
          <p:cNvSpPr/>
          <p:nvPr/>
        </p:nvSpPr>
        <p:spPr>
          <a:xfrm>
            <a:off x="457200" y="4137660"/>
            <a:ext cx="5509260" cy="1988820"/>
          </a:xfrm>
          <a:prstGeom prst="roundRect">
            <a:avLst>
              <a:gd name="adj" fmla="val 3678"/>
            </a:avLst>
          </a:prstGeom>
          <a:solidFill>
            <a:srgbClr val="F4F7FA"/>
          </a:solidFill>
          <a:ln w="9525">
            <a:solidFill>
              <a:srgbClr val="D8E1E8"/>
            </a:solidFill>
            <a:prstDash val="solid"/>
          </a:ln>
        </p:spPr>
      </p:sp>
      <p:sp>
        <p:nvSpPr>
          <p:cNvPr id="14" name="Text 10"/>
          <p:cNvSpPr txBox="1"/>
          <p:nvPr/>
        </p:nvSpPr>
        <p:spPr>
          <a:xfrm>
            <a:off x="68580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Q3</a:t>
            </a:r>
            <a:endParaRPr lang="en-US" sz="2400" dirty="0"/>
          </a:p>
        </p:txBody>
      </p:sp>
      <p:sp>
        <p:nvSpPr>
          <p:cNvPr id="15" name="Text 11"/>
          <p:cNvSpPr txBox="1"/>
          <p:nvPr/>
        </p:nvSpPr>
        <p:spPr>
          <a:xfrm>
            <a:off x="68580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A held cube passes through the table. Which attachment flag is responsible?</a:t>
            </a:r>
            <a:endParaRPr lang="en-US" sz="1600" dirty="0"/>
          </a:p>
        </p:txBody>
      </p:sp>
      <p:sp>
        <p:nvSpPr>
          <p:cNvPr id="16" name="Shape 12"/>
          <p:cNvSpPr/>
          <p:nvPr/>
        </p:nvSpPr>
        <p:spPr>
          <a:xfrm>
            <a:off x="6195060" y="4137660"/>
            <a:ext cx="5509260" cy="1988820"/>
          </a:xfrm>
          <a:prstGeom prst="roundRect">
            <a:avLst>
              <a:gd name="adj" fmla="val 3678"/>
            </a:avLst>
          </a:prstGeom>
          <a:solidFill>
            <a:srgbClr val="F4F7FA"/>
          </a:solidFill>
          <a:ln w="9525">
            <a:solidFill>
              <a:srgbClr val="D8E1E8"/>
            </a:solidFill>
            <a:prstDash val="solid"/>
          </a:ln>
        </p:spPr>
      </p:sp>
      <p:sp>
        <p:nvSpPr>
          <p:cNvPr id="17" name="Text 13"/>
          <p:cNvSpPr txBox="1"/>
          <p:nvPr/>
        </p:nvSpPr>
        <p:spPr>
          <a:xfrm>
            <a:off x="6423660" y="4320540"/>
            <a:ext cx="914400" cy="457200"/>
          </a:xfrm>
          <a:prstGeom prst="rect">
            <a:avLst/>
          </a:prstGeom>
          <a:noFill/>
          <a:ln/>
        </p:spPr>
        <p:txBody>
          <a:bodyPr wrap="square" lIns="0" tIns="0" rIns="0" bIns="0" rtlCol="0" anchor="ctr"/>
          <a:lstStyle/>
          <a:p>
            <a:pPr indent="0" marL="0">
              <a:buNone/>
            </a:pPr>
            <a:r>
              <a:rPr lang="en-US" sz="2400" b="1" dirty="0">
                <a:solidFill>
                  <a:srgbClr val="156082"/>
                </a:solidFill>
                <a:latin typeface="Cambria" pitchFamily="34" charset="0"/>
                <a:ea typeface="Cambria" pitchFamily="34" charset="-122"/>
                <a:cs typeface="Cambria" pitchFamily="34" charset="-120"/>
              </a:rPr>
              <a:t>Q4</a:t>
            </a:r>
            <a:endParaRPr lang="en-US" sz="2400" dirty="0"/>
          </a:p>
        </p:txBody>
      </p:sp>
      <p:sp>
        <p:nvSpPr>
          <p:cNvPr id="18" name="Text 14"/>
          <p:cNvSpPr txBox="1"/>
          <p:nvPr/>
        </p:nvSpPr>
        <p:spPr>
          <a:xfrm>
            <a:off x="6423660" y="4823460"/>
            <a:ext cx="5052060" cy="1120140"/>
          </a:xfrm>
          <a:prstGeom prst="rect">
            <a:avLst/>
          </a:prstGeom>
          <a:noFill/>
          <a:ln/>
        </p:spPr>
        <p:txBody>
          <a:bodyPr wrap="square" lIns="0" tIns="0" rIns="0" bIns="0" rtlCol="0" anchor="t"/>
          <a:lstStyle/>
          <a:p>
            <a:pPr indent="0" marL="0">
              <a:buNone/>
            </a:pPr>
            <a:r>
              <a:rPr lang="en-US" sz="1600" dirty="0">
                <a:solidFill>
                  <a:srgbClr val="13202B"/>
                </a:solidFill>
                <a:latin typeface="Calibri" pitchFamily="34" charset="0"/>
                <a:ea typeface="Calibri" pitchFamily="34" charset="-122"/>
                <a:cs typeface="Calibri" pitchFamily="34" charset="-120"/>
              </a:rPr>
              <a:t>The lever knob is at the middle. What scale is the statue?</a:t>
            </a:r>
            <a:endParaRPr lang="en-US" sz="1600" dirty="0"/>
          </a:p>
        </p:txBody>
      </p:sp>
      <p:sp>
        <p:nvSpPr>
          <p:cNvPr id="19" name="Text 15"/>
          <p:cNvSpPr txBox="1"/>
          <p:nvPr/>
        </p:nvSpPr>
        <p:spPr>
          <a:xfrm>
            <a:off x="320040" y="6528816"/>
            <a:ext cx="8686800" cy="274320"/>
          </a:xfrm>
          <a:prstGeom prst="rect">
            <a:avLst/>
          </a:prstGeom>
          <a:noFill/>
          <a:ln/>
        </p:spPr>
        <p:txBody>
          <a:bodyPr wrap="square" lIns="0" tIns="0" rIns="0" bIns="0" rtlCol="0" anchor="ctr"/>
          <a:lstStyle/>
          <a:p>
            <a:pPr indent="0" marL="0">
              <a:buNone/>
            </a:pPr>
            <a:r>
              <a:rPr lang="en-US" sz="1050" dirty="0">
                <a:solidFill>
                  <a:srgbClr val="5B6B76"/>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C10"/>
        </a:solidFill>
      </p:bgPr>
    </p:bg>
    <p:spTree>
      <p:nvGrpSpPr>
        <p:cNvPr id="1" name=""/>
        <p:cNvGrpSpPr/>
        <p:nvPr/>
      </p:nvGrpSpPr>
      <p:grpSpPr>
        <a:xfrm>
          <a:off x="0" y="0"/>
          <a:ext cx="0" cy="0"/>
          <a:chOff x="0" y="0"/>
          <a:chExt cx="0" cy="0"/>
        </a:xfrm>
      </p:grpSpPr>
      <p:pic>
        <p:nvPicPr>
          <p:cNvPr id="2" name="Image 0" descr="C:\Users\Jeremy Callinan\AppData\Local\Temp\claude\c--GitHub-CIST1423-Fall2026-Examples\62e170c0-4055-4e17-811f-6bb67e40bfc7\scratchpad\deck\img\pitt_small.png">    </p:cNvPr>
          <p:cNvPicPr>
            <a:picLocks noChangeAspect="1"/>
          </p:cNvPicPr>
          <p:nvPr/>
        </p:nvPicPr>
        <p:blipFill>
          <a:blip r:embed="rId1"/>
          <a:stretch>
            <a:fillRect/>
          </a:stretch>
        </p:blipFill>
        <p:spPr>
          <a:xfrm>
            <a:off x="320040" y="256032"/>
            <a:ext cx="1371600" cy="329184"/>
          </a:xfrm>
          <a:prstGeom prst="rect">
            <a:avLst/>
          </a:prstGeom>
        </p:spPr>
      </p:pic>
      <p:pic>
        <p:nvPicPr>
          <p:cNvPr id="3" name="Image 1" descr="C:\Users\Jeremy Callinan\AppData\Local\Temp\claude\c--GitHub-CIST1423-Fall2026-Examples\62e170c0-4055-4e17-811f-6bb67e40bfc7\scratchpad\deck\img\vr_badge.jpeg">    </p:cNvPr>
          <p:cNvPicPr>
            <a:picLocks noChangeAspect="1"/>
          </p:cNvPicPr>
          <p:nvPr/>
        </p:nvPicPr>
        <p:blipFill>
          <a:blip r:embed="rId2"/>
          <a:stretch>
            <a:fillRect/>
          </a:stretch>
        </p:blipFill>
        <p:spPr>
          <a:xfrm>
            <a:off x="10561320" y="201168"/>
            <a:ext cx="1234440" cy="795528"/>
          </a:xfrm>
          <a:prstGeom prst="rect">
            <a:avLst/>
          </a:prstGeom>
        </p:spPr>
      </p:pic>
      <p:sp>
        <p:nvSpPr>
          <p:cNvPr id="4" name="Text 0"/>
          <p:cNvSpPr txBox="1"/>
          <p:nvPr/>
        </p:nvSpPr>
        <p:spPr>
          <a:xfrm>
            <a:off x="457200" y="1097280"/>
            <a:ext cx="9601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 homework + planning</a:t>
            </a:r>
            <a:endParaRPr lang="en-US" sz="3600" dirty="0"/>
          </a:p>
        </p:txBody>
      </p:sp>
      <p:sp>
        <p:nvSpPr>
          <p:cNvPr id="5" name="Text 1"/>
          <p:cNvSpPr txBox="1"/>
          <p:nvPr/>
        </p:nvSpPr>
        <p:spPr>
          <a:xfrm>
            <a:off x="548640" y="2103120"/>
            <a:ext cx="7863840" cy="384048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Finish Lab 4: SteamVR project running with Interactions_Example</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Build the SteamVR Playground and record your teleport + grab test</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Read GolfPutter.cs and QuickResetController.cs before next class</a:t>
            </a:r>
            <a:endParaRPr lang="en-US" sz="1600" dirty="0"/>
          </a:p>
          <a:p>
            <a:pPr marL="177800" indent="-177800">
              <a:spcAft>
                <a:spcPts val="500"/>
              </a:spcAft>
              <a:buSzPct val="100000"/>
              <a:buChar char="•"/>
            </a:pPr>
            <a:r>
              <a:rPr lang="en-US" sz="1600" dirty="0">
                <a:solidFill>
                  <a:srgbClr val="FFFFFF"/>
                </a:solidFill>
                <a:latin typeface="Calibri" pitchFamily="34" charset="0"/>
                <a:ea typeface="Calibri" pitchFamily="34" charset="-122"/>
                <a:cs typeface="Calibri" pitchFamily="34" charset="-120"/>
              </a:rPr>
              <a:t>Next up: Week 6, AR Foundation. Then Week 7: WebXR building</a:t>
            </a:r>
            <a:endParaRPr lang="en-US" sz="1600" dirty="0"/>
          </a:p>
        </p:txBody>
      </p:sp>
      <p:pic>
        <p:nvPicPr>
          <p:cNvPr id="6" name="Image 2" descr="C:\Users\Jeremy Callinan\AppData\Local\Temp\claude\c--GitHub-CIST1423-Fall2026-Examples\62e170c0-4055-4e17-811f-6bb67e40bfc7\scratchpad\deck\img\alumni_badge.jpg">    </p:cNvPr>
          <p:cNvPicPr>
            <a:picLocks noChangeAspect="1"/>
          </p:cNvPicPr>
          <p:nvPr/>
        </p:nvPicPr>
        <p:blipFill>
          <a:blip r:embed="rId3"/>
          <a:stretch>
            <a:fillRect/>
          </a:stretch>
        </p:blipFill>
        <p:spPr>
          <a:xfrm>
            <a:off x="8778240" y="4846320"/>
            <a:ext cx="2926080" cy="1691640"/>
          </a:xfrm>
          <a:prstGeom prst="rect">
            <a:avLst/>
          </a:prstGeom>
        </p:spPr>
      </p:pic>
      <p:sp>
        <p:nvSpPr>
          <p:cNvPr id="7" name="Text 2"/>
          <p:cNvSpPr txBox="1"/>
          <p:nvPr/>
        </p:nvSpPr>
        <p:spPr>
          <a:xfrm>
            <a:off x="320040" y="6528816"/>
            <a:ext cx="8229600" cy="274320"/>
          </a:xfrm>
          <a:prstGeom prst="rect">
            <a:avLst/>
          </a:prstGeom>
          <a:noFill/>
          <a:ln/>
        </p:spPr>
        <p:txBody>
          <a:bodyPr wrap="square" lIns="0" tIns="0" rIns="0" bIns="0" rtlCol="0" anchor="ctr"/>
          <a:lstStyle/>
          <a:p>
            <a:pPr indent="0" marL="0">
              <a:buNone/>
            </a:pPr>
            <a:r>
              <a:rPr lang="en-US" sz="1050" dirty="0">
                <a:solidFill>
                  <a:srgbClr val="9AA7B1"/>
                </a:solidFill>
                <a:latin typeface="Calibri" pitchFamily="34" charset="0"/>
                <a:ea typeface="Calibri" pitchFamily="34" charset="-122"/>
                <a:cs typeface="Calibri" pitchFamily="34" charset="-120"/>
              </a:rPr>
              <a:t>CIST 1423 — Weeks 4–5 — SteamVR Setup &amp; the Interaction System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SteamVR Setup &amp; the Interaction System</dc:title>
  <dc:subject>PptxGenJS Presentation</dc:subject>
  <dc:creator>PptxGenJS</dc:creator>
  <cp:lastModifiedBy>PptxGenJS</cp:lastModifiedBy>
  <cp:revision>1</cp:revision>
  <dcterms:created xsi:type="dcterms:W3CDTF">2026-09-28T00:21:13Z</dcterms:created>
  <dcterms:modified xsi:type="dcterms:W3CDTF">2026-09-28T00:21:13Z</dcterms:modified>
</cp:coreProperties>
</file>