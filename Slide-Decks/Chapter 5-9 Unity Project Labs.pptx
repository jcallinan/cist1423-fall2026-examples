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7" r:id="rId7"/>
    <p:sldId id="260" r:id="rId8"/>
    <p:sldId id="266" r:id="rId9"/>
    <p:sldId id="261" r:id="rId10"/>
    <p:sldId id="265" r:id="rId11"/>
    <p:sldId id="262" r:id="rId12"/>
    <p:sldId id="264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5B3B1-51B2-0B07-41AB-3AF5F9407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3BB3D-3E0E-17F6-10DC-28EFAB859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DBD64-6423-E201-2AF0-445A79C96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B158-5AF9-4E64-A4FD-6D6652334E7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D400E-E855-8052-E722-1B58C0B5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3459F-16DD-E016-104A-A6073C5D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8275-FBA2-4FB6-B109-646998D5E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00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B2AA4-E3B9-7CC3-23BF-7B8536A6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A2EB5-26B4-C7CB-2BCE-38D789F7C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C7406-F95F-4E7D-028E-3A1FFAE6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B158-5AF9-4E64-A4FD-6D6652334E7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635FF-0B29-B30B-0842-B50A21457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84CA6-FFA3-BBEC-ADFB-0D2F385E8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8275-FBA2-4FB6-B109-646998D5E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5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19C6-3DD3-187A-1D93-45FF7ED0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01306-9C19-5CF8-8495-A9E2729F8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FEEBB-3C53-6F9D-9AAC-5DF6027FB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B158-5AF9-4E64-A4FD-6D6652334E7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2C39B-701B-7D24-29CF-FF2360670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E34A7-2DC7-D154-A71B-DD447775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8275-FBA2-4FB6-B109-646998D5E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69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B761-205B-D1BC-804F-FADAEB9A4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F23C1-E4C5-577A-F3BB-E12D0791E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92F3F-77EC-2A1D-3792-EBCF42ED5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E4DFD-6E6A-86B2-7CC0-DDEE0779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B158-5AF9-4E64-A4FD-6D6652334E7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C957F-0A6E-7A79-954F-F8BE0D3CE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B4A1F-0182-3835-C643-9FE1EDCC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8275-FBA2-4FB6-B109-646998D5E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2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ABCE-8844-6BEE-6710-6E8C7807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A0218-824A-BC30-4CC4-FDC8BE698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F3164-C4FD-0275-7BDA-345F0544E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B6B243-8AE5-EDDD-3730-CD44544DA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C26B72-AFE0-3303-3365-41FD14249C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CC2BC6-9D64-43CE-E2A7-3BFE06A19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B158-5AF9-4E64-A4FD-6D6652334E7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E758A2-1790-B3A7-62A8-45D5C9CC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E0152A-27DE-777C-70B5-2124A414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8275-FBA2-4FB6-B109-646998D5E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54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90A56-A559-A1C1-3970-C2FBFD8B1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139CF-4998-F49E-AB74-CE109881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B158-5AF9-4E64-A4FD-6D6652334E7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C59288-BACB-7C52-1958-D1D3EAE1F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07214-E369-84C4-586D-3CE2F036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8275-FBA2-4FB6-B109-646998D5E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09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ACD98-2DF9-83BB-ED95-85EA04333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B158-5AF9-4E64-A4FD-6D6652334E7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7D910D-8FBE-403B-E040-C6D55582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E1BBF-4F05-2D49-65FF-E73E6D652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8275-FBA2-4FB6-B109-646998D5E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18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9F7B-D161-195D-5885-0E3FCDF95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046ED-618F-4463-021E-0D60BCB10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C99F5-276B-6F70-2C46-575DF0BA5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40204-C314-F095-DCBD-4AC6BA938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B158-5AF9-4E64-A4FD-6D6652334E7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F3F47-2A10-FD45-E789-BFE8339CD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D4B09-1EAC-C716-D22D-A5AA1F8B0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8275-FBA2-4FB6-B109-646998D5E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16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59CD0-E2D0-9361-0866-96EC7BEDB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BCB9C6-6C99-ADC5-FD75-526ECB7ECAF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65723-49D4-B4BE-EED6-3AB0A2F29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0CB2C-8EE8-663B-2814-B3DE2D79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B158-5AF9-4E64-A4FD-6D6652334E7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9B2ED-75B7-36D9-9FB4-1C8D9F878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E8D42-A4AA-AFEE-F98A-7B9AE3E1E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8275-FBA2-4FB6-B109-646998D5E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3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FC96-D8B0-73DD-416D-4356900B7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C60F3-EDF8-7350-1A08-7B8A6FC17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A67C9-F883-59BB-015F-15AF0B45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B158-5AF9-4E64-A4FD-6D6652334E7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CBCF5-8AAC-C7F3-995A-EA7935BF0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C3AEA-29FD-3233-1825-9924BB29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8275-FBA2-4FB6-B109-646998D5E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6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2C696-DA6B-DEDD-E04D-A01794472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C75EE-3056-3C2C-0882-7E312AEAC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241B1-9F14-F3D8-C6BB-11B8B033D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B158-5AF9-4E64-A4FD-6D6652334E7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77B5D-1B99-A98D-B291-8D50AB64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33924-E9C7-1D99-567E-5798B1878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8275-FBA2-4FB6-B109-646998D5E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81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8352BA-F0CF-F8FF-2D25-B0CE0B9A7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9A54C-99FA-C234-5A14-4138EA9E6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CCE26-6398-D299-9EEC-ECAE98F222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BB158-5AF9-4E64-A4FD-6D6652334E7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B7ECB-ED4B-48A1-F1E3-AB505EDA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B3E5B-22A5-83A7-AD00-FFB6200A6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E98275-FBA2-4FB6-B109-646998D5E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CF280D-F513-B1AD-207F-AE09E90D83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C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B39192-77C2-D4E0-7FA7-01D4EA680B86}"/>
              </a:ext>
            </a:extLst>
          </p:cNvPr>
          <p:cNvSpPr/>
          <p:nvPr/>
        </p:nvSpPr>
        <p:spPr>
          <a:xfrm>
            <a:off x="8788400" y="0"/>
            <a:ext cx="3403600" cy="6858000"/>
          </a:xfrm>
          <a:prstGeom prst="rect">
            <a:avLst/>
          </a:prstGeom>
          <a:solidFill>
            <a:srgbClr val="E5A6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FA413B-C176-FA0D-2E00-BBDB702D98D8}"/>
              </a:ext>
            </a:extLst>
          </p:cNvPr>
          <p:cNvSpPr/>
          <p:nvPr/>
        </p:nvSpPr>
        <p:spPr>
          <a:xfrm>
            <a:off x="9194800" y="762000"/>
            <a:ext cx="2311400" cy="5334000"/>
          </a:xfrm>
          <a:prstGeom prst="rect">
            <a:avLst/>
          </a:prstGeom>
          <a:solidFill>
            <a:srgbClr val="F5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5C9C9-2463-4ABF-640B-84012F4892DE}"/>
              </a:ext>
            </a:extLst>
          </p:cNvPr>
          <p:cNvSpPr txBox="1"/>
          <p:nvPr/>
        </p:nvSpPr>
        <p:spPr>
          <a:xfrm>
            <a:off x="812800" y="7366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2C16D"/>
                </a:solidFill>
                <a:latin typeface="Aptos" panose="020B0004020202020204" pitchFamily="34" charset="0"/>
              </a:rPr>
              <a:t>CIST 1423  /  FALL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AC4336-010E-AE39-316F-88844693868F}"/>
              </a:ext>
            </a:extLst>
          </p:cNvPr>
          <p:cNvSpPr txBox="1"/>
          <p:nvPr/>
        </p:nvSpPr>
        <p:spPr>
          <a:xfrm>
            <a:off x="812800" y="1422400"/>
            <a:ext cx="74930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FFFDF7"/>
                </a:solidFill>
                <a:latin typeface="Aptos Display" panose="020B0004020202020204" pitchFamily="34" charset="0"/>
              </a:rPr>
              <a:t>XR PROJECT
LABS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57C3C-8148-A575-579C-AA23E384DE24}"/>
              </a:ext>
            </a:extLst>
          </p:cNvPr>
          <p:cNvSpPr txBox="1"/>
          <p:nvPr/>
        </p:nvSpPr>
        <p:spPr>
          <a:xfrm>
            <a:off x="838200" y="3632200"/>
            <a:ext cx="685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>
                <a:solidFill>
                  <a:srgbClr val="F7F4EC"/>
                </a:solidFill>
                <a:latin typeface="Aptos Display" panose="020B0004020202020204" pitchFamily="34" charset="0"/>
              </a:rPr>
              <a:t>Chapters 5-9 in 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CC959-5E49-43A8-ED37-233886B28FCC}"/>
              </a:ext>
            </a:extLst>
          </p:cNvPr>
          <p:cNvSpPr txBox="1"/>
          <p:nvPr/>
        </p:nvSpPr>
        <p:spPr>
          <a:xfrm>
            <a:off x="838200" y="4343400"/>
            <a:ext cx="6794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C8D8D0"/>
                </a:solidFill>
                <a:latin typeface="Aptos" panose="020B0004020202020204" pitchFamily="34" charset="0"/>
              </a:rPr>
              <a:t>Five buildable labs. One path from interaction to evidence.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521368-421A-3947-F54D-FE442E5CEA92}"/>
              </a:ext>
            </a:extLst>
          </p:cNvPr>
          <p:cNvSpPr/>
          <p:nvPr/>
        </p:nvSpPr>
        <p:spPr>
          <a:xfrm>
            <a:off x="9448800" y="1092200"/>
            <a:ext cx="1778000" cy="660400"/>
          </a:xfrm>
          <a:prstGeom prst="roundRect">
            <a:avLst/>
          </a:prstGeom>
          <a:solidFill>
            <a:srgbClr val="E46F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277235-8EF5-A4C7-68DE-F388865354B3}"/>
              </a:ext>
            </a:extLst>
          </p:cNvPr>
          <p:cNvSpPr txBox="1"/>
          <p:nvPr/>
        </p:nvSpPr>
        <p:spPr>
          <a:xfrm>
            <a:off x="9575800" y="1295400"/>
            <a:ext cx="154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WEEK 09  /  INTERACTIVE VR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7B468D-04A0-3605-D447-1949FBD0C4F7}"/>
              </a:ext>
            </a:extLst>
          </p:cNvPr>
          <p:cNvSpPr/>
          <p:nvPr/>
        </p:nvSpPr>
        <p:spPr>
          <a:xfrm>
            <a:off x="9448800" y="2070100"/>
            <a:ext cx="1778000" cy="660400"/>
          </a:xfrm>
          <a:prstGeom prst="roundRect">
            <a:avLst/>
          </a:prstGeom>
          <a:solidFill>
            <a:srgbClr val="4C82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78F782-559C-A20B-AD10-49255C404E7C}"/>
              </a:ext>
            </a:extLst>
          </p:cNvPr>
          <p:cNvSpPr txBox="1"/>
          <p:nvPr/>
        </p:nvSpPr>
        <p:spPr>
          <a:xfrm>
            <a:off x="9575800" y="2273300"/>
            <a:ext cx="154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WEEK 10  /  INTERACTIVE AR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0B2908A-B35A-994A-D6B5-3B8C5D43F71F}"/>
              </a:ext>
            </a:extLst>
          </p:cNvPr>
          <p:cNvSpPr/>
          <p:nvPr/>
        </p:nvSpPr>
        <p:spPr>
          <a:xfrm>
            <a:off x="9448800" y="3048000"/>
            <a:ext cx="1778000" cy="660400"/>
          </a:xfrm>
          <a:prstGeom prst="roundRect">
            <a:avLst/>
          </a:prstGeom>
          <a:solidFill>
            <a:srgbClr val="D49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49A299-CDCF-0B20-FF89-03519119EC30}"/>
              </a:ext>
            </a:extLst>
          </p:cNvPr>
          <p:cNvSpPr txBox="1"/>
          <p:nvPr/>
        </p:nvSpPr>
        <p:spPr>
          <a:xfrm>
            <a:off x="9575800" y="3251200"/>
            <a:ext cx="1549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WEEK 11  /  SOUND + VFX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C4AE7BE-1FD4-58E4-C066-6988AE1C15B1}"/>
              </a:ext>
            </a:extLst>
          </p:cNvPr>
          <p:cNvSpPr/>
          <p:nvPr/>
        </p:nvSpPr>
        <p:spPr>
          <a:xfrm>
            <a:off x="9448800" y="4025900"/>
            <a:ext cx="1778000" cy="660400"/>
          </a:xfrm>
          <a:prstGeom prst="roundRect">
            <a:avLst/>
          </a:prstGeom>
          <a:solidFill>
            <a:srgbClr val="3487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7927A7-5ED2-3F18-EC64-267FF7EE52D1}"/>
              </a:ext>
            </a:extLst>
          </p:cNvPr>
          <p:cNvSpPr txBox="1"/>
          <p:nvPr/>
        </p:nvSpPr>
        <p:spPr>
          <a:xfrm>
            <a:off x="9575800" y="4229100"/>
            <a:ext cx="1549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WEEK 12  /  ADVANCED XR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CCAC9A1-D9C9-7151-46B0-8B1391BF0A18}"/>
              </a:ext>
            </a:extLst>
          </p:cNvPr>
          <p:cNvSpPr/>
          <p:nvPr/>
        </p:nvSpPr>
        <p:spPr>
          <a:xfrm>
            <a:off x="9448800" y="5003800"/>
            <a:ext cx="1778000" cy="660400"/>
          </a:xfrm>
          <a:prstGeom prst="roundRect">
            <a:avLst/>
          </a:prstGeom>
          <a:solidFill>
            <a:srgbClr val="745C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0916C3-5F2F-2FBA-7888-E58AB9C90FE8}"/>
              </a:ext>
            </a:extLst>
          </p:cNvPr>
          <p:cNvSpPr txBox="1"/>
          <p:nvPr/>
        </p:nvSpPr>
        <p:spPr>
          <a:xfrm>
            <a:off x="9575800" y="5207000"/>
            <a:ext cx="154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WEEK 13  /  BEST PRACTICES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839239-AB79-7608-78C2-3313012A4949}"/>
              </a:ext>
            </a:extLst>
          </p:cNvPr>
          <p:cNvSpPr txBox="1"/>
          <p:nvPr/>
        </p:nvSpPr>
        <p:spPr>
          <a:xfrm>
            <a:off x="838200" y="5829300"/>
            <a:ext cx="723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AFC7BD"/>
                </a:solidFill>
                <a:latin typeface="Aptos" panose="020B0004020202020204" pitchFamily="34" charset="0"/>
              </a:rPr>
              <a:t>Unity 2022.3.62f3  |  Openable projects with screenshots</a:t>
            </a:r>
          </a:p>
        </p:txBody>
      </p:sp>
    </p:spTree>
    <p:extLst>
      <p:ext uri="{BB962C8B-B14F-4D97-AF65-F5344CB8AC3E}">
        <p14:creationId xmlns:p14="http://schemas.microsoft.com/office/powerpoint/2010/main" val="1559541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BEB634-CF69-D9C0-3466-F843E9BF8E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41D7A9-E970-6682-E88B-3561207553DC}"/>
              </a:ext>
            </a:extLst>
          </p:cNvPr>
          <p:cNvSpPr txBox="1"/>
          <p:nvPr/>
        </p:nvSpPr>
        <p:spPr>
          <a:xfrm>
            <a:off x="698500" y="482600"/>
            <a:ext cx="508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317263"/>
                </a:solidFill>
                <a:latin typeface="Aptos" panose="020B0004020202020204" pitchFamily="34" charset="0"/>
              </a:rPr>
              <a:t>THE LEARNING ARC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C68CA-84BD-759D-DA10-860323B71ADF}"/>
              </a:ext>
            </a:extLst>
          </p:cNvPr>
          <p:cNvSpPr txBox="1"/>
          <p:nvPr/>
        </p:nvSpPr>
        <p:spPr>
          <a:xfrm>
            <a:off x="698500" y="889000"/>
            <a:ext cx="10604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A302A"/>
                </a:solidFill>
                <a:latin typeface="Aptos Display" panose="020B0004020202020204" pitchFamily="34" charset="0"/>
              </a:rPr>
              <a:t>Build, test, then make the evidence visible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FFBFD-BADE-2CD1-1298-0813A94A9267}"/>
              </a:ext>
            </a:extLst>
          </p:cNvPr>
          <p:cNvSpPr txBox="1"/>
          <p:nvPr/>
        </p:nvSpPr>
        <p:spPr>
          <a:xfrm>
            <a:off x="698500" y="1600200"/>
            <a:ext cx="1054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5645D"/>
                </a:solidFill>
                <a:latin typeface="Aptos" panose="020B0004020202020204" pitchFamily="34" charset="0"/>
              </a:rPr>
              <a:t>Each lab adds one XR capability, then asks students to verify it in a fallback or target-device workflow.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1F9455-6755-C3BF-4750-3E085E6E77E6}"/>
              </a:ext>
            </a:extLst>
          </p:cNvPr>
          <p:cNvSpPr/>
          <p:nvPr/>
        </p:nvSpPr>
        <p:spPr>
          <a:xfrm>
            <a:off x="736600" y="2819400"/>
            <a:ext cx="1854200" cy="1803400"/>
          </a:xfrm>
          <a:prstGeom prst="rect">
            <a:avLst/>
          </a:prstGeom>
          <a:solidFill>
            <a:srgbClr val="FFF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6171D5-F50D-3BB2-CB15-F78E4D0112AF}"/>
              </a:ext>
            </a:extLst>
          </p:cNvPr>
          <p:cNvSpPr/>
          <p:nvPr/>
        </p:nvSpPr>
        <p:spPr>
          <a:xfrm>
            <a:off x="736600" y="2819400"/>
            <a:ext cx="1854200" cy="101600"/>
          </a:xfrm>
          <a:prstGeom prst="rect">
            <a:avLst/>
          </a:prstGeom>
          <a:solidFill>
            <a:srgbClr val="E46F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AC3D0B-B386-70BE-DD09-371ACBC6B6CA}"/>
              </a:ext>
            </a:extLst>
          </p:cNvPr>
          <p:cNvSpPr txBox="1"/>
          <p:nvPr/>
        </p:nvSpPr>
        <p:spPr>
          <a:xfrm>
            <a:off x="914400" y="31369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66746E"/>
                </a:solidFill>
                <a:latin typeface="Aptos" panose="020B0004020202020204" pitchFamily="34" charset="0"/>
              </a:rPr>
              <a:t>09  /  VR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285DB-555C-9A70-BF1A-E69ECBD49653}"/>
              </a:ext>
            </a:extLst>
          </p:cNvPr>
          <p:cNvSpPr txBox="1"/>
          <p:nvPr/>
        </p:nvSpPr>
        <p:spPr>
          <a:xfrm>
            <a:off x="914400" y="3556000"/>
            <a:ext cx="165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A302A"/>
                </a:solidFill>
                <a:latin typeface="Aptos Display" panose="020B0004020202020204" pitchFamily="34" charset="0"/>
              </a:rPr>
              <a:t>INTERACT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DB6CDE-6923-B959-8B7D-699729FF6958}"/>
              </a:ext>
            </a:extLst>
          </p:cNvPr>
          <p:cNvSpPr/>
          <p:nvPr/>
        </p:nvSpPr>
        <p:spPr>
          <a:xfrm>
            <a:off x="3048000" y="2819400"/>
            <a:ext cx="1854200" cy="1803400"/>
          </a:xfrm>
          <a:prstGeom prst="rect">
            <a:avLst/>
          </a:prstGeom>
          <a:solidFill>
            <a:srgbClr val="FFF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5457EA-25F3-088A-8D69-301A592232D6}"/>
              </a:ext>
            </a:extLst>
          </p:cNvPr>
          <p:cNvSpPr/>
          <p:nvPr/>
        </p:nvSpPr>
        <p:spPr>
          <a:xfrm>
            <a:off x="3048000" y="2819400"/>
            <a:ext cx="1854200" cy="101600"/>
          </a:xfrm>
          <a:prstGeom prst="rect">
            <a:avLst/>
          </a:prstGeom>
          <a:solidFill>
            <a:srgbClr val="4C82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7707B0-D81B-6108-94D3-035562E0B6C0}"/>
              </a:ext>
            </a:extLst>
          </p:cNvPr>
          <p:cNvSpPr txBox="1"/>
          <p:nvPr/>
        </p:nvSpPr>
        <p:spPr>
          <a:xfrm>
            <a:off x="3225800" y="31369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66746E"/>
                </a:solidFill>
                <a:latin typeface="Aptos" panose="020B0004020202020204" pitchFamily="34" charset="0"/>
              </a:rPr>
              <a:t>10  /  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E7A3C6-B723-5B0D-9347-F420127D6557}"/>
              </a:ext>
            </a:extLst>
          </p:cNvPr>
          <p:cNvSpPr txBox="1"/>
          <p:nvPr/>
        </p:nvSpPr>
        <p:spPr>
          <a:xfrm>
            <a:off x="3225800" y="3556000"/>
            <a:ext cx="165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A302A"/>
                </a:solidFill>
                <a:latin typeface="Aptos Display" panose="020B0004020202020204" pitchFamily="34" charset="0"/>
              </a:rPr>
              <a:t>PLACE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FEA2ED-1A81-3987-BBA2-7751ED807CF6}"/>
              </a:ext>
            </a:extLst>
          </p:cNvPr>
          <p:cNvSpPr/>
          <p:nvPr/>
        </p:nvSpPr>
        <p:spPr>
          <a:xfrm>
            <a:off x="5359400" y="2819400"/>
            <a:ext cx="1854200" cy="1803400"/>
          </a:xfrm>
          <a:prstGeom prst="rect">
            <a:avLst/>
          </a:prstGeom>
          <a:solidFill>
            <a:srgbClr val="FFF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4557A9-CE2F-F1E8-D558-545B4096C420}"/>
              </a:ext>
            </a:extLst>
          </p:cNvPr>
          <p:cNvSpPr/>
          <p:nvPr/>
        </p:nvSpPr>
        <p:spPr>
          <a:xfrm>
            <a:off x="5359400" y="2819400"/>
            <a:ext cx="1854200" cy="101600"/>
          </a:xfrm>
          <a:prstGeom prst="rect">
            <a:avLst/>
          </a:prstGeom>
          <a:solidFill>
            <a:srgbClr val="D49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D1E5DA-1AAA-5D35-A67D-6A807B72D825}"/>
              </a:ext>
            </a:extLst>
          </p:cNvPr>
          <p:cNvSpPr txBox="1"/>
          <p:nvPr/>
        </p:nvSpPr>
        <p:spPr>
          <a:xfrm>
            <a:off x="5537200" y="31369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66746E"/>
                </a:solidFill>
                <a:latin typeface="Aptos" panose="020B0004020202020204" pitchFamily="34" charset="0"/>
              </a:rPr>
              <a:t>11  /  AUDIO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060FBF-CBA4-9F9C-1FFE-0FEE693689BD}"/>
              </a:ext>
            </a:extLst>
          </p:cNvPr>
          <p:cNvSpPr txBox="1"/>
          <p:nvPr/>
        </p:nvSpPr>
        <p:spPr>
          <a:xfrm>
            <a:off x="5537200" y="3556000"/>
            <a:ext cx="165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A302A"/>
                </a:solidFill>
                <a:latin typeface="Aptos Display" panose="020B0004020202020204" pitchFamily="34" charset="0"/>
              </a:rPr>
              <a:t>FEEL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4ED8C7-D9B6-6AC0-5853-E6B9AC99E136}"/>
              </a:ext>
            </a:extLst>
          </p:cNvPr>
          <p:cNvSpPr/>
          <p:nvPr/>
        </p:nvSpPr>
        <p:spPr>
          <a:xfrm>
            <a:off x="7670800" y="2819400"/>
            <a:ext cx="1854200" cy="1803400"/>
          </a:xfrm>
          <a:prstGeom prst="rect">
            <a:avLst/>
          </a:prstGeom>
          <a:solidFill>
            <a:srgbClr val="FFF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C6D16D-9206-139B-A9DF-6F3CB295B6F3}"/>
              </a:ext>
            </a:extLst>
          </p:cNvPr>
          <p:cNvSpPr/>
          <p:nvPr/>
        </p:nvSpPr>
        <p:spPr>
          <a:xfrm>
            <a:off x="7670800" y="2819400"/>
            <a:ext cx="1854200" cy="101600"/>
          </a:xfrm>
          <a:prstGeom prst="rect">
            <a:avLst/>
          </a:prstGeom>
          <a:solidFill>
            <a:srgbClr val="3487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EDE88A-6828-7242-7604-77155AB32DE5}"/>
              </a:ext>
            </a:extLst>
          </p:cNvPr>
          <p:cNvSpPr txBox="1"/>
          <p:nvPr/>
        </p:nvSpPr>
        <p:spPr>
          <a:xfrm>
            <a:off x="7848600" y="31369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66746E"/>
                </a:solidFill>
                <a:latin typeface="Aptos" panose="020B0004020202020204" pitchFamily="34" charset="0"/>
              </a:rPr>
              <a:t>12  /  GAZE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8DFA63-7B69-3BEE-53B1-0289DA013319}"/>
              </a:ext>
            </a:extLst>
          </p:cNvPr>
          <p:cNvSpPr txBox="1"/>
          <p:nvPr/>
        </p:nvSpPr>
        <p:spPr>
          <a:xfrm>
            <a:off x="7848600" y="3556000"/>
            <a:ext cx="165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A302A"/>
                </a:solidFill>
                <a:latin typeface="Aptos Display" panose="020B0004020202020204" pitchFamily="34" charset="0"/>
              </a:rPr>
              <a:t>EXTEND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4AB171-E6C1-4F2D-E40C-8F24092CE6EF}"/>
              </a:ext>
            </a:extLst>
          </p:cNvPr>
          <p:cNvSpPr/>
          <p:nvPr/>
        </p:nvSpPr>
        <p:spPr>
          <a:xfrm>
            <a:off x="9982200" y="2819400"/>
            <a:ext cx="1854200" cy="1803400"/>
          </a:xfrm>
          <a:prstGeom prst="rect">
            <a:avLst/>
          </a:prstGeom>
          <a:solidFill>
            <a:srgbClr val="FFF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B28CCD-3383-ED3F-BEA9-14C044CBE016}"/>
              </a:ext>
            </a:extLst>
          </p:cNvPr>
          <p:cNvSpPr/>
          <p:nvPr/>
        </p:nvSpPr>
        <p:spPr>
          <a:xfrm>
            <a:off x="9982200" y="2819400"/>
            <a:ext cx="1854200" cy="101600"/>
          </a:xfrm>
          <a:prstGeom prst="rect">
            <a:avLst/>
          </a:prstGeom>
          <a:solidFill>
            <a:srgbClr val="745C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7B5949-FEA7-9C01-4E4F-2F89BA78A966}"/>
              </a:ext>
            </a:extLst>
          </p:cNvPr>
          <p:cNvSpPr txBox="1"/>
          <p:nvPr/>
        </p:nvSpPr>
        <p:spPr>
          <a:xfrm>
            <a:off x="10160000" y="31369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66746E"/>
                </a:solidFill>
                <a:latin typeface="Aptos" panose="020B0004020202020204" pitchFamily="34" charset="0"/>
              </a:rPr>
              <a:t>13  /  UX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550275-3690-863E-D615-3F6D2091B5FD}"/>
              </a:ext>
            </a:extLst>
          </p:cNvPr>
          <p:cNvSpPr txBox="1"/>
          <p:nvPr/>
        </p:nvSpPr>
        <p:spPr>
          <a:xfrm>
            <a:off x="10160000" y="3556000"/>
            <a:ext cx="165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A302A"/>
                </a:solidFill>
                <a:latin typeface="Aptos Display" panose="020B0004020202020204" pitchFamily="34" charset="0"/>
              </a:rPr>
              <a:t>REVIEW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BE75DD-5D6C-2022-95B0-F7AE4FE02901}"/>
              </a:ext>
            </a:extLst>
          </p:cNvPr>
          <p:cNvSpPr txBox="1"/>
          <p:nvPr/>
        </p:nvSpPr>
        <p:spPr>
          <a:xfrm>
            <a:off x="736600" y="51816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17263"/>
                </a:solidFill>
                <a:latin typeface="Aptos" panose="020B0004020202020204" pitchFamily="34" charset="0"/>
              </a:rPr>
              <a:t>ASSESSMENT THREAD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499C49-30B2-F21A-7C59-2C5779EE8C16}"/>
              </a:ext>
            </a:extLst>
          </p:cNvPr>
          <p:cNvSpPr txBox="1"/>
          <p:nvPr/>
        </p:nvSpPr>
        <p:spPr>
          <a:xfrm>
            <a:off x="736600" y="5511800"/>
            <a:ext cx="1041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02A"/>
                </a:solidFill>
                <a:latin typeface="Aptos" panose="020B0004020202020204" pitchFamily="34" charset="0"/>
              </a:rPr>
              <a:t>Interaction diagram  -&gt;  device/editor test  -&gt;  observed result  -&gt;  revision + peer review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F6BB54-9821-5F46-18BF-5BF0EC1FAAFC}"/>
              </a:ext>
            </a:extLst>
          </p:cNvPr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D5DC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7739EF-B2D2-E6E9-D862-197A7D70439E}"/>
              </a:ext>
            </a:extLst>
          </p:cNvPr>
          <p:cNvSpPr txBox="1"/>
          <p:nvPr/>
        </p:nvSpPr>
        <p:spPr>
          <a:xfrm>
            <a:off x="609600" y="64897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5645D"/>
                </a:solidFill>
                <a:latin typeface="Aptos" panose="020B0004020202020204" pitchFamily="34" charset="0"/>
              </a:rPr>
              <a:t>CIST 1423  /  UNITY XR LABS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BC9EE5-FD4D-22A4-237B-B9C561A6B852}"/>
              </a:ext>
            </a:extLst>
          </p:cNvPr>
          <p:cNvSpPr txBox="1"/>
          <p:nvPr/>
        </p:nvSpPr>
        <p:spPr>
          <a:xfrm>
            <a:off x="10985500" y="6451600"/>
            <a:ext cx="57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5645D"/>
                </a:solidFill>
                <a:latin typeface="Aptos Display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038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1830E-4A1D-F805-35DB-52E06DE63E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5FB2C-093E-8247-84D1-59D48EE8574A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E46F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3F5933-11E3-4B8E-BFCE-7522470A0E2B}"/>
              </a:ext>
            </a:extLst>
          </p:cNvPr>
          <p:cNvSpPr txBox="1"/>
          <p:nvPr/>
        </p:nvSpPr>
        <p:spPr>
          <a:xfrm>
            <a:off x="711200" y="4445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E46F4F"/>
                </a:solidFill>
                <a:latin typeface="Aptos" panose="020B0004020202020204" pitchFamily="34" charset="0"/>
              </a:rPr>
              <a:t>WEEK 09  /  CHAPTER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8C720-AC85-8EEB-BB3E-4087EEA0E267}"/>
              </a:ext>
            </a:extLst>
          </p:cNvPr>
          <p:cNvSpPr txBox="1"/>
          <p:nvPr/>
        </p:nvSpPr>
        <p:spPr>
          <a:xfrm>
            <a:off x="711200" y="850900"/>
            <a:ext cx="10668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02A"/>
                </a:solidFill>
                <a:latin typeface="Aptos Display" panose="020B0004020202020204" pitchFamily="34" charset="0"/>
              </a:rPr>
              <a:t>Interactive VR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907FF-7DA2-3FBA-DE5C-AD529022DC7B}"/>
              </a:ext>
            </a:extLst>
          </p:cNvPr>
          <p:cNvSpPr txBox="1"/>
          <p:nvPr/>
        </p:nvSpPr>
        <p:spPr>
          <a:xfrm>
            <a:off x="736600" y="15113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5645D"/>
                </a:solidFill>
                <a:latin typeface="Aptos" panose="020B0004020202020204" pitchFamily="34" charset="0"/>
              </a:rPr>
              <a:t>Animate a prop with an Inspector event; reach another target with controller-ray C#.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B39A47-76B1-E9BC-6EBF-DF86409715E5}"/>
              </a:ext>
            </a:extLst>
          </p:cNvPr>
          <p:cNvSpPr/>
          <p:nvPr/>
        </p:nvSpPr>
        <p:spPr>
          <a:xfrm>
            <a:off x="711200" y="2209800"/>
            <a:ext cx="6680200" cy="3429000"/>
          </a:xfrm>
          <a:prstGeom prst="rect">
            <a:avLst/>
          </a:prstGeom>
          <a:solidFill>
            <a:srgbClr val="FFF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04927-B711-0FF6-4B24-3AE25C56FB41}"/>
              </a:ext>
            </a:extLst>
          </p:cNvPr>
          <p:cNvSpPr txBox="1"/>
          <p:nvPr/>
        </p:nvSpPr>
        <p:spPr>
          <a:xfrm>
            <a:off x="990600" y="2463800"/>
            <a:ext cx="571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E46F4F"/>
                </a:solidFill>
                <a:latin typeface="Aptos" panose="020B0004020202020204" pitchFamily="34" charset="0"/>
              </a:rPr>
              <a:t>STUDENTS BUILD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CE44F9-D429-60D9-CF28-46717D8F6997}"/>
              </a:ext>
            </a:extLst>
          </p:cNvPr>
          <p:cNvSpPr txBox="1"/>
          <p:nvPr/>
        </p:nvSpPr>
        <p:spPr>
          <a:xfrm>
            <a:off x="990600" y="2857500"/>
            <a:ext cx="60325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63A33"/>
                </a:solidFill>
                <a:latin typeface="Aptos" panose="020B0004020202020204" pitchFamily="34" charset="0"/>
              </a:rPr>
              <a:t>- UI Button -&gt; Animator trigger -&gt; one-shot pulse
- XR controller ray toggles a target color
- Mouse + Space provide desktop fallbacks
- No opaque assets or custom button script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FF0078-2636-AACA-8EE8-533D2A84D62F}"/>
              </a:ext>
            </a:extLst>
          </p:cNvPr>
          <p:cNvSpPr/>
          <p:nvPr/>
        </p:nvSpPr>
        <p:spPr>
          <a:xfrm>
            <a:off x="7721600" y="2209800"/>
            <a:ext cx="3759200" cy="3581400"/>
          </a:xfrm>
          <a:prstGeom prst="rect">
            <a:avLst/>
          </a:prstGeom>
          <a:solidFill>
            <a:srgbClr val="1D3D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20BDE2-D63B-B522-898B-1AE71195CFCA}"/>
              </a:ext>
            </a:extLst>
          </p:cNvPr>
          <p:cNvSpPr txBox="1"/>
          <p:nvPr/>
        </p:nvSpPr>
        <p:spPr>
          <a:xfrm>
            <a:off x="8001000" y="2476500"/>
            <a:ext cx="3124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2C16D"/>
                </a:solidFill>
                <a:latin typeface="Aptos" panose="020B0004020202020204" pitchFamily="34" charset="0"/>
              </a:rPr>
              <a:t>VERIFY BOTH PATHS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8949F7-16CF-BB54-91EB-E90D19A02439}"/>
              </a:ext>
            </a:extLst>
          </p:cNvPr>
          <p:cNvSpPr txBox="1"/>
          <p:nvPr/>
        </p:nvSpPr>
        <p:spPr>
          <a:xfrm>
            <a:off x="8001000" y="2933700"/>
            <a:ext cx="31496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F7F4EC"/>
                </a:solidFill>
                <a:latin typeface="Aptos" panose="020B0004020202020204" pitchFamily="34" charset="0"/>
              </a:rPr>
              <a:t>1  Click the button; confirm the prop returns to Idle.
2  Aim and trigger; confirm target changes.
3  Repeat in mouse and keyboard fallback.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BB194D-116E-E945-2DE9-08F99B8A0981}"/>
              </a:ext>
            </a:extLst>
          </p:cNvPr>
          <p:cNvSpPr txBox="1"/>
          <p:nvPr/>
        </p:nvSpPr>
        <p:spPr>
          <a:xfrm>
            <a:off x="8001000" y="50292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FC7BD"/>
                </a:solidFill>
                <a:latin typeface="Aptos" panose="020B0004020202020204" pitchFamily="34" charset="0"/>
              </a:rPr>
              <a:t>TURN 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8E1666-2CE3-6E68-5B58-6C835B386DB6}"/>
              </a:ext>
            </a:extLst>
          </p:cNvPr>
          <p:cNvSpPr txBox="1"/>
          <p:nvPr/>
        </p:nvSpPr>
        <p:spPr>
          <a:xfrm>
            <a:off x="8001000" y="5270500"/>
            <a:ext cx="314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Two interactions + event-path diagram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6B9573-53D1-DAF5-85D0-D2CC93328362}"/>
              </a:ext>
            </a:extLst>
          </p:cNvPr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D5DC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E59D22-48BF-FF23-9A42-0F116408CB32}"/>
              </a:ext>
            </a:extLst>
          </p:cNvPr>
          <p:cNvSpPr txBox="1"/>
          <p:nvPr/>
        </p:nvSpPr>
        <p:spPr>
          <a:xfrm>
            <a:off x="609600" y="64897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5645D"/>
                </a:solidFill>
                <a:latin typeface="Aptos" panose="020B0004020202020204" pitchFamily="34" charset="0"/>
              </a:rPr>
              <a:t>CIST 1423  /  UNITY XR LABS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29EC23-07C4-1157-564C-A37483B231C4}"/>
              </a:ext>
            </a:extLst>
          </p:cNvPr>
          <p:cNvSpPr txBox="1"/>
          <p:nvPr/>
        </p:nvSpPr>
        <p:spPr>
          <a:xfrm>
            <a:off x="10985500" y="6451600"/>
            <a:ext cx="57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5645D"/>
                </a:solidFill>
                <a:latin typeface="Aptos Display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32891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1830E-4A1D-F805-35DB-52E06DE63E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5FB2C-093E-8247-84D1-59D48EE8574A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E46F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3F5933-11E3-4B8E-BFCE-7522470A0E2B}"/>
              </a:ext>
            </a:extLst>
          </p:cNvPr>
          <p:cNvSpPr txBox="1"/>
          <p:nvPr/>
        </p:nvSpPr>
        <p:spPr>
          <a:xfrm>
            <a:off x="711200" y="4445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E46F4F"/>
                </a:solidFill>
                <a:latin typeface="Aptos" panose="020B0004020202020204" pitchFamily="34" charset="0"/>
              </a:rPr>
              <a:t>WEEK 09  /  CHAPTER 5  /  IN THE SCENE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8C720-AC85-8EEB-BB3E-4087EEA0E267}"/>
              </a:ext>
            </a:extLst>
          </p:cNvPr>
          <p:cNvSpPr txBox="1"/>
          <p:nvPr/>
        </p:nvSpPr>
        <p:spPr>
          <a:xfrm>
            <a:off x="711200" y="850900"/>
            <a:ext cx="10668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02A"/>
                </a:solidFill>
                <a:latin typeface="Aptos Display" panose="020B0004020202020204" pitchFamily="34" charset="0"/>
              </a:rPr>
              <a:t>One button, one ray, two event paths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907FF-7DA2-3FBA-DE5C-AD529022DC7B}"/>
              </a:ext>
            </a:extLst>
          </p:cNvPr>
          <p:cNvSpPr txBox="1"/>
          <p:nvPr/>
        </p:nvSpPr>
        <p:spPr>
          <a:xfrm>
            <a:off x="736600" y="15113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5645D"/>
                </a:solidFill>
                <a:latin typeface="Aptos" panose="020B0004020202020204" pitchFamily="34" charset="0"/>
              </a:rPr>
              <a:t>Assets/Scenes/InteractiveVR.unity  |  4 of 4 checks passed in a Windows build (no headset)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6B9573-53D1-DAF5-85D0-D2CC93328362}"/>
              </a:ext>
            </a:extLst>
          </p:cNvPr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D5DC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E59D22-48BF-FF23-9A42-0F116408CB32}"/>
              </a:ext>
            </a:extLst>
          </p:cNvPr>
          <p:cNvSpPr txBox="1"/>
          <p:nvPr/>
        </p:nvSpPr>
        <p:spPr>
          <a:xfrm>
            <a:off x="609600" y="64897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5645D"/>
                </a:solidFill>
                <a:latin typeface="Aptos" panose="020B0004020202020204" pitchFamily="34" charset="0"/>
              </a:rPr>
              <a:t>CIST 1423  /  UNITY XR LABS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29EC23-07C4-1157-564C-A37483B231C4}"/>
              </a:ext>
            </a:extLst>
          </p:cNvPr>
          <p:cNvSpPr txBox="1"/>
          <p:nvPr/>
        </p:nvSpPr>
        <p:spPr>
          <a:xfrm>
            <a:off x="10985500" y="6451600"/>
            <a:ext cx="57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5645D"/>
                </a:solidFill>
                <a:latin typeface="Aptos Display" panose="020B0004020202020204" pitchFamily="34" charset="0"/>
              </a:rPr>
              <a:t>04</a:t>
            </a:r>
          </a:p>
        </p:txBody>
      </p:sp>
      <p:pic>
        <p:nvPicPr>
          <p:cNvPr id="19" name="Screenshot 1" descr="Screenshot 1">
            <a:extLst>
              <a:ext uri="{FF2B5EF4-FFF2-40B4-BE49-F238E27FC236}">
                <a16:creationId xmlns:a16="http://schemas.microsoft.com/office/drawing/2014/main" id="{76241C8B-ABEA-E0F5-BC93-CE03C5D913F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133600"/>
            <a:ext cx="5207000" cy="2928938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0" name="Caption 1">
            <a:extLst>
              <a:ext uri="{FF2B5EF4-FFF2-40B4-BE49-F238E27FC236}">
                <a16:creationId xmlns:a16="http://schemas.microsoft.com/office/drawing/2014/main" id="{C1C85409-3EDF-78F6-BF18-40D1A8C11615}"/>
              </a:ext>
            </a:extLst>
          </p:cNvPr>
          <p:cNvSpPr txBox="1"/>
          <p:nvPr/>
        </p:nvSpPr>
        <p:spPr>
          <a:xfrm>
            <a:off x="711200" y="5189538"/>
            <a:ext cx="520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Start.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Animated Prop (cube), Color Target (sphere), and the world-space button.</a:t>
            </a:r>
          </a:p>
        </p:txBody>
      </p:sp>
      <p:pic>
        <p:nvPicPr>
          <p:cNvPr id="22" name="Screenshot 2" descr="Screenshot 2">
            <a:extLst>
              <a:ext uri="{FF2B5EF4-FFF2-40B4-BE49-F238E27FC236}">
                <a16:creationId xmlns:a16="http://schemas.microsoft.com/office/drawing/2014/main" id="{6DC9611A-7342-D1A6-13FF-932FF0505D0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800" y="2133600"/>
            <a:ext cx="5207000" cy="2928938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3" name="Caption 2">
            <a:extLst>
              <a:ext uri="{FF2B5EF4-FFF2-40B4-BE49-F238E27FC236}">
                <a16:creationId xmlns:a16="http://schemas.microsoft.com/office/drawing/2014/main" id="{5FAE8ABE-2456-693E-A0F3-BCC017610957}"/>
              </a:ext>
            </a:extLst>
          </p:cNvPr>
          <p:cNvSpPr txBox="1"/>
          <p:nvPr/>
        </p:nvSpPr>
        <p:spPr>
          <a:xfrm>
            <a:off x="6273800" y="5189538"/>
            <a:ext cx="520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Both paths.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The ray turned the sphere gold (C#); the button's On Click() pulsed the cube (Inspector event).</a:t>
            </a:r>
          </a:p>
        </p:txBody>
      </p:sp>
    </p:spTree>
    <p:extLst>
      <p:ext uri="{BB962C8B-B14F-4D97-AF65-F5344CB8AC3E}">
        <p14:creationId xmlns:p14="http://schemas.microsoft.com/office/powerpoint/2010/main" val="18940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E422D-1360-7DC3-C73B-DD1E25C4DD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1BFDCB-1C6B-2324-3F5B-9C7B8EE6842E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4C82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0B1D79-2201-F045-1DDA-E782B5F935C0}"/>
              </a:ext>
            </a:extLst>
          </p:cNvPr>
          <p:cNvSpPr txBox="1"/>
          <p:nvPr/>
        </p:nvSpPr>
        <p:spPr>
          <a:xfrm>
            <a:off x="711200" y="4445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4C82A5"/>
                </a:solidFill>
                <a:latin typeface="Aptos" panose="020B0004020202020204" pitchFamily="34" charset="0"/>
              </a:rPr>
              <a:t>WEEK 10  /  CHAPTER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47F9A-F6F4-E715-9FD3-3740CA7E2911}"/>
              </a:ext>
            </a:extLst>
          </p:cNvPr>
          <p:cNvSpPr txBox="1"/>
          <p:nvPr/>
        </p:nvSpPr>
        <p:spPr>
          <a:xfrm>
            <a:off x="711200" y="850900"/>
            <a:ext cx="10668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02A"/>
                </a:solidFill>
                <a:latin typeface="Aptos Display" panose="020B0004020202020204" pitchFamily="34" charset="0"/>
              </a:rPr>
              <a:t>Interactive 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A238E8-8D6F-7794-053C-FCD73C97FA8F}"/>
              </a:ext>
            </a:extLst>
          </p:cNvPr>
          <p:cNvSpPr txBox="1"/>
          <p:nvPr/>
        </p:nvSpPr>
        <p:spPr>
          <a:xfrm>
            <a:off x="736600" y="15113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5645D"/>
                </a:solidFill>
                <a:latin typeface="Aptos" panose="020B0004020202020204" pitchFamily="34" charset="0"/>
              </a:rPr>
              <a:t>Build a tabletop placement flow with touch, C# selection, and a compact control UI.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C8FD-C157-31FE-5086-38E79989010E}"/>
              </a:ext>
            </a:extLst>
          </p:cNvPr>
          <p:cNvSpPr/>
          <p:nvPr/>
        </p:nvSpPr>
        <p:spPr>
          <a:xfrm>
            <a:off x="711200" y="2209800"/>
            <a:ext cx="6680200" cy="3429000"/>
          </a:xfrm>
          <a:prstGeom prst="rect">
            <a:avLst/>
          </a:prstGeom>
          <a:solidFill>
            <a:srgbClr val="FFF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F1193-29AA-F8C7-758E-3E01C960D979}"/>
              </a:ext>
            </a:extLst>
          </p:cNvPr>
          <p:cNvSpPr txBox="1"/>
          <p:nvPr/>
        </p:nvSpPr>
        <p:spPr>
          <a:xfrm>
            <a:off x="990600" y="2463800"/>
            <a:ext cx="571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4C82A5"/>
                </a:solidFill>
                <a:latin typeface="Aptos" panose="020B0004020202020204" pitchFamily="34" charset="0"/>
              </a:rPr>
              <a:t>STUDENTS BUILD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8EBE77-A481-1526-14D0-D87DC045E97B}"/>
              </a:ext>
            </a:extLst>
          </p:cNvPr>
          <p:cNvSpPr txBox="1"/>
          <p:nvPr/>
        </p:nvSpPr>
        <p:spPr>
          <a:xfrm>
            <a:off x="990600" y="2857500"/>
            <a:ext cx="60325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63A33"/>
                </a:solidFill>
                <a:latin typeface="Aptos" panose="020B0004020202020204" pitchFamily="34" charset="0"/>
              </a:rPr>
              <a:t>- Detect a plane and place a primitive prefab
- Tap to select; swap, delete, reset, toggle planes
- AR Foundation 5.1.5 with ARCore / ARKit providers
- Editor mouse + ground-plane fallback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A7454D-AFF5-F44D-F036-EFFF3B4EA62E}"/>
              </a:ext>
            </a:extLst>
          </p:cNvPr>
          <p:cNvSpPr/>
          <p:nvPr/>
        </p:nvSpPr>
        <p:spPr>
          <a:xfrm>
            <a:off x="7721600" y="2209800"/>
            <a:ext cx="3759200" cy="3581400"/>
          </a:xfrm>
          <a:prstGeom prst="rect">
            <a:avLst/>
          </a:prstGeom>
          <a:solidFill>
            <a:srgbClr val="1D3D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740A88-F168-160F-73DE-C833D984931A}"/>
              </a:ext>
            </a:extLst>
          </p:cNvPr>
          <p:cNvSpPr txBox="1"/>
          <p:nvPr/>
        </p:nvSpPr>
        <p:spPr>
          <a:xfrm>
            <a:off x="8001000" y="2476500"/>
            <a:ext cx="3124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2C16D"/>
                </a:solidFill>
                <a:latin typeface="Aptos" panose="020B0004020202020204" pitchFamily="34" charset="0"/>
              </a:rPr>
              <a:t>VERIFY THE LOOP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A2EDB5-3FC9-6A2F-AA8E-B367607BA45C}"/>
              </a:ext>
            </a:extLst>
          </p:cNvPr>
          <p:cNvSpPr txBox="1"/>
          <p:nvPr/>
        </p:nvSpPr>
        <p:spPr>
          <a:xfrm>
            <a:off x="8001000" y="2933700"/>
            <a:ext cx="31496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F7F4EC"/>
                </a:solidFill>
                <a:latin typeface="Aptos" panose="020B0004020202020204" pitchFamily="34" charset="0"/>
              </a:rPr>
              <a:t>1  Scan until a plane is tracked; place a prefab.
2  Select it and swap variants in place.
3  Check delete, reset, and plane visibility.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0215F-F63E-F57F-E840-7DF258FB6D04}"/>
              </a:ext>
            </a:extLst>
          </p:cNvPr>
          <p:cNvSpPr txBox="1"/>
          <p:nvPr/>
        </p:nvSpPr>
        <p:spPr>
          <a:xfrm>
            <a:off x="8001000" y="50292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FC7BD"/>
                </a:solidFill>
                <a:latin typeface="Aptos" panose="020B0004020202020204" pitchFamily="34" charset="0"/>
              </a:rPr>
              <a:t>TURN 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5351-9A42-E604-5C0C-CC31EFD33AA2}"/>
              </a:ext>
            </a:extLst>
          </p:cNvPr>
          <p:cNvSpPr txBox="1"/>
          <p:nvPr/>
        </p:nvSpPr>
        <p:spPr>
          <a:xfrm>
            <a:off x="8001000" y="5270500"/>
            <a:ext cx="314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Device/Editor evidence + reflection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D8E86-21B6-5DC1-3331-517CADF07D60}"/>
              </a:ext>
            </a:extLst>
          </p:cNvPr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D5DC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9F70B9-EF49-A444-1BD7-645590D52122}"/>
              </a:ext>
            </a:extLst>
          </p:cNvPr>
          <p:cNvSpPr txBox="1"/>
          <p:nvPr/>
        </p:nvSpPr>
        <p:spPr>
          <a:xfrm>
            <a:off x="609600" y="64897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5645D"/>
                </a:solidFill>
                <a:latin typeface="Aptos" panose="020B0004020202020204" pitchFamily="34" charset="0"/>
              </a:rPr>
              <a:t>CIST 1423  /  UNITY XR LABS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C47F6E-0F6B-2996-76CB-86AC727D8150}"/>
              </a:ext>
            </a:extLst>
          </p:cNvPr>
          <p:cNvSpPr txBox="1"/>
          <p:nvPr/>
        </p:nvSpPr>
        <p:spPr>
          <a:xfrm>
            <a:off x="10985500" y="6451600"/>
            <a:ext cx="57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5645D"/>
                </a:solidFill>
                <a:latin typeface="Aptos Display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6933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E422D-1360-7DC3-C73B-DD1E25C4DD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1BFDCB-1C6B-2324-3F5B-9C7B8EE6842E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4C82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0B1D79-2201-F045-1DDA-E782B5F935C0}"/>
              </a:ext>
            </a:extLst>
          </p:cNvPr>
          <p:cNvSpPr txBox="1"/>
          <p:nvPr/>
        </p:nvSpPr>
        <p:spPr>
          <a:xfrm>
            <a:off x="711200" y="4445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4C82A5"/>
                </a:solidFill>
                <a:latin typeface="Aptos" panose="020B0004020202020204" pitchFamily="34" charset="0"/>
              </a:rPr>
              <a:t>WEEK 10  /  CHAPTER 6  /  IN THE SCENE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47F9A-F6F4-E715-9FD3-3740CA7E2911}"/>
              </a:ext>
            </a:extLst>
          </p:cNvPr>
          <p:cNvSpPr txBox="1"/>
          <p:nvPr/>
        </p:nvSpPr>
        <p:spPr>
          <a:xfrm>
            <a:off x="711200" y="850900"/>
            <a:ext cx="10668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02A"/>
                </a:solidFill>
                <a:latin typeface="Aptos Display" panose="020B0004020202020204" pitchFamily="34" charset="0"/>
              </a:rPr>
              <a:t>Place, swap, select, delete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A238E8-8D6F-7794-053C-FCD73C97FA8F}"/>
              </a:ext>
            </a:extLst>
          </p:cNvPr>
          <p:cNvSpPr txBox="1"/>
          <p:nvPr/>
        </p:nvSpPr>
        <p:spPr>
          <a:xfrm>
            <a:off x="736600" y="15113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5645D"/>
                </a:solidFill>
                <a:latin typeface="Aptos" panose="020B0004020202020204" pitchFamily="34" charset="0"/>
              </a:rPr>
              <a:t>Assets/Scenes/InteractiveAR_EditorFallback.unity  |  7 of 7 checks passed in a Windows build (no phone)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D8E86-21B6-5DC1-3331-517CADF07D60}"/>
              </a:ext>
            </a:extLst>
          </p:cNvPr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D5DC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9F70B9-EF49-A444-1BD7-645590D52122}"/>
              </a:ext>
            </a:extLst>
          </p:cNvPr>
          <p:cNvSpPr txBox="1"/>
          <p:nvPr/>
        </p:nvSpPr>
        <p:spPr>
          <a:xfrm>
            <a:off x="609600" y="64897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5645D"/>
                </a:solidFill>
                <a:latin typeface="Aptos" panose="020B0004020202020204" pitchFamily="34" charset="0"/>
              </a:rPr>
              <a:t>CIST 1423  /  UNITY XR LABS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C47F6E-0F6B-2996-76CB-86AC727D8150}"/>
              </a:ext>
            </a:extLst>
          </p:cNvPr>
          <p:cNvSpPr txBox="1"/>
          <p:nvPr/>
        </p:nvSpPr>
        <p:spPr>
          <a:xfrm>
            <a:off x="10985500" y="6451600"/>
            <a:ext cx="57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5645D"/>
                </a:solidFill>
                <a:latin typeface="Aptos Display" panose="020B0004020202020204" pitchFamily="34" charset="0"/>
              </a:rPr>
              <a:t>06</a:t>
            </a:r>
          </a:p>
        </p:txBody>
      </p:sp>
      <p:pic>
        <p:nvPicPr>
          <p:cNvPr id="19" name="Screenshot 1" descr="Screenshot 1">
            <a:extLst>
              <a:ext uri="{FF2B5EF4-FFF2-40B4-BE49-F238E27FC236}">
                <a16:creationId xmlns:a16="http://schemas.microsoft.com/office/drawing/2014/main" id="{8932428F-024D-47EF-64B4-927A288FD2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184400"/>
            <a:ext cx="3454400" cy="1943100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0" name="Caption 1">
            <a:extLst>
              <a:ext uri="{FF2B5EF4-FFF2-40B4-BE49-F238E27FC236}">
                <a16:creationId xmlns:a16="http://schemas.microsoft.com/office/drawing/2014/main" id="{DF313296-9708-7750-CDA5-6063BA330830}"/>
              </a:ext>
            </a:extLst>
          </p:cNvPr>
          <p:cNvSpPr txBox="1"/>
          <p:nvPr/>
        </p:nvSpPr>
        <p:spPr>
          <a:xfrm>
            <a:off x="711200" y="4254500"/>
            <a:ext cx="345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Start.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The status bar asks for a tap.</a:t>
            </a:r>
          </a:p>
        </p:txBody>
      </p:sp>
      <p:pic>
        <p:nvPicPr>
          <p:cNvPr id="22" name="Screenshot 2" descr="Screenshot 2">
            <a:extLst>
              <a:ext uri="{FF2B5EF4-FFF2-40B4-BE49-F238E27FC236}">
                <a16:creationId xmlns:a16="http://schemas.microsoft.com/office/drawing/2014/main" id="{723C9AEC-E4B3-3E7D-7CEA-48FCEE08F0F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0" y="2184400"/>
            <a:ext cx="3454400" cy="1943100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3" name="Caption 2">
            <a:extLst>
              <a:ext uri="{FF2B5EF4-FFF2-40B4-BE49-F238E27FC236}">
                <a16:creationId xmlns:a16="http://schemas.microsoft.com/office/drawing/2014/main" id="{746480A7-3790-63F6-65FB-661D4841CE23}"/>
              </a:ext>
            </a:extLst>
          </p:cNvPr>
          <p:cNvSpPr txBox="1"/>
          <p:nvPr/>
        </p:nvSpPr>
        <p:spPr>
          <a:xfrm>
            <a:off x="4368800" y="4254500"/>
            <a:ext cx="345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Placed and swapped.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Three variants; the sphere is selected (1.08x highlight).</a:t>
            </a:r>
          </a:p>
        </p:txBody>
      </p:sp>
      <p:pic>
        <p:nvPicPr>
          <p:cNvPr id="25" name="Screenshot 3" descr="Screenshot 3">
            <a:extLst>
              <a:ext uri="{FF2B5EF4-FFF2-40B4-BE49-F238E27FC236}">
                <a16:creationId xmlns:a16="http://schemas.microsoft.com/office/drawing/2014/main" id="{83F87789-FCB2-0F87-5368-72EB7C95595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0" y="2184400"/>
            <a:ext cx="3454400" cy="1943100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6" name="Caption 3">
            <a:extLst>
              <a:ext uri="{FF2B5EF4-FFF2-40B4-BE49-F238E27FC236}">
                <a16:creationId xmlns:a16="http://schemas.microsoft.com/office/drawing/2014/main" id="{05524FEB-F266-4394-D024-3A0BF475A06D}"/>
              </a:ext>
            </a:extLst>
          </p:cNvPr>
          <p:cNvSpPr txBox="1"/>
          <p:nvPr/>
        </p:nvSpPr>
        <p:spPr>
          <a:xfrm>
            <a:off x="8026400" y="4254500"/>
            <a:ext cx="345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After Delete.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Only the selected sphere is gone. Reset returns to Cube.</a:t>
            </a:r>
          </a:p>
        </p:txBody>
      </p:sp>
    </p:spTree>
    <p:extLst>
      <p:ext uri="{BB962C8B-B14F-4D97-AF65-F5344CB8AC3E}">
        <p14:creationId xmlns:p14="http://schemas.microsoft.com/office/powerpoint/2010/main" val="3646110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E566C2-80C8-C35B-D517-4AB4C639C9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22913-7470-FE2F-0653-DC57C543A987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D49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7BB5E-FBA9-9584-09AB-67298E21B1E5}"/>
              </a:ext>
            </a:extLst>
          </p:cNvPr>
          <p:cNvSpPr txBox="1"/>
          <p:nvPr/>
        </p:nvSpPr>
        <p:spPr>
          <a:xfrm>
            <a:off x="711200" y="4445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D49B2E"/>
                </a:solidFill>
                <a:latin typeface="Aptos" panose="020B0004020202020204" pitchFamily="34" charset="0"/>
              </a:rPr>
              <a:t>WEEK 11  /  CHAPTER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E84CB-DC42-95D1-6A73-92820228C3DF}"/>
              </a:ext>
            </a:extLst>
          </p:cNvPr>
          <p:cNvSpPr txBox="1"/>
          <p:nvPr/>
        </p:nvSpPr>
        <p:spPr>
          <a:xfrm>
            <a:off x="711200" y="850900"/>
            <a:ext cx="10668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02A"/>
                </a:solidFill>
                <a:latin typeface="Aptos Display" panose="020B0004020202020204" pitchFamily="34" charset="0"/>
              </a:rPr>
              <a:t>Sound and VFX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695FEE-52F6-5A28-0889-5207217E28EC}"/>
              </a:ext>
            </a:extLst>
          </p:cNvPr>
          <p:cNvSpPr txBox="1"/>
          <p:nvPr/>
        </p:nvSpPr>
        <p:spPr>
          <a:xfrm>
            <a:off x="736600" y="15113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5645D"/>
                </a:solidFill>
                <a:latin typeface="Aptos" panose="020B0004020202020204" pitchFamily="34" charset="0"/>
              </a:rPr>
              <a:t>Resonance Garden turns distance and contact into spatial sound and particle feedback.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9F751-C9C6-A060-BB30-C18A912955EE}"/>
              </a:ext>
            </a:extLst>
          </p:cNvPr>
          <p:cNvSpPr/>
          <p:nvPr/>
        </p:nvSpPr>
        <p:spPr>
          <a:xfrm>
            <a:off x="711200" y="2209800"/>
            <a:ext cx="6680200" cy="3429000"/>
          </a:xfrm>
          <a:prstGeom prst="rect">
            <a:avLst/>
          </a:prstGeom>
          <a:solidFill>
            <a:srgbClr val="FFF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E4D98-B890-D3D5-DD14-FF4C3374F627}"/>
              </a:ext>
            </a:extLst>
          </p:cNvPr>
          <p:cNvSpPr txBox="1"/>
          <p:nvPr/>
        </p:nvSpPr>
        <p:spPr>
          <a:xfrm>
            <a:off x="990600" y="2463800"/>
            <a:ext cx="571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49B2E"/>
                </a:solidFill>
                <a:latin typeface="Aptos" panose="020B0004020202020204" pitchFamily="34" charset="0"/>
              </a:rPr>
              <a:t>STUDENTS BUILD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0EA14-E3AC-0466-8264-1F2621E271DB}"/>
              </a:ext>
            </a:extLst>
          </p:cNvPr>
          <p:cNvSpPr txBox="1"/>
          <p:nvPr/>
        </p:nvSpPr>
        <p:spPr>
          <a:xfrm>
            <a:off x="990600" y="2857500"/>
            <a:ext cx="60325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63A33"/>
                </a:solidFill>
                <a:latin typeface="Aptos" panose="020B0004020202020204" pitchFamily="34" charset="0"/>
              </a:rPr>
              <a:t>- Three procedural tones at distinct pitches
- AudioSources spatialized and routed to a mixer group
- Slider controls exposed feedback level
- Trigger entry plays a particle burst once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A42322-6F8B-9980-E515-3CFFBDFFFC16}"/>
              </a:ext>
            </a:extLst>
          </p:cNvPr>
          <p:cNvSpPr/>
          <p:nvPr/>
        </p:nvSpPr>
        <p:spPr>
          <a:xfrm>
            <a:off x="7721600" y="2209800"/>
            <a:ext cx="3759200" cy="3581400"/>
          </a:xfrm>
          <a:prstGeom prst="rect">
            <a:avLst/>
          </a:prstGeom>
          <a:solidFill>
            <a:srgbClr val="1D3D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61F4F3-C1B5-4C5A-C410-2DB91743DA03}"/>
              </a:ext>
            </a:extLst>
          </p:cNvPr>
          <p:cNvSpPr txBox="1"/>
          <p:nvPr/>
        </p:nvSpPr>
        <p:spPr>
          <a:xfrm>
            <a:off x="8001000" y="2476500"/>
            <a:ext cx="3124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2C16D"/>
                </a:solidFill>
                <a:latin typeface="Aptos" panose="020B0004020202020204" pitchFamily="34" charset="0"/>
              </a:rPr>
              <a:t>LISTEN + OBSERVE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304AE8-6414-E707-EDD4-F5107E7C5D94}"/>
              </a:ext>
            </a:extLst>
          </p:cNvPr>
          <p:cNvSpPr txBox="1"/>
          <p:nvPr/>
        </p:nvSpPr>
        <p:spPr>
          <a:xfrm>
            <a:off x="8001000" y="2933700"/>
            <a:ext cx="31496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F7F4EC"/>
                </a:solidFill>
                <a:latin typeface="Aptos" panose="020B0004020202020204" pitchFamily="34" charset="0"/>
              </a:rPr>
              <a:t>1  Enter each beacon; compare pitch and burst.
2  Move away; listen for distance attenuation.
3  Lower mixer to -30 dB; compare level.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EB0A69-877B-8CAD-FEF8-243B62499292}"/>
              </a:ext>
            </a:extLst>
          </p:cNvPr>
          <p:cNvSpPr txBox="1"/>
          <p:nvPr/>
        </p:nvSpPr>
        <p:spPr>
          <a:xfrm>
            <a:off x="8001000" y="50292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FC7BD"/>
                </a:solidFill>
                <a:latin typeface="Aptos" panose="020B0004020202020204" pitchFamily="34" charset="0"/>
              </a:rPr>
              <a:t>TURN 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0A0EA2-B4CA-F36F-337F-FEBA7BD12130}"/>
              </a:ext>
            </a:extLst>
          </p:cNvPr>
          <p:cNvSpPr txBox="1"/>
          <p:nvPr/>
        </p:nvSpPr>
        <p:spPr>
          <a:xfrm>
            <a:off x="8001000" y="5270500"/>
            <a:ext cx="314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Evidence of pitch, distance, and mix tests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90866B-6109-D47E-DB2C-CBB930481E0B}"/>
              </a:ext>
            </a:extLst>
          </p:cNvPr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D5DC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7BA45A-FAB9-915A-D43C-4BFEE1C6EE5E}"/>
              </a:ext>
            </a:extLst>
          </p:cNvPr>
          <p:cNvSpPr txBox="1"/>
          <p:nvPr/>
        </p:nvSpPr>
        <p:spPr>
          <a:xfrm>
            <a:off x="609600" y="64897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5645D"/>
                </a:solidFill>
                <a:latin typeface="Aptos" panose="020B0004020202020204" pitchFamily="34" charset="0"/>
              </a:rPr>
              <a:t>CIST 1423  /  UNITY XR LABS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F7E50F-281F-C8C6-6B8B-B0201DC258E2}"/>
              </a:ext>
            </a:extLst>
          </p:cNvPr>
          <p:cNvSpPr txBox="1"/>
          <p:nvPr/>
        </p:nvSpPr>
        <p:spPr>
          <a:xfrm>
            <a:off x="10985500" y="6451600"/>
            <a:ext cx="57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5645D"/>
                </a:solidFill>
                <a:latin typeface="Aptos Display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07737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E566C2-80C8-C35B-D517-4AB4C639C9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22913-7470-FE2F-0653-DC57C543A987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D49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7BB5E-FBA9-9584-09AB-67298E21B1E5}"/>
              </a:ext>
            </a:extLst>
          </p:cNvPr>
          <p:cNvSpPr txBox="1"/>
          <p:nvPr/>
        </p:nvSpPr>
        <p:spPr>
          <a:xfrm>
            <a:off x="711200" y="4445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D49B2E"/>
                </a:solidFill>
                <a:latin typeface="Aptos" panose="020B0004020202020204" pitchFamily="34" charset="0"/>
              </a:rPr>
              <a:t>WEEK 11  /  CHAPTER 7  /  IN THE SCENE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E84CB-DC42-95D1-6A73-92820228C3DF}"/>
              </a:ext>
            </a:extLst>
          </p:cNvPr>
          <p:cNvSpPr txBox="1"/>
          <p:nvPr/>
        </p:nvSpPr>
        <p:spPr>
          <a:xfrm>
            <a:off x="711200" y="850900"/>
            <a:ext cx="10668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02A"/>
                </a:solidFill>
                <a:latin typeface="Aptos Display" panose="020B0004020202020204" pitchFamily="34" charset="0"/>
              </a:rPr>
              <a:t>Each beacon sounds, bursts, and mixes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695FEE-52F6-5A28-0889-5207217E28EC}"/>
              </a:ext>
            </a:extLst>
          </p:cNvPr>
          <p:cNvSpPr txBox="1"/>
          <p:nvPr/>
        </p:nvSpPr>
        <p:spPr>
          <a:xfrm>
            <a:off x="736600" y="15113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5645D"/>
                </a:solidFill>
                <a:latin typeface="Aptos" panose="020B0004020202020204" pitchFamily="34" charset="0"/>
              </a:rPr>
              <a:t>Assets/Scenes/ResonanceGarden.unity  |  16 of 16 checks passed in a Windows build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90866B-6109-D47E-DB2C-CBB930481E0B}"/>
              </a:ext>
            </a:extLst>
          </p:cNvPr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D5DC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7BA45A-FAB9-915A-D43C-4BFEE1C6EE5E}"/>
              </a:ext>
            </a:extLst>
          </p:cNvPr>
          <p:cNvSpPr txBox="1"/>
          <p:nvPr/>
        </p:nvSpPr>
        <p:spPr>
          <a:xfrm>
            <a:off x="609600" y="64897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5645D"/>
                </a:solidFill>
                <a:latin typeface="Aptos" panose="020B0004020202020204" pitchFamily="34" charset="0"/>
              </a:rPr>
              <a:t>CIST 1423  /  UNITY XR LABS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F7E50F-281F-C8C6-6B8B-B0201DC258E2}"/>
              </a:ext>
            </a:extLst>
          </p:cNvPr>
          <p:cNvSpPr txBox="1"/>
          <p:nvPr/>
        </p:nvSpPr>
        <p:spPr>
          <a:xfrm>
            <a:off x="10985500" y="6451600"/>
            <a:ext cx="57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5645D"/>
                </a:solidFill>
                <a:latin typeface="Aptos Display" panose="020B0004020202020204" pitchFamily="34" charset="0"/>
              </a:rPr>
              <a:t>08</a:t>
            </a:r>
          </a:p>
        </p:txBody>
      </p:sp>
      <p:pic>
        <p:nvPicPr>
          <p:cNvPr id="19" name="Screenshot 1" descr="Screenshot 1">
            <a:extLst>
              <a:ext uri="{FF2B5EF4-FFF2-40B4-BE49-F238E27FC236}">
                <a16:creationId xmlns:a16="http://schemas.microsoft.com/office/drawing/2014/main" id="{4734A26B-98FD-E9A9-3F8F-912DAF33BC6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184400"/>
            <a:ext cx="3454400" cy="1943100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0" name="Caption 1">
            <a:extLst>
              <a:ext uri="{FF2B5EF4-FFF2-40B4-BE49-F238E27FC236}">
                <a16:creationId xmlns:a16="http://schemas.microsoft.com/office/drawing/2014/main" id="{DF5E4FF9-9921-C663-0D15-0CAC3191DAB8}"/>
              </a:ext>
            </a:extLst>
          </p:cNvPr>
          <p:cNvSpPr txBox="1"/>
          <p:nvPr/>
        </p:nvSpPr>
        <p:spPr>
          <a:xfrm>
            <a:off x="711200" y="4254500"/>
            <a:ext cx="345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Start.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Three beacons tuned to C4, A4 and E5.</a:t>
            </a:r>
          </a:p>
        </p:txBody>
      </p:sp>
      <p:pic>
        <p:nvPicPr>
          <p:cNvPr id="22" name="Screenshot 2" descr="Screenshot 2">
            <a:extLst>
              <a:ext uri="{FF2B5EF4-FFF2-40B4-BE49-F238E27FC236}">
                <a16:creationId xmlns:a16="http://schemas.microsoft.com/office/drawing/2014/main" id="{42AD28D9-6CDD-1EC0-5ED9-65C4E865B09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0" y="2184400"/>
            <a:ext cx="3454400" cy="1943100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3" name="Caption 2">
            <a:extLst>
              <a:ext uri="{FF2B5EF4-FFF2-40B4-BE49-F238E27FC236}">
                <a16:creationId xmlns:a16="http://schemas.microsoft.com/office/drawing/2014/main" id="{3600BD33-36E7-8A24-BEFC-99789EB7EC79}"/>
              </a:ext>
            </a:extLst>
          </p:cNvPr>
          <p:cNvSpPr txBox="1"/>
          <p:nvPr/>
        </p:nvSpPr>
        <p:spPr>
          <a:xfrm>
            <a:off x="4368800" y="4254500"/>
            <a:ext cx="345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Entering BeaconLow.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One burst and one tone (heard at 270 Hz). No retrigger inside.</a:t>
            </a:r>
          </a:p>
        </p:txBody>
      </p:sp>
      <p:pic>
        <p:nvPicPr>
          <p:cNvPr id="25" name="Screenshot 3" descr="Screenshot 3">
            <a:extLst>
              <a:ext uri="{FF2B5EF4-FFF2-40B4-BE49-F238E27FC236}">
                <a16:creationId xmlns:a16="http://schemas.microsoft.com/office/drawing/2014/main" id="{68A491CF-2BED-3126-0FAD-1E3FA860574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0" y="2184400"/>
            <a:ext cx="3454400" cy="1943100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6" name="Caption 3">
            <a:extLst>
              <a:ext uri="{FF2B5EF4-FFF2-40B4-BE49-F238E27FC236}">
                <a16:creationId xmlns:a16="http://schemas.microsoft.com/office/drawing/2014/main" id="{8AC7B977-F3CF-7F4E-3795-5CBD5EE6B68E}"/>
              </a:ext>
            </a:extLst>
          </p:cNvPr>
          <p:cNvSpPr txBox="1"/>
          <p:nvPr/>
        </p:nvSpPr>
        <p:spPr>
          <a:xfrm>
            <a:off x="8026400" y="4254500"/>
            <a:ext cx="345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Slider at -30 dB.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Burst still plays; tone is 32.5 dB quieter at the same pitch.</a:t>
            </a:r>
          </a:p>
        </p:txBody>
      </p:sp>
    </p:spTree>
    <p:extLst>
      <p:ext uri="{BB962C8B-B14F-4D97-AF65-F5344CB8AC3E}">
        <p14:creationId xmlns:p14="http://schemas.microsoft.com/office/powerpoint/2010/main" val="1068119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5D3F19-9B0A-4545-9C1D-EED35A663B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2186CA-BFE5-09CA-3B4C-A8BDF00E259D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3487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48713-4D66-0BE0-F929-39913BF070A7}"/>
              </a:ext>
            </a:extLst>
          </p:cNvPr>
          <p:cNvSpPr txBox="1"/>
          <p:nvPr/>
        </p:nvSpPr>
        <p:spPr>
          <a:xfrm>
            <a:off x="711200" y="4445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348775"/>
                </a:solidFill>
                <a:latin typeface="Aptos" panose="020B0004020202020204" pitchFamily="34" charset="0"/>
              </a:rPr>
              <a:t>WEEK 12  /  CHAPTER 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FC3D4-CBA9-98D1-AB2E-3716241CDBD2}"/>
              </a:ext>
            </a:extLst>
          </p:cNvPr>
          <p:cNvSpPr txBox="1"/>
          <p:nvPr/>
        </p:nvSpPr>
        <p:spPr>
          <a:xfrm>
            <a:off x="711200" y="850900"/>
            <a:ext cx="10668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02A"/>
                </a:solidFill>
                <a:latin typeface="Aptos Display" panose="020B0004020202020204" pitchFamily="34" charset="0"/>
              </a:rPr>
              <a:t>Advanced XR: head-gaze dwell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45CA81-15ED-66C7-D926-DD7CCFE6966F}"/>
              </a:ext>
            </a:extLst>
          </p:cNvPr>
          <p:cNvSpPr txBox="1"/>
          <p:nvPr/>
        </p:nvSpPr>
        <p:spPr>
          <a:xfrm>
            <a:off x="736600" y="15113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5645D"/>
                </a:solidFill>
                <a:latin typeface="Aptos" panose="020B0004020202020204" pitchFamily="34" charset="0"/>
              </a:rPr>
              <a:t>A camera ray and dwell timer create a hardware-neutral gaze interaction.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F8A440-3502-737D-2B1C-F5BE4D5D0447}"/>
              </a:ext>
            </a:extLst>
          </p:cNvPr>
          <p:cNvSpPr/>
          <p:nvPr/>
        </p:nvSpPr>
        <p:spPr>
          <a:xfrm>
            <a:off x="711200" y="2209800"/>
            <a:ext cx="6680200" cy="3429000"/>
          </a:xfrm>
          <a:prstGeom prst="rect">
            <a:avLst/>
          </a:prstGeom>
          <a:solidFill>
            <a:srgbClr val="FFF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B7EE7-0E63-ACF5-6140-BBF60ADB4F47}"/>
              </a:ext>
            </a:extLst>
          </p:cNvPr>
          <p:cNvSpPr txBox="1"/>
          <p:nvPr/>
        </p:nvSpPr>
        <p:spPr>
          <a:xfrm>
            <a:off x="990600" y="2463800"/>
            <a:ext cx="571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48775"/>
                </a:solidFill>
                <a:latin typeface="Aptos" panose="020B0004020202020204" pitchFamily="34" charset="0"/>
              </a:rPr>
              <a:t>STUDENTS BUILD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43C0BF-8F1F-2919-5D1C-693852A79406}"/>
              </a:ext>
            </a:extLst>
          </p:cNvPr>
          <p:cNvSpPr txBox="1"/>
          <p:nvPr/>
        </p:nvSpPr>
        <p:spPr>
          <a:xfrm>
            <a:off x="990600" y="2857500"/>
            <a:ext cx="60325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63A33"/>
                </a:solidFill>
                <a:latin typeface="Aptos" panose="020B0004020202020204" pitchFamily="34" charset="0"/>
              </a:rPr>
              <a:t>- Look at a collider target for 1.2 seconds
- Fill indicator tracks dwell progress
- Completion event drives selection feedback
- Mouse-position fallback works without headset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B1749D-9621-5FEB-A555-D333630DC321}"/>
              </a:ext>
            </a:extLst>
          </p:cNvPr>
          <p:cNvSpPr/>
          <p:nvPr/>
        </p:nvSpPr>
        <p:spPr>
          <a:xfrm>
            <a:off x="7721600" y="2209800"/>
            <a:ext cx="3759200" cy="3581400"/>
          </a:xfrm>
          <a:prstGeom prst="rect">
            <a:avLst/>
          </a:prstGeom>
          <a:solidFill>
            <a:srgbClr val="1D3D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F90D53-3E73-D575-918C-0579F46FEF42}"/>
              </a:ext>
            </a:extLst>
          </p:cNvPr>
          <p:cNvSpPr txBox="1"/>
          <p:nvPr/>
        </p:nvSpPr>
        <p:spPr>
          <a:xfrm>
            <a:off x="8001000" y="2476500"/>
            <a:ext cx="3124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2C16D"/>
                </a:solidFill>
                <a:latin typeface="Aptos" panose="020B0004020202020204" pitchFamily="34" charset="0"/>
              </a:rPr>
              <a:t>STATE THE LIMIT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09E1FB-9FB0-691A-6077-5CF39DBF7C08}"/>
              </a:ext>
            </a:extLst>
          </p:cNvPr>
          <p:cNvSpPr txBox="1"/>
          <p:nvPr/>
        </p:nvSpPr>
        <p:spPr>
          <a:xfrm>
            <a:off x="8001000" y="2933700"/>
            <a:ext cx="31496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F7F4EC"/>
                </a:solidFill>
                <a:latin typeface="Aptos" panose="020B0004020202020204" pitchFamily="34" charset="0"/>
              </a:rPr>
              <a:t>1  Leave early; progress resets without selection.
2  Hold gaze; event fires once at completion.
3  Report device and package versions tested.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AC243F-CBA4-CA1B-1922-8809FF401473}"/>
              </a:ext>
            </a:extLst>
          </p:cNvPr>
          <p:cNvSpPr txBox="1"/>
          <p:nvPr/>
        </p:nvSpPr>
        <p:spPr>
          <a:xfrm>
            <a:off x="8001000" y="50292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FC7BD"/>
                </a:solidFill>
                <a:latin typeface="Aptos" panose="020B0004020202020204" pitchFamily="34" charset="0"/>
              </a:rPr>
              <a:t>TURN 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E05BE8-7915-1C7C-F227-2D9EA23A6F59}"/>
              </a:ext>
            </a:extLst>
          </p:cNvPr>
          <p:cNvSpPr txBox="1"/>
          <p:nvPr/>
        </p:nvSpPr>
        <p:spPr>
          <a:xfrm>
            <a:off x="8001000" y="5270500"/>
            <a:ext cx="314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Test checklist + limitation note (not multiplayer)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FD3F2F-0491-0D03-E29E-C167A6A839F5}"/>
              </a:ext>
            </a:extLst>
          </p:cNvPr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D5DC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C30F3F-C881-8525-AC0D-8F87B7FEB138}"/>
              </a:ext>
            </a:extLst>
          </p:cNvPr>
          <p:cNvSpPr txBox="1"/>
          <p:nvPr/>
        </p:nvSpPr>
        <p:spPr>
          <a:xfrm>
            <a:off x="609600" y="64897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5645D"/>
                </a:solidFill>
                <a:latin typeface="Aptos" panose="020B0004020202020204" pitchFamily="34" charset="0"/>
              </a:rPr>
              <a:t>CIST 1423  /  UNITY XR LABS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5ADB3-85A6-210C-8913-FBF881FF305B}"/>
              </a:ext>
            </a:extLst>
          </p:cNvPr>
          <p:cNvSpPr txBox="1"/>
          <p:nvPr/>
        </p:nvSpPr>
        <p:spPr>
          <a:xfrm>
            <a:off x="10985500" y="6451600"/>
            <a:ext cx="57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5645D"/>
                </a:solidFill>
                <a:latin typeface="Aptos Display" panose="020B00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24516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5D3F19-9B0A-4545-9C1D-EED35A663B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2186CA-BFE5-09CA-3B4C-A8BDF00E259D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3487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48713-4D66-0BE0-F929-39913BF070A7}"/>
              </a:ext>
            </a:extLst>
          </p:cNvPr>
          <p:cNvSpPr txBox="1"/>
          <p:nvPr/>
        </p:nvSpPr>
        <p:spPr>
          <a:xfrm>
            <a:off x="711200" y="4445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348775"/>
                </a:solidFill>
                <a:latin typeface="Aptos" panose="020B0004020202020204" pitchFamily="34" charset="0"/>
              </a:rPr>
              <a:t>WEEK 12  /  CHAPTER 8  /  IN THE SCENE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FC3D4-CBA9-98D1-AB2E-3716241CDBD2}"/>
              </a:ext>
            </a:extLst>
          </p:cNvPr>
          <p:cNvSpPr txBox="1"/>
          <p:nvPr/>
        </p:nvSpPr>
        <p:spPr>
          <a:xfrm>
            <a:off x="711200" y="850900"/>
            <a:ext cx="10668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02A"/>
                </a:solidFill>
                <a:latin typeface="Aptos Display" panose="020B0004020202020204" pitchFamily="34" charset="0"/>
              </a:rPr>
              <a:t>Gaze fills the ring, then selects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45CA81-15ED-66C7-D926-DD7CCFE6966F}"/>
              </a:ext>
            </a:extLst>
          </p:cNvPr>
          <p:cNvSpPr txBox="1"/>
          <p:nvPr/>
        </p:nvSpPr>
        <p:spPr>
          <a:xfrm>
            <a:off x="736600" y="15113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5645D"/>
                </a:solidFill>
                <a:latin typeface="Aptos" panose="020B0004020202020204" pitchFamily="34" charset="0"/>
              </a:rPr>
              <a:t>Assets/Scenes/GazeDwell.unity  |  5 of 5 checks passed in a Windows build (head gaze simulated, no headset)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FD3F2F-0491-0D03-E29E-C167A6A839F5}"/>
              </a:ext>
            </a:extLst>
          </p:cNvPr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D5DC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C30F3F-C881-8525-AC0D-8F87B7FEB138}"/>
              </a:ext>
            </a:extLst>
          </p:cNvPr>
          <p:cNvSpPr txBox="1"/>
          <p:nvPr/>
        </p:nvSpPr>
        <p:spPr>
          <a:xfrm>
            <a:off x="609600" y="64897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5645D"/>
                </a:solidFill>
                <a:latin typeface="Aptos" panose="020B0004020202020204" pitchFamily="34" charset="0"/>
              </a:rPr>
              <a:t>CIST 1423  /  UNITY XR LABS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5ADB3-85A6-210C-8913-FBF881FF305B}"/>
              </a:ext>
            </a:extLst>
          </p:cNvPr>
          <p:cNvSpPr txBox="1"/>
          <p:nvPr/>
        </p:nvSpPr>
        <p:spPr>
          <a:xfrm>
            <a:off x="10985500" y="6451600"/>
            <a:ext cx="57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5645D"/>
                </a:solidFill>
                <a:latin typeface="Aptos Display" panose="020B0004020202020204" pitchFamily="34" charset="0"/>
              </a:rPr>
              <a:t>10</a:t>
            </a:r>
          </a:p>
        </p:txBody>
      </p:sp>
      <p:pic>
        <p:nvPicPr>
          <p:cNvPr id="19" name="Screenshot 1" descr="Screenshot 1">
            <a:extLst>
              <a:ext uri="{FF2B5EF4-FFF2-40B4-BE49-F238E27FC236}">
                <a16:creationId xmlns:a16="http://schemas.microsoft.com/office/drawing/2014/main" id="{6D84AB6D-C8FD-8D75-F60E-7F783DBBF3C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184400"/>
            <a:ext cx="3454400" cy="1943100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0" name="Caption 1">
            <a:extLst>
              <a:ext uri="{FF2B5EF4-FFF2-40B4-BE49-F238E27FC236}">
                <a16:creationId xmlns:a16="http://schemas.microsoft.com/office/drawing/2014/main" id="{1850FCA5-F670-0B3D-19C9-60B8E4549A53}"/>
              </a:ext>
            </a:extLst>
          </p:cNvPr>
          <p:cNvSpPr txBox="1"/>
          <p:nvPr/>
        </p:nvSpPr>
        <p:spPr>
          <a:xfrm>
            <a:off x="711200" y="4254500"/>
            <a:ext cx="345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Idle.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Three targets; nothing is gazed at.</a:t>
            </a:r>
          </a:p>
        </p:txBody>
      </p:sp>
      <p:pic>
        <p:nvPicPr>
          <p:cNvPr id="22" name="Screenshot 2" descr="Screenshot 2">
            <a:extLst>
              <a:ext uri="{FF2B5EF4-FFF2-40B4-BE49-F238E27FC236}">
                <a16:creationId xmlns:a16="http://schemas.microsoft.com/office/drawing/2014/main" id="{C792EBBC-C385-CB3C-843C-C20BD5C498E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0" y="2184400"/>
            <a:ext cx="3454400" cy="1943100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3" name="Caption 2">
            <a:extLst>
              <a:ext uri="{FF2B5EF4-FFF2-40B4-BE49-F238E27FC236}">
                <a16:creationId xmlns:a16="http://schemas.microsoft.com/office/drawing/2014/main" id="{8B3D0BA2-1D5C-974F-DFEF-51FA47F42345}"/>
              </a:ext>
            </a:extLst>
          </p:cNvPr>
          <p:cNvSpPr txBox="1"/>
          <p:nvPr/>
        </p:nvSpPr>
        <p:spPr>
          <a:xfrm>
            <a:off x="4368800" y="4254500"/>
            <a:ext cx="345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0.6 s in.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Gaze color and a half-full ring. Looking away now cancels.</a:t>
            </a:r>
          </a:p>
        </p:txBody>
      </p:sp>
      <p:pic>
        <p:nvPicPr>
          <p:cNvPr id="25" name="Screenshot 3" descr="Screenshot 3">
            <a:extLst>
              <a:ext uri="{FF2B5EF4-FFF2-40B4-BE49-F238E27FC236}">
                <a16:creationId xmlns:a16="http://schemas.microsoft.com/office/drawing/2014/main" id="{D503E776-8085-C4D2-85D1-6C3891876A6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0" y="2184400"/>
            <a:ext cx="3454400" cy="1943100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6" name="Caption 3">
            <a:extLst>
              <a:ext uri="{FF2B5EF4-FFF2-40B4-BE49-F238E27FC236}">
                <a16:creationId xmlns:a16="http://schemas.microsoft.com/office/drawing/2014/main" id="{F896A2D4-5A24-BBAC-010C-6C9B1AC929F5}"/>
              </a:ext>
            </a:extLst>
          </p:cNvPr>
          <p:cNvSpPr txBox="1"/>
          <p:nvPr/>
        </p:nvSpPr>
        <p:spPr>
          <a:xfrm>
            <a:off x="8026400" y="4254500"/>
            <a:ext cx="345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Selected.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1.2 s dwells on the cube and sphere; the event fired once.</a:t>
            </a:r>
          </a:p>
        </p:txBody>
      </p:sp>
    </p:spTree>
    <p:extLst>
      <p:ext uri="{BB962C8B-B14F-4D97-AF65-F5344CB8AC3E}">
        <p14:creationId xmlns:p14="http://schemas.microsoft.com/office/powerpoint/2010/main" val="119717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F71C1A-7C52-4709-3584-DA2834E83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4A3D1D-1CA3-3FE3-1CAC-FB1E7494F187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745C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D9195-D90A-25BB-4913-BE49FED81EFD}"/>
              </a:ext>
            </a:extLst>
          </p:cNvPr>
          <p:cNvSpPr txBox="1"/>
          <p:nvPr/>
        </p:nvSpPr>
        <p:spPr>
          <a:xfrm>
            <a:off x="711200" y="4445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745C3B"/>
                </a:solidFill>
                <a:latin typeface="Aptos" panose="020B0004020202020204" pitchFamily="34" charset="0"/>
              </a:rPr>
              <a:t>WEEK 13  /  CHAPTER 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1DD26-7E89-861D-713B-1933176E2878}"/>
              </a:ext>
            </a:extLst>
          </p:cNvPr>
          <p:cNvSpPr txBox="1"/>
          <p:nvPr/>
        </p:nvSpPr>
        <p:spPr>
          <a:xfrm>
            <a:off x="711200" y="850900"/>
            <a:ext cx="10668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02A"/>
                </a:solidFill>
                <a:latin typeface="Aptos Display" panose="020B0004020202020204" pitchFamily="34" charset="0"/>
              </a:rPr>
              <a:t>Comfort, validation, and review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4C44F-3508-A5D1-D715-C61436A6E0C3}"/>
              </a:ext>
            </a:extLst>
          </p:cNvPr>
          <p:cNvSpPr txBox="1"/>
          <p:nvPr/>
        </p:nvSpPr>
        <p:spPr>
          <a:xfrm>
            <a:off x="736600" y="15113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5645D"/>
                </a:solidFill>
                <a:latin typeface="Aptos" panose="020B0004020202020204" pitchFamily="34" charset="0"/>
              </a:rPr>
              <a:t>Apply lifecycle thinking to a prior project; the helper records observations, not comfort certification.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09743F-906F-AAAE-55BB-04AF21875773}"/>
              </a:ext>
            </a:extLst>
          </p:cNvPr>
          <p:cNvSpPr/>
          <p:nvPr/>
        </p:nvSpPr>
        <p:spPr>
          <a:xfrm>
            <a:off x="711200" y="2209800"/>
            <a:ext cx="6680200" cy="3429000"/>
          </a:xfrm>
          <a:prstGeom prst="rect">
            <a:avLst/>
          </a:prstGeom>
          <a:solidFill>
            <a:srgbClr val="FFF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3A3436-E9E1-804A-318E-21406483D648}"/>
              </a:ext>
            </a:extLst>
          </p:cNvPr>
          <p:cNvSpPr txBox="1"/>
          <p:nvPr/>
        </p:nvSpPr>
        <p:spPr>
          <a:xfrm>
            <a:off x="990600" y="2463800"/>
            <a:ext cx="571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745C3B"/>
                </a:solidFill>
                <a:latin typeface="Aptos" panose="020B0004020202020204" pitchFamily="34" charset="0"/>
              </a:rPr>
              <a:t>STUDENTS BUILD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21B6BD-973F-4350-FA90-6E20DA690802}"/>
              </a:ext>
            </a:extLst>
          </p:cNvPr>
          <p:cNvSpPr txBox="1"/>
          <p:nvPr/>
        </p:nvSpPr>
        <p:spPr>
          <a:xfrm>
            <a:off x="990600" y="2857500"/>
            <a:ext cx="60325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63A33"/>
                </a:solidFill>
                <a:latin typeface="Aptos" panose="020B0004020202020204" pitchFamily="34" charset="0"/>
              </a:rPr>
              <a:t>- Review locomotion, reach, UI, access, recovery, performance
- Write observation -&gt; impact -&gt; change -&gt; retest
- Compare toolkits using dated primary sources
- Make one focused change and review a peer PR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083CC1-F3B4-BA90-38D1-26001411D197}"/>
              </a:ext>
            </a:extLst>
          </p:cNvPr>
          <p:cNvSpPr/>
          <p:nvPr/>
        </p:nvSpPr>
        <p:spPr>
          <a:xfrm>
            <a:off x="7721600" y="2209800"/>
            <a:ext cx="3759200" cy="3581400"/>
          </a:xfrm>
          <a:prstGeom prst="rect">
            <a:avLst/>
          </a:prstGeom>
          <a:solidFill>
            <a:srgbClr val="1D3D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9DFED4-1FE9-844F-1902-21DD1ADCDFBA}"/>
              </a:ext>
            </a:extLst>
          </p:cNvPr>
          <p:cNvSpPr txBox="1"/>
          <p:nvPr/>
        </p:nvSpPr>
        <p:spPr>
          <a:xfrm>
            <a:off x="8001000" y="2476500"/>
            <a:ext cx="3124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2C16D"/>
                </a:solidFill>
                <a:latin typeface="Aptos" panose="020B0004020202020204" pitchFamily="34" charset="0"/>
              </a:rPr>
              <a:t>EVIDENCE OVER CLAIMS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C189F-DA4F-3594-245D-645D5C4D66B0}"/>
              </a:ext>
            </a:extLst>
          </p:cNvPr>
          <p:cNvSpPr txBox="1"/>
          <p:nvPr/>
        </p:nvSpPr>
        <p:spPr>
          <a:xfrm>
            <a:off x="8001000" y="2933700"/>
            <a:ext cx="31496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F7F4EC"/>
                </a:solidFill>
                <a:latin typeface="Aptos" panose="020B0004020202020204" pitchFamily="34" charset="0"/>
              </a:rPr>
              <a:t>1  Test common tasks on intended setup.
2  Record before/after result and limitations.
3  Reviewer checks evidence and regression risk.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7FC8ED-52FB-CEA2-ADD4-06FA4813B69C}"/>
              </a:ext>
            </a:extLst>
          </p:cNvPr>
          <p:cNvSpPr txBox="1"/>
          <p:nvPr/>
        </p:nvSpPr>
        <p:spPr>
          <a:xfrm>
            <a:off x="8001000" y="50292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FC7BD"/>
                </a:solidFill>
                <a:latin typeface="Aptos" panose="020B0004020202020204" pitchFamily="34" charset="0"/>
              </a:rPr>
              <a:t>TURN 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5CAA81-C5A5-B38E-CE14-D04B4BDEBB6B}"/>
              </a:ext>
            </a:extLst>
          </p:cNvPr>
          <p:cNvSpPr txBox="1"/>
          <p:nvPr/>
        </p:nvSpPr>
        <p:spPr>
          <a:xfrm>
            <a:off x="8001000" y="5270500"/>
            <a:ext cx="3149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Revised scene + report + toolkit note + peer 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072329-E1F5-21C6-2E4F-D9BA33A49AF5}"/>
              </a:ext>
            </a:extLst>
          </p:cNvPr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D5DC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9A8351-6C1B-8009-F4F2-E05DAE250D59}"/>
              </a:ext>
            </a:extLst>
          </p:cNvPr>
          <p:cNvSpPr txBox="1"/>
          <p:nvPr/>
        </p:nvSpPr>
        <p:spPr>
          <a:xfrm>
            <a:off x="609600" y="64897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5645D"/>
                </a:solidFill>
                <a:latin typeface="Aptos" panose="020B0004020202020204" pitchFamily="34" charset="0"/>
              </a:rPr>
              <a:t>CIST 1423  /  UNITY XR LABS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4EB5D0-C3DD-77D6-DF99-37EA3EA0BA50}"/>
              </a:ext>
            </a:extLst>
          </p:cNvPr>
          <p:cNvSpPr txBox="1"/>
          <p:nvPr/>
        </p:nvSpPr>
        <p:spPr>
          <a:xfrm>
            <a:off x="10985500" y="6451600"/>
            <a:ext cx="57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5645D"/>
                </a:solidFill>
                <a:latin typeface="Aptos Display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72870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F71C1A-7C52-4709-3584-DA2834E83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4A3D1D-1CA3-3FE3-1CAC-FB1E7494F187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745C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D9195-D90A-25BB-4913-BE49FED81EFD}"/>
              </a:ext>
            </a:extLst>
          </p:cNvPr>
          <p:cNvSpPr txBox="1"/>
          <p:nvPr/>
        </p:nvSpPr>
        <p:spPr>
          <a:xfrm>
            <a:off x="711200" y="4445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745C3B"/>
                </a:solidFill>
                <a:latin typeface="Aptos" panose="020B0004020202020204" pitchFamily="34" charset="0"/>
              </a:rPr>
              <a:t>WEEK 13  /  CHAPTER 9  /  IN THE SCENE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1DD26-7E89-861D-713B-1933176E2878}"/>
              </a:ext>
            </a:extLst>
          </p:cNvPr>
          <p:cNvSpPr txBox="1"/>
          <p:nvPr/>
        </p:nvSpPr>
        <p:spPr>
          <a:xfrm>
            <a:off x="711200" y="850900"/>
            <a:ext cx="10668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A302A"/>
                </a:solidFill>
                <a:latin typeface="Aptos Display" panose="020B0004020202020204" pitchFamily="34" charset="0"/>
              </a:rPr>
              <a:t>A practice room with problems to find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4C44F-3508-A5D1-D715-C61436A6E0C3}"/>
              </a:ext>
            </a:extLst>
          </p:cNvPr>
          <p:cNvSpPr txBox="1"/>
          <p:nvPr/>
        </p:nvSpPr>
        <p:spPr>
          <a:xfrm>
            <a:off x="736600" y="15113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5645D"/>
                </a:solidFill>
                <a:latin typeface="Aptos" panose="020B0004020202020204" pitchFamily="34" charset="0"/>
              </a:rPr>
              <a:t>Assets/Scenes/ComfortReviewSample.unity  |  starter checks seeded and report verified in Unity 2022.3.62f3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072329-E1F5-21C6-2E4F-D9BA33A49AF5}"/>
              </a:ext>
            </a:extLst>
          </p:cNvPr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D5DC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9A8351-6C1B-8009-F4F2-E05DAE250D59}"/>
              </a:ext>
            </a:extLst>
          </p:cNvPr>
          <p:cNvSpPr txBox="1"/>
          <p:nvPr/>
        </p:nvSpPr>
        <p:spPr>
          <a:xfrm>
            <a:off x="609600" y="64897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5645D"/>
                </a:solidFill>
                <a:latin typeface="Aptos" panose="020B0004020202020204" pitchFamily="34" charset="0"/>
              </a:rPr>
              <a:t>CIST 1423  /  UNITY XR LABS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4EB5D0-C3DD-77D6-DF99-37EA3EA0BA50}"/>
              </a:ext>
            </a:extLst>
          </p:cNvPr>
          <p:cNvSpPr txBox="1"/>
          <p:nvPr/>
        </p:nvSpPr>
        <p:spPr>
          <a:xfrm>
            <a:off x="10985500" y="6451600"/>
            <a:ext cx="57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5645D"/>
                </a:solidFill>
                <a:latin typeface="Aptos Display" panose="020B0004020202020204" pitchFamily="34" charset="0"/>
              </a:rPr>
              <a:t>12</a:t>
            </a:r>
          </a:p>
        </p:txBody>
      </p:sp>
      <p:pic>
        <p:nvPicPr>
          <p:cNvPr id="19" name="Screenshot 1" descr="Screenshot 1">
            <a:extLst>
              <a:ext uri="{FF2B5EF4-FFF2-40B4-BE49-F238E27FC236}">
                <a16:creationId xmlns:a16="http://schemas.microsoft.com/office/drawing/2014/main" id="{AC9F61E9-DF46-D952-79A5-943E4CF673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133600"/>
            <a:ext cx="5334000" cy="3000375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0" name="Caption 1">
            <a:extLst>
              <a:ext uri="{FF2B5EF4-FFF2-40B4-BE49-F238E27FC236}">
                <a16:creationId xmlns:a16="http://schemas.microsoft.com/office/drawing/2014/main" id="{23B62349-1AB1-86F4-2BDE-DCC3639CB5C1}"/>
              </a:ext>
            </a:extLst>
          </p:cNvPr>
          <p:cNvSpPr txBox="1"/>
          <p:nvPr/>
        </p:nvSpPr>
        <p:spPr>
          <a:xfrm>
            <a:off x="711200" y="52578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Practice room.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A task label, a shelf item at 2.2 m, and an exit sign too small to read from the start point.</a:t>
            </a:r>
          </a:p>
        </p:txBody>
      </p:sp>
      <p:pic>
        <p:nvPicPr>
          <p:cNvPr id="22" name="Screenshot 2" descr="Screenshot 2">
            <a:extLst>
              <a:ext uri="{FF2B5EF4-FFF2-40B4-BE49-F238E27FC236}">
                <a16:creationId xmlns:a16="http://schemas.microsoft.com/office/drawing/2014/main" id="{062F33C8-CBCA-0DEA-E20C-DC32B1CE2CE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2133600"/>
            <a:ext cx="2021840" cy="3302000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3" name="Caption 2">
            <a:extLst>
              <a:ext uri="{FF2B5EF4-FFF2-40B4-BE49-F238E27FC236}">
                <a16:creationId xmlns:a16="http://schemas.microsoft.com/office/drawing/2014/main" id="{7F053E84-324F-2DC9-DEC0-D40281183739}"/>
              </a:ext>
            </a:extLst>
          </p:cNvPr>
          <p:cNvSpPr txBox="1"/>
          <p:nvPr/>
        </p:nvSpPr>
        <p:spPr>
          <a:xfrm>
            <a:off x="6350000" y="5562600"/>
            <a:ext cx="2019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Inspector.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Starter checks with example statuses and evidence.</a:t>
            </a:r>
          </a:p>
        </p:txBody>
      </p:sp>
      <p:pic>
        <p:nvPicPr>
          <p:cNvPr id="25" name="Screenshot 3" descr="Screenshot 3">
            <a:extLst>
              <a:ext uri="{FF2B5EF4-FFF2-40B4-BE49-F238E27FC236}">
                <a16:creationId xmlns:a16="http://schemas.microsoft.com/office/drawing/2014/main" id="{18F849E8-E25B-C14B-1DC3-97C109013FF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100" y="2133600"/>
            <a:ext cx="2806700" cy="1795780"/>
          </a:xfrm>
          <a:prstGeom prst="rect">
            <a:avLst/>
          </a:prstGeom>
          <a:ln w="9525">
            <a:solidFill>
              <a:srgbClr val="D5DCD6"/>
            </a:solidFill>
          </a:ln>
        </p:spPr>
      </p:pic>
      <p:sp>
        <p:nvSpPr>
          <p:cNvPr id="26" name="Caption 3">
            <a:extLst>
              <a:ext uri="{FF2B5EF4-FFF2-40B4-BE49-F238E27FC236}">
                <a16:creationId xmlns:a16="http://schemas.microsoft.com/office/drawing/2014/main" id="{0223F18F-BC1D-2D2A-8329-4C6E1DC06DFA}"/>
              </a:ext>
            </a:extLst>
          </p:cNvPr>
          <p:cNvSpPr txBox="1"/>
          <p:nvPr/>
        </p:nvSpPr>
        <p:spPr>
          <a:xfrm>
            <a:off x="8674100" y="4051300"/>
            <a:ext cx="28067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63A33"/>
                </a:solidFill>
                <a:latin typeface="Aptos" panose="020B0004020202020204" pitchFamily="34" charset="0"/>
              </a:rPr>
              <a:t>Printed report.</a:t>
            </a:r>
            <a:r>
              <a:rPr lang="en-US" sz="1100">
                <a:solidFill>
                  <a:srgbClr val="55645D"/>
                </a:solidFill>
                <a:latin typeface="Aptos" panose="020B0004020202020204" pitchFamily="34" charset="0"/>
              </a:rPr>
              <a:t> Example run: Pass 2, Needs Work 2, N/A 1, Not Run 2.</a:t>
            </a:r>
          </a:p>
        </p:txBody>
      </p:sp>
    </p:spTree>
    <p:extLst>
      <p:ext uri="{BB962C8B-B14F-4D97-AF65-F5344CB8AC3E}">
        <p14:creationId xmlns:p14="http://schemas.microsoft.com/office/powerpoint/2010/main" val="2987345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FB3057-8C73-2048-BA1C-AF2594F397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C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198F79-6EBE-9150-5862-F169615CB3A8}"/>
              </a:ext>
            </a:extLst>
          </p:cNvPr>
          <p:cNvSpPr txBox="1"/>
          <p:nvPr/>
        </p:nvSpPr>
        <p:spPr>
          <a:xfrm>
            <a:off x="736600" y="5461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2C16D"/>
                </a:solidFill>
                <a:latin typeface="Aptos" panose="020B0004020202020204" pitchFamily="34" charset="0"/>
              </a:rPr>
              <a:t>THE FIVE PROJECTS, ONE 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0AB4E9-FE8D-8C86-7E21-486D0B0829EC}"/>
              </a:ext>
            </a:extLst>
          </p:cNvPr>
          <p:cNvSpPr txBox="1"/>
          <p:nvPr/>
        </p:nvSpPr>
        <p:spPr>
          <a:xfrm>
            <a:off x="736600" y="1016000"/>
            <a:ext cx="1041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DF7"/>
                </a:solidFill>
                <a:latin typeface="Aptos Display" panose="020B0004020202020204" pitchFamily="34" charset="0"/>
              </a:rPr>
              <a:t>Make every claim testable.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FB731E-26C7-1407-E84E-71C257626893}"/>
              </a:ext>
            </a:extLst>
          </p:cNvPr>
          <p:cNvSpPr txBox="1"/>
          <p:nvPr/>
        </p:nvSpPr>
        <p:spPr>
          <a:xfrm>
            <a:off x="736600" y="1803400"/>
            <a:ext cx="1041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C8D8D0"/>
                </a:solidFill>
                <a:latin typeface="Aptos" panose="020B0004020202020204" pitchFamily="34" charset="0"/>
              </a:rPr>
              <a:t>The sequence moves from authored interaction to device-aware validation and collaborative review.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65A2E7-5C2C-25D8-3242-326986C09E33}"/>
              </a:ext>
            </a:extLst>
          </p:cNvPr>
          <p:cNvSpPr/>
          <p:nvPr/>
        </p:nvSpPr>
        <p:spPr>
          <a:xfrm>
            <a:off x="787400" y="2717800"/>
            <a:ext cx="10566400" cy="558800"/>
          </a:xfrm>
          <a:prstGeom prst="rect">
            <a:avLst/>
          </a:prstGeom>
          <a:solidFill>
            <a:srgbClr val="224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86E5CC-8A1D-DF1B-4E5B-CF4AD17076C5}"/>
              </a:ext>
            </a:extLst>
          </p:cNvPr>
          <p:cNvSpPr/>
          <p:nvPr/>
        </p:nvSpPr>
        <p:spPr>
          <a:xfrm>
            <a:off x="787400" y="2717800"/>
            <a:ext cx="685800" cy="558800"/>
          </a:xfrm>
          <a:prstGeom prst="rect">
            <a:avLst/>
          </a:prstGeom>
          <a:solidFill>
            <a:srgbClr val="E46F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B3960-6F61-7F5F-69FC-DDDF5CE75EBC}"/>
              </a:ext>
            </a:extLst>
          </p:cNvPr>
          <p:cNvSpPr txBox="1"/>
          <p:nvPr/>
        </p:nvSpPr>
        <p:spPr>
          <a:xfrm>
            <a:off x="965200" y="2882900"/>
            <a:ext cx="457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8704E9-722B-8EEC-6BE0-FC686EBE7932}"/>
              </a:ext>
            </a:extLst>
          </p:cNvPr>
          <p:cNvSpPr txBox="1"/>
          <p:nvPr/>
        </p:nvSpPr>
        <p:spPr>
          <a:xfrm>
            <a:off x="1727200" y="2857500"/>
            <a:ext cx="762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Input and event paths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CBFC2D-FE36-8EF7-3C64-DA87FA60BD8A}"/>
              </a:ext>
            </a:extLst>
          </p:cNvPr>
          <p:cNvSpPr/>
          <p:nvPr/>
        </p:nvSpPr>
        <p:spPr>
          <a:xfrm>
            <a:off x="787400" y="3378200"/>
            <a:ext cx="10566400" cy="558800"/>
          </a:xfrm>
          <a:prstGeom prst="rect">
            <a:avLst/>
          </a:prstGeom>
          <a:solidFill>
            <a:srgbClr val="224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2DEFC1-F51A-12E6-F258-F8DFE3C7A990}"/>
              </a:ext>
            </a:extLst>
          </p:cNvPr>
          <p:cNvSpPr/>
          <p:nvPr/>
        </p:nvSpPr>
        <p:spPr>
          <a:xfrm>
            <a:off x="787400" y="3378200"/>
            <a:ext cx="685800" cy="558800"/>
          </a:xfrm>
          <a:prstGeom prst="rect">
            <a:avLst/>
          </a:prstGeom>
          <a:solidFill>
            <a:srgbClr val="4C82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38A54-5D32-42E5-1E9C-D88F29C19C82}"/>
              </a:ext>
            </a:extLst>
          </p:cNvPr>
          <p:cNvSpPr txBox="1"/>
          <p:nvPr/>
        </p:nvSpPr>
        <p:spPr>
          <a:xfrm>
            <a:off x="965200" y="3543300"/>
            <a:ext cx="457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806FE0-FBC7-2CC5-4E36-2B7C62E7122A}"/>
              </a:ext>
            </a:extLst>
          </p:cNvPr>
          <p:cNvSpPr txBox="1"/>
          <p:nvPr/>
        </p:nvSpPr>
        <p:spPr>
          <a:xfrm>
            <a:off x="1727200" y="3517900"/>
            <a:ext cx="762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Placement and selection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E21FD8-57F3-6BEE-D4AD-2C0096E3F4A7}"/>
              </a:ext>
            </a:extLst>
          </p:cNvPr>
          <p:cNvSpPr/>
          <p:nvPr/>
        </p:nvSpPr>
        <p:spPr>
          <a:xfrm>
            <a:off x="787400" y="4038600"/>
            <a:ext cx="10566400" cy="558800"/>
          </a:xfrm>
          <a:prstGeom prst="rect">
            <a:avLst/>
          </a:prstGeom>
          <a:solidFill>
            <a:srgbClr val="224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4DC3EF-C280-5726-1D1F-7B8EB4F94FA7}"/>
              </a:ext>
            </a:extLst>
          </p:cNvPr>
          <p:cNvSpPr/>
          <p:nvPr/>
        </p:nvSpPr>
        <p:spPr>
          <a:xfrm>
            <a:off x="787400" y="4038600"/>
            <a:ext cx="685800" cy="558800"/>
          </a:xfrm>
          <a:prstGeom prst="rect">
            <a:avLst/>
          </a:prstGeom>
          <a:solidFill>
            <a:srgbClr val="D49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0D118D-A928-45A8-057B-2E353B237A9F}"/>
              </a:ext>
            </a:extLst>
          </p:cNvPr>
          <p:cNvSpPr txBox="1"/>
          <p:nvPr/>
        </p:nvSpPr>
        <p:spPr>
          <a:xfrm>
            <a:off x="965200" y="4203700"/>
            <a:ext cx="457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BDAEF2-226D-313C-5AD3-1EB808994C21}"/>
              </a:ext>
            </a:extLst>
          </p:cNvPr>
          <p:cNvSpPr txBox="1"/>
          <p:nvPr/>
        </p:nvSpPr>
        <p:spPr>
          <a:xfrm>
            <a:off x="1727200" y="4178300"/>
            <a:ext cx="762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Spatial feedback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52DE8D-BC39-4204-82B4-C6F59A7799C4}"/>
              </a:ext>
            </a:extLst>
          </p:cNvPr>
          <p:cNvSpPr/>
          <p:nvPr/>
        </p:nvSpPr>
        <p:spPr>
          <a:xfrm>
            <a:off x="787400" y="4699000"/>
            <a:ext cx="10566400" cy="558800"/>
          </a:xfrm>
          <a:prstGeom prst="rect">
            <a:avLst/>
          </a:prstGeom>
          <a:solidFill>
            <a:srgbClr val="224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203E6E-B993-D7A0-B60E-FE89C21D4C5B}"/>
              </a:ext>
            </a:extLst>
          </p:cNvPr>
          <p:cNvSpPr/>
          <p:nvPr/>
        </p:nvSpPr>
        <p:spPr>
          <a:xfrm>
            <a:off x="787400" y="4699000"/>
            <a:ext cx="685800" cy="558800"/>
          </a:xfrm>
          <a:prstGeom prst="rect">
            <a:avLst/>
          </a:prstGeom>
          <a:solidFill>
            <a:srgbClr val="3487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58E748-9018-7E10-E230-AAEC7E299593}"/>
              </a:ext>
            </a:extLst>
          </p:cNvPr>
          <p:cNvSpPr txBox="1"/>
          <p:nvPr/>
        </p:nvSpPr>
        <p:spPr>
          <a:xfrm>
            <a:off x="965200" y="4864100"/>
            <a:ext cx="457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73DD7E-6139-FABF-B078-37D93A829D5A}"/>
              </a:ext>
            </a:extLst>
          </p:cNvPr>
          <p:cNvSpPr txBox="1"/>
          <p:nvPr/>
        </p:nvSpPr>
        <p:spPr>
          <a:xfrm>
            <a:off x="1727200" y="4838700"/>
            <a:ext cx="762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Gaze and dwell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8D199D-DD10-1914-7373-FE7ECAA37A5C}"/>
              </a:ext>
            </a:extLst>
          </p:cNvPr>
          <p:cNvSpPr/>
          <p:nvPr/>
        </p:nvSpPr>
        <p:spPr>
          <a:xfrm>
            <a:off x="787400" y="5359400"/>
            <a:ext cx="10566400" cy="558800"/>
          </a:xfrm>
          <a:prstGeom prst="rect">
            <a:avLst/>
          </a:prstGeom>
          <a:solidFill>
            <a:srgbClr val="224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F0DBFE-FF3B-1A94-CD52-6E6E85EA4A38}"/>
              </a:ext>
            </a:extLst>
          </p:cNvPr>
          <p:cNvSpPr/>
          <p:nvPr/>
        </p:nvSpPr>
        <p:spPr>
          <a:xfrm>
            <a:off x="787400" y="5359400"/>
            <a:ext cx="685800" cy="558800"/>
          </a:xfrm>
          <a:prstGeom prst="rect">
            <a:avLst/>
          </a:prstGeom>
          <a:solidFill>
            <a:srgbClr val="B28B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28B849-577C-F353-38F5-EE73DB467312}"/>
              </a:ext>
            </a:extLst>
          </p:cNvPr>
          <p:cNvSpPr txBox="1"/>
          <p:nvPr/>
        </p:nvSpPr>
        <p:spPr>
          <a:xfrm>
            <a:off x="965200" y="5524500"/>
            <a:ext cx="457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20E20C-EF7A-7B67-0239-D5ADE6D23062}"/>
              </a:ext>
            </a:extLst>
          </p:cNvPr>
          <p:cNvSpPr txBox="1"/>
          <p:nvPr/>
        </p:nvSpPr>
        <p:spPr>
          <a:xfrm>
            <a:off x="1727200" y="5499100"/>
            <a:ext cx="762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Comfort and iteration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BB245C-1AD2-89D5-D9C2-40D8382F1F5F}"/>
              </a:ext>
            </a:extLst>
          </p:cNvPr>
          <p:cNvSpPr txBox="1"/>
          <p:nvPr/>
        </p:nvSpPr>
        <p:spPr>
          <a:xfrm>
            <a:off x="787400" y="6172200"/>
            <a:ext cx="1219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2C16D"/>
                </a:solidFill>
                <a:latin typeface="Aptos" panose="020B0004020202020204" pitchFamily="34" charset="0"/>
              </a:rPr>
              <a:t>START HERE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A6CD90-0EE9-1C39-C1D5-6922B1D58E92}"/>
              </a:ext>
            </a:extLst>
          </p:cNvPr>
          <p:cNvSpPr txBox="1"/>
          <p:nvPr/>
        </p:nvSpPr>
        <p:spPr>
          <a:xfrm>
            <a:off x="2082800" y="6121400"/>
            <a:ext cx="927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F7F4EC"/>
                </a:solidFill>
                <a:latin typeface="Aptos" panose="020B0004020202020204" pitchFamily="34" charset="0"/>
              </a:rPr>
              <a:t>Open a Week-09 to Week-13 folder in Unity Hub; each has a ready-made scene and a README with tests.</a:t>
            </a:r>
          </a:p>
        </p:txBody>
      </p:sp>
    </p:spTree>
    <p:extLst>
      <p:ext uri="{BB962C8B-B14F-4D97-AF65-F5344CB8AC3E}">
        <p14:creationId xmlns:p14="http://schemas.microsoft.com/office/powerpoint/2010/main" val="180911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1212</Words>
  <Application>Microsoft Office PowerPoint</Application>
  <PresentationFormat>Widescreen</PresentationFormat>
  <Paragraphs>136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Callinan, Jeremy Patrick</dc:creator>
  <cp:lastModifiedBy>Callinan, Jeremy Patrick</cp:lastModifiedBy>
  <cp:revision>2</cp:revision>
  <dcterms:created xsi:type="dcterms:W3CDTF">2026-10-18T19:56:42Z</dcterms:created>
  <dcterms:modified xsi:type="dcterms:W3CDTF">2026-10-18T20:55:41Z</dcterms:modified>
</cp:coreProperties>
</file>