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Spatial Blend = 0 vs 1?
   0 = 2D (same everywhere); 1 = fully 3D, positioned in space.
Q2. How many AudioListeners per scene?
   One, usually on the camera.
Q3. Why randomise pitch slightly on repeated hits?
   Identical repeats sound artificial.
Q4. Where does the Playground's target get its sparks?
   A ParticleSystem burst of 40 particles created by ThrowTarget / the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548640" y="1371600"/>
            <a:ext cx="6400800" cy="2194560"/>
          </a:xfrm>
          <a:prstGeom prst="rect">
            <a:avLst/>
          </a:prstGeom>
          <a:noFill/>
          <a:ln/>
        </p:spPr>
        <p:txBody>
          <a:bodyPr wrap="square" lIns="0" tIns="0" rIns="0" bIns="0" rtlCol="0" anchor="ctr"/>
          <a:lstStyle/>
          <a:p>
            <a:pPr indent="0" marL="0">
              <a:buNone/>
            </a:pPr>
            <a:r>
              <a:rPr lang="en-US" sz="7200" dirty="0">
                <a:solidFill>
                  <a:srgbClr val="000000"/>
                </a:solidFill>
                <a:latin typeface="Calibri Light" pitchFamily="34" charset="0"/>
                <a:ea typeface="Calibri Light" pitchFamily="34" charset="-122"/>
                <a:cs typeface="Calibri Light" pitchFamily="34" charset="-120"/>
              </a:rPr>
              <a:t>Virtual Reality</a:t>
            </a:r>
            <a:endParaRPr lang="en-US" sz="7200" dirty="0"/>
          </a:p>
        </p:txBody>
      </p:sp>
      <p:pic>
        <p:nvPicPr>
          <p:cNvPr id="5" name="Image 2" descr="C:\Users\Jeremy Callinan\AppData\Local\Temp\claude\c--GitHub-CIST1423-Fall2026-Examples\62e170c0-4055-4e17-811f-6bb67e40bfc7\scratchpad\deck\img\golf_night.jpg">    </p:cNvPr>
          <p:cNvPicPr>
            <a:picLocks noChangeAspect="1"/>
          </p:cNvPicPr>
          <p:nvPr/>
        </p:nvPicPr>
        <p:blipFill>
          <a:blip r:embed="rId3"/>
          <a:stretch>
            <a:fillRect/>
          </a:stretch>
        </p:blipFill>
        <p:spPr>
          <a:xfrm>
            <a:off x="7086600" y="1463040"/>
            <a:ext cx="4480560" cy="2523744"/>
          </a:xfrm>
          <a:prstGeom prst="rect">
            <a:avLst/>
          </a:prstGeom>
        </p:spPr>
      </p:pic>
      <p:sp>
        <p:nvSpPr>
          <p:cNvPr id="6" name="Text 1"/>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2200" b="1" dirty="0">
                <a:solidFill>
                  <a:srgbClr val="0E2841"/>
                </a:solidFill>
                <a:latin typeface="Cambria" pitchFamily="34" charset="0"/>
                <a:ea typeface="Cambria" pitchFamily="34" charset="-122"/>
                <a:cs typeface="Cambria" pitchFamily="34" charset="-120"/>
              </a:rPr>
              <a:t>Sound and visual effects: spatial audio, a VR drum kit, particles, fog</a:t>
            </a:r>
            <a:endParaRPr lang="en-US" sz="2200" dirty="0"/>
          </a:p>
        </p:txBody>
      </p:sp>
      <p:sp>
        <p:nvSpPr>
          <p:cNvPr id="7" name="Text 2"/>
          <p:cNvSpPr txBox="1"/>
          <p:nvPr/>
        </p:nvSpPr>
        <p:spPr>
          <a:xfrm>
            <a:off x="2130552" y="4572000"/>
            <a:ext cx="9217152" cy="914400"/>
          </a:xfrm>
          <a:prstGeom prst="rect">
            <a:avLst/>
          </a:prstGeom>
          <a:noFill/>
          <a:ln/>
        </p:spPr>
        <p:txBody>
          <a:bodyPr wrap="square" lIns="0" tIns="0" rIns="0" bIns="0" rtlCol="0" anchor="ctr"/>
          <a:lstStyle/>
          <a:p>
            <a:pPr algn="r" indent="0" marL="0">
              <a:buNone/>
            </a:pPr>
            <a:r>
              <a:rPr lang="en-US" sz="2000" dirty="0">
                <a:solidFill>
                  <a:srgbClr val="4472C4"/>
                </a:solidFill>
                <a:latin typeface="Calibri" pitchFamily="34" charset="0"/>
                <a:ea typeface="Calibri" pitchFamily="34" charset="-122"/>
                <a:cs typeface="Calibri" pitchFamily="34" charset="-120"/>
              </a:rPr>
              <a:t>Wednesdays at 6:00pm</a:t>
            </a:r>
            <a:endParaRPr lang="en-US" sz="2000" dirty="0"/>
          </a:p>
          <a:p>
            <a:pPr algn="r" indent="0" marL="0">
              <a:buNone/>
            </a:pPr>
            <a:r>
              <a:rPr lang="en-US" sz="1600" dirty="0">
                <a:solidFill>
                  <a:srgbClr val="000000"/>
                </a:solidFill>
                <a:latin typeface="Calibri" pitchFamily="34" charset="0"/>
                <a:ea typeface="Calibri" pitchFamily="34" charset="-122"/>
                <a:cs typeface="Calibri" pitchFamily="34" charset="-120"/>
              </a:rPr>
              <a:t>CIST 1423 - 2010   VIRTUAL REALITY PROGRAMMING AND TECHNOLOGY</a:t>
            </a:r>
            <a:endParaRPr lang="en-US" sz="2000" dirty="0"/>
          </a:p>
        </p:txBody>
      </p:sp>
      <p:sp>
        <p:nvSpPr>
          <p:cNvPr id="8" name="Shape 3"/>
          <p:cNvSpPr/>
          <p:nvPr/>
        </p:nvSpPr>
        <p:spPr>
          <a:xfrm>
            <a:off x="411480" y="5806440"/>
            <a:ext cx="8138160" cy="640080"/>
          </a:xfrm>
          <a:prstGeom prst="roundRect">
            <a:avLst>
              <a:gd name="adj" fmla="val 14286"/>
            </a:avLst>
          </a:prstGeom>
          <a:solidFill>
            <a:srgbClr val="0E2841"/>
          </a:solidFill>
          <a:ln w="12700">
            <a:solidFill>
              <a:srgbClr val="0E2841"/>
            </a:solidFill>
            <a:prstDash val="solid"/>
          </a:ln>
        </p:spPr>
      </p:sp>
      <p:pic>
        <p:nvPicPr>
          <p:cNvPr id="9" name="Image 3" descr="C:\Users\Jeremy Callinan\AppData\Local\Temp\claude\c--GitHub-CIST1423-Fall2026-Examples\62e170c0-4055-4e17-811f-6bb67e40bfc7\scratchpad\deck\img\paw.png">    </p:cNvPr>
          <p:cNvPicPr>
            <a:picLocks noChangeAspect="1"/>
          </p:cNvPicPr>
          <p:nvPr/>
        </p:nvPicPr>
        <p:blipFill>
          <a:blip r:embed="rId4"/>
          <a:stretch>
            <a:fillRect/>
          </a:stretch>
        </p:blipFill>
        <p:spPr>
          <a:xfrm>
            <a:off x="576072" y="5916168"/>
            <a:ext cx="420624" cy="420624"/>
          </a:xfrm>
          <a:prstGeom prst="rect">
            <a:avLst/>
          </a:prstGeom>
        </p:spPr>
      </p:pic>
      <p:sp>
        <p:nvSpPr>
          <p:cNvPr id="10" name="Text 4"/>
          <p:cNvSpPr txBox="1"/>
          <p:nvPr/>
        </p:nvSpPr>
        <p:spPr>
          <a:xfrm>
            <a:off x="1143000" y="5806440"/>
            <a:ext cx="7315200" cy="640080"/>
          </a:xfrm>
          <a:prstGeom prst="rect">
            <a:avLst/>
          </a:prstGeom>
          <a:noFill/>
          <a:ln/>
        </p:spPr>
        <p:txBody>
          <a:bodyPr wrap="square" lIns="0" tIns="0" rIns="0" bIns="0" rtlCol="0" anchor="ctr"/>
          <a:lstStyle/>
          <a:p>
            <a:pPr indent="0" marL="0">
              <a:buNone/>
            </a:pPr>
            <a:r>
              <a:rPr lang="en-US" sz="1600" b="1" dirty="0">
                <a:solidFill>
                  <a:srgbClr val="F0D68A"/>
                </a:solidFill>
                <a:latin typeface="Calibri" pitchFamily="34" charset="0"/>
                <a:ea typeface="Calibri" pitchFamily="34" charset="-122"/>
                <a:cs typeface="Calibri" pitchFamily="34" charset="-120"/>
              </a:rPr>
              <a:t>Exam 3 this week: Ch. 5–7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3200400" y="731520"/>
            <a:ext cx="5788152"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Light" pitchFamily="34" charset="0"/>
                <a:ea typeface="Calibri Light" pitchFamily="34" charset="-122"/>
                <a:cs typeface="Calibri Light" pitchFamily="34" charset="-120"/>
              </a:rPr>
              <a:t>Agenda</a:t>
            </a:r>
            <a:endParaRPr lang="en-US" sz="4000" dirty="0"/>
          </a:p>
        </p:txBody>
      </p:sp>
      <p:pic>
        <p:nvPicPr>
          <p:cNvPr id="5" name="Image 2" descr="preencoded.png">    </p:cNvPr>
          <p:cNvPicPr>
            <a:picLocks noChangeAspect="1"/>
          </p:cNvPicPr>
          <p:nvPr/>
        </p:nvPicPr>
        <p:blipFill>
          <a:blip r:embed="rId3"/>
          <a:stretch>
            <a:fillRect/>
          </a:stretch>
        </p:blipFill>
        <p:spPr>
          <a:xfrm>
            <a:off x="2118208" y="2103120"/>
            <a:ext cx="1005840" cy="1005840"/>
          </a:xfrm>
          <a:prstGeom prst="rect">
            <a:avLst/>
          </a:prstGeom>
        </p:spPr>
      </p:pic>
      <p:sp>
        <p:nvSpPr>
          <p:cNvPr id="6" name="Text 1"/>
          <p:cNvSpPr txBox="1"/>
          <p:nvPr/>
        </p:nvSpPr>
        <p:spPr>
          <a:xfrm>
            <a:off x="115808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Sound in VR</a:t>
            </a:r>
            <a:endParaRPr lang="en-US" sz="2000" dirty="0"/>
          </a:p>
        </p:txBody>
      </p:sp>
      <p:sp>
        <p:nvSpPr>
          <p:cNvPr id="7" name="Text 2"/>
          <p:cNvSpPr txBox="1"/>
          <p:nvPr/>
        </p:nvSpPr>
        <p:spPr>
          <a:xfrm>
            <a:off x="115808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Theory, AudioSource, spatial audio</a:t>
            </a:r>
            <a:endParaRPr lang="en-US" sz="1300" dirty="0"/>
          </a:p>
        </p:txBody>
      </p:sp>
      <p:pic>
        <p:nvPicPr>
          <p:cNvPr id="8" name="Image 3" descr="preencoded.png">    </p:cNvPr>
          <p:cNvPicPr>
            <a:picLocks noChangeAspect="1"/>
          </p:cNvPicPr>
          <p:nvPr/>
        </p:nvPicPr>
        <p:blipFill>
          <a:blip r:embed="rId4"/>
          <a:stretch>
            <a:fillRect/>
          </a:stretch>
        </p:blipFill>
        <p:spPr>
          <a:xfrm>
            <a:off x="5592928" y="2103120"/>
            <a:ext cx="1005840" cy="1005840"/>
          </a:xfrm>
          <a:prstGeom prst="rect">
            <a:avLst/>
          </a:prstGeom>
        </p:spPr>
      </p:pic>
      <p:sp>
        <p:nvSpPr>
          <p:cNvPr id="9" name="Text 3"/>
          <p:cNvSpPr txBox="1"/>
          <p:nvPr/>
        </p:nvSpPr>
        <p:spPr>
          <a:xfrm>
            <a:off x="463280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 VR drum scene</a:t>
            </a:r>
            <a:endParaRPr lang="en-US" sz="2000" dirty="0"/>
          </a:p>
        </p:txBody>
      </p:sp>
      <p:sp>
        <p:nvSpPr>
          <p:cNvPr id="10" name="Text 4"/>
          <p:cNvSpPr txBox="1"/>
          <p:nvPr/>
        </p:nvSpPr>
        <p:spPr>
          <a:xfrm>
            <a:off x="463280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Hit speed → loudness</a:t>
            </a:r>
            <a:endParaRPr lang="en-US" sz="1300" dirty="0"/>
          </a:p>
        </p:txBody>
      </p:sp>
      <p:pic>
        <p:nvPicPr>
          <p:cNvPr id="11" name="Image 4" descr="preencoded.png">    </p:cNvPr>
          <p:cNvPicPr>
            <a:picLocks noChangeAspect="1"/>
          </p:cNvPicPr>
          <p:nvPr/>
        </p:nvPicPr>
        <p:blipFill>
          <a:blip r:embed="rId5"/>
          <a:stretch>
            <a:fillRect/>
          </a:stretch>
        </p:blipFill>
        <p:spPr>
          <a:xfrm>
            <a:off x="9067648" y="2103120"/>
            <a:ext cx="1005840" cy="1005840"/>
          </a:xfrm>
          <a:prstGeom prst="rect">
            <a:avLst/>
          </a:prstGeom>
        </p:spPr>
      </p:pic>
      <p:sp>
        <p:nvSpPr>
          <p:cNvPr id="12" name="Text 5"/>
          <p:cNvSpPr txBox="1"/>
          <p:nvPr/>
        </p:nvSpPr>
        <p:spPr>
          <a:xfrm>
            <a:off x="810752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Particles &amp; fog</a:t>
            </a:r>
            <a:endParaRPr lang="en-US" sz="2000" dirty="0"/>
          </a:p>
        </p:txBody>
      </p:sp>
      <p:sp>
        <p:nvSpPr>
          <p:cNvPr id="13" name="Text 6"/>
          <p:cNvSpPr txBox="1"/>
          <p:nvPr/>
        </p:nvSpPr>
        <p:spPr>
          <a:xfrm>
            <a:off x="810752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GolfVR's fireworks, fog on collision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Today</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By the end of class you can…</a:t>
            </a:r>
            <a:endParaRPr lang="en-US" sz="1350" dirty="0"/>
          </a:p>
        </p:txBody>
      </p:sp>
      <p:sp>
        <p:nvSpPr>
          <p:cNvPr id="7" name="Shape 3"/>
          <p:cNvSpPr/>
          <p:nvPr/>
        </p:nvSpPr>
        <p:spPr>
          <a:xfrm>
            <a:off x="457200" y="1920240"/>
            <a:ext cx="6766560" cy="4206240"/>
          </a:xfrm>
          <a:prstGeom prst="roundRect">
            <a:avLst>
              <a:gd name="adj" fmla="val 1739"/>
            </a:avLst>
          </a:prstGeom>
          <a:solidFill>
            <a:srgbClr val="F4F7FA"/>
          </a:solidFill>
          <a:ln w="9525">
            <a:solidFill>
              <a:srgbClr val="D8E1E8"/>
            </a:solidFill>
            <a:prstDash val="solid"/>
          </a:ln>
        </p:spPr>
      </p:sp>
      <p:sp>
        <p:nvSpPr>
          <p:cNvPr id="8" name="Shape 4"/>
          <p:cNvSpPr/>
          <p:nvPr/>
        </p:nvSpPr>
        <p:spPr>
          <a:xfrm>
            <a:off x="685800" y="2331720"/>
            <a:ext cx="457200" cy="457200"/>
          </a:xfrm>
          <a:prstGeom prst="ellipse">
            <a:avLst/>
          </a:prstGeom>
          <a:solidFill>
            <a:srgbClr val="0E2841"/>
          </a:solidFill>
          <a:ln w="12700">
            <a:solidFill>
              <a:srgbClr val="0E2841"/>
            </a:solidFill>
            <a:prstDash val="solid"/>
          </a:ln>
        </p:spPr>
      </p:sp>
      <p:sp>
        <p:nvSpPr>
          <p:cNvPr id="9" name="Text 5"/>
          <p:cNvSpPr txBox="1"/>
          <p:nvPr/>
        </p:nvSpPr>
        <p:spPr>
          <a:xfrm>
            <a:off x="685800" y="23317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325880" y="21031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Explain frequency, amplitude, HRTF and attenuation in VR</a:t>
            </a:r>
            <a:endParaRPr lang="en-US" sz="1500" dirty="0"/>
          </a:p>
        </p:txBody>
      </p:sp>
      <p:sp>
        <p:nvSpPr>
          <p:cNvPr id="11" name="Shape 7"/>
          <p:cNvSpPr/>
          <p:nvPr/>
        </p:nvSpPr>
        <p:spPr>
          <a:xfrm>
            <a:off x="685800" y="3246120"/>
            <a:ext cx="457200" cy="457200"/>
          </a:xfrm>
          <a:prstGeom prst="ellipse">
            <a:avLst/>
          </a:prstGeom>
          <a:solidFill>
            <a:srgbClr val="0E2841"/>
          </a:solidFill>
          <a:ln w="12700">
            <a:solidFill>
              <a:srgbClr val="0E2841"/>
            </a:solidFill>
            <a:prstDash val="solid"/>
          </a:ln>
        </p:spPr>
      </p:sp>
      <p:sp>
        <p:nvSpPr>
          <p:cNvPr id="12" name="Text 8"/>
          <p:cNvSpPr txBox="1"/>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1325880" y="30175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Use AudioSource with spatial blend, and scale volume with impact speed</a:t>
            </a:r>
            <a:endParaRPr lang="en-US" sz="1500" dirty="0"/>
          </a:p>
        </p:txBody>
      </p:sp>
      <p:sp>
        <p:nvSpPr>
          <p:cNvPr id="14" name="Shape 10"/>
          <p:cNvSpPr/>
          <p:nvPr/>
        </p:nvSpPr>
        <p:spPr>
          <a:xfrm>
            <a:off x="685800" y="4160520"/>
            <a:ext cx="457200" cy="457200"/>
          </a:xfrm>
          <a:prstGeom prst="ellipse">
            <a:avLst/>
          </a:prstGeom>
          <a:solidFill>
            <a:srgbClr val="0E2841"/>
          </a:solidFill>
          <a:ln w="12700">
            <a:solidFill>
              <a:srgbClr val="0E2841"/>
            </a:solidFill>
            <a:prstDash val="solid"/>
          </a:ln>
        </p:spPr>
      </p:sp>
      <p:sp>
        <p:nvSpPr>
          <p:cNvPr id="15" name="Text 11"/>
          <p:cNvSpPr txBox="1"/>
          <p:nvPr/>
        </p:nvSpPr>
        <p:spPr>
          <a:xfrm>
            <a:off x="685800" y="41605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1325880" y="39319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Build particle effects and runtime fog from code</a:t>
            </a:r>
            <a:endParaRPr lang="en-US" sz="1500" dirty="0"/>
          </a:p>
        </p:txBody>
      </p:sp>
      <p:sp>
        <p:nvSpPr>
          <p:cNvPr id="17" name="Shape 13"/>
          <p:cNvSpPr/>
          <p:nvPr/>
        </p:nvSpPr>
        <p:spPr>
          <a:xfrm>
            <a:off x="7452360" y="1920240"/>
            <a:ext cx="4251960" cy="4206240"/>
          </a:xfrm>
          <a:prstGeom prst="roundRect">
            <a:avLst>
              <a:gd name="adj" fmla="val 1739"/>
            </a:avLst>
          </a:prstGeom>
          <a:solidFill>
            <a:srgbClr val="0E2841"/>
          </a:solidFill>
          <a:ln w="12700">
            <a:solidFill>
              <a:srgbClr val="0E2841"/>
            </a:solidFill>
            <a:prstDash val="solid"/>
          </a:ln>
        </p:spPr>
      </p:sp>
      <p:sp>
        <p:nvSpPr>
          <p:cNvPr id="18" name="Text 14"/>
          <p:cNvSpPr txBox="1"/>
          <p:nvPr/>
        </p:nvSpPr>
        <p:spPr>
          <a:xfrm>
            <a:off x="7680960" y="2103120"/>
            <a:ext cx="379476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Tonight's plan</a:t>
            </a:r>
            <a:endParaRPr lang="en-US" sz="1500" dirty="0"/>
          </a:p>
        </p:txBody>
      </p:sp>
      <p:sp>
        <p:nvSpPr>
          <p:cNvPr id="19" name="Text 15"/>
          <p:cNvSpPr txBox="1"/>
          <p:nvPr/>
        </p:nvSpPr>
        <p:spPr>
          <a:xfrm>
            <a:off x="7680960" y="260604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0–10</a:t>
            </a:r>
            <a:endParaRPr lang="en-US" sz="1300" dirty="0"/>
          </a:p>
        </p:txBody>
      </p:sp>
      <p:sp>
        <p:nvSpPr>
          <p:cNvPr id="20" name="Text 16"/>
          <p:cNvSpPr txBox="1"/>
          <p:nvPr/>
        </p:nvSpPr>
        <p:spPr>
          <a:xfrm>
            <a:off x="8778240" y="260604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Review</a:t>
            </a:r>
            <a:endParaRPr lang="en-US" sz="1300" dirty="0"/>
          </a:p>
        </p:txBody>
      </p:sp>
      <p:sp>
        <p:nvSpPr>
          <p:cNvPr id="21" name="Text 17"/>
          <p:cNvSpPr txBox="1"/>
          <p:nvPr/>
        </p:nvSpPr>
        <p:spPr>
          <a:xfrm>
            <a:off x="7680960" y="3172968"/>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10–40</a:t>
            </a:r>
            <a:endParaRPr lang="en-US" sz="1300" dirty="0"/>
          </a:p>
        </p:txBody>
      </p:sp>
      <p:sp>
        <p:nvSpPr>
          <p:cNvPr id="22" name="Text 18"/>
          <p:cNvSpPr txBox="1"/>
          <p:nvPr/>
        </p:nvSpPr>
        <p:spPr>
          <a:xfrm>
            <a:off x="8778240" y="3172968"/>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Sound, particles, fog</a:t>
            </a:r>
            <a:endParaRPr lang="en-US" sz="1300" dirty="0"/>
          </a:p>
        </p:txBody>
      </p:sp>
      <p:sp>
        <p:nvSpPr>
          <p:cNvPr id="23" name="Text 19"/>
          <p:cNvSpPr txBox="1"/>
          <p:nvPr/>
        </p:nvSpPr>
        <p:spPr>
          <a:xfrm>
            <a:off x="7680960" y="3739896"/>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40–80</a:t>
            </a:r>
            <a:endParaRPr lang="en-US" sz="1300" dirty="0"/>
          </a:p>
        </p:txBody>
      </p:sp>
      <p:sp>
        <p:nvSpPr>
          <p:cNvPr id="24" name="Text 20"/>
          <p:cNvSpPr txBox="1"/>
          <p:nvPr/>
        </p:nvSpPr>
        <p:spPr>
          <a:xfrm>
            <a:off x="8778240" y="3739896"/>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Exam 3 (Ch. 5–7)</a:t>
            </a:r>
            <a:endParaRPr lang="en-US" sz="1300" dirty="0"/>
          </a:p>
        </p:txBody>
      </p:sp>
      <p:sp>
        <p:nvSpPr>
          <p:cNvPr id="25" name="Text 21"/>
          <p:cNvSpPr txBox="1"/>
          <p:nvPr/>
        </p:nvSpPr>
        <p:spPr>
          <a:xfrm>
            <a:off x="7680960" y="4306824"/>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80–140</a:t>
            </a:r>
            <a:endParaRPr lang="en-US" sz="1300" dirty="0"/>
          </a:p>
        </p:txBody>
      </p:sp>
      <p:sp>
        <p:nvSpPr>
          <p:cNvPr id="26" name="Text 22"/>
          <p:cNvSpPr txBox="1"/>
          <p:nvPr/>
        </p:nvSpPr>
        <p:spPr>
          <a:xfrm>
            <a:off x="8778240" y="4306824"/>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Lab: audio + particles in your project</a:t>
            </a:r>
            <a:endParaRPr lang="en-US" sz="1300" dirty="0"/>
          </a:p>
        </p:txBody>
      </p:sp>
      <p:sp>
        <p:nvSpPr>
          <p:cNvPr id="27" name="Text 23"/>
          <p:cNvSpPr txBox="1"/>
          <p:nvPr/>
        </p:nvSpPr>
        <p:spPr>
          <a:xfrm>
            <a:off x="7680960" y="4873752"/>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140–150</a:t>
            </a:r>
            <a:endParaRPr lang="en-US" sz="1300" dirty="0"/>
          </a:p>
        </p:txBody>
      </p:sp>
      <p:sp>
        <p:nvSpPr>
          <p:cNvPr id="28" name="Text 24"/>
          <p:cNvSpPr txBox="1"/>
          <p:nvPr/>
        </p:nvSpPr>
        <p:spPr>
          <a:xfrm>
            <a:off x="8778240" y="4873752"/>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Share-out + exit</a:t>
            </a:r>
            <a:endParaRPr lang="en-US" sz="1300" dirty="0"/>
          </a:p>
        </p:txBody>
      </p:sp>
      <p:sp>
        <p:nvSpPr>
          <p:cNvPr id="29" name="Text 2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Sound theory you need for VR</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In a headset, sound tells you where things are before you look.</a:t>
            </a:r>
            <a:endParaRPr lang="en-US" sz="1350" dirty="0"/>
          </a:p>
        </p:txBody>
      </p:sp>
      <p:sp>
        <p:nvSpPr>
          <p:cNvPr id="7" name="Shape 3"/>
          <p:cNvSpPr/>
          <p:nvPr/>
        </p:nvSpPr>
        <p:spPr>
          <a:xfrm>
            <a:off x="457200" y="1920240"/>
            <a:ext cx="2640330" cy="4206240"/>
          </a:xfrm>
          <a:prstGeom prst="roundRect">
            <a:avLst>
              <a:gd name="adj" fmla="val 2771"/>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181737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Frequency &amp; amplitude</a:t>
            </a:r>
            <a:endParaRPr lang="en-US" sz="1450" dirty="0"/>
          </a:p>
        </p:txBody>
      </p:sp>
      <p:sp>
        <p:nvSpPr>
          <p:cNvPr id="10" name="Text 5"/>
          <p:cNvSpPr txBox="1"/>
          <p:nvPr/>
        </p:nvSpPr>
        <p:spPr>
          <a:xfrm>
            <a:off x="640080" y="2560320"/>
            <a:ext cx="227457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Pitch (Hz) and loudness (dB)</a:t>
            </a:r>
            <a:endParaRPr lang="en-US" sz="1300" dirty="0"/>
          </a:p>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Low sounds are hard to locate; high sounds are easy</a:t>
            </a:r>
            <a:endParaRPr lang="en-US" sz="1300" dirty="0"/>
          </a:p>
        </p:txBody>
      </p:sp>
      <p:sp>
        <p:nvSpPr>
          <p:cNvPr id="11" name="Shape 6"/>
          <p:cNvSpPr/>
          <p:nvPr/>
        </p:nvSpPr>
        <p:spPr>
          <a:xfrm>
            <a:off x="3326130" y="1920240"/>
            <a:ext cx="2640330" cy="4206240"/>
          </a:xfrm>
          <a:prstGeom prst="roundRect">
            <a:avLst>
              <a:gd name="adj" fmla="val 2771"/>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3509010" y="2103120"/>
            <a:ext cx="329184" cy="329184"/>
          </a:xfrm>
          <a:prstGeom prst="rect">
            <a:avLst/>
          </a:prstGeom>
        </p:spPr>
      </p:pic>
      <p:sp>
        <p:nvSpPr>
          <p:cNvPr id="13" name="Text 7"/>
          <p:cNvSpPr txBox="1"/>
          <p:nvPr/>
        </p:nvSpPr>
        <p:spPr>
          <a:xfrm>
            <a:off x="3966210" y="2103120"/>
            <a:ext cx="181737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Spatial audio (HRTF)</a:t>
            </a:r>
            <a:endParaRPr lang="en-US" sz="1450" dirty="0"/>
          </a:p>
        </p:txBody>
      </p:sp>
      <p:sp>
        <p:nvSpPr>
          <p:cNvPr id="14" name="Text 8"/>
          <p:cNvSpPr txBox="1"/>
          <p:nvPr/>
        </p:nvSpPr>
        <p:spPr>
          <a:xfrm>
            <a:off x="3509010" y="2560320"/>
            <a:ext cx="227457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Your head and ears filter sound by direction</a:t>
            </a:r>
            <a:endParaRPr lang="en-US" sz="1300" dirty="0"/>
          </a:p>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Spatialisers simulate this in headphones</a:t>
            </a:r>
            <a:endParaRPr lang="en-US" sz="1300" dirty="0"/>
          </a:p>
        </p:txBody>
      </p:sp>
      <p:sp>
        <p:nvSpPr>
          <p:cNvPr id="15" name="Shape 9"/>
          <p:cNvSpPr/>
          <p:nvPr/>
        </p:nvSpPr>
        <p:spPr>
          <a:xfrm>
            <a:off x="6195060" y="1920240"/>
            <a:ext cx="2640330" cy="4206240"/>
          </a:xfrm>
          <a:prstGeom prst="roundRect">
            <a:avLst>
              <a:gd name="adj" fmla="val 2771"/>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6377940" y="2103120"/>
            <a:ext cx="329184" cy="329184"/>
          </a:xfrm>
          <a:prstGeom prst="rect">
            <a:avLst/>
          </a:prstGeom>
        </p:spPr>
      </p:pic>
      <p:sp>
        <p:nvSpPr>
          <p:cNvPr id="17" name="Text 10"/>
          <p:cNvSpPr txBox="1"/>
          <p:nvPr/>
        </p:nvSpPr>
        <p:spPr>
          <a:xfrm>
            <a:off x="6835140" y="2103120"/>
            <a:ext cx="181737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Attenuation</a:t>
            </a:r>
            <a:endParaRPr lang="en-US" sz="1450" dirty="0"/>
          </a:p>
        </p:txBody>
      </p:sp>
      <p:sp>
        <p:nvSpPr>
          <p:cNvPr id="18" name="Text 11"/>
          <p:cNvSpPr txBox="1"/>
          <p:nvPr/>
        </p:nvSpPr>
        <p:spPr>
          <a:xfrm>
            <a:off x="6377940" y="2560320"/>
            <a:ext cx="227457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Volume falls with distance</a:t>
            </a:r>
            <a:endParaRPr lang="en-US" sz="1300" dirty="0"/>
          </a:p>
          <a:p>
            <a:pPr marL="177800" indent="-177800">
              <a:spcAft>
                <a:spcPts val="500"/>
              </a:spcAft>
              <a:buSzPct val="100000"/>
              <a:buChar char="•"/>
            </a:pPr>
            <a:r>
              <a:rPr lang="en-US" sz="1300" dirty="0">
                <a:solidFill>
                  <a:srgbClr val="13202B"/>
                </a:solidFill>
                <a:latin typeface="Calibri" pitchFamily="34" charset="0"/>
                <a:ea typeface="Calibri" pitchFamily="34" charset="-122"/>
                <a:cs typeface="Calibri" pitchFamily="34" charset="-120"/>
              </a:rPr>
              <a:t>Rolloff curve: logarithmic feels natural</a:t>
            </a:r>
            <a:endParaRPr lang="en-US" sz="1300" dirty="0"/>
          </a:p>
        </p:txBody>
      </p:sp>
      <p:sp>
        <p:nvSpPr>
          <p:cNvPr id="19" name="Shape 12"/>
          <p:cNvSpPr/>
          <p:nvPr/>
        </p:nvSpPr>
        <p:spPr>
          <a:xfrm>
            <a:off x="9063990" y="1920240"/>
            <a:ext cx="2640330" cy="4206240"/>
          </a:xfrm>
          <a:prstGeom prst="roundRect">
            <a:avLst>
              <a:gd name="adj" fmla="val 2771"/>
            </a:avLst>
          </a:prstGeom>
          <a:solidFill>
            <a:srgbClr val="0E2841"/>
          </a:solidFill>
          <a:ln w="9525">
            <a:solidFill>
              <a:srgbClr val="0E2841"/>
            </a:solidFill>
            <a:prstDash val="solid"/>
          </a:ln>
        </p:spPr>
      </p:sp>
      <p:pic>
        <p:nvPicPr>
          <p:cNvPr id="20" name="Image 5" descr="preencoded.png">    </p:cNvPr>
          <p:cNvPicPr>
            <a:picLocks noChangeAspect="1"/>
          </p:cNvPicPr>
          <p:nvPr/>
        </p:nvPicPr>
        <p:blipFill>
          <a:blip r:embed="rId6"/>
          <a:stretch>
            <a:fillRect/>
          </a:stretch>
        </p:blipFill>
        <p:spPr>
          <a:xfrm>
            <a:off x="9246870" y="2103120"/>
            <a:ext cx="329184" cy="329184"/>
          </a:xfrm>
          <a:prstGeom prst="rect">
            <a:avLst/>
          </a:prstGeom>
        </p:spPr>
      </p:pic>
      <p:sp>
        <p:nvSpPr>
          <p:cNvPr id="21" name="Text 13"/>
          <p:cNvSpPr txBox="1"/>
          <p:nvPr/>
        </p:nvSpPr>
        <p:spPr>
          <a:xfrm>
            <a:off x="9704070" y="2103120"/>
            <a:ext cx="181737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Unity pieces</a:t>
            </a:r>
            <a:endParaRPr lang="en-US" sz="1450" dirty="0"/>
          </a:p>
        </p:txBody>
      </p:sp>
      <p:sp>
        <p:nvSpPr>
          <p:cNvPr id="22" name="Text 14"/>
          <p:cNvSpPr txBox="1"/>
          <p:nvPr/>
        </p:nvSpPr>
        <p:spPr>
          <a:xfrm>
            <a:off x="9246870" y="2560320"/>
            <a:ext cx="227457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AudioListener on the camera (only one!)</a:t>
            </a:r>
            <a:endParaRPr lang="en-US" sz="1300" dirty="0"/>
          </a:p>
          <a:p>
            <a:pPr marL="177800" indent="-1778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AudioSource + AudioClip on objects</a:t>
            </a:r>
            <a:endParaRPr lang="en-US" sz="1300" dirty="0"/>
          </a:p>
          <a:p>
            <a:pPr marL="177800" indent="-1778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Spatial Blend 1 = fully 3D</a:t>
            </a:r>
            <a:endParaRPr lang="en-US" sz="1300" dirty="0"/>
          </a:p>
        </p:txBody>
      </p:sp>
      <p:sp>
        <p:nvSpPr>
          <p:cNvPr id="23" name="Text 1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VR drum: louder when you hit harder</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Collision speed drives volume. Same idea as GolfVR's putter strike sound.</a:t>
            </a:r>
            <a:endParaRPr lang="en-US" sz="1350" dirty="0"/>
          </a:p>
        </p:txBody>
      </p:sp>
      <p:sp>
        <p:nvSpPr>
          <p:cNvPr id="7" name="Shape 3"/>
          <p:cNvSpPr/>
          <p:nvPr/>
        </p:nvSpPr>
        <p:spPr>
          <a:xfrm>
            <a:off x="457200" y="1920240"/>
            <a:ext cx="6675120" cy="4206240"/>
          </a:xfrm>
          <a:prstGeom prst="roundRect">
            <a:avLst>
              <a:gd name="adj" fmla="val 1739"/>
            </a:avLst>
          </a:prstGeom>
          <a:solidFill>
            <a:srgbClr val="0B1620"/>
          </a:solidFill>
          <a:ln w="9525">
            <a:solidFill>
              <a:srgbClr val="0B1620"/>
            </a:solidFill>
            <a:prstDash val="solid"/>
          </a:ln>
        </p:spPr>
      </p:sp>
      <p:sp>
        <p:nvSpPr>
          <p:cNvPr id="8" name="Text 4"/>
          <p:cNvSpPr txBox="1"/>
          <p:nvPr/>
        </p:nvSpPr>
        <p:spPr>
          <a:xfrm>
            <a:off x="621792" y="2048256"/>
            <a:ext cx="6345936" cy="3950208"/>
          </a:xfrm>
          <a:prstGeom prst="rect">
            <a:avLst/>
          </a:prstGeom>
          <a:noFill/>
          <a:ln/>
        </p:spPr>
        <p:txBody>
          <a:bodyPr wrap="square" lIns="0" tIns="0" rIns="0" bIns="0" rtlCol="0" anchor="t"/>
          <a:lstStyle/>
          <a:p>
            <a:pPr indent="0" marL="0">
              <a:buNone/>
            </a:pPr>
            <a:r>
              <a:rPr lang="en-US" sz="1200" dirty="0">
                <a:solidFill>
                  <a:srgbClr val="D6E4EC"/>
                </a:solidFill>
                <a:latin typeface="Consolas" pitchFamily="34" charset="0"/>
                <a:ea typeface="Consolas" pitchFamily="34" charset="-122"/>
                <a:cs typeface="Consolas" pitchFamily="34" charset="-120"/>
              </a:rPr>
              <a:t>[RequireComponent(typeof(AudioSource))]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public class Drum : MonoBehaviour</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public float maxSpeed = 3f;           // m/s for a full-volume hit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AudioSource source;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void Awake()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source = GetComponent&lt;AudioSource&gt;();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source.spatialBlend = 1f;          // fully 3D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source.playOnAwake = false;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void OnCollisionEnter(Collision c)</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float speed = c.relativeVelocity.magnitude;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if (speed &lt; 0.2f) return;          // resting contact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source.pitch = Random.Range(0.96f, 1.04f); // vary it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source.PlayOneShot(source.clip, Mathf.Clamp01(speed / maxSpeed));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p:txBody>
      </p:sp>
      <p:sp>
        <p:nvSpPr>
          <p:cNvPr id="9" name="Shape 5"/>
          <p:cNvSpPr/>
          <p:nvPr/>
        </p:nvSpPr>
        <p:spPr>
          <a:xfrm>
            <a:off x="7360920" y="1920240"/>
            <a:ext cx="4343400" cy="1988820"/>
          </a:xfrm>
          <a:prstGeom prst="roundRect">
            <a:avLst>
              <a:gd name="adj" fmla="val 3678"/>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543800" y="2103120"/>
            <a:ext cx="329184" cy="329184"/>
          </a:xfrm>
          <a:prstGeom prst="rect">
            <a:avLst/>
          </a:prstGeom>
        </p:spPr>
      </p:pic>
      <p:sp>
        <p:nvSpPr>
          <p:cNvPr id="11" name="Text 6"/>
          <p:cNvSpPr txBox="1"/>
          <p:nvPr/>
        </p:nvSpPr>
        <p:spPr>
          <a:xfrm>
            <a:off x="8001000" y="2103120"/>
            <a:ext cx="3520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In GolfVR</a:t>
            </a:r>
            <a:endParaRPr lang="en-US" sz="1450" dirty="0"/>
          </a:p>
        </p:txBody>
      </p:sp>
      <p:sp>
        <p:nvSpPr>
          <p:cNvPr id="12" name="Text 7"/>
          <p:cNvSpPr txBox="1"/>
          <p:nvPr/>
        </p:nvSpPr>
        <p:spPr>
          <a:xfrm>
            <a:off x="7543800" y="256032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GolfPutter: PlayOneShot volume from strike power, random pitch</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Sounds are generated in code with AudioClip.Create (no audio files)</a:t>
            </a:r>
            <a:endParaRPr lang="en-US" sz="1250" dirty="0"/>
          </a:p>
        </p:txBody>
      </p:sp>
      <p:sp>
        <p:nvSpPr>
          <p:cNvPr id="13" name="Shape 8"/>
          <p:cNvSpPr/>
          <p:nvPr/>
        </p:nvSpPr>
        <p:spPr>
          <a:xfrm>
            <a:off x="7360920" y="4137660"/>
            <a:ext cx="4343400" cy="1988820"/>
          </a:xfrm>
          <a:prstGeom prst="roundRect">
            <a:avLst>
              <a:gd name="adj" fmla="val 3678"/>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543800" y="4320540"/>
            <a:ext cx="329184" cy="329184"/>
          </a:xfrm>
          <a:prstGeom prst="rect">
            <a:avLst/>
          </a:prstGeom>
        </p:spPr>
      </p:pic>
      <p:sp>
        <p:nvSpPr>
          <p:cNvPr id="15" name="Text 9"/>
          <p:cNvSpPr txBox="1"/>
          <p:nvPr/>
        </p:nvSpPr>
        <p:spPr>
          <a:xfrm>
            <a:off x="8001000" y="4320540"/>
            <a:ext cx="3520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Add haptics</a:t>
            </a:r>
            <a:endParaRPr lang="en-US" sz="1450" dirty="0"/>
          </a:p>
        </p:txBody>
      </p:sp>
      <p:sp>
        <p:nvSpPr>
          <p:cNvPr id="16" name="Text 10"/>
          <p:cNvSpPr txBox="1"/>
          <p:nvPr/>
        </p:nvSpPr>
        <p:spPr>
          <a:xfrm>
            <a:off x="7543800" y="477774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hand.TriggerHapticPulse(...) on the same hit</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Sound + buzz together feels solid</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Particles: GolfVR's fireworks, built in code</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pic>
        <p:nvPicPr>
          <p:cNvPr id="6" name="Image 2" descr="C:\Users\Jeremy Callinan\AppData\Local\Temp\claude\c--GitHub-CIST1423-Fall2026-Examples\62e170c0-4055-4e17-811f-6bb67e40bfc7\scratchpad\deck\img\golf_night.jpg">    </p:cNvPr>
          <p:cNvPicPr>
            <a:picLocks noChangeAspect="1"/>
          </p:cNvPicPr>
          <p:nvPr/>
        </p:nvPicPr>
        <p:blipFill>
          <a:blip r:embed="rId3"/>
          <a:stretch>
            <a:fillRect/>
          </a:stretch>
        </p:blipFill>
        <p:spPr>
          <a:xfrm>
            <a:off x="457200" y="1920240"/>
            <a:ext cx="6583680" cy="3703320"/>
          </a:xfrm>
          <a:prstGeom prst="rect">
            <a:avLst/>
          </a:prstGeom>
        </p:spPr>
      </p:pic>
      <p:sp>
        <p:nvSpPr>
          <p:cNvPr id="7" name="Text 2"/>
          <p:cNvSpPr txBox="1"/>
          <p:nvPr/>
        </p:nvSpPr>
        <p:spPr>
          <a:xfrm>
            <a:off x="457200" y="5696712"/>
            <a:ext cx="6583680" cy="365760"/>
          </a:xfrm>
          <a:prstGeom prst="rect">
            <a:avLst/>
          </a:prstGeom>
          <a:noFill/>
          <a:ln/>
        </p:spPr>
        <p:txBody>
          <a:bodyPr wrap="square" lIns="0" tIns="0" rIns="0" bIns="0" rtlCol="0" anchor="t"/>
          <a:lstStyle/>
          <a:p>
            <a:pPr indent="0" marL="0">
              <a:buNone/>
            </a:pPr>
            <a:r>
              <a:rPr lang="en-US" sz="1100" i="1" dirty="0">
                <a:solidFill>
                  <a:srgbClr val="5B6B76"/>
                </a:solidFill>
                <a:latin typeface="Calibri" pitchFamily="34" charset="0"/>
                <a:ea typeface="Calibri" pitchFamily="34" charset="-122"/>
                <a:cs typeface="Calibri" pitchFamily="34" charset="-120"/>
              </a:rPr>
              <a:t>Every sunk putt: the sky fades to night, firework bursts go off with light flashes and horns, then day returns.</a:t>
            </a:r>
            <a:endParaRPr lang="en-US" sz="1100" dirty="0"/>
          </a:p>
        </p:txBody>
      </p:sp>
      <p:sp>
        <p:nvSpPr>
          <p:cNvPr id="8" name="Shape 3"/>
          <p:cNvSpPr/>
          <p:nvPr/>
        </p:nvSpPr>
        <p:spPr>
          <a:xfrm>
            <a:off x="7315200" y="1920240"/>
            <a:ext cx="4389120" cy="1249680"/>
          </a:xfrm>
          <a:prstGeom prst="roundRect">
            <a:avLst>
              <a:gd name="adj" fmla="val 5854"/>
            </a:avLst>
          </a:prstGeom>
          <a:solidFill>
            <a:srgbClr val="F4F7FA"/>
          </a:solidFill>
          <a:ln w="9525">
            <a:solidFill>
              <a:srgbClr val="D8E1E8"/>
            </a:solidFill>
            <a:prstDash val="solid"/>
          </a:ln>
        </p:spPr>
      </p:sp>
      <p:pic>
        <p:nvPicPr>
          <p:cNvPr id="9" name="Image 3" descr="preencoded.png">    </p:cNvPr>
          <p:cNvPicPr>
            <a:picLocks noChangeAspect="1"/>
          </p:cNvPicPr>
          <p:nvPr/>
        </p:nvPicPr>
        <p:blipFill>
          <a:blip r:embed="rId4"/>
          <a:stretch>
            <a:fillRect/>
          </a:stretch>
        </p:blipFill>
        <p:spPr>
          <a:xfrm>
            <a:off x="7498080" y="2103120"/>
            <a:ext cx="329184" cy="329184"/>
          </a:xfrm>
          <a:prstGeom prst="rect">
            <a:avLst/>
          </a:prstGeom>
        </p:spPr>
      </p:pic>
      <p:sp>
        <p:nvSpPr>
          <p:cNvPr id="10" name="Text 4"/>
          <p:cNvSpPr txBox="1"/>
          <p:nvPr/>
        </p:nvSpPr>
        <p:spPr>
          <a:xfrm>
            <a:off x="7955280" y="2103120"/>
            <a:ext cx="3566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The burst</a:t>
            </a:r>
            <a:endParaRPr lang="en-US" sz="1450" dirty="0"/>
          </a:p>
        </p:txBody>
      </p:sp>
      <p:sp>
        <p:nvSpPr>
          <p:cNvPr id="11" name="Text 5"/>
          <p:cNvSpPr txBox="1"/>
          <p:nvPr/>
        </p:nvSpPr>
        <p:spPr>
          <a:xfrm>
            <a:off x="7498080" y="2560320"/>
            <a:ext cx="4023360" cy="426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AddComponent&lt;ParticleSystem&gt;()</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Emission: one burst of 120 particles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Shape: Sphere, random colour</a:t>
            </a:r>
            <a:endParaRPr lang="en-US" sz="1250" dirty="0"/>
          </a:p>
        </p:txBody>
      </p:sp>
      <p:sp>
        <p:nvSpPr>
          <p:cNvPr id="12" name="Shape 6"/>
          <p:cNvSpPr/>
          <p:nvPr/>
        </p:nvSpPr>
        <p:spPr>
          <a:xfrm>
            <a:off x="7315200" y="3398520"/>
            <a:ext cx="4389120" cy="1249680"/>
          </a:xfrm>
          <a:prstGeom prst="roundRect">
            <a:avLst>
              <a:gd name="adj" fmla="val 5854"/>
            </a:avLst>
          </a:prstGeom>
          <a:solidFill>
            <a:srgbClr val="F4F7FA"/>
          </a:solidFill>
          <a:ln w="9525">
            <a:solidFill>
              <a:srgbClr val="D8E1E8"/>
            </a:solidFill>
            <a:prstDash val="solid"/>
          </a:ln>
        </p:spPr>
      </p:sp>
      <p:pic>
        <p:nvPicPr>
          <p:cNvPr id="13" name="Image 4" descr="preencoded.png">    </p:cNvPr>
          <p:cNvPicPr>
            <a:picLocks noChangeAspect="1"/>
          </p:cNvPicPr>
          <p:nvPr/>
        </p:nvPicPr>
        <p:blipFill>
          <a:blip r:embed="rId5"/>
          <a:stretch>
            <a:fillRect/>
          </a:stretch>
        </p:blipFill>
        <p:spPr>
          <a:xfrm>
            <a:off x="7498080" y="3581400"/>
            <a:ext cx="329184" cy="329184"/>
          </a:xfrm>
          <a:prstGeom prst="rect">
            <a:avLst/>
          </a:prstGeom>
        </p:spPr>
      </p:pic>
      <p:sp>
        <p:nvSpPr>
          <p:cNvPr id="14" name="Text 7"/>
          <p:cNvSpPr txBox="1"/>
          <p:nvPr/>
        </p:nvSpPr>
        <p:spPr>
          <a:xfrm>
            <a:off x="7955280" y="3581400"/>
            <a:ext cx="3566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The flash</a:t>
            </a:r>
            <a:endParaRPr lang="en-US" sz="1450" dirty="0"/>
          </a:p>
        </p:txBody>
      </p:sp>
      <p:sp>
        <p:nvSpPr>
          <p:cNvPr id="15" name="Text 8"/>
          <p:cNvSpPr txBox="1"/>
          <p:nvPr/>
        </p:nvSpPr>
        <p:spPr>
          <a:xfrm>
            <a:off x="7498080" y="4038600"/>
            <a:ext cx="4023360" cy="426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 Light on the burst, faded out over a second</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Plus RenderSettings.skybox / ambientIntensity for night</a:t>
            </a:r>
            <a:endParaRPr lang="en-US" sz="1250" dirty="0"/>
          </a:p>
        </p:txBody>
      </p:sp>
      <p:sp>
        <p:nvSpPr>
          <p:cNvPr id="16" name="Shape 9"/>
          <p:cNvSpPr/>
          <p:nvPr/>
        </p:nvSpPr>
        <p:spPr>
          <a:xfrm>
            <a:off x="7315200" y="4876800"/>
            <a:ext cx="4389120" cy="1249680"/>
          </a:xfrm>
          <a:prstGeom prst="roundRect">
            <a:avLst>
              <a:gd name="adj" fmla="val 5854"/>
            </a:avLst>
          </a:prstGeom>
          <a:solidFill>
            <a:srgbClr val="0E2841"/>
          </a:solidFill>
          <a:ln w="9525">
            <a:solidFill>
              <a:srgbClr val="0E2841"/>
            </a:solidFill>
            <a:prstDash val="solid"/>
          </a:ln>
        </p:spPr>
      </p:sp>
      <p:pic>
        <p:nvPicPr>
          <p:cNvPr id="17" name="Image 5" descr="preencoded.png">    </p:cNvPr>
          <p:cNvPicPr>
            <a:picLocks noChangeAspect="1"/>
          </p:cNvPicPr>
          <p:nvPr/>
        </p:nvPicPr>
        <p:blipFill>
          <a:blip r:embed="rId6"/>
          <a:stretch>
            <a:fillRect/>
          </a:stretch>
        </p:blipFill>
        <p:spPr>
          <a:xfrm>
            <a:off x="7498080" y="5059680"/>
            <a:ext cx="329184" cy="329184"/>
          </a:xfrm>
          <a:prstGeom prst="rect">
            <a:avLst/>
          </a:prstGeom>
        </p:spPr>
      </p:pic>
      <p:sp>
        <p:nvSpPr>
          <p:cNvPr id="18" name="Text 10"/>
          <p:cNvSpPr txBox="1"/>
          <p:nvPr/>
        </p:nvSpPr>
        <p:spPr>
          <a:xfrm>
            <a:off x="7955280" y="5059680"/>
            <a:ext cx="3566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Read it</a:t>
            </a:r>
            <a:endParaRPr lang="en-US" sz="1450" dirty="0"/>
          </a:p>
        </p:txBody>
      </p:sp>
      <p:sp>
        <p:nvSpPr>
          <p:cNvPr id="19" name="Text 11"/>
          <p:cNvSpPr txBox="1"/>
          <p:nvPr/>
        </p:nvSpPr>
        <p:spPr>
          <a:xfrm>
            <a:off x="7498080" y="5516880"/>
            <a:ext cx="4023360" cy="4267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FireworksCelebrationController.cs (and GolfHole's confetti)</a:t>
            </a:r>
            <a:endParaRPr lang="en-US" sz="1250" dirty="0"/>
          </a:p>
        </p:txBody>
      </p:sp>
      <p:sp>
        <p:nvSpPr>
          <p:cNvPr id="20" name="Text 12"/>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Fog on collision</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The Ch. 7 exercise: touching an object rolls fog in, and it clears again.</a:t>
            </a:r>
            <a:endParaRPr lang="en-US" sz="1350" dirty="0"/>
          </a:p>
        </p:txBody>
      </p:sp>
      <p:sp>
        <p:nvSpPr>
          <p:cNvPr id="7" name="Shape 3"/>
          <p:cNvSpPr/>
          <p:nvPr/>
        </p:nvSpPr>
        <p:spPr>
          <a:xfrm>
            <a:off x="457200" y="1920240"/>
            <a:ext cx="6675120" cy="4206240"/>
          </a:xfrm>
          <a:prstGeom prst="roundRect">
            <a:avLst>
              <a:gd name="adj" fmla="val 1739"/>
            </a:avLst>
          </a:prstGeom>
          <a:solidFill>
            <a:srgbClr val="0B1620"/>
          </a:solidFill>
          <a:ln w="9525">
            <a:solidFill>
              <a:srgbClr val="0B1620"/>
            </a:solidFill>
            <a:prstDash val="solid"/>
          </a:ln>
        </p:spPr>
      </p:sp>
      <p:sp>
        <p:nvSpPr>
          <p:cNvPr id="8" name="Text 4"/>
          <p:cNvSpPr txBox="1"/>
          <p:nvPr/>
        </p:nvSpPr>
        <p:spPr>
          <a:xfrm>
            <a:off x="621792" y="2048256"/>
            <a:ext cx="6345936" cy="3950208"/>
          </a:xfrm>
          <a:prstGeom prst="rect">
            <a:avLst/>
          </a:prstGeom>
          <a:noFill/>
          <a:ln/>
        </p:spPr>
        <p:txBody>
          <a:bodyPr wrap="square" lIns="0" tIns="0" rIns="0" bIns="0" rtlCol="0" anchor="t"/>
          <a:lstStyle/>
          <a:p>
            <a:pPr indent="0" marL="0">
              <a:buNone/>
            </a:pPr>
            <a:r>
              <a:rPr lang="en-US" sz="1200" dirty="0">
                <a:solidFill>
                  <a:srgbClr val="D6E4EC"/>
                </a:solidFill>
                <a:latin typeface="Consolas" pitchFamily="34" charset="0"/>
                <a:ea typeface="Consolas" pitchFamily="34" charset="-122"/>
                <a:cs typeface="Consolas" pitchFamily="34" charset="-120"/>
              </a:rPr>
              <a:t>public class FogOnCollision : MonoBehaviour</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public Color fogColor = new Color(0.6f, 0.65f, 0.7f);</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public float targetDensity = 0.08f, seconds = 2f;</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void OnCollisionEnter(Collision c) =&gt; StartCoroutine(RollIn());</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IEnumerator RollIn()</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RenderSettings.fog = true;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RenderSettings.fogMode = FogMode.ExponentialSquared;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RenderSettings.fogColor = fogColor;</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for (float t = 0; t &lt; 1; t += Time.deltaTime / seconds)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RenderSettings.fogDensity = Mathf.Lerp(0, targetDensity, 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yield return null;</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p:txBody>
      </p:sp>
      <p:sp>
        <p:nvSpPr>
          <p:cNvPr id="9" name="Shape 5"/>
          <p:cNvSpPr/>
          <p:nvPr/>
        </p:nvSpPr>
        <p:spPr>
          <a:xfrm>
            <a:off x="7360920" y="1920240"/>
            <a:ext cx="4343400" cy="1988820"/>
          </a:xfrm>
          <a:prstGeom prst="roundRect">
            <a:avLst>
              <a:gd name="adj" fmla="val 3678"/>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543800" y="2103120"/>
            <a:ext cx="329184" cy="329184"/>
          </a:xfrm>
          <a:prstGeom prst="rect">
            <a:avLst/>
          </a:prstGeom>
        </p:spPr>
      </p:pic>
      <p:sp>
        <p:nvSpPr>
          <p:cNvPr id="11" name="Text 6"/>
          <p:cNvSpPr txBox="1"/>
          <p:nvPr/>
        </p:nvSpPr>
        <p:spPr>
          <a:xfrm>
            <a:off x="8001000" y="2103120"/>
            <a:ext cx="3520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Fog in VR</a:t>
            </a:r>
            <a:endParaRPr lang="en-US" sz="1450" dirty="0"/>
          </a:p>
        </p:txBody>
      </p:sp>
      <p:sp>
        <p:nvSpPr>
          <p:cNvPr id="12" name="Text 7"/>
          <p:cNvSpPr txBox="1"/>
          <p:nvPr/>
        </p:nvSpPr>
        <p:spPr>
          <a:xfrm>
            <a:off x="7543800" y="256032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Great for mood and hiding far scenery</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Too dense = claustrophobic; test in the headset</a:t>
            </a:r>
            <a:endParaRPr lang="en-US" sz="1250" dirty="0"/>
          </a:p>
        </p:txBody>
      </p:sp>
      <p:sp>
        <p:nvSpPr>
          <p:cNvPr id="13" name="Shape 8"/>
          <p:cNvSpPr/>
          <p:nvPr/>
        </p:nvSpPr>
        <p:spPr>
          <a:xfrm>
            <a:off x="7360920" y="4137660"/>
            <a:ext cx="4343400" cy="1988820"/>
          </a:xfrm>
          <a:prstGeom prst="roundRect">
            <a:avLst>
              <a:gd name="adj" fmla="val 3678"/>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543800" y="4320540"/>
            <a:ext cx="329184" cy="329184"/>
          </a:xfrm>
          <a:prstGeom prst="rect">
            <a:avLst/>
          </a:prstGeom>
        </p:spPr>
      </p:pic>
      <p:sp>
        <p:nvSpPr>
          <p:cNvPr id="15" name="Text 9"/>
          <p:cNvSpPr txBox="1"/>
          <p:nvPr/>
        </p:nvSpPr>
        <p:spPr>
          <a:xfrm>
            <a:off x="8001000" y="4320540"/>
            <a:ext cx="3520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Exam 3: Ch. 5–7</a:t>
            </a:r>
            <a:endParaRPr lang="en-US" sz="1450" dirty="0"/>
          </a:p>
        </p:txBody>
      </p:sp>
      <p:sp>
        <p:nvSpPr>
          <p:cNvPr id="16" name="Text 10"/>
          <p:cNvSpPr txBox="1"/>
          <p:nvPr/>
        </p:nvSpPr>
        <p:spPr>
          <a:xfrm>
            <a:off x="7543800" y="477774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No-code vs C# interactivity</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AR menus: raycast, place, swap</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Audio, particles, fog</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Check your understanding</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Answer with a partner first, then we'll compare.</a:t>
            </a:r>
            <a:endParaRPr lang="en-US" sz="1350" dirty="0"/>
          </a:p>
        </p:txBody>
      </p:sp>
      <p:sp>
        <p:nvSpPr>
          <p:cNvPr id="7" name="Shape 3"/>
          <p:cNvSpPr/>
          <p:nvPr/>
        </p:nvSpPr>
        <p:spPr>
          <a:xfrm>
            <a:off x="457200" y="1920240"/>
            <a:ext cx="5509260" cy="1988820"/>
          </a:xfrm>
          <a:prstGeom prst="roundRect">
            <a:avLst>
              <a:gd name="adj" fmla="val 3678"/>
            </a:avLst>
          </a:prstGeom>
          <a:solidFill>
            <a:srgbClr val="F4F7FA"/>
          </a:solidFill>
          <a:ln w="9525">
            <a:solidFill>
              <a:srgbClr val="D8E1E8"/>
            </a:solidFill>
            <a:prstDash val="solid"/>
          </a:ln>
        </p:spPr>
      </p:sp>
      <p:sp>
        <p:nvSpPr>
          <p:cNvPr id="8" name="Text 4"/>
          <p:cNvSpPr txBox="1"/>
          <p:nvPr/>
        </p:nvSpPr>
        <p:spPr>
          <a:xfrm>
            <a:off x="68580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Q1</a:t>
            </a:r>
            <a:endParaRPr lang="en-US" sz="2400" dirty="0"/>
          </a:p>
        </p:txBody>
      </p:sp>
      <p:sp>
        <p:nvSpPr>
          <p:cNvPr id="9" name="Text 5"/>
          <p:cNvSpPr txBox="1"/>
          <p:nvPr/>
        </p:nvSpPr>
        <p:spPr>
          <a:xfrm>
            <a:off x="68580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Spatial Blend = 0 vs 1?</a:t>
            </a:r>
            <a:endParaRPr lang="en-US" sz="1600" dirty="0"/>
          </a:p>
        </p:txBody>
      </p:sp>
      <p:sp>
        <p:nvSpPr>
          <p:cNvPr id="10" name="Shape 6"/>
          <p:cNvSpPr/>
          <p:nvPr/>
        </p:nvSpPr>
        <p:spPr>
          <a:xfrm>
            <a:off x="6195060" y="1920240"/>
            <a:ext cx="5509260" cy="1988820"/>
          </a:xfrm>
          <a:prstGeom prst="roundRect">
            <a:avLst>
              <a:gd name="adj" fmla="val 3678"/>
            </a:avLst>
          </a:prstGeom>
          <a:solidFill>
            <a:srgbClr val="F4F7FA"/>
          </a:solidFill>
          <a:ln w="9525">
            <a:solidFill>
              <a:srgbClr val="D8E1E8"/>
            </a:solidFill>
            <a:prstDash val="solid"/>
          </a:ln>
        </p:spPr>
      </p:sp>
      <p:sp>
        <p:nvSpPr>
          <p:cNvPr id="11" name="Text 7"/>
          <p:cNvSpPr txBox="1"/>
          <p:nvPr/>
        </p:nvSpPr>
        <p:spPr>
          <a:xfrm>
            <a:off x="642366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Q2</a:t>
            </a:r>
            <a:endParaRPr lang="en-US" sz="2400" dirty="0"/>
          </a:p>
        </p:txBody>
      </p:sp>
      <p:sp>
        <p:nvSpPr>
          <p:cNvPr id="12" name="Text 8"/>
          <p:cNvSpPr txBox="1"/>
          <p:nvPr/>
        </p:nvSpPr>
        <p:spPr>
          <a:xfrm>
            <a:off x="642366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How many AudioListeners per scene?</a:t>
            </a:r>
            <a:endParaRPr lang="en-US" sz="1600" dirty="0"/>
          </a:p>
        </p:txBody>
      </p:sp>
      <p:sp>
        <p:nvSpPr>
          <p:cNvPr id="13" name="Shape 9"/>
          <p:cNvSpPr/>
          <p:nvPr/>
        </p:nvSpPr>
        <p:spPr>
          <a:xfrm>
            <a:off x="457200" y="4137660"/>
            <a:ext cx="5509260" cy="1988820"/>
          </a:xfrm>
          <a:prstGeom prst="roundRect">
            <a:avLst>
              <a:gd name="adj" fmla="val 3678"/>
            </a:avLst>
          </a:prstGeom>
          <a:solidFill>
            <a:srgbClr val="F4F7FA"/>
          </a:solidFill>
          <a:ln w="9525">
            <a:solidFill>
              <a:srgbClr val="D8E1E8"/>
            </a:solidFill>
            <a:prstDash val="solid"/>
          </a:ln>
        </p:spPr>
      </p:sp>
      <p:sp>
        <p:nvSpPr>
          <p:cNvPr id="14" name="Text 10"/>
          <p:cNvSpPr txBox="1"/>
          <p:nvPr/>
        </p:nvSpPr>
        <p:spPr>
          <a:xfrm>
            <a:off x="68580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Q3</a:t>
            </a:r>
            <a:endParaRPr lang="en-US" sz="2400" dirty="0"/>
          </a:p>
        </p:txBody>
      </p:sp>
      <p:sp>
        <p:nvSpPr>
          <p:cNvPr id="15" name="Text 11"/>
          <p:cNvSpPr txBox="1"/>
          <p:nvPr/>
        </p:nvSpPr>
        <p:spPr>
          <a:xfrm>
            <a:off x="68580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Why randomise pitch slightly on repeated hits?</a:t>
            </a:r>
            <a:endParaRPr lang="en-US" sz="1600" dirty="0"/>
          </a:p>
        </p:txBody>
      </p:sp>
      <p:sp>
        <p:nvSpPr>
          <p:cNvPr id="16" name="Shape 12"/>
          <p:cNvSpPr/>
          <p:nvPr/>
        </p:nvSpPr>
        <p:spPr>
          <a:xfrm>
            <a:off x="6195060" y="4137660"/>
            <a:ext cx="5509260" cy="1988820"/>
          </a:xfrm>
          <a:prstGeom prst="roundRect">
            <a:avLst>
              <a:gd name="adj" fmla="val 3678"/>
            </a:avLst>
          </a:prstGeom>
          <a:solidFill>
            <a:srgbClr val="F4F7FA"/>
          </a:solidFill>
          <a:ln w="9525">
            <a:solidFill>
              <a:srgbClr val="D8E1E8"/>
            </a:solidFill>
            <a:prstDash val="solid"/>
          </a:ln>
        </p:spPr>
      </p:sp>
      <p:sp>
        <p:nvSpPr>
          <p:cNvPr id="17" name="Text 13"/>
          <p:cNvSpPr txBox="1"/>
          <p:nvPr/>
        </p:nvSpPr>
        <p:spPr>
          <a:xfrm>
            <a:off x="642366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Q4</a:t>
            </a:r>
            <a:endParaRPr lang="en-US" sz="2400" dirty="0"/>
          </a:p>
        </p:txBody>
      </p:sp>
      <p:sp>
        <p:nvSpPr>
          <p:cNvPr id="18" name="Text 14"/>
          <p:cNvSpPr txBox="1"/>
          <p:nvPr/>
        </p:nvSpPr>
        <p:spPr>
          <a:xfrm>
            <a:off x="642366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Where does the Playground's target get its sparks?</a:t>
            </a:r>
            <a:endParaRPr lang="en-US" sz="1600" dirty="0"/>
          </a:p>
        </p:txBody>
      </p:sp>
      <p:sp>
        <p:nvSpPr>
          <p:cNvPr id="19" name="Text 1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0"/>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56032"/>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457200" y="1097280"/>
            <a:ext cx="9601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 homework + planning</a:t>
            </a:r>
            <a:endParaRPr lang="en-US" sz="3600" dirty="0"/>
          </a:p>
        </p:txBody>
      </p:sp>
      <p:sp>
        <p:nvSpPr>
          <p:cNvPr id="5" name="Text 1"/>
          <p:cNvSpPr txBox="1"/>
          <p:nvPr/>
        </p:nvSpPr>
        <p:spPr>
          <a:xfrm>
            <a:off x="548640" y="2103120"/>
            <a:ext cx="7863840" cy="38404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Add an AudioSource and a particle effect to your project; push code + README.md</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Stretch: make the effect react to how hard something was hit</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Exam 3 covers Ch. 5–7</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Next week: Ch. 8, hand tracking, gaze, and multiplayer</a:t>
            </a:r>
            <a:endParaRPr lang="en-US" sz="1600" dirty="0"/>
          </a:p>
        </p:txBody>
      </p:sp>
      <p:pic>
        <p:nvPicPr>
          <p:cNvPr id="6" name="Image 2" descr="C:\Users\Jeremy Callinan\AppData\Local\Temp\claude\c--GitHub-CIST1423-Fall2026-Examples\62e170c0-4055-4e17-811f-6bb67e40bfc7\scratchpad\deck\img\alumni_badge.jpg">    </p:cNvPr>
          <p:cNvPicPr>
            <a:picLocks noChangeAspect="1"/>
          </p:cNvPicPr>
          <p:nvPr/>
        </p:nvPicPr>
        <p:blipFill>
          <a:blip r:embed="rId3"/>
          <a:stretch>
            <a:fillRect/>
          </a:stretch>
        </p:blipFill>
        <p:spPr>
          <a:xfrm>
            <a:off x="8778240" y="4846320"/>
            <a:ext cx="2926080" cy="1691640"/>
          </a:xfrm>
          <a:prstGeom prst="rect">
            <a:avLst/>
          </a:prstGeom>
        </p:spPr>
      </p:pic>
      <p:sp>
        <p:nvSpPr>
          <p:cNvPr id="7" name="Text 2"/>
          <p:cNvSpPr txBox="1"/>
          <p:nvPr/>
        </p:nvSpPr>
        <p:spPr>
          <a:xfrm>
            <a:off x="320040" y="6528816"/>
            <a:ext cx="8229600" cy="274320"/>
          </a:xfrm>
          <a:prstGeom prst="rect">
            <a:avLst/>
          </a:prstGeom>
          <a:noFill/>
          <a:ln/>
        </p:spPr>
        <p:txBody>
          <a:bodyPr wrap="square" lIns="0" tIns="0" rIns="0" bIns="0" rtlCol="0" anchor="ctr"/>
          <a:lstStyle/>
          <a:p>
            <a:pPr indent="0" marL="0">
              <a:buNone/>
            </a:pPr>
            <a:r>
              <a:rPr lang="en-US" sz="1050" dirty="0">
                <a:solidFill>
                  <a:srgbClr val="9AA7B1"/>
                </a:solidFill>
                <a:latin typeface="Calibri" pitchFamily="34" charset="0"/>
                <a:ea typeface="Calibri" pitchFamily="34" charset="-122"/>
                <a:cs typeface="Calibri" pitchFamily="34" charset="-120"/>
              </a:rPr>
              <a:t>CIST 1423 — Week 11 — Adding Sound and Visual Effects (Ch. 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Sound and visual effects: spatial audio, a VR drum kit, particles, fog</dc:title>
  <dc:subject>PptxGenJS Presentation</dc:subject>
  <dc:creator>PptxGenJS</dc:creator>
  <cp:lastModifiedBy>PptxGenJS</cp:lastModifiedBy>
  <cp:revision>1</cp:revision>
  <dcterms:created xsi:type="dcterms:W3CDTF">2026-09-28T00:20:10Z</dcterms:created>
  <dcterms:modified xsi:type="dcterms:W3CDTF">2026-09-28T00:20:10Z</dcterms:modified>
</cp:coreProperties>
</file>